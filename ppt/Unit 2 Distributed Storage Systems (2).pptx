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8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80" r:id="rId26"/>
    <p:sldId id="284" r:id="rId27"/>
    <p:sldId id="285" r:id="rId28"/>
    <p:sldId id="286" r:id="rId29"/>
    <p:sldId id="288" r:id="rId30"/>
    <p:sldId id="289" r:id="rId31"/>
    <p:sldId id="290" r:id="rId32"/>
    <p:sldId id="291" r:id="rId33"/>
    <p:sldId id="292" r:id="rId34"/>
    <p:sldId id="293" r:id="rId35"/>
    <p:sldId id="312" r:id="rId36"/>
    <p:sldId id="308" r:id="rId37"/>
    <p:sldId id="310" r:id="rId38"/>
    <p:sldId id="309" r:id="rId39"/>
    <p:sldId id="311" r:id="rId40"/>
    <p:sldId id="294" r:id="rId41"/>
    <p:sldId id="295" r:id="rId42"/>
    <p:sldId id="296" r:id="rId43"/>
    <p:sldId id="297" r:id="rId44"/>
    <p:sldId id="303" r:id="rId45"/>
    <p:sldId id="298" r:id="rId46"/>
    <p:sldId id="299" r:id="rId47"/>
    <p:sldId id="300" r:id="rId48"/>
    <p:sldId id="301" r:id="rId49"/>
    <p:sldId id="302" r:id="rId50"/>
    <p:sldId id="304" r:id="rId51"/>
    <p:sldId id="305" r:id="rId52"/>
    <p:sldId id="306" r:id="rId53"/>
    <p:sldId id="307"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68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notesMaster" Target="notesMasters/notesMaster1.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2A7A8-9F45-4EC5-9EE6-FEE065234804}"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D3D611-2356-4B7E-9B8A-3E912875FB7B}" type="slidenum">
              <a:rPr lang="en-US" smtClean="0"/>
              <a:t>‹#›</a:t>
            </a:fld>
            <a:endParaRPr lang="en-US"/>
          </a:p>
        </p:txBody>
      </p:sp>
    </p:spTree>
    <p:extLst>
      <p:ext uri="{BB962C8B-B14F-4D97-AF65-F5344CB8AC3E}">
        <p14:creationId xmlns:p14="http://schemas.microsoft.com/office/powerpoint/2010/main" val="2512294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208381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52663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5804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96234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Characteristics of Distributed File Systems</a:t>
            </a:r>
          </a:p>
          <a:p>
            <a:r>
              <a:rPr lang="en-IN" dirty="0"/>
              <a:t>A good Distributed File System should provide:</a:t>
            </a:r>
          </a:p>
          <a:p>
            <a:r>
              <a:rPr lang="en-IN" dirty="0"/>
              <a:t>✔ Scalability</a:t>
            </a:r>
          </a:p>
          <a:p>
            <a:r>
              <a:rPr lang="en-IN" dirty="0"/>
              <a:t>✔ Reliability</a:t>
            </a:r>
          </a:p>
          <a:p>
            <a:r>
              <a:rPr lang="en-IN" dirty="0"/>
              <a:t>✔ Fault Tolerance</a:t>
            </a:r>
          </a:p>
          <a:p>
            <a:r>
              <a:rPr lang="en-IN" dirty="0"/>
              <a:t>✔ High Availability</a:t>
            </a:r>
          </a:p>
          <a:p>
            <a:r>
              <a:rPr lang="en-IN" dirty="0"/>
              <a:t>✔ Data Locality</a:t>
            </a:r>
          </a:p>
          <a:p>
            <a:r>
              <a:rPr lang="en-IN" dirty="0"/>
              <a:t>✔ Parallel Processing</a:t>
            </a:r>
          </a:p>
          <a:p>
            <a:r>
              <a:rPr lang="en-IN" dirty="0"/>
              <a:t>✔ Replication</a:t>
            </a:r>
          </a:p>
          <a:p>
            <a:r>
              <a:rPr lang="en-IN" dirty="0"/>
              <a:t>✔ Security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75749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Characteristics of Distributed File Systems</a:t>
            </a:r>
          </a:p>
          <a:p>
            <a:r>
              <a:rPr lang="en-IN" dirty="0"/>
              <a:t>A good Distributed File System should provide:</a:t>
            </a:r>
          </a:p>
          <a:p>
            <a:r>
              <a:rPr lang="en-IN" dirty="0"/>
              <a:t>✔ Scalability</a:t>
            </a:r>
          </a:p>
          <a:p>
            <a:r>
              <a:rPr lang="en-IN" dirty="0"/>
              <a:t>✔ Reliability</a:t>
            </a:r>
          </a:p>
          <a:p>
            <a:r>
              <a:rPr lang="en-IN" dirty="0"/>
              <a:t>✔ Fault Tolerance</a:t>
            </a:r>
          </a:p>
          <a:p>
            <a:r>
              <a:rPr lang="en-IN" dirty="0"/>
              <a:t>✔ High Availability</a:t>
            </a:r>
          </a:p>
          <a:p>
            <a:r>
              <a:rPr lang="en-IN" dirty="0"/>
              <a:t>✔ Data Locality</a:t>
            </a:r>
          </a:p>
          <a:p>
            <a:r>
              <a:rPr lang="en-IN" dirty="0"/>
              <a:t>✔ Parallel Processing</a:t>
            </a:r>
          </a:p>
          <a:p>
            <a:r>
              <a:rPr lang="en-IN" dirty="0"/>
              <a:t>✔ Replication</a:t>
            </a:r>
          </a:p>
          <a:p>
            <a:r>
              <a:rPr lang="en-IN" dirty="0"/>
              <a:t>✔ Security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15906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43403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0787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17339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55396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25951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76523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33948953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3066569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1752802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822910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1358120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2198327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182013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2417647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3506828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443452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8607887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722677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34727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74064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9252812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1235152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380183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4623089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95807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0770339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0211552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6252760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501872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052558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3153214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1438766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5172449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876932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352747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8084511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306408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9745719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4532236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2498036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3819712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8580541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5256445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17117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0676609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7481478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1762026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2982282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9676599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5318334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838699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7441104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23809604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5664124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8781193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4405002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7926840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39528801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26368791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5797759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915514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40710575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558736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485039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6684738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0473395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2920401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232284995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26639911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222152895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8293658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2408324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A3CF9C-EBEB-4F14-AA68-CA02C927405B}"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2290728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A3CF9C-EBEB-4F14-AA68-CA02C927405B}"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232129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A3CF9C-EBEB-4F14-AA68-CA02C927405B}"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401224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A3CF9C-EBEB-4F14-AA68-CA02C927405B}"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3964790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A3CF9C-EBEB-4F14-AA68-CA02C927405B}"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137190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3A3CF9C-EBEB-4F14-AA68-CA02C927405B}"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3565130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A3CF9C-EBEB-4F14-AA68-CA02C927405B}"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966471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A3CF9C-EBEB-4F14-AA68-CA02C927405B}"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1976825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A3CF9C-EBEB-4F14-AA68-CA02C927405B}"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3087403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A3CF9C-EBEB-4F14-AA68-CA02C927405B}"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2437204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A3CF9C-EBEB-4F14-AA68-CA02C927405B}"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98F17-03CB-4ABA-9875-0E408D8BC099}" type="slidenum">
              <a:rPr lang="en-US" smtClean="0"/>
              <a:t>‹#›</a:t>
            </a:fld>
            <a:endParaRPr lang="en-US"/>
          </a:p>
        </p:txBody>
      </p:sp>
    </p:spTree>
    <p:extLst>
      <p:ext uri="{BB962C8B-B14F-4D97-AF65-F5344CB8AC3E}">
        <p14:creationId xmlns:p14="http://schemas.microsoft.com/office/powerpoint/2010/main" val="2090057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54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624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A3CF9C-EBEB-4F14-AA68-CA02C927405B}" type="datetimeFigureOut">
              <a:rPr lang="en-US" smtClean="0"/>
              <a:t>8/18/2026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198F17-03CB-4ABA-9875-0E408D8BC099}" type="slidenum">
              <a:rPr lang="en-US" smtClean="0"/>
              <a:t>‹#›</a:t>
            </a:fld>
            <a:endParaRPr lang="en-US"/>
          </a:p>
        </p:txBody>
      </p:sp>
    </p:spTree>
    <p:extLst>
      <p:ext uri="{BB962C8B-B14F-4D97-AF65-F5344CB8AC3E}">
        <p14:creationId xmlns:p14="http://schemas.microsoft.com/office/powerpoint/2010/main" val="859048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6696613"/>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microsoft.com/office/2007/relationships/hdphoto" Target="../media/hdphoto1.wdp"/></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Unit 2 </a:t>
            </a:r>
            <a:br>
              <a:rPr lang="en-US" b="1" dirty="0" smtClean="0"/>
            </a:br>
            <a:r>
              <a:rPr lang="en-US" b="1" dirty="0" smtClean="0"/>
              <a:t>Distributed </a:t>
            </a:r>
            <a:r>
              <a:rPr lang="en-US" b="1" dirty="0"/>
              <a:t>Storage Systems</a:t>
            </a:r>
            <a:endParaRPr lang="en-US" dirty="0"/>
          </a:p>
        </p:txBody>
      </p:sp>
      <p:sp>
        <p:nvSpPr>
          <p:cNvPr id="3" name="Subtitle 2"/>
          <p:cNvSpPr>
            <a:spLocks noGrp="1"/>
          </p:cNvSpPr>
          <p:nvPr>
            <p:ph type="subTitle" idx="1"/>
          </p:nvPr>
        </p:nvSpPr>
        <p:spPr/>
        <p:txBody>
          <a:bodyPr/>
          <a:lstStyle/>
          <a:p>
            <a:r>
              <a:rPr lang="en-US" dirty="0" err="1" smtClean="0"/>
              <a:t>Bhavika</a:t>
            </a:r>
            <a:r>
              <a:rPr lang="en-US" dirty="0" smtClean="0"/>
              <a:t> N. Patel</a:t>
            </a:r>
            <a:endParaRPr lang="en-US" dirty="0"/>
          </a:p>
        </p:txBody>
      </p:sp>
      <p:sp>
        <p:nvSpPr>
          <p:cNvPr id="4" name="Rectangle 3"/>
          <p:cNvSpPr/>
          <p:nvPr/>
        </p:nvSpPr>
        <p:spPr>
          <a:xfrm>
            <a:off x="5977217" y="3244334"/>
            <a:ext cx="237566" cy="369332"/>
          </a:xfrm>
          <a:prstGeom prst="rect">
            <a:avLst/>
          </a:prstGeom>
        </p:spPr>
        <p:txBody>
          <a:bodyPr wrap="none">
            <a:spAutoFit/>
          </a:bodyPr>
          <a:lstStyle/>
          <a:p>
            <a:r>
              <a:rPr lang="en-US" b="0" dirty="0" smtClean="0">
                <a:effectLst/>
              </a:rPr>
              <a:t> </a:t>
            </a:r>
            <a:endParaRPr lang="en-US" dirty="0"/>
          </a:p>
        </p:txBody>
      </p:sp>
    </p:spTree>
    <p:extLst>
      <p:ext uri="{BB962C8B-B14F-4D97-AF65-F5344CB8AC3E}">
        <p14:creationId xmlns:p14="http://schemas.microsoft.com/office/powerpoint/2010/main" val="4015944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065A82"/>
                </a:solidFill>
                <a:latin typeface="Calibri" pitchFamily="34" charset="0"/>
                <a:ea typeface="Calibri" pitchFamily="34" charset="-122"/>
                <a:cs typeface="Calibri" pitchFamily="34" charset="-120"/>
              </a:rPr>
              <a:t>THE PROBLEM</a:t>
            </a:r>
            <a:endParaRPr lang="en-US" dirty="0"/>
          </a:p>
        </p:txBody>
      </p:sp>
      <p:sp>
        <p:nvSpPr>
          <p:cNvPr id="3" name="Text 1"/>
          <p:cNvSpPr/>
          <p:nvPr/>
        </p:nvSpPr>
        <p:spPr>
          <a:xfrm>
            <a:off x="548640" y="685800"/>
            <a:ext cx="100584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 Single Machine Can't Keep Up</a:t>
            </a:r>
            <a:endParaRPr lang="en-US" sz="3000" dirty="0"/>
          </a:p>
        </p:txBody>
      </p:sp>
      <p:sp>
        <p:nvSpPr>
          <p:cNvPr id="4" name="Text 2"/>
          <p:cNvSpPr/>
          <p:nvPr/>
        </p:nvSpPr>
        <p:spPr>
          <a:xfrm>
            <a:off x="548640" y="1371600"/>
            <a:ext cx="10698480" cy="1188720"/>
          </a:xfrm>
          <a:prstGeom prst="rect">
            <a:avLst/>
          </a:prstGeom>
          <a:noFill/>
          <a:ln/>
        </p:spPr>
        <p:txBody>
          <a:bodyPr wrap="square" lIns="0" tIns="0" rIns="0" bIns="0" rtlCol="0" anchor="ctr"/>
          <a:lstStyle/>
          <a:p>
            <a:pPr marL="0" indent="0">
              <a:lnSpc>
                <a:spcPct val="125000"/>
              </a:lnSpc>
              <a:buNone/>
            </a:pPr>
            <a:r>
              <a:rPr lang="en-US" sz="2000" dirty="0">
                <a:solidFill>
                  <a:srgbClr val="43506B"/>
                </a:solidFill>
                <a:latin typeface="Calibri" pitchFamily="34" charset="0"/>
                <a:ea typeface="Calibri" pitchFamily="34" charset="-122"/>
                <a:cs typeface="Calibri" pitchFamily="34" charset="-120"/>
              </a:rPr>
              <a:t>Traditional file systems work well on one computer with modest data volumes. Google, Facebook, Amazon, Netflix, and LinkedIn now generate volumes no single disk, or single machine, can hold or process fast enough.</a:t>
            </a:r>
            <a:endParaRPr lang="en-US" sz="2000" dirty="0"/>
          </a:p>
        </p:txBody>
      </p:sp>
      <p:sp>
        <p:nvSpPr>
          <p:cNvPr id="5" name="Shape 3"/>
          <p:cNvSpPr/>
          <p:nvPr/>
        </p:nvSpPr>
        <p:spPr>
          <a:xfrm>
            <a:off x="548640" y="2880360"/>
            <a:ext cx="3246120" cy="2606040"/>
          </a:xfrm>
          <a:prstGeom prst="roundRect">
            <a:avLst>
              <a:gd name="adj" fmla="val 2807"/>
            </a:avLst>
          </a:prstGeom>
          <a:solidFill>
            <a:srgbClr val="F4F8FA"/>
          </a:solidFill>
          <a:ln/>
          <a:effectLst>
            <a:outerShdw blurRad="101600" dist="38100" dir="5400000" algn="bl" rotWithShape="0">
              <a:srgbClr val="000000">
                <a:alpha val="12000"/>
              </a:srgbClr>
            </a:outerShdw>
          </a:effectLst>
        </p:spPr>
      </p:sp>
      <p:sp>
        <p:nvSpPr>
          <p:cNvPr id="6" name="Shape 4"/>
          <p:cNvSpPr/>
          <p:nvPr/>
        </p:nvSpPr>
        <p:spPr>
          <a:xfrm>
            <a:off x="777240" y="3136392"/>
            <a:ext cx="502920" cy="502920"/>
          </a:xfrm>
          <a:prstGeom prst="roundRect">
            <a:avLst>
              <a:gd name="adj" fmla="val 50909"/>
            </a:avLst>
          </a:prstGeom>
          <a:solidFill>
            <a:srgbClr val="1C7293"/>
          </a:solidFill>
          <a:ln/>
        </p:spPr>
      </p:sp>
      <p:sp>
        <p:nvSpPr>
          <p:cNvPr id="7" name="Text 5"/>
          <p:cNvSpPr/>
          <p:nvPr/>
        </p:nvSpPr>
        <p:spPr>
          <a:xfrm>
            <a:off x="777240" y="31363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22960" y="3794760"/>
            <a:ext cx="2697480" cy="5943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~230 ZB</a:t>
            </a:r>
            <a:endParaRPr lang="en-US" sz="3200" dirty="0"/>
          </a:p>
        </p:txBody>
      </p:sp>
      <p:sp>
        <p:nvSpPr>
          <p:cNvPr id="9" name="Text 7"/>
          <p:cNvSpPr/>
          <p:nvPr/>
        </p:nvSpPr>
        <p:spPr>
          <a:xfrm>
            <a:off x="822960" y="4361688"/>
            <a:ext cx="2697480" cy="777240"/>
          </a:xfrm>
          <a:prstGeom prst="rect">
            <a:avLst/>
          </a:prstGeom>
          <a:noFill/>
          <a:ln/>
        </p:spPr>
        <p:txBody>
          <a:bodyPr wrap="square" lIns="0" tIns="0" rIns="0" bIns="0" rtlCol="0" anchor="ctr"/>
          <a:lstStyle/>
          <a:p>
            <a:pPr marL="0" indent="0">
              <a:lnSpc>
                <a:spcPct val="115000"/>
              </a:lnSpc>
              <a:buNone/>
            </a:pPr>
            <a:r>
              <a:rPr lang="en-US" sz="1600" dirty="0">
                <a:solidFill>
                  <a:srgbClr val="43506B"/>
                </a:solidFill>
                <a:latin typeface="Calibri" pitchFamily="34" charset="0"/>
                <a:ea typeface="Calibri" pitchFamily="34" charset="-122"/>
                <a:cs typeface="Calibri" pitchFamily="34" charset="-120"/>
              </a:rPr>
              <a:t>of data expected to be created worldwide in 2026</a:t>
            </a:r>
            <a:endParaRPr lang="en-US" sz="1600" dirty="0"/>
          </a:p>
        </p:txBody>
      </p:sp>
      <p:sp>
        <p:nvSpPr>
          <p:cNvPr id="10" name="Text 8"/>
          <p:cNvSpPr/>
          <p:nvPr/>
        </p:nvSpPr>
        <p:spPr>
          <a:xfrm>
            <a:off x="822960" y="5166360"/>
            <a:ext cx="2697480" cy="274320"/>
          </a:xfrm>
          <a:prstGeom prst="rect">
            <a:avLst/>
          </a:prstGeom>
          <a:noFill/>
          <a:ln/>
        </p:spPr>
        <p:txBody>
          <a:bodyPr wrap="square" lIns="0" tIns="0" rIns="0" bIns="0" rtlCol="0" anchor="ctr"/>
          <a:lstStyle/>
          <a:p>
            <a:pPr marL="0" indent="0">
              <a:buNone/>
            </a:pPr>
            <a:r>
              <a:rPr lang="en-US" sz="950" i="1" dirty="0">
                <a:solidFill>
                  <a:srgbClr val="8FA3B8"/>
                </a:solidFill>
                <a:latin typeface="Calibri" pitchFamily="34" charset="0"/>
                <a:ea typeface="Calibri" pitchFamily="34" charset="-122"/>
                <a:cs typeface="Calibri" pitchFamily="34" charset="-120"/>
              </a:rPr>
              <a:t>DesignRush, 2026</a:t>
            </a:r>
            <a:endParaRPr lang="en-US" sz="950" dirty="0"/>
          </a:p>
        </p:txBody>
      </p:sp>
      <p:sp>
        <p:nvSpPr>
          <p:cNvPr id="11" name="Shape 9"/>
          <p:cNvSpPr/>
          <p:nvPr/>
        </p:nvSpPr>
        <p:spPr>
          <a:xfrm>
            <a:off x="4114800" y="2880360"/>
            <a:ext cx="3246120" cy="2606040"/>
          </a:xfrm>
          <a:prstGeom prst="roundRect">
            <a:avLst>
              <a:gd name="adj" fmla="val 2807"/>
            </a:avLst>
          </a:prstGeom>
          <a:solidFill>
            <a:srgbClr val="F4F8FA"/>
          </a:solidFill>
          <a:ln/>
          <a:effectLst>
            <a:outerShdw blurRad="101600" dist="38100" dir="5400000" algn="bl" rotWithShape="0">
              <a:srgbClr val="000000">
                <a:alpha val="12000"/>
              </a:srgbClr>
            </a:outerShdw>
          </a:effectLst>
        </p:spPr>
      </p:sp>
      <p:sp>
        <p:nvSpPr>
          <p:cNvPr id="12" name="Shape 10"/>
          <p:cNvSpPr/>
          <p:nvPr/>
        </p:nvSpPr>
        <p:spPr>
          <a:xfrm>
            <a:off x="4343400" y="3136392"/>
            <a:ext cx="502920" cy="502920"/>
          </a:xfrm>
          <a:prstGeom prst="roundRect">
            <a:avLst>
              <a:gd name="adj" fmla="val 50909"/>
            </a:avLst>
          </a:prstGeom>
          <a:solidFill>
            <a:srgbClr val="1C7293"/>
          </a:solidFill>
          <a:ln/>
        </p:spPr>
      </p:sp>
      <p:sp>
        <p:nvSpPr>
          <p:cNvPr id="13" name="Text 11"/>
          <p:cNvSpPr/>
          <p:nvPr/>
        </p:nvSpPr>
        <p:spPr>
          <a:xfrm>
            <a:off x="4343400" y="31363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4389120" y="3794760"/>
            <a:ext cx="2697480" cy="5943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20 PB</a:t>
            </a:r>
            <a:endParaRPr lang="en-US" sz="3200" dirty="0"/>
          </a:p>
        </p:txBody>
      </p:sp>
      <p:sp>
        <p:nvSpPr>
          <p:cNvPr id="15" name="Text 13"/>
          <p:cNvSpPr/>
          <p:nvPr/>
        </p:nvSpPr>
        <p:spPr>
          <a:xfrm>
            <a:off x="4389120" y="4361688"/>
            <a:ext cx="2697480" cy="777240"/>
          </a:xfrm>
          <a:prstGeom prst="rect">
            <a:avLst/>
          </a:prstGeom>
          <a:noFill/>
          <a:ln/>
        </p:spPr>
        <p:txBody>
          <a:bodyPr wrap="square" lIns="0" tIns="0" rIns="0" bIns="0" rtlCol="0" anchor="ctr"/>
          <a:lstStyle/>
          <a:p>
            <a:pPr marL="0" indent="0">
              <a:lnSpc>
                <a:spcPct val="115000"/>
              </a:lnSpc>
              <a:buNone/>
            </a:pPr>
            <a:r>
              <a:rPr lang="en-US" sz="1600" dirty="0">
                <a:solidFill>
                  <a:srgbClr val="43506B"/>
                </a:solidFill>
                <a:latin typeface="Calibri" pitchFamily="34" charset="0"/>
                <a:ea typeface="Calibri" pitchFamily="34" charset="-122"/>
                <a:cs typeface="Calibri" pitchFamily="34" charset="-120"/>
              </a:rPr>
              <a:t>processed by Google every single day</a:t>
            </a:r>
            <a:endParaRPr lang="en-US" sz="1600" dirty="0"/>
          </a:p>
        </p:txBody>
      </p:sp>
      <p:sp>
        <p:nvSpPr>
          <p:cNvPr id="16" name="Text 14"/>
          <p:cNvSpPr/>
          <p:nvPr/>
        </p:nvSpPr>
        <p:spPr>
          <a:xfrm>
            <a:off x="4389120" y="5166360"/>
            <a:ext cx="2697480" cy="274320"/>
          </a:xfrm>
          <a:prstGeom prst="rect">
            <a:avLst/>
          </a:prstGeom>
          <a:noFill/>
          <a:ln/>
        </p:spPr>
        <p:txBody>
          <a:bodyPr wrap="square" lIns="0" tIns="0" rIns="0" bIns="0" rtlCol="0" anchor="ctr"/>
          <a:lstStyle/>
          <a:p>
            <a:pPr marL="0" indent="0">
              <a:buNone/>
            </a:pPr>
            <a:r>
              <a:rPr lang="en-US" sz="950" i="1" dirty="0">
                <a:solidFill>
                  <a:srgbClr val="8FA3B8"/>
                </a:solidFill>
                <a:latin typeface="Calibri" pitchFamily="34" charset="0"/>
                <a:ea typeface="Calibri" pitchFamily="34" charset="-122"/>
                <a:cs typeface="Calibri" pitchFamily="34" charset="-120"/>
              </a:rPr>
              <a:t>DigitalSilk research</a:t>
            </a:r>
            <a:endParaRPr lang="en-US" sz="950" dirty="0"/>
          </a:p>
        </p:txBody>
      </p:sp>
      <p:sp>
        <p:nvSpPr>
          <p:cNvPr id="17" name="Shape 15"/>
          <p:cNvSpPr/>
          <p:nvPr/>
        </p:nvSpPr>
        <p:spPr>
          <a:xfrm>
            <a:off x="7680960" y="2880360"/>
            <a:ext cx="3246120" cy="2606040"/>
          </a:xfrm>
          <a:prstGeom prst="roundRect">
            <a:avLst>
              <a:gd name="adj" fmla="val 2807"/>
            </a:avLst>
          </a:prstGeom>
          <a:solidFill>
            <a:srgbClr val="F4F8FA"/>
          </a:solidFill>
          <a:ln/>
          <a:effectLst>
            <a:outerShdw blurRad="101600" dist="38100" dir="5400000" algn="bl" rotWithShape="0">
              <a:srgbClr val="000000">
                <a:alpha val="12000"/>
              </a:srgbClr>
            </a:outerShdw>
          </a:effectLst>
        </p:spPr>
      </p:sp>
      <p:sp>
        <p:nvSpPr>
          <p:cNvPr id="18" name="Shape 16"/>
          <p:cNvSpPr/>
          <p:nvPr/>
        </p:nvSpPr>
        <p:spPr>
          <a:xfrm>
            <a:off x="7909560" y="3136392"/>
            <a:ext cx="502920" cy="502920"/>
          </a:xfrm>
          <a:prstGeom prst="roundRect">
            <a:avLst>
              <a:gd name="adj" fmla="val 50909"/>
            </a:avLst>
          </a:prstGeom>
          <a:solidFill>
            <a:srgbClr val="1C7293"/>
          </a:solidFill>
          <a:ln/>
        </p:spPr>
      </p:sp>
      <p:sp>
        <p:nvSpPr>
          <p:cNvPr id="19" name="Text 17"/>
          <p:cNvSpPr/>
          <p:nvPr/>
        </p:nvSpPr>
        <p:spPr>
          <a:xfrm>
            <a:off x="7909560" y="31363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7955280" y="3794760"/>
            <a:ext cx="2697480" cy="594360"/>
          </a:xfrm>
          <a:prstGeom prst="rect">
            <a:avLst/>
          </a:prstGeom>
          <a:noFill/>
          <a:ln/>
        </p:spPr>
        <p:txBody>
          <a:bodyPr wrap="square" lIns="0" tIns="0" rIns="0" bIns="0" rtlCol="0" anchor="ctr"/>
          <a:lstStyle/>
          <a:p>
            <a:pPr marL="0" indent="0">
              <a:buNone/>
            </a:pPr>
            <a:r>
              <a:rPr lang="en-US" sz="3200" b="1" dirty="0">
                <a:solidFill>
                  <a:srgbClr val="065A82"/>
                </a:solidFill>
                <a:latin typeface="Cambria" pitchFamily="34" charset="0"/>
                <a:ea typeface="Cambria" pitchFamily="34" charset="-122"/>
                <a:cs typeface="Cambria" pitchFamily="34" charset="-120"/>
              </a:rPr>
              <a:t>90%</a:t>
            </a:r>
            <a:endParaRPr lang="en-US" sz="3200" dirty="0"/>
          </a:p>
        </p:txBody>
      </p:sp>
      <p:sp>
        <p:nvSpPr>
          <p:cNvPr id="21" name="Text 19"/>
          <p:cNvSpPr/>
          <p:nvPr/>
        </p:nvSpPr>
        <p:spPr>
          <a:xfrm>
            <a:off x="7955280" y="4361688"/>
            <a:ext cx="2697480" cy="777240"/>
          </a:xfrm>
          <a:prstGeom prst="rect">
            <a:avLst/>
          </a:prstGeom>
          <a:noFill/>
          <a:ln/>
        </p:spPr>
        <p:txBody>
          <a:bodyPr wrap="square" lIns="0" tIns="0" rIns="0" bIns="0" rtlCol="0" anchor="ctr"/>
          <a:lstStyle/>
          <a:p>
            <a:pPr marL="0" indent="0">
              <a:lnSpc>
                <a:spcPct val="115000"/>
              </a:lnSpc>
              <a:buNone/>
            </a:pPr>
            <a:r>
              <a:rPr lang="en-US" sz="1600" dirty="0">
                <a:solidFill>
                  <a:srgbClr val="43506B"/>
                </a:solidFill>
                <a:latin typeface="Calibri" pitchFamily="34" charset="0"/>
                <a:ea typeface="Calibri" pitchFamily="34" charset="-122"/>
                <a:cs typeface="Calibri" pitchFamily="34" charset="-120"/>
              </a:rPr>
              <a:t>of all existing global data was created in just the last two years</a:t>
            </a:r>
            <a:endParaRPr lang="en-US" sz="1600" dirty="0"/>
          </a:p>
        </p:txBody>
      </p:sp>
      <p:sp>
        <p:nvSpPr>
          <p:cNvPr id="22" name="Text 20"/>
          <p:cNvSpPr/>
          <p:nvPr/>
        </p:nvSpPr>
        <p:spPr>
          <a:xfrm>
            <a:off x="7955280" y="5166360"/>
            <a:ext cx="2697480" cy="274320"/>
          </a:xfrm>
          <a:prstGeom prst="rect">
            <a:avLst/>
          </a:prstGeom>
          <a:noFill/>
          <a:ln/>
        </p:spPr>
        <p:txBody>
          <a:bodyPr wrap="square" lIns="0" tIns="0" rIns="0" bIns="0" rtlCol="0" anchor="ctr"/>
          <a:lstStyle/>
          <a:p>
            <a:pPr marL="0" indent="0">
              <a:buNone/>
            </a:pPr>
            <a:r>
              <a:rPr lang="en-US" sz="950" i="1" dirty="0">
                <a:solidFill>
                  <a:srgbClr val="8FA3B8"/>
                </a:solidFill>
                <a:latin typeface="Calibri" pitchFamily="34" charset="0"/>
                <a:ea typeface="Calibri" pitchFamily="34" charset="-122"/>
                <a:cs typeface="Calibri" pitchFamily="34" charset="-120"/>
              </a:rPr>
              <a:t>Rivery, 2026</a:t>
            </a:r>
            <a:endParaRPr lang="en-US" sz="950" dirty="0"/>
          </a:p>
        </p:txBody>
      </p:sp>
      <p:sp>
        <p:nvSpPr>
          <p:cNvPr id="23" name="Text 21"/>
          <p:cNvSpPr/>
          <p:nvPr/>
        </p:nvSpPr>
        <p:spPr>
          <a:xfrm>
            <a:off x="548640" y="5715000"/>
            <a:ext cx="11064240" cy="685800"/>
          </a:xfrm>
          <a:prstGeom prst="rect">
            <a:avLst/>
          </a:prstGeom>
          <a:noFill/>
          <a:ln/>
        </p:spPr>
        <p:txBody>
          <a:bodyPr wrap="square" lIns="0" tIns="0" rIns="0" bIns="0" rtlCol="0" anchor="ctr"/>
          <a:lstStyle/>
          <a:p>
            <a:pPr marL="0" indent="0">
              <a:lnSpc>
                <a:spcPct val="120000"/>
              </a:lnSpc>
              <a:buNone/>
            </a:pPr>
            <a:r>
              <a:rPr lang="en-US" b="1" dirty="0">
                <a:solidFill>
                  <a:srgbClr val="21295C"/>
                </a:solidFill>
                <a:latin typeface="Calibri" pitchFamily="34" charset="0"/>
                <a:ea typeface="Calibri" pitchFamily="34" charset="-122"/>
                <a:cs typeface="Calibri" pitchFamily="34" charset="-120"/>
              </a:rPr>
              <a:t>A Distributed File System (DFS) solves this by splitting files into blocks and spreading them across many networked machines, giving faster processing, high availability, fault tolerance, scalability, and cost-effective storage.</a:t>
            </a:r>
            <a:endParaRPr lang="en-US" dirty="0"/>
          </a:p>
        </p:txBody>
      </p:sp>
    </p:spTree>
    <p:extLst>
      <p:ext uri="{BB962C8B-B14F-4D97-AF65-F5344CB8AC3E}">
        <p14:creationId xmlns:p14="http://schemas.microsoft.com/office/powerpoint/2010/main" val="480873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What </a:t>
            </a:r>
            <a:r>
              <a:rPr lang="en-US" sz="3000" b="1" dirty="0" smtClean="0">
                <a:solidFill>
                  <a:srgbClr val="21295C"/>
                </a:solidFill>
                <a:latin typeface="Cambria" pitchFamily="34" charset="0"/>
                <a:ea typeface="Cambria" pitchFamily="34" charset="-122"/>
                <a:cs typeface="Cambria" pitchFamily="34" charset="-120"/>
              </a:rPr>
              <a:t>is </a:t>
            </a:r>
            <a:r>
              <a:rPr lang="en-US" sz="3000" b="1" dirty="0">
                <a:solidFill>
                  <a:srgbClr val="21295C"/>
                </a:solidFill>
                <a:latin typeface="Cambria" pitchFamily="34" charset="0"/>
                <a:ea typeface="Cambria" pitchFamily="34" charset="-122"/>
                <a:cs typeface="Cambria" pitchFamily="34" charset="-120"/>
              </a:rPr>
              <a:t>a Distributed File System?</a:t>
            </a:r>
            <a:endParaRPr lang="en-US" sz="3000" dirty="0"/>
          </a:p>
        </p:txBody>
      </p:sp>
      <p:sp>
        <p:nvSpPr>
          <p:cNvPr id="4" name="Shape 2"/>
          <p:cNvSpPr/>
          <p:nvPr/>
        </p:nvSpPr>
        <p:spPr>
          <a:xfrm>
            <a:off x="548640" y="1554480"/>
            <a:ext cx="5212080" cy="4480560"/>
          </a:xfrm>
          <a:prstGeom prst="roundRect">
            <a:avLst>
              <a:gd name="adj" fmla="val 1633"/>
            </a:avLst>
          </a:prstGeom>
          <a:solidFill>
            <a:srgbClr val="21295C"/>
          </a:solidFill>
          <a:ln/>
        </p:spPr>
      </p:sp>
      <p:sp>
        <p:nvSpPr>
          <p:cNvPr id="5" name="Text 3"/>
          <p:cNvSpPr/>
          <p:nvPr/>
        </p:nvSpPr>
        <p:spPr>
          <a:xfrm>
            <a:off x="868680" y="1828800"/>
            <a:ext cx="45720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DEFINITION</a:t>
            </a:r>
            <a:endParaRPr lang="en-US" sz="1200" dirty="0"/>
          </a:p>
        </p:txBody>
      </p:sp>
      <p:sp>
        <p:nvSpPr>
          <p:cNvPr id="6" name="Text 4"/>
          <p:cNvSpPr/>
          <p:nvPr/>
        </p:nvSpPr>
        <p:spPr>
          <a:xfrm>
            <a:off x="868680" y="2240280"/>
            <a:ext cx="4572000" cy="1554480"/>
          </a:xfrm>
          <a:prstGeom prst="rect">
            <a:avLst/>
          </a:prstGeom>
          <a:noFill/>
          <a:ln/>
        </p:spPr>
        <p:txBody>
          <a:bodyPr wrap="square" lIns="0" tIns="0" rIns="0" bIns="0" rtlCol="0" anchor="ctr"/>
          <a:lstStyle/>
          <a:p>
            <a:pPr marL="0" indent="0">
              <a:lnSpc>
                <a:spcPct val="130000"/>
              </a:lnSpc>
              <a:buNone/>
            </a:pPr>
            <a:r>
              <a:rPr lang="en-US" sz="1700" i="1" dirty="0">
                <a:solidFill>
                  <a:srgbClr val="FFFFFF"/>
                </a:solidFill>
                <a:latin typeface="Cambria" pitchFamily="34" charset="0"/>
                <a:ea typeface="Cambria" pitchFamily="34" charset="-122"/>
                <a:cs typeface="Cambria" pitchFamily="34" charset="-120"/>
              </a:rPr>
              <a:t>A file storage system in which files are stored across multiple computers connected through a network, allowing users to access them as though they are stored on a single system.</a:t>
            </a:r>
            <a:endParaRPr lang="en-US" sz="1700" dirty="0"/>
          </a:p>
        </p:txBody>
      </p:sp>
      <p:sp>
        <p:nvSpPr>
          <p:cNvPr id="7" name="Shape 5"/>
          <p:cNvSpPr/>
          <p:nvPr/>
        </p:nvSpPr>
        <p:spPr>
          <a:xfrm>
            <a:off x="868680" y="3977640"/>
            <a:ext cx="4480560" cy="0"/>
          </a:xfrm>
          <a:prstGeom prst="line">
            <a:avLst/>
          </a:prstGeom>
          <a:noFill/>
          <a:ln w="12700">
            <a:solidFill>
              <a:srgbClr val="1C7293"/>
            </a:solidFill>
            <a:prstDash val="solid"/>
          </a:ln>
        </p:spPr>
      </p:sp>
      <p:sp>
        <p:nvSpPr>
          <p:cNvPr id="8" name="Text 6"/>
          <p:cNvSpPr/>
          <p:nvPr/>
        </p:nvSpPr>
        <p:spPr>
          <a:xfrm>
            <a:off x="868680" y="4160520"/>
            <a:ext cx="4114800" cy="320040"/>
          </a:xfrm>
          <a:prstGeom prst="rect">
            <a:avLst/>
          </a:prstGeom>
          <a:noFill/>
          <a:ln/>
        </p:spPr>
        <p:txBody>
          <a:bodyPr wrap="square" lIns="0" tIns="0" rIns="0" bIns="0" rtlCol="0" anchor="ctr"/>
          <a:lstStyle/>
          <a:p>
            <a:pPr marL="0" indent="0">
              <a:buNone/>
            </a:pPr>
            <a:r>
              <a:rPr lang="en-US" sz="1300" b="1" dirty="0">
                <a:solidFill>
                  <a:srgbClr val="CFE8EF"/>
                </a:solidFill>
                <a:latin typeface="Calibri" pitchFamily="34" charset="0"/>
                <a:ea typeface="Calibri" pitchFamily="34" charset="-122"/>
                <a:cs typeface="Calibri" pitchFamily="34" charset="-120"/>
              </a:rPr>
              <a:t>Enables:</a:t>
            </a:r>
            <a:endParaRPr lang="en-US" sz="1300" dirty="0"/>
          </a:p>
        </p:txBody>
      </p:sp>
      <p:sp>
        <p:nvSpPr>
          <p:cNvPr id="9" name="Shape 7"/>
          <p:cNvSpPr/>
          <p:nvPr/>
        </p:nvSpPr>
        <p:spPr>
          <a:xfrm>
            <a:off x="896112" y="4526280"/>
            <a:ext cx="82296" cy="82296"/>
          </a:xfrm>
          <a:prstGeom prst="ellipse">
            <a:avLst/>
          </a:prstGeom>
          <a:solidFill>
            <a:srgbClr val="F2A93B"/>
          </a:solidFill>
          <a:ln/>
        </p:spPr>
      </p:sp>
      <p:sp>
        <p:nvSpPr>
          <p:cNvPr id="10" name="Text 8"/>
          <p:cNvSpPr/>
          <p:nvPr/>
        </p:nvSpPr>
        <p:spPr>
          <a:xfrm>
            <a:off x="1097280" y="4443984"/>
            <a:ext cx="4480560" cy="274320"/>
          </a:xfrm>
          <a:prstGeom prst="rect">
            <a:avLst/>
          </a:prstGeom>
          <a:noFill/>
          <a:ln/>
        </p:spPr>
        <p:txBody>
          <a:bodyPr wrap="square" lIns="0" tIns="0" rIns="0" bIns="0" rtlCol="0" anchor="ctr"/>
          <a:lstStyle/>
          <a:p>
            <a:pPr marL="0" indent="0">
              <a:buNone/>
            </a:pPr>
            <a:r>
              <a:rPr lang="en-US" sz="1600" dirty="0">
                <a:solidFill>
                  <a:srgbClr val="CFE8EF"/>
                </a:solidFill>
                <a:latin typeface="Calibri" pitchFamily="34" charset="0"/>
                <a:ea typeface="Calibri" pitchFamily="34" charset="-122"/>
                <a:cs typeface="Calibri" pitchFamily="34" charset="-120"/>
              </a:rPr>
              <a:t>Faster, parallel processing</a:t>
            </a:r>
            <a:endParaRPr lang="en-US" sz="1600" dirty="0"/>
          </a:p>
        </p:txBody>
      </p:sp>
      <p:sp>
        <p:nvSpPr>
          <p:cNvPr id="11" name="Shape 9"/>
          <p:cNvSpPr/>
          <p:nvPr/>
        </p:nvSpPr>
        <p:spPr>
          <a:xfrm>
            <a:off x="896112" y="4818888"/>
            <a:ext cx="82296" cy="82296"/>
          </a:xfrm>
          <a:prstGeom prst="ellipse">
            <a:avLst/>
          </a:prstGeom>
          <a:solidFill>
            <a:srgbClr val="F2A93B"/>
          </a:solidFill>
          <a:ln/>
        </p:spPr>
      </p:sp>
      <p:sp>
        <p:nvSpPr>
          <p:cNvPr id="12" name="Text 10"/>
          <p:cNvSpPr/>
          <p:nvPr/>
        </p:nvSpPr>
        <p:spPr>
          <a:xfrm>
            <a:off x="1097280" y="4736592"/>
            <a:ext cx="4480560" cy="274320"/>
          </a:xfrm>
          <a:prstGeom prst="rect">
            <a:avLst/>
          </a:prstGeom>
          <a:noFill/>
          <a:ln/>
        </p:spPr>
        <p:txBody>
          <a:bodyPr wrap="square" lIns="0" tIns="0" rIns="0" bIns="0" rtlCol="0" anchor="ctr"/>
          <a:lstStyle/>
          <a:p>
            <a:pPr marL="0" indent="0">
              <a:buNone/>
            </a:pPr>
            <a:r>
              <a:rPr lang="en-US" sz="1600" dirty="0">
                <a:solidFill>
                  <a:srgbClr val="CFE8EF"/>
                </a:solidFill>
                <a:latin typeface="Calibri" pitchFamily="34" charset="0"/>
                <a:ea typeface="Calibri" pitchFamily="34" charset="-122"/>
                <a:cs typeface="Calibri" pitchFamily="34" charset="-120"/>
              </a:rPr>
              <a:t>High availability</a:t>
            </a:r>
            <a:endParaRPr lang="en-US" sz="1600" dirty="0"/>
          </a:p>
        </p:txBody>
      </p:sp>
      <p:sp>
        <p:nvSpPr>
          <p:cNvPr id="13" name="Shape 11"/>
          <p:cNvSpPr/>
          <p:nvPr/>
        </p:nvSpPr>
        <p:spPr>
          <a:xfrm>
            <a:off x="896112" y="5111496"/>
            <a:ext cx="82296" cy="82296"/>
          </a:xfrm>
          <a:prstGeom prst="ellipse">
            <a:avLst/>
          </a:prstGeom>
          <a:solidFill>
            <a:srgbClr val="F2A93B"/>
          </a:solidFill>
          <a:ln/>
        </p:spPr>
      </p:sp>
      <p:sp>
        <p:nvSpPr>
          <p:cNvPr id="14" name="Text 12"/>
          <p:cNvSpPr/>
          <p:nvPr/>
        </p:nvSpPr>
        <p:spPr>
          <a:xfrm>
            <a:off x="1097280" y="5029200"/>
            <a:ext cx="4480560" cy="274320"/>
          </a:xfrm>
          <a:prstGeom prst="rect">
            <a:avLst/>
          </a:prstGeom>
          <a:noFill/>
          <a:ln/>
        </p:spPr>
        <p:txBody>
          <a:bodyPr wrap="square" lIns="0" tIns="0" rIns="0" bIns="0" rtlCol="0" anchor="ctr"/>
          <a:lstStyle/>
          <a:p>
            <a:pPr marL="0" indent="0">
              <a:buNone/>
            </a:pPr>
            <a:r>
              <a:rPr lang="en-US" sz="1600" dirty="0">
                <a:solidFill>
                  <a:srgbClr val="CFE8EF"/>
                </a:solidFill>
                <a:latin typeface="Calibri" pitchFamily="34" charset="0"/>
                <a:ea typeface="Calibri" pitchFamily="34" charset="-122"/>
                <a:cs typeface="Calibri" pitchFamily="34" charset="-120"/>
              </a:rPr>
              <a:t>Better fault tolerance</a:t>
            </a:r>
            <a:endParaRPr lang="en-US" sz="1600" dirty="0"/>
          </a:p>
        </p:txBody>
      </p:sp>
      <p:sp>
        <p:nvSpPr>
          <p:cNvPr id="15" name="Shape 13"/>
          <p:cNvSpPr/>
          <p:nvPr/>
        </p:nvSpPr>
        <p:spPr>
          <a:xfrm>
            <a:off x="896112" y="5404104"/>
            <a:ext cx="82296" cy="82296"/>
          </a:xfrm>
          <a:prstGeom prst="ellipse">
            <a:avLst/>
          </a:prstGeom>
          <a:solidFill>
            <a:srgbClr val="F2A93B"/>
          </a:solidFill>
          <a:ln/>
        </p:spPr>
      </p:sp>
      <p:sp>
        <p:nvSpPr>
          <p:cNvPr id="16" name="Text 14"/>
          <p:cNvSpPr/>
          <p:nvPr/>
        </p:nvSpPr>
        <p:spPr>
          <a:xfrm>
            <a:off x="1097280" y="5321808"/>
            <a:ext cx="4480560" cy="274320"/>
          </a:xfrm>
          <a:prstGeom prst="rect">
            <a:avLst/>
          </a:prstGeom>
          <a:noFill/>
          <a:ln/>
        </p:spPr>
        <p:txBody>
          <a:bodyPr wrap="square" lIns="0" tIns="0" rIns="0" bIns="0" rtlCol="0" anchor="ctr"/>
          <a:lstStyle/>
          <a:p>
            <a:pPr marL="0" indent="0">
              <a:buNone/>
            </a:pPr>
            <a:r>
              <a:rPr lang="en-US" sz="1600" dirty="0">
                <a:solidFill>
                  <a:srgbClr val="CFE8EF"/>
                </a:solidFill>
                <a:latin typeface="Calibri" pitchFamily="34" charset="0"/>
                <a:ea typeface="Calibri" pitchFamily="34" charset="-122"/>
                <a:cs typeface="Calibri" pitchFamily="34" charset="-120"/>
              </a:rPr>
              <a:t>Scalability</a:t>
            </a:r>
            <a:endParaRPr lang="en-US" sz="1600" dirty="0"/>
          </a:p>
        </p:txBody>
      </p:sp>
      <p:sp>
        <p:nvSpPr>
          <p:cNvPr id="17" name="Shape 15"/>
          <p:cNvSpPr/>
          <p:nvPr/>
        </p:nvSpPr>
        <p:spPr>
          <a:xfrm>
            <a:off x="896112" y="5696712"/>
            <a:ext cx="82296" cy="82296"/>
          </a:xfrm>
          <a:prstGeom prst="ellipse">
            <a:avLst/>
          </a:prstGeom>
          <a:solidFill>
            <a:srgbClr val="F2A93B"/>
          </a:solidFill>
          <a:ln/>
        </p:spPr>
      </p:sp>
      <p:sp>
        <p:nvSpPr>
          <p:cNvPr id="18" name="Text 16"/>
          <p:cNvSpPr/>
          <p:nvPr/>
        </p:nvSpPr>
        <p:spPr>
          <a:xfrm>
            <a:off x="1097280" y="5614416"/>
            <a:ext cx="4480560" cy="274320"/>
          </a:xfrm>
          <a:prstGeom prst="rect">
            <a:avLst/>
          </a:prstGeom>
          <a:noFill/>
          <a:ln/>
        </p:spPr>
        <p:txBody>
          <a:bodyPr wrap="square" lIns="0" tIns="0" rIns="0" bIns="0" rtlCol="0" anchor="ctr"/>
          <a:lstStyle/>
          <a:p>
            <a:pPr marL="0" indent="0">
              <a:buNone/>
            </a:pPr>
            <a:r>
              <a:rPr lang="en-US" sz="1600" dirty="0">
                <a:solidFill>
                  <a:srgbClr val="CFE8EF"/>
                </a:solidFill>
                <a:latin typeface="Calibri" pitchFamily="34" charset="0"/>
                <a:ea typeface="Calibri" pitchFamily="34" charset="-122"/>
                <a:cs typeface="Calibri" pitchFamily="34" charset="-120"/>
              </a:rPr>
              <a:t>Cost-effective storage</a:t>
            </a:r>
            <a:endParaRPr lang="en-US" sz="1600" dirty="0"/>
          </a:p>
        </p:txBody>
      </p:sp>
      <p:sp>
        <p:nvSpPr>
          <p:cNvPr id="19" name="Shape 17"/>
          <p:cNvSpPr/>
          <p:nvPr/>
        </p:nvSpPr>
        <p:spPr>
          <a:xfrm>
            <a:off x="5989320" y="1554480"/>
            <a:ext cx="5623560" cy="4480560"/>
          </a:xfrm>
          <a:prstGeom prst="roundRect">
            <a:avLst>
              <a:gd name="adj" fmla="val 1633"/>
            </a:avLst>
          </a:prstGeom>
          <a:solidFill>
            <a:srgbClr val="F4F8FA"/>
          </a:solidFill>
          <a:ln/>
        </p:spPr>
      </p:sp>
      <p:sp>
        <p:nvSpPr>
          <p:cNvPr id="20" name="Text 18"/>
          <p:cNvSpPr/>
          <p:nvPr/>
        </p:nvSpPr>
        <p:spPr>
          <a:xfrm>
            <a:off x="6309360" y="1828800"/>
            <a:ext cx="45720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REAL-WORLD ANALOGY</a:t>
            </a:r>
            <a:endParaRPr lang="en-US" sz="1200" dirty="0"/>
          </a:p>
        </p:txBody>
      </p:sp>
      <p:sp>
        <p:nvSpPr>
          <p:cNvPr id="21" name="Text 19"/>
          <p:cNvSpPr/>
          <p:nvPr/>
        </p:nvSpPr>
        <p:spPr>
          <a:xfrm>
            <a:off x="6309360" y="2194560"/>
            <a:ext cx="5029200" cy="45720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The University Library</a:t>
            </a:r>
            <a:endParaRPr lang="en-US" sz="1900" dirty="0"/>
          </a:p>
        </p:txBody>
      </p:sp>
      <p:sp>
        <p:nvSpPr>
          <p:cNvPr id="22" name="Shape 20"/>
          <p:cNvSpPr/>
          <p:nvPr/>
        </p:nvSpPr>
        <p:spPr>
          <a:xfrm>
            <a:off x="6309360" y="2880360"/>
            <a:ext cx="1417320" cy="1051560"/>
          </a:xfrm>
          <a:prstGeom prst="roundRect">
            <a:avLst>
              <a:gd name="adj" fmla="val 5217"/>
            </a:avLst>
          </a:prstGeom>
          <a:solidFill>
            <a:srgbClr val="1C7293"/>
          </a:solidFill>
          <a:ln/>
        </p:spPr>
      </p:sp>
      <p:sp>
        <p:nvSpPr>
          <p:cNvPr id="23" name="Text 21"/>
          <p:cNvSpPr/>
          <p:nvPr/>
        </p:nvSpPr>
        <p:spPr>
          <a:xfrm>
            <a:off x="6309360" y="2880360"/>
            <a:ext cx="1417320"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Science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Room</a:t>
            </a:r>
            <a:endParaRPr lang="en-US" sz="1600" dirty="0"/>
          </a:p>
        </p:txBody>
      </p:sp>
      <p:sp>
        <p:nvSpPr>
          <p:cNvPr id="24" name="Shape 22"/>
          <p:cNvSpPr/>
          <p:nvPr/>
        </p:nvSpPr>
        <p:spPr>
          <a:xfrm>
            <a:off x="8001000" y="2880360"/>
            <a:ext cx="1417320" cy="1051560"/>
          </a:xfrm>
          <a:prstGeom prst="roundRect">
            <a:avLst>
              <a:gd name="adj" fmla="val 5217"/>
            </a:avLst>
          </a:prstGeom>
          <a:solidFill>
            <a:srgbClr val="F2A93B"/>
          </a:solidFill>
          <a:ln/>
        </p:spPr>
      </p:sp>
      <p:sp>
        <p:nvSpPr>
          <p:cNvPr id="25" name="Text 23"/>
          <p:cNvSpPr/>
          <p:nvPr/>
        </p:nvSpPr>
        <p:spPr>
          <a:xfrm>
            <a:off x="8001000" y="2880360"/>
            <a:ext cx="1417320"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Arts</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Room</a:t>
            </a:r>
            <a:endParaRPr lang="en-US" sz="1600" dirty="0"/>
          </a:p>
        </p:txBody>
      </p:sp>
      <p:sp>
        <p:nvSpPr>
          <p:cNvPr id="26" name="Shape 24"/>
          <p:cNvSpPr/>
          <p:nvPr/>
        </p:nvSpPr>
        <p:spPr>
          <a:xfrm>
            <a:off x="9692640" y="2880360"/>
            <a:ext cx="1417320" cy="1051560"/>
          </a:xfrm>
          <a:prstGeom prst="roundRect">
            <a:avLst>
              <a:gd name="adj" fmla="val 5217"/>
            </a:avLst>
          </a:prstGeom>
          <a:solidFill>
            <a:srgbClr val="1C7293"/>
          </a:solidFill>
          <a:ln/>
        </p:spPr>
      </p:sp>
      <p:sp>
        <p:nvSpPr>
          <p:cNvPr id="27" name="Text 25"/>
          <p:cNvSpPr/>
          <p:nvPr/>
        </p:nvSpPr>
        <p:spPr>
          <a:xfrm>
            <a:off x="9692640" y="2880360"/>
            <a:ext cx="1417320"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Law</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Room</a:t>
            </a:r>
            <a:endParaRPr lang="en-US" sz="1600" dirty="0"/>
          </a:p>
        </p:txBody>
      </p:sp>
      <p:sp>
        <p:nvSpPr>
          <p:cNvPr id="28" name="Text 26"/>
          <p:cNvSpPr/>
          <p:nvPr/>
        </p:nvSpPr>
        <p:spPr>
          <a:xfrm>
            <a:off x="6309360" y="4023360"/>
            <a:ext cx="5120640" cy="274320"/>
          </a:xfrm>
          <a:prstGeom prst="rect">
            <a:avLst/>
          </a:prstGeom>
          <a:noFill/>
          <a:ln/>
        </p:spPr>
        <p:txBody>
          <a:bodyPr wrap="square" lIns="0" tIns="0" rIns="0" bIns="0" rtlCol="0" anchor="ctr"/>
          <a:lstStyle/>
          <a:p>
            <a:pPr marL="0" indent="0">
              <a:buNone/>
            </a:pPr>
            <a:r>
              <a:rPr lang="en-US" sz="1000" i="1" dirty="0">
                <a:solidFill>
                  <a:srgbClr val="8FA3B8"/>
                </a:solidFill>
                <a:latin typeface="Calibri" pitchFamily="34" charset="0"/>
                <a:ea typeface="Calibri" pitchFamily="34" charset="-122"/>
                <a:cs typeface="Calibri" pitchFamily="34" charset="-120"/>
              </a:rPr>
              <a:t>(middle room temporarily closed for maintenance)</a:t>
            </a:r>
            <a:endParaRPr lang="en-US" sz="1000" dirty="0"/>
          </a:p>
        </p:txBody>
      </p:sp>
      <p:sp>
        <p:nvSpPr>
          <p:cNvPr id="29" name="Text 27"/>
          <p:cNvSpPr/>
          <p:nvPr/>
        </p:nvSpPr>
        <p:spPr>
          <a:xfrm>
            <a:off x="6309360" y="4526280"/>
            <a:ext cx="5074920" cy="457200"/>
          </a:xfrm>
          <a:prstGeom prst="rect">
            <a:avLst/>
          </a:prstGeom>
          <a:noFill/>
          <a:ln/>
        </p:spPr>
        <p:txBody>
          <a:bodyPr wrap="square" lIns="0" tIns="0" rIns="0" bIns="0" rtlCol="0" anchor="ctr"/>
          <a:lstStyle/>
          <a:p>
            <a:pPr marL="342900" indent="-342900">
              <a:lnSpc>
                <a:spcPct val="110000"/>
              </a:lnSpc>
              <a:buSzPct val="100000"/>
              <a:buChar char="•"/>
            </a:pPr>
            <a:r>
              <a:rPr lang="en-US" sz="1600" dirty="0">
                <a:solidFill>
                  <a:srgbClr val="43506B"/>
                </a:solidFill>
                <a:latin typeface="Calibri" pitchFamily="34" charset="0"/>
                <a:ea typeface="Calibri" pitchFamily="34" charset="-122"/>
                <a:cs typeface="Calibri" pitchFamily="34" charset="-120"/>
              </a:rPr>
              <a:t>Books are distributed across rooms by department, not piled in one room</a:t>
            </a:r>
            <a:endParaRPr lang="en-US" sz="1600" dirty="0"/>
          </a:p>
        </p:txBody>
      </p:sp>
      <p:sp>
        <p:nvSpPr>
          <p:cNvPr id="30" name="Text 28"/>
          <p:cNvSpPr/>
          <p:nvPr/>
        </p:nvSpPr>
        <p:spPr>
          <a:xfrm>
            <a:off x="6309360" y="5029200"/>
            <a:ext cx="5074920" cy="457200"/>
          </a:xfrm>
          <a:prstGeom prst="rect">
            <a:avLst/>
          </a:prstGeom>
          <a:noFill/>
          <a:ln/>
        </p:spPr>
        <p:txBody>
          <a:bodyPr wrap="square" lIns="0" tIns="0" rIns="0" bIns="0" rtlCol="0" anchor="ctr"/>
          <a:lstStyle/>
          <a:p>
            <a:pPr marL="342900" indent="-342900">
              <a:lnSpc>
                <a:spcPct val="110000"/>
              </a:lnSpc>
              <a:buSzPct val="100000"/>
              <a:buChar char="•"/>
            </a:pPr>
            <a:r>
              <a:rPr lang="en-US" sz="1600" dirty="0">
                <a:solidFill>
                  <a:srgbClr val="43506B"/>
                </a:solidFill>
                <a:latin typeface="Calibri" pitchFamily="34" charset="0"/>
                <a:ea typeface="Calibri" pitchFamily="34" charset="-122"/>
                <a:cs typeface="Calibri" pitchFamily="34" charset="-120"/>
              </a:rPr>
              <a:t>Students access different rooms simultaneously, without waiting in line</a:t>
            </a:r>
            <a:endParaRPr lang="en-US" sz="1600" dirty="0"/>
          </a:p>
        </p:txBody>
      </p:sp>
      <p:sp>
        <p:nvSpPr>
          <p:cNvPr id="31" name="Text 29"/>
          <p:cNvSpPr/>
          <p:nvPr/>
        </p:nvSpPr>
        <p:spPr>
          <a:xfrm>
            <a:off x="6309360" y="5532120"/>
            <a:ext cx="5074920" cy="457200"/>
          </a:xfrm>
          <a:prstGeom prst="rect">
            <a:avLst/>
          </a:prstGeom>
          <a:noFill/>
          <a:ln/>
        </p:spPr>
        <p:txBody>
          <a:bodyPr wrap="square" lIns="0" tIns="0" rIns="0" bIns="0" rtlCol="0" anchor="ctr"/>
          <a:lstStyle/>
          <a:p>
            <a:pPr marL="342900" indent="-342900">
              <a:lnSpc>
                <a:spcPct val="110000"/>
              </a:lnSpc>
              <a:buSzPct val="100000"/>
              <a:buChar char="•"/>
            </a:pPr>
            <a:r>
              <a:rPr lang="en-US" sz="1600" dirty="0">
                <a:solidFill>
                  <a:srgbClr val="43506B"/>
                </a:solidFill>
                <a:latin typeface="Calibri" pitchFamily="34" charset="0"/>
                <a:ea typeface="Calibri" pitchFamily="34" charset="-122"/>
                <a:cs typeface="Calibri" pitchFamily="34" charset="-120"/>
              </a:rPr>
              <a:t>If one room closes, students still reach books in the other rooms</a:t>
            </a:r>
            <a:endParaRPr lang="en-US" sz="1600" dirty="0"/>
          </a:p>
        </p:txBody>
      </p:sp>
    </p:spTree>
    <p:extLst>
      <p:ext uri="{BB962C8B-B14F-4D97-AF65-F5344CB8AC3E}">
        <p14:creationId xmlns:p14="http://schemas.microsoft.com/office/powerpoint/2010/main" val="59074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065A82"/>
                </a:solidFill>
                <a:latin typeface="Calibri" pitchFamily="34" charset="0"/>
                <a:ea typeface="Calibri" pitchFamily="34" charset="-122"/>
                <a:cs typeface="Calibri" pitchFamily="34" charset="-120"/>
              </a:rPr>
              <a:t>COMPARISON</a:t>
            </a:r>
            <a:endParaRPr lang="en-US" dirty="0"/>
          </a:p>
        </p:txBody>
      </p:sp>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Why Do We Need Distributed File Systems?</a:t>
            </a:r>
            <a:endParaRPr lang="en-US" sz="2800" dirty="0"/>
          </a:p>
        </p:txBody>
      </p:sp>
      <p:sp>
        <p:nvSpPr>
          <p:cNvPr id="4" name="Shape 2"/>
          <p:cNvSpPr/>
          <p:nvPr/>
        </p:nvSpPr>
        <p:spPr>
          <a:xfrm>
            <a:off x="548640" y="1691640"/>
            <a:ext cx="5074920" cy="502920"/>
          </a:xfrm>
          <a:prstGeom prst="roundRect">
            <a:avLst>
              <a:gd name="adj" fmla="val 10909"/>
            </a:avLst>
          </a:prstGeom>
          <a:solidFill>
            <a:srgbClr val="C7CBD1"/>
          </a:solidFill>
          <a:ln/>
        </p:spPr>
      </p:sp>
      <p:sp>
        <p:nvSpPr>
          <p:cNvPr id="5" name="Text 3"/>
          <p:cNvSpPr/>
          <p:nvPr/>
        </p:nvSpPr>
        <p:spPr>
          <a:xfrm>
            <a:off x="548640" y="1691640"/>
            <a:ext cx="5074920" cy="502920"/>
          </a:xfrm>
          <a:prstGeom prst="rect">
            <a:avLst/>
          </a:prstGeom>
          <a:noFill/>
          <a:ln/>
        </p:spPr>
        <p:txBody>
          <a:bodyPr wrap="square" lIns="0" tIns="0" rIns="0" bIns="0" rtlCol="0" anchor="ctr"/>
          <a:lstStyle/>
          <a:p>
            <a:pPr marL="0" indent="0" algn="ctr">
              <a:buNone/>
            </a:pPr>
            <a:r>
              <a:rPr lang="en-US" b="1" kern="0" spc="100" dirty="0">
                <a:solidFill>
                  <a:srgbClr val="21295C"/>
                </a:solidFill>
                <a:latin typeface="Calibri" pitchFamily="34" charset="0"/>
                <a:ea typeface="Calibri" pitchFamily="34" charset="-122"/>
                <a:cs typeface="Calibri" pitchFamily="34" charset="-120"/>
              </a:rPr>
              <a:t>TRADITIONAL STORAGE</a:t>
            </a:r>
            <a:endParaRPr lang="en-US" dirty="0"/>
          </a:p>
        </p:txBody>
      </p:sp>
      <p:sp>
        <p:nvSpPr>
          <p:cNvPr id="6" name="Shape 4"/>
          <p:cNvSpPr/>
          <p:nvPr/>
        </p:nvSpPr>
        <p:spPr>
          <a:xfrm>
            <a:off x="6080760" y="1691640"/>
            <a:ext cx="5074920" cy="502920"/>
          </a:xfrm>
          <a:prstGeom prst="roundRect">
            <a:avLst>
              <a:gd name="adj" fmla="val 10909"/>
            </a:avLst>
          </a:prstGeom>
          <a:solidFill>
            <a:srgbClr val="065A82"/>
          </a:solidFill>
          <a:ln/>
        </p:spPr>
      </p:sp>
      <p:sp>
        <p:nvSpPr>
          <p:cNvPr id="7" name="Text 5"/>
          <p:cNvSpPr/>
          <p:nvPr/>
        </p:nvSpPr>
        <p:spPr>
          <a:xfrm>
            <a:off x="6080760" y="1691640"/>
            <a:ext cx="5074920" cy="502920"/>
          </a:xfrm>
          <a:prstGeom prst="rect">
            <a:avLst/>
          </a:prstGeom>
          <a:noFill/>
          <a:ln/>
        </p:spPr>
        <p:txBody>
          <a:bodyPr wrap="square" lIns="0" tIns="0" rIns="0" bIns="0" rtlCol="0" anchor="ctr"/>
          <a:lstStyle/>
          <a:p>
            <a:pPr marL="0" indent="0" algn="ctr">
              <a:buNone/>
            </a:pPr>
            <a:r>
              <a:rPr lang="en-US" b="1" kern="0" spc="100" dirty="0">
                <a:solidFill>
                  <a:srgbClr val="FFFFFF"/>
                </a:solidFill>
                <a:latin typeface="Calibri" pitchFamily="34" charset="0"/>
                <a:ea typeface="Calibri" pitchFamily="34" charset="-122"/>
                <a:cs typeface="Calibri" pitchFamily="34" charset="-120"/>
              </a:rPr>
              <a:t>DISTRIBUTED STORAGE</a:t>
            </a:r>
            <a:endParaRPr lang="en-US" dirty="0"/>
          </a:p>
        </p:txBody>
      </p:sp>
      <p:sp>
        <p:nvSpPr>
          <p:cNvPr id="8" name="Shape 6"/>
          <p:cNvSpPr/>
          <p:nvPr/>
        </p:nvSpPr>
        <p:spPr>
          <a:xfrm>
            <a:off x="548640" y="2331720"/>
            <a:ext cx="5074920" cy="676656"/>
          </a:xfrm>
          <a:prstGeom prst="rect">
            <a:avLst/>
          </a:prstGeom>
          <a:solidFill>
            <a:srgbClr val="F4F8FA"/>
          </a:solidFill>
          <a:ln/>
        </p:spPr>
      </p:sp>
      <p:sp>
        <p:nvSpPr>
          <p:cNvPr id="9" name="Text 7"/>
          <p:cNvSpPr/>
          <p:nvPr/>
        </p:nvSpPr>
        <p:spPr>
          <a:xfrm>
            <a:off x="777240" y="2331720"/>
            <a:ext cx="4617720" cy="676656"/>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Limited capacity</a:t>
            </a:r>
            <a:endParaRPr lang="en-US" dirty="0"/>
          </a:p>
        </p:txBody>
      </p:sp>
      <p:sp>
        <p:nvSpPr>
          <p:cNvPr id="10" name="Shape 8"/>
          <p:cNvSpPr/>
          <p:nvPr/>
        </p:nvSpPr>
        <p:spPr>
          <a:xfrm>
            <a:off x="6080760" y="2331720"/>
            <a:ext cx="5074920" cy="676656"/>
          </a:xfrm>
          <a:prstGeom prst="rect">
            <a:avLst/>
          </a:prstGeom>
          <a:solidFill>
            <a:srgbClr val="CFE8EF"/>
          </a:solidFill>
          <a:ln/>
        </p:spPr>
      </p:sp>
      <p:sp>
        <p:nvSpPr>
          <p:cNvPr id="11" name="Text 9"/>
          <p:cNvSpPr/>
          <p:nvPr/>
        </p:nvSpPr>
        <p:spPr>
          <a:xfrm>
            <a:off x="6309360" y="2331720"/>
            <a:ext cx="4617720" cy="676656"/>
          </a:xfrm>
          <a:prstGeom prst="rect">
            <a:avLst/>
          </a:prstGeom>
          <a:noFill/>
          <a:ln/>
        </p:spPr>
        <p:txBody>
          <a:bodyPr wrap="square" lIns="0" tIns="0" rIns="0" bIns="0" rtlCol="0" anchor="ctr"/>
          <a:lstStyle/>
          <a:p>
            <a:pPr marL="0" indent="0" algn="l">
              <a:buNone/>
            </a:pPr>
            <a:r>
              <a:rPr lang="en-US" b="1" dirty="0">
                <a:solidFill>
                  <a:srgbClr val="21295C"/>
                </a:solidFill>
                <a:latin typeface="Calibri" pitchFamily="34" charset="0"/>
                <a:ea typeface="Calibri" pitchFamily="34" charset="-122"/>
                <a:cs typeface="Calibri" pitchFamily="34" charset="-120"/>
              </a:rPr>
              <a:t>Virtually unlimited storage</a:t>
            </a:r>
            <a:endParaRPr lang="en-US" dirty="0"/>
          </a:p>
        </p:txBody>
      </p:sp>
      <p:sp>
        <p:nvSpPr>
          <p:cNvPr id="12" name="Shape 10"/>
          <p:cNvSpPr/>
          <p:nvPr/>
        </p:nvSpPr>
        <p:spPr>
          <a:xfrm>
            <a:off x="548640" y="3081528"/>
            <a:ext cx="5074920" cy="676656"/>
          </a:xfrm>
          <a:prstGeom prst="rect">
            <a:avLst/>
          </a:prstGeom>
          <a:solidFill>
            <a:srgbClr val="FFFFFF"/>
          </a:solidFill>
          <a:ln/>
        </p:spPr>
      </p:sp>
      <p:sp>
        <p:nvSpPr>
          <p:cNvPr id="13" name="Text 11"/>
          <p:cNvSpPr/>
          <p:nvPr/>
        </p:nvSpPr>
        <p:spPr>
          <a:xfrm>
            <a:off x="777240" y="3081528"/>
            <a:ext cx="4617720" cy="676656"/>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Single point of failure</a:t>
            </a:r>
            <a:endParaRPr lang="en-US" dirty="0"/>
          </a:p>
        </p:txBody>
      </p:sp>
      <p:sp>
        <p:nvSpPr>
          <p:cNvPr id="14" name="Shape 12"/>
          <p:cNvSpPr/>
          <p:nvPr/>
        </p:nvSpPr>
        <p:spPr>
          <a:xfrm>
            <a:off x="6080760" y="3081528"/>
            <a:ext cx="5074920" cy="676656"/>
          </a:xfrm>
          <a:prstGeom prst="rect">
            <a:avLst/>
          </a:prstGeom>
          <a:solidFill>
            <a:srgbClr val="E4F1F5"/>
          </a:solidFill>
          <a:ln/>
        </p:spPr>
      </p:sp>
      <p:sp>
        <p:nvSpPr>
          <p:cNvPr id="15" name="Text 13"/>
          <p:cNvSpPr/>
          <p:nvPr/>
        </p:nvSpPr>
        <p:spPr>
          <a:xfrm>
            <a:off x="6309360" y="3081528"/>
            <a:ext cx="4617720" cy="676656"/>
          </a:xfrm>
          <a:prstGeom prst="rect">
            <a:avLst/>
          </a:prstGeom>
          <a:noFill/>
          <a:ln/>
        </p:spPr>
        <p:txBody>
          <a:bodyPr wrap="square" lIns="0" tIns="0" rIns="0" bIns="0" rtlCol="0" anchor="ctr"/>
          <a:lstStyle/>
          <a:p>
            <a:pPr marL="0" indent="0" algn="l">
              <a:buNone/>
            </a:pPr>
            <a:r>
              <a:rPr lang="en-US" b="1" dirty="0">
                <a:solidFill>
                  <a:srgbClr val="21295C"/>
                </a:solidFill>
                <a:latin typeface="Calibri" pitchFamily="34" charset="0"/>
                <a:ea typeface="Calibri" pitchFamily="34" charset="-122"/>
                <a:cs typeface="Calibri" pitchFamily="34" charset="-120"/>
              </a:rPr>
              <a:t>Multiple replicas ensure availability</a:t>
            </a:r>
            <a:endParaRPr lang="en-US" dirty="0"/>
          </a:p>
        </p:txBody>
      </p:sp>
      <p:sp>
        <p:nvSpPr>
          <p:cNvPr id="16" name="Shape 14"/>
          <p:cNvSpPr/>
          <p:nvPr/>
        </p:nvSpPr>
        <p:spPr>
          <a:xfrm>
            <a:off x="548640" y="3831336"/>
            <a:ext cx="5074920" cy="676656"/>
          </a:xfrm>
          <a:prstGeom prst="rect">
            <a:avLst/>
          </a:prstGeom>
          <a:solidFill>
            <a:srgbClr val="F4F8FA"/>
          </a:solidFill>
          <a:ln/>
        </p:spPr>
      </p:sp>
      <p:sp>
        <p:nvSpPr>
          <p:cNvPr id="17" name="Text 15"/>
          <p:cNvSpPr/>
          <p:nvPr/>
        </p:nvSpPr>
        <p:spPr>
          <a:xfrm>
            <a:off x="777240" y="3831336"/>
            <a:ext cx="4617720" cy="676656"/>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Low scalability</a:t>
            </a:r>
            <a:endParaRPr lang="en-US" dirty="0"/>
          </a:p>
        </p:txBody>
      </p:sp>
      <p:sp>
        <p:nvSpPr>
          <p:cNvPr id="18" name="Shape 16"/>
          <p:cNvSpPr/>
          <p:nvPr/>
        </p:nvSpPr>
        <p:spPr>
          <a:xfrm>
            <a:off x="6080760" y="3831336"/>
            <a:ext cx="5074920" cy="676656"/>
          </a:xfrm>
          <a:prstGeom prst="rect">
            <a:avLst/>
          </a:prstGeom>
          <a:solidFill>
            <a:srgbClr val="CFE8EF"/>
          </a:solidFill>
          <a:ln/>
        </p:spPr>
      </p:sp>
      <p:sp>
        <p:nvSpPr>
          <p:cNvPr id="19" name="Text 17"/>
          <p:cNvSpPr/>
          <p:nvPr/>
        </p:nvSpPr>
        <p:spPr>
          <a:xfrm>
            <a:off x="6309360" y="3831336"/>
            <a:ext cx="4617720" cy="676656"/>
          </a:xfrm>
          <a:prstGeom prst="rect">
            <a:avLst/>
          </a:prstGeom>
          <a:noFill/>
          <a:ln/>
        </p:spPr>
        <p:txBody>
          <a:bodyPr wrap="square" lIns="0" tIns="0" rIns="0" bIns="0" rtlCol="0" anchor="ctr"/>
          <a:lstStyle/>
          <a:p>
            <a:pPr marL="0" indent="0" algn="l">
              <a:buNone/>
            </a:pPr>
            <a:r>
              <a:rPr lang="en-US" b="1" dirty="0">
                <a:solidFill>
                  <a:srgbClr val="21295C"/>
                </a:solidFill>
                <a:latin typeface="Calibri" pitchFamily="34" charset="0"/>
                <a:ea typeface="Calibri" pitchFamily="34" charset="-122"/>
                <a:cs typeface="Calibri" pitchFamily="34" charset="-120"/>
              </a:rPr>
              <a:t>Easily scalable</a:t>
            </a:r>
            <a:endParaRPr lang="en-US" dirty="0"/>
          </a:p>
        </p:txBody>
      </p:sp>
      <p:sp>
        <p:nvSpPr>
          <p:cNvPr id="20" name="Shape 18"/>
          <p:cNvSpPr/>
          <p:nvPr/>
        </p:nvSpPr>
        <p:spPr>
          <a:xfrm>
            <a:off x="548640" y="4581144"/>
            <a:ext cx="5074920" cy="676656"/>
          </a:xfrm>
          <a:prstGeom prst="rect">
            <a:avLst/>
          </a:prstGeom>
          <a:solidFill>
            <a:srgbClr val="FFFFFF"/>
          </a:solidFill>
          <a:ln/>
        </p:spPr>
      </p:sp>
      <p:sp>
        <p:nvSpPr>
          <p:cNvPr id="21" name="Text 19"/>
          <p:cNvSpPr/>
          <p:nvPr/>
        </p:nvSpPr>
        <p:spPr>
          <a:xfrm>
            <a:off x="777240" y="4581144"/>
            <a:ext cx="4617720" cy="676656"/>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Slower processing</a:t>
            </a:r>
            <a:endParaRPr lang="en-US" dirty="0"/>
          </a:p>
        </p:txBody>
      </p:sp>
      <p:sp>
        <p:nvSpPr>
          <p:cNvPr id="22" name="Shape 20"/>
          <p:cNvSpPr/>
          <p:nvPr/>
        </p:nvSpPr>
        <p:spPr>
          <a:xfrm>
            <a:off x="6080760" y="4581144"/>
            <a:ext cx="5074920" cy="676656"/>
          </a:xfrm>
          <a:prstGeom prst="rect">
            <a:avLst/>
          </a:prstGeom>
          <a:solidFill>
            <a:srgbClr val="E4F1F5"/>
          </a:solidFill>
          <a:ln/>
        </p:spPr>
      </p:sp>
      <p:sp>
        <p:nvSpPr>
          <p:cNvPr id="23" name="Text 21"/>
          <p:cNvSpPr/>
          <p:nvPr/>
        </p:nvSpPr>
        <p:spPr>
          <a:xfrm>
            <a:off x="6309360" y="4581144"/>
            <a:ext cx="4617720" cy="676656"/>
          </a:xfrm>
          <a:prstGeom prst="rect">
            <a:avLst/>
          </a:prstGeom>
          <a:noFill/>
          <a:ln/>
        </p:spPr>
        <p:txBody>
          <a:bodyPr wrap="square" lIns="0" tIns="0" rIns="0" bIns="0" rtlCol="0" anchor="ctr"/>
          <a:lstStyle/>
          <a:p>
            <a:pPr marL="0" indent="0" algn="l">
              <a:buNone/>
            </a:pPr>
            <a:r>
              <a:rPr lang="en-US" b="1" dirty="0">
                <a:solidFill>
                  <a:srgbClr val="21295C"/>
                </a:solidFill>
                <a:latin typeface="Calibri" pitchFamily="34" charset="0"/>
                <a:ea typeface="Calibri" pitchFamily="34" charset="-122"/>
                <a:cs typeface="Calibri" pitchFamily="34" charset="-120"/>
              </a:rPr>
              <a:t>Parallel processing</a:t>
            </a:r>
            <a:endParaRPr lang="en-US" dirty="0"/>
          </a:p>
        </p:txBody>
      </p:sp>
      <p:sp>
        <p:nvSpPr>
          <p:cNvPr id="24" name="Shape 22"/>
          <p:cNvSpPr/>
          <p:nvPr/>
        </p:nvSpPr>
        <p:spPr>
          <a:xfrm>
            <a:off x="548640" y="5330952"/>
            <a:ext cx="5074920" cy="676656"/>
          </a:xfrm>
          <a:prstGeom prst="rect">
            <a:avLst/>
          </a:prstGeom>
          <a:solidFill>
            <a:srgbClr val="F4F8FA"/>
          </a:solidFill>
          <a:ln/>
        </p:spPr>
      </p:sp>
      <p:sp>
        <p:nvSpPr>
          <p:cNvPr id="25" name="Text 23"/>
          <p:cNvSpPr/>
          <p:nvPr/>
        </p:nvSpPr>
        <p:spPr>
          <a:xfrm>
            <a:off x="777240" y="5330952"/>
            <a:ext cx="4617720" cy="676656"/>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Expensive upgrades</a:t>
            </a:r>
            <a:endParaRPr lang="en-US" dirty="0"/>
          </a:p>
        </p:txBody>
      </p:sp>
      <p:sp>
        <p:nvSpPr>
          <p:cNvPr id="26" name="Shape 24"/>
          <p:cNvSpPr/>
          <p:nvPr/>
        </p:nvSpPr>
        <p:spPr>
          <a:xfrm>
            <a:off x="6080760" y="5330952"/>
            <a:ext cx="5074920" cy="676656"/>
          </a:xfrm>
          <a:prstGeom prst="rect">
            <a:avLst/>
          </a:prstGeom>
          <a:solidFill>
            <a:srgbClr val="CFE8EF"/>
          </a:solidFill>
          <a:ln/>
        </p:spPr>
      </p:sp>
      <p:sp>
        <p:nvSpPr>
          <p:cNvPr id="27" name="Text 25"/>
          <p:cNvSpPr/>
          <p:nvPr/>
        </p:nvSpPr>
        <p:spPr>
          <a:xfrm>
            <a:off x="6309360" y="5330952"/>
            <a:ext cx="4617720" cy="676656"/>
          </a:xfrm>
          <a:prstGeom prst="rect">
            <a:avLst/>
          </a:prstGeom>
          <a:noFill/>
          <a:ln/>
        </p:spPr>
        <p:txBody>
          <a:bodyPr wrap="square" lIns="0" tIns="0" rIns="0" bIns="0" rtlCol="0" anchor="ctr"/>
          <a:lstStyle/>
          <a:p>
            <a:pPr marL="0" indent="0" algn="l">
              <a:buNone/>
            </a:pPr>
            <a:r>
              <a:rPr lang="en-US" b="1" dirty="0">
                <a:solidFill>
                  <a:srgbClr val="21295C"/>
                </a:solidFill>
                <a:latin typeface="Calibri" pitchFamily="34" charset="0"/>
                <a:ea typeface="Calibri" pitchFamily="34" charset="-122"/>
                <a:cs typeface="Calibri" pitchFamily="34" charset="-120"/>
              </a:rPr>
              <a:t>Commodity hardware can be added</a:t>
            </a:r>
            <a:endParaRPr lang="en-US" dirty="0"/>
          </a:p>
        </p:txBody>
      </p:sp>
    </p:spTree>
    <p:extLst>
      <p:ext uri="{BB962C8B-B14F-4D97-AF65-F5344CB8AC3E}">
        <p14:creationId xmlns:p14="http://schemas.microsoft.com/office/powerpoint/2010/main" val="118014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3200" b="1" kern="0" spc="200" dirty="0">
                <a:solidFill>
                  <a:srgbClr val="F2A93B"/>
                </a:solidFill>
                <a:latin typeface="Calibri" pitchFamily="34" charset="0"/>
                <a:ea typeface="Calibri" pitchFamily="34" charset="-122"/>
                <a:cs typeface="Calibri" pitchFamily="34" charset="-120"/>
              </a:rPr>
              <a:t>ARCHITECTURE</a:t>
            </a:r>
            <a:endParaRPr lang="en-US" sz="3200" dirty="0"/>
          </a:p>
        </p:txBody>
      </p:sp>
      <p:sp>
        <p:nvSpPr>
          <p:cNvPr id="3" name="Text 1"/>
          <p:cNvSpPr/>
          <p:nvPr/>
        </p:nvSpPr>
        <p:spPr>
          <a:xfrm>
            <a:off x="548640" y="685800"/>
            <a:ext cx="1005840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a DFS Is Structured</a:t>
            </a:r>
            <a:endParaRPr lang="en-US" sz="2800" dirty="0"/>
          </a:p>
        </p:txBody>
      </p:sp>
      <p:grpSp>
        <p:nvGrpSpPr>
          <p:cNvPr id="36" name="Group 35"/>
          <p:cNvGrpSpPr/>
          <p:nvPr/>
        </p:nvGrpSpPr>
        <p:grpSpPr>
          <a:xfrm>
            <a:off x="457200" y="1618488"/>
            <a:ext cx="5608320" cy="4343400"/>
            <a:chOff x="1783080" y="1600200"/>
            <a:chExt cx="8595360" cy="4343400"/>
          </a:xfrm>
        </p:grpSpPr>
        <p:sp>
          <p:nvSpPr>
            <p:cNvPr id="4" name="Shape 2"/>
            <p:cNvSpPr/>
            <p:nvPr/>
          </p:nvSpPr>
          <p:spPr>
            <a:xfrm>
              <a:off x="5257800" y="1600200"/>
              <a:ext cx="1645920" cy="548640"/>
            </a:xfrm>
            <a:prstGeom prst="roundRect">
              <a:avLst>
                <a:gd name="adj" fmla="val 50000"/>
              </a:avLst>
            </a:prstGeom>
            <a:solidFill>
              <a:srgbClr val="F2A93B"/>
            </a:solidFill>
            <a:ln/>
          </p:spPr>
        </p:sp>
        <p:sp>
          <p:nvSpPr>
            <p:cNvPr id="5" name="Text 3"/>
            <p:cNvSpPr/>
            <p:nvPr/>
          </p:nvSpPr>
          <p:spPr>
            <a:xfrm>
              <a:off x="5257800" y="1600200"/>
              <a:ext cx="164592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libri" pitchFamily="34" charset="0"/>
                  <a:ea typeface="Calibri" pitchFamily="34" charset="-122"/>
                  <a:cs typeface="Calibri" pitchFamily="34" charset="-120"/>
                </a:rPr>
                <a:t>USER</a:t>
              </a:r>
              <a:endParaRPr lang="en-US" sz="2000" dirty="0"/>
            </a:p>
          </p:txBody>
        </p:sp>
        <p:sp>
          <p:nvSpPr>
            <p:cNvPr id="6" name="Shape 4"/>
            <p:cNvSpPr/>
            <p:nvPr/>
          </p:nvSpPr>
          <p:spPr>
            <a:xfrm>
              <a:off x="6080760" y="2148840"/>
              <a:ext cx="0" cy="320040"/>
            </a:xfrm>
            <a:prstGeom prst="line">
              <a:avLst/>
            </a:prstGeom>
            <a:noFill/>
            <a:ln w="19050">
              <a:solidFill>
                <a:srgbClr val="CFE8EF"/>
              </a:solidFill>
              <a:prstDash val="solid"/>
            </a:ln>
          </p:spPr>
        </p:sp>
        <p:sp>
          <p:nvSpPr>
            <p:cNvPr id="7" name="Shape 5"/>
            <p:cNvSpPr/>
            <p:nvPr/>
          </p:nvSpPr>
          <p:spPr>
            <a:xfrm>
              <a:off x="4343400" y="2468880"/>
              <a:ext cx="3474720" cy="502920"/>
            </a:xfrm>
            <a:prstGeom prst="roundRect">
              <a:avLst>
                <a:gd name="adj" fmla="val 10909"/>
              </a:avLst>
            </a:prstGeom>
            <a:solidFill>
              <a:srgbClr val="1C7293"/>
            </a:solidFill>
            <a:ln/>
          </p:spPr>
        </p:sp>
        <p:sp>
          <p:nvSpPr>
            <p:cNvPr id="8" name="Text 6"/>
            <p:cNvSpPr/>
            <p:nvPr/>
          </p:nvSpPr>
          <p:spPr>
            <a:xfrm>
              <a:off x="4343400" y="2468880"/>
              <a:ext cx="3474720" cy="5029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File System Interface</a:t>
              </a:r>
              <a:endParaRPr lang="en-US" dirty="0"/>
            </a:p>
          </p:txBody>
        </p:sp>
        <p:sp>
          <p:nvSpPr>
            <p:cNvPr id="9" name="Shape 7"/>
            <p:cNvSpPr/>
            <p:nvPr/>
          </p:nvSpPr>
          <p:spPr>
            <a:xfrm>
              <a:off x="6080760" y="2971800"/>
              <a:ext cx="0" cy="320040"/>
            </a:xfrm>
            <a:prstGeom prst="line">
              <a:avLst/>
            </a:prstGeom>
            <a:noFill/>
            <a:ln w="19050">
              <a:solidFill>
                <a:srgbClr val="CFE8EF"/>
              </a:solidFill>
              <a:prstDash val="solid"/>
            </a:ln>
          </p:spPr>
        </p:sp>
        <p:sp>
          <p:nvSpPr>
            <p:cNvPr id="10" name="Shape 8"/>
            <p:cNvSpPr/>
            <p:nvPr/>
          </p:nvSpPr>
          <p:spPr>
            <a:xfrm>
              <a:off x="4114800" y="3291840"/>
              <a:ext cx="3931920" cy="685800"/>
            </a:xfrm>
            <a:prstGeom prst="roundRect">
              <a:avLst>
                <a:gd name="adj" fmla="val 8000"/>
              </a:avLst>
            </a:prstGeom>
            <a:solidFill>
              <a:srgbClr val="065A82"/>
            </a:solidFill>
            <a:ln w="19050">
              <a:solidFill>
                <a:srgbClr val="F2A93B"/>
              </a:solidFill>
              <a:prstDash val="solid"/>
            </a:ln>
          </p:spPr>
        </p:sp>
        <p:sp>
          <p:nvSpPr>
            <p:cNvPr id="11" name="Text 9"/>
            <p:cNvSpPr/>
            <p:nvPr/>
          </p:nvSpPr>
          <p:spPr>
            <a:xfrm>
              <a:off x="4114800" y="3337560"/>
              <a:ext cx="393192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Master Server</a:t>
              </a:r>
              <a:endParaRPr lang="en-US" sz="2000" dirty="0"/>
            </a:p>
          </p:txBody>
        </p:sp>
        <p:sp>
          <p:nvSpPr>
            <p:cNvPr id="12" name="Text 10"/>
            <p:cNvSpPr/>
            <p:nvPr/>
          </p:nvSpPr>
          <p:spPr>
            <a:xfrm>
              <a:off x="4114800" y="3675888"/>
              <a:ext cx="3931920" cy="274320"/>
            </a:xfrm>
            <a:prstGeom prst="rect">
              <a:avLst/>
            </a:prstGeom>
            <a:noFill/>
            <a:ln/>
          </p:spPr>
          <p:txBody>
            <a:bodyPr wrap="square" lIns="0" tIns="0" rIns="0" bIns="0" rtlCol="0" anchor="ctr"/>
            <a:lstStyle/>
            <a:p>
              <a:pPr marL="0" indent="0" algn="ctr">
                <a:buNone/>
              </a:pPr>
              <a:r>
                <a:rPr lang="en-US" sz="1400" i="1" dirty="0">
                  <a:solidFill>
                    <a:srgbClr val="CFE8EF"/>
                  </a:solidFill>
                  <a:latin typeface="Calibri" pitchFamily="34" charset="0"/>
                  <a:ea typeface="Calibri" pitchFamily="34" charset="-122"/>
                  <a:cs typeface="Calibri" pitchFamily="34" charset="-120"/>
                </a:rPr>
                <a:t>(Metadata Management)</a:t>
              </a:r>
              <a:endParaRPr lang="en-US" sz="1400" dirty="0"/>
            </a:p>
          </p:txBody>
        </p:sp>
        <p:sp>
          <p:nvSpPr>
            <p:cNvPr id="13" name="Shape 11"/>
            <p:cNvSpPr/>
            <p:nvPr/>
          </p:nvSpPr>
          <p:spPr>
            <a:xfrm>
              <a:off x="6080760" y="3977640"/>
              <a:ext cx="0" cy="320040"/>
            </a:xfrm>
            <a:prstGeom prst="line">
              <a:avLst/>
            </a:prstGeom>
            <a:noFill/>
            <a:ln w="19050">
              <a:solidFill>
                <a:srgbClr val="CFE8EF"/>
              </a:solidFill>
              <a:prstDash val="solid"/>
            </a:ln>
          </p:spPr>
        </p:sp>
        <p:sp>
          <p:nvSpPr>
            <p:cNvPr id="14" name="Shape 12"/>
            <p:cNvSpPr/>
            <p:nvPr/>
          </p:nvSpPr>
          <p:spPr>
            <a:xfrm>
              <a:off x="3063240" y="4297680"/>
              <a:ext cx="0" cy="274320"/>
            </a:xfrm>
            <a:prstGeom prst="line">
              <a:avLst/>
            </a:prstGeom>
            <a:noFill/>
            <a:ln w="19050">
              <a:solidFill>
                <a:srgbClr val="CFE8EF"/>
              </a:solidFill>
              <a:prstDash val="solid"/>
            </a:ln>
          </p:spPr>
        </p:sp>
        <p:sp>
          <p:nvSpPr>
            <p:cNvPr id="15" name="Shape 13"/>
            <p:cNvSpPr/>
            <p:nvPr/>
          </p:nvSpPr>
          <p:spPr>
            <a:xfrm>
              <a:off x="6080760" y="3977640"/>
              <a:ext cx="0" cy="320040"/>
            </a:xfrm>
            <a:prstGeom prst="line">
              <a:avLst/>
            </a:prstGeom>
            <a:noFill/>
            <a:ln w="19050">
              <a:solidFill>
                <a:srgbClr val="CFE8EF"/>
              </a:solidFill>
              <a:prstDash val="solid"/>
            </a:ln>
          </p:spPr>
        </p:sp>
        <p:sp>
          <p:nvSpPr>
            <p:cNvPr id="16" name="Shape 14"/>
            <p:cNvSpPr/>
            <p:nvPr/>
          </p:nvSpPr>
          <p:spPr>
            <a:xfrm>
              <a:off x="6080760" y="4297680"/>
              <a:ext cx="0" cy="274320"/>
            </a:xfrm>
            <a:prstGeom prst="line">
              <a:avLst/>
            </a:prstGeom>
            <a:noFill/>
            <a:ln w="19050">
              <a:solidFill>
                <a:srgbClr val="CFE8EF"/>
              </a:solidFill>
              <a:prstDash val="solid"/>
            </a:ln>
          </p:spPr>
        </p:sp>
        <p:sp>
          <p:nvSpPr>
            <p:cNvPr id="17" name="Shape 15"/>
            <p:cNvSpPr/>
            <p:nvPr/>
          </p:nvSpPr>
          <p:spPr>
            <a:xfrm>
              <a:off x="6080760" y="3977640"/>
              <a:ext cx="3017520" cy="320040"/>
            </a:xfrm>
            <a:prstGeom prst="line">
              <a:avLst/>
            </a:prstGeom>
            <a:noFill/>
            <a:ln w="19050">
              <a:solidFill>
                <a:srgbClr val="CFE8EF"/>
              </a:solidFill>
              <a:prstDash val="solid"/>
            </a:ln>
          </p:spPr>
        </p:sp>
        <p:sp>
          <p:nvSpPr>
            <p:cNvPr id="18" name="Shape 16"/>
            <p:cNvSpPr/>
            <p:nvPr/>
          </p:nvSpPr>
          <p:spPr>
            <a:xfrm>
              <a:off x="9098280" y="4297680"/>
              <a:ext cx="0" cy="274320"/>
            </a:xfrm>
            <a:prstGeom prst="line">
              <a:avLst/>
            </a:prstGeom>
            <a:noFill/>
            <a:ln w="19050">
              <a:solidFill>
                <a:srgbClr val="CFE8EF"/>
              </a:solidFill>
              <a:prstDash val="solid"/>
            </a:ln>
          </p:spPr>
        </p:sp>
        <p:sp>
          <p:nvSpPr>
            <p:cNvPr id="19" name="Shape 17"/>
            <p:cNvSpPr/>
            <p:nvPr/>
          </p:nvSpPr>
          <p:spPr>
            <a:xfrm>
              <a:off x="1783080" y="4572000"/>
              <a:ext cx="2560320" cy="640080"/>
            </a:xfrm>
            <a:prstGeom prst="roundRect">
              <a:avLst>
                <a:gd name="adj" fmla="val 8571"/>
              </a:avLst>
            </a:prstGeom>
            <a:solidFill>
              <a:srgbClr val="F4F8FA"/>
            </a:solidFill>
            <a:ln/>
          </p:spPr>
        </p:sp>
        <p:sp>
          <p:nvSpPr>
            <p:cNvPr id="20" name="Text 18"/>
            <p:cNvSpPr/>
            <p:nvPr/>
          </p:nvSpPr>
          <p:spPr>
            <a:xfrm>
              <a:off x="1783080" y="4572000"/>
              <a:ext cx="2560320" cy="64008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Storage Node 1</a:t>
              </a:r>
              <a:endParaRPr lang="en-US" dirty="0"/>
            </a:p>
          </p:txBody>
        </p:sp>
        <p:sp>
          <p:nvSpPr>
            <p:cNvPr id="21" name="Shape 19"/>
            <p:cNvSpPr/>
            <p:nvPr/>
          </p:nvSpPr>
          <p:spPr>
            <a:xfrm>
              <a:off x="3063240" y="5212080"/>
              <a:ext cx="0" cy="228600"/>
            </a:xfrm>
            <a:prstGeom prst="line">
              <a:avLst/>
            </a:prstGeom>
            <a:noFill/>
            <a:ln w="19050">
              <a:solidFill>
                <a:srgbClr val="CFE8EF"/>
              </a:solidFill>
              <a:prstDash val="solid"/>
            </a:ln>
          </p:spPr>
        </p:sp>
        <p:sp>
          <p:nvSpPr>
            <p:cNvPr id="22" name="Shape 20"/>
            <p:cNvSpPr/>
            <p:nvPr/>
          </p:nvSpPr>
          <p:spPr>
            <a:xfrm>
              <a:off x="2286000" y="5440680"/>
              <a:ext cx="1554480" cy="502920"/>
            </a:xfrm>
            <a:prstGeom prst="roundRect">
              <a:avLst>
                <a:gd name="adj" fmla="val 50909"/>
              </a:avLst>
            </a:prstGeom>
            <a:solidFill>
              <a:srgbClr val="F2A93B"/>
            </a:solidFill>
            <a:ln/>
          </p:spPr>
        </p:sp>
        <p:sp>
          <p:nvSpPr>
            <p:cNvPr id="23" name="Text 21"/>
            <p:cNvSpPr/>
            <p:nvPr/>
          </p:nvSpPr>
          <p:spPr>
            <a:xfrm>
              <a:off x="2286000" y="5440680"/>
              <a:ext cx="1554480" cy="50292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Block A</a:t>
              </a:r>
              <a:endParaRPr lang="en-US" dirty="0"/>
            </a:p>
          </p:txBody>
        </p:sp>
        <p:sp>
          <p:nvSpPr>
            <p:cNvPr id="24" name="Shape 22"/>
            <p:cNvSpPr/>
            <p:nvPr/>
          </p:nvSpPr>
          <p:spPr>
            <a:xfrm>
              <a:off x="4800600" y="4572000"/>
              <a:ext cx="2560320" cy="640080"/>
            </a:xfrm>
            <a:prstGeom prst="roundRect">
              <a:avLst>
                <a:gd name="adj" fmla="val 8571"/>
              </a:avLst>
            </a:prstGeom>
            <a:solidFill>
              <a:srgbClr val="F4F8FA"/>
            </a:solidFill>
            <a:ln/>
          </p:spPr>
        </p:sp>
        <p:sp>
          <p:nvSpPr>
            <p:cNvPr id="25" name="Text 23"/>
            <p:cNvSpPr/>
            <p:nvPr/>
          </p:nvSpPr>
          <p:spPr>
            <a:xfrm>
              <a:off x="4800600" y="4572000"/>
              <a:ext cx="2560320" cy="64008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Storage Node 2</a:t>
              </a:r>
              <a:endParaRPr lang="en-US" dirty="0"/>
            </a:p>
          </p:txBody>
        </p:sp>
        <p:sp>
          <p:nvSpPr>
            <p:cNvPr id="26" name="Shape 24"/>
            <p:cNvSpPr/>
            <p:nvPr/>
          </p:nvSpPr>
          <p:spPr>
            <a:xfrm>
              <a:off x="6080760" y="5212080"/>
              <a:ext cx="0" cy="228600"/>
            </a:xfrm>
            <a:prstGeom prst="line">
              <a:avLst/>
            </a:prstGeom>
            <a:noFill/>
            <a:ln w="19050">
              <a:solidFill>
                <a:srgbClr val="CFE8EF"/>
              </a:solidFill>
              <a:prstDash val="solid"/>
            </a:ln>
          </p:spPr>
        </p:sp>
        <p:sp>
          <p:nvSpPr>
            <p:cNvPr id="27" name="Shape 25"/>
            <p:cNvSpPr/>
            <p:nvPr/>
          </p:nvSpPr>
          <p:spPr>
            <a:xfrm>
              <a:off x="5303520" y="5440680"/>
              <a:ext cx="1554480" cy="502920"/>
            </a:xfrm>
            <a:prstGeom prst="roundRect">
              <a:avLst>
                <a:gd name="adj" fmla="val 50909"/>
              </a:avLst>
            </a:prstGeom>
            <a:solidFill>
              <a:srgbClr val="F2A93B"/>
            </a:solidFill>
            <a:ln/>
          </p:spPr>
        </p:sp>
        <p:sp>
          <p:nvSpPr>
            <p:cNvPr id="28" name="Text 26"/>
            <p:cNvSpPr/>
            <p:nvPr/>
          </p:nvSpPr>
          <p:spPr>
            <a:xfrm>
              <a:off x="5303520" y="5440680"/>
              <a:ext cx="1554480" cy="50292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Block B</a:t>
              </a:r>
              <a:endParaRPr lang="en-US" dirty="0"/>
            </a:p>
          </p:txBody>
        </p:sp>
        <p:sp>
          <p:nvSpPr>
            <p:cNvPr id="29" name="Shape 27"/>
            <p:cNvSpPr/>
            <p:nvPr/>
          </p:nvSpPr>
          <p:spPr>
            <a:xfrm>
              <a:off x="7818120" y="4572000"/>
              <a:ext cx="2560320" cy="640080"/>
            </a:xfrm>
            <a:prstGeom prst="roundRect">
              <a:avLst>
                <a:gd name="adj" fmla="val 8571"/>
              </a:avLst>
            </a:prstGeom>
            <a:solidFill>
              <a:srgbClr val="F4F8FA"/>
            </a:solidFill>
            <a:ln/>
          </p:spPr>
        </p:sp>
        <p:sp>
          <p:nvSpPr>
            <p:cNvPr id="30" name="Text 28"/>
            <p:cNvSpPr/>
            <p:nvPr/>
          </p:nvSpPr>
          <p:spPr>
            <a:xfrm>
              <a:off x="7818120" y="4572000"/>
              <a:ext cx="2560320" cy="64008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Storage Node 3</a:t>
              </a:r>
              <a:endParaRPr lang="en-US" dirty="0"/>
            </a:p>
          </p:txBody>
        </p:sp>
        <p:sp>
          <p:nvSpPr>
            <p:cNvPr id="31" name="Shape 29"/>
            <p:cNvSpPr/>
            <p:nvPr/>
          </p:nvSpPr>
          <p:spPr>
            <a:xfrm>
              <a:off x="9098280" y="5212080"/>
              <a:ext cx="0" cy="228600"/>
            </a:xfrm>
            <a:prstGeom prst="line">
              <a:avLst/>
            </a:prstGeom>
            <a:noFill/>
            <a:ln w="19050">
              <a:solidFill>
                <a:srgbClr val="CFE8EF"/>
              </a:solidFill>
              <a:prstDash val="solid"/>
            </a:ln>
          </p:spPr>
        </p:sp>
        <p:sp>
          <p:nvSpPr>
            <p:cNvPr id="32" name="Shape 30"/>
            <p:cNvSpPr/>
            <p:nvPr/>
          </p:nvSpPr>
          <p:spPr>
            <a:xfrm>
              <a:off x="8321040" y="5440680"/>
              <a:ext cx="1554480" cy="502920"/>
            </a:xfrm>
            <a:prstGeom prst="roundRect">
              <a:avLst>
                <a:gd name="adj" fmla="val 50909"/>
              </a:avLst>
            </a:prstGeom>
            <a:solidFill>
              <a:srgbClr val="F2A93B"/>
            </a:solidFill>
            <a:ln/>
          </p:spPr>
        </p:sp>
        <p:sp>
          <p:nvSpPr>
            <p:cNvPr id="33" name="Text 31"/>
            <p:cNvSpPr/>
            <p:nvPr/>
          </p:nvSpPr>
          <p:spPr>
            <a:xfrm>
              <a:off x="8321040" y="5440680"/>
              <a:ext cx="1554480" cy="50292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Block C</a:t>
              </a:r>
              <a:endParaRPr lang="en-US" dirty="0"/>
            </a:p>
          </p:txBody>
        </p:sp>
        <p:sp>
          <p:nvSpPr>
            <p:cNvPr id="37" name="Shape 15">
              <a:extLst>
                <a:ext uri="{FF2B5EF4-FFF2-40B4-BE49-F238E27FC236}">
                  <a16:creationId xmlns:a16="http://schemas.microsoft.com/office/drawing/2014/main" xmlns="" id="{D8CBC92F-1331-66E2-3ED6-5CDAB15885B9}"/>
                </a:ext>
              </a:extLst>
            </p:cNvPr>
            <p:cNvSpPr/>
            <p:nvPr/>
          </p:nvSpPr>
          <p:spPr>
            <a:xfrm flipV="1">
              <a:off x="3063240" y="3977640"/>
              <a:ext cx="3017516" cy="320040"/>
            </a:xfrm>
            <a:prstGeom prst="line">
              <a:avLst/>
            </a:prstGeom>
            <a:noFill/>
            <a:ln w="19050">
              <a:solidFill>
                <a:srgbClr val="CFE8EF"/>
              </a:solidFill>
              <a:prstDash val="solid"/>
            </a:ln>
          </p:spPr>
        </p:sp>
      </p:grpSp>
      <p:pic>
        <p:nvPicPr>
          <p:cNvPr id="1026" name="Picture 2" descr="Big Data Concepts: Overview. Terms Discussed: | by Abhinav Vinci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5929" y="1188594"/>
            <a:ext cx="5303865" cy="5116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23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065A82"/>
                </a:solidFill>
                <a:latin typeface="Calibri" pitchFamily="34" charset="0"/>
                <a:ea typeface="Calibri" pitchFamily="34" charset="-122"/>
                <a:cs typeface="Calibri" pitchFamily="34" charset="-120"/>
              </a:rPr>
              <a:t>COMPONENTS</a:t>
            </a:r>
            <a:endParaRPr lang="en-US" dirty="0"/>
          </a:p>
        </p:txBody>
      </p:sp>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Three Building Blocks of a DFS</a:t>
            </a:r>
            <a:endParaRPr lang="en-US" sz="2800" dirty="0"/>
          </a:p>
        </p:txBody>
      </p:sp>
      <p:sp>
        <p:nvSpPr>
          <p:cNvPr id="4" name="Shape 2"/>
          <p:cNvSpPr/>
          <p:nvPr/>
        </p:nvSpPr>
        <p:spPr>
          <a:xfrm>
            <a:off x="548640" y="1691640"/>
            <a:ext cx="3520440" cy="4343400"/>
          </a:xfrm>
          <a:prstGeom prst="roundRect">
            <a:avLst>
              <a:gd name="adj" fmla="val 2078"/>
            </a:avLst>
          </a:prstGeom>
          <a:solidFill>
            <a:srgbClr val="F4F8FA"/>
          </a:solidFill>
          <a:ln/>
          <a:effectLst>
            <a:outerShdw blurRad="101600" dist="38100" dir="5400000" algn="bl" rotWithShape="0">
              <a:srgbClr val="000000">
                <a:alpha val="10000"/>
              </a:srgbClr>
            </a:outerShdw>
          </a:effectLst>
        </p:spPr>
      </p:sp>
      <p:sp>
        <p:nvSpPr>
          <p:cNvPr id="5" name="Shape 3"/>
          <p:cNvSpPr/>
          <p:nvPr/>
        </p:nvSpPr>
        <p:spPr>
          <a:xfrm>
            <a:off x="822960" y="1965960"/>
            <a:ext cx="685800" cy="685800"/>
          </a:xfrm>
          <a:prstGeom prst="ellipse">
            <a:avLst/>
          </a:prstGeom>
          <a:solidFill>
            <a:srgbClr val="1C7293"/>
          </a:solidFill>
          <a:ln/>
        </p:spPr>
      </p:sp>
      <p:sp>
        <p:nvSpPr>
          <p:cNvPr id="6" name="Text 4"/>
          <p:cNvSpPr/>
          <p:nvPr/>
        </p:nvSpPr>
        <p:spPr>
          <a:xfrm>
            <a:off x="822960" y="1965960"/>
            <a:ext cx="6858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7" name="Text 5"/>
          <p:cNvSpPr/>
          <p:nvPr/>
        </p:nvSpPr>
        <p:spPr>
          <a:xfrm>
            <a:off x="822960" y="2834640"/>
            <a:ext cx="2971800" cy="41148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Client</a:t>
            </a:r>
            <a:endParaRPr lang="en-US" sz="2400" dirty="0"/>
          </a:p>
        </p:txBody>
      </p:sp>
      <p:sp>
        <p:nvSpPr>
          <p:cNvPr id="8" name="Text 6"/>
          <p:cNvSpPr/>
          <p:nvPr/>
        </p:nvSpPr>
        <p:spPr>
          <a:xfrm>
            <a:off x="822960" y="3227832"/>
            <a:ext cx="297180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THE REQUESTER</a:t>
            </a:r>
            <a:endParaRPr lang="en-US" sz="1200" dirty="0"/>
          </a:p>
        </p:txBody>
      </p:sp>
      <p:sp>
        <p:nvSpPr>
          <p:cNvPr id="9" name="Text 7"/>
          <p:cNvSpPr/>
          <p:nvPr/>
        </p:nvSpPr>
        <p:spPr>
          <a:xfrm>
            <a:off x="822960" y="3657600"/>
            <a:ext cx="2971800" cy="1554480"/>
          </a:xfrm>
          <a:prstGeom prst="rect">
            <a:avLst/>
          </a:prstGeom>
          <a:noFill/>
          <a:ln/>
        </p:spPr>
        <p:txBody>
          <a:bodyPr wrap="square" lIns="0" tIns="0" rIns="0" bIns="0" rtlCol="0" anchor="ctr"/>
          <a:lstStyle/>
          <a:p>
            <a:pPr marL="0" indent="0">
              <a:lnSpc>
                <a:spcPct val="125000"/>
              </a:lnSpc>
              <a:buNone/>
            </a:pPr>
            <a:r>
              <a:rPr lang="en-US" sz="1600" dirty="0">
                <a:solidFill>
                  <a:srgbClr val="43506B"/>
                </a:solidFill>
                <a:latin typeface="Calibri" pitchFamily="34" charset="0"/>
                <a:ea typeface="Calibri" pitchFamily="34" charset="-122"/>
                <a:cs typeface="Calibri" pitchFamily="34" charset="-120"/>
              </a:rPr>
              <a:t>Requests files and performs reads/writes against the file system interface — unaware of where blocks physically live.</a:t>
            </a:r>
            <a:endParaRPr lang="en-US" sz="1600" dirty="0"/>
          </a:p>
        </p:txBody>
      </p:sp>
      <p:sp>
        <p:nvSpPr>
          <p:cNvPr id="10" name="Shape 8"/>
          <p:cNvSpPr/>
          <p:nvPr/>
        </p:nvSpPr>
        <p:spPr>
          <a:xfrm>
            <a:off x="4361688" y="1691640"/>
            <a:ext cx="3520440" cy="4343400"/>
          </a:xfrm>
          <a:prstGeom prst="roundRect">
            <a:avLst>
              <a:gd name="adj" fmla="val 2078"/>
            </a:avLst>
          </a:prstGeom>
          <a:solidFill>
            <a:srgbClr val="F4F8FA"/>
          </a:solidFill>
          <a:ln/>
          <a:effectLst>
            <a:outerShdw blurRad="101600" dist="38100" dir="5400000" algn="bl" rotWithShape="0">
              <a:srgbClr val="000000">
                <a:alpha val="10000"/>
              </a:srgbClr>
            </a:outerShdw>
          </a:effectLst>
        </p:spPr>
      </p:sp>
      <p:sp>
        <p:nvSpPr>
          <p:cNvPr id="11" name="Shape 9"/>
          <p:cNvSpPr/>
          <p:nvPr/>
        </p:nvSpPr>
        <p:spPr>
          <a:xfrm>
            <a:off x="4636008" y="1965960"/>
            <a:ext cx="685800" cy="685800"/>
          </a:xfrm>
          <a:prstGeom prst="ellipse">
            <a:avLst/>
          </a:prstGeom>
          <a:solidFill>
            <a:srgbClr val="F2A93B"/>
          </a:solidFill>
          <a:ln/>
        </p:spPr>
      </p:sp>
      <p:sp>
        <p:nvSpPr>
          <p:cNvPr id="12" name="Text 10"/>
          <p:cNvSpPr/>
          <p:nvPr/>
        </p:nvSpPr>
        <p:spPr>
          <a:xfrm>
            <a:off x="4636008" y="1965960"/>
            <a:ext cx="685800" cy="685800"/>
          </a:xfrm>
          <a:prstGeom prst="rect">
            <a:avLst/>
          </a:prstGeom>
          <a:noFill/>
          <a:ln/>
        </p:spPr>
        <p:txBody>
          <a:bodyPr wrap="square" lIns="0" tIns="0" rIns="0" bIns="0" rtlCol="0" anchor="ctr"/>
          <a:lstStyle/>
          <a:p>
            <a:pPr marL="0" indent="0" algn="ctr">
              <a:buNone/>
            </a:pPr>
            <a:r>
              <a:rPr lang="en-US" sz="3200" b="1" dirty="0">
                <a:solidFill>
                  <a:srgbClr val="21295C"/>
                </a:solidFill>
                <a:latin typeface="Cambria" pitchFamily="34" charset="0"/>
                <a:ea typeface="Cambria" pitchFamily="34" charset="-122"/>
                <a:cs typeface="Cambria" pitchFamily="34" charset="-120"/>
              </a:rPr>
              <a:t>2</a:t>
            </a:r>
            <a:endParaRPr lang="en-US" sz="3200" dirty="0"/>
          </a:p>
        </p:txBody>
      </p:sp>
      <p:sp>
        <p:nvSpPr>
          <p:cNvPr id="13" name="Text 11"/>
          <p:cNvSpPr/>
          <p:nvPr/>
        </p:nvSpPr>
        <p:spPr>
          <a:xfrm>
            <a:off x="4636008" y="2834640"/>
            <a:ext cx="2971800" cy="41148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Master Server</a:t>
            </a:r>
            <a:endParaRPr lang="en-US" sz="2400" dirty="0"/>
          </a:p>
        </p:txBody>
      </p:sp>
      <p:sp>
        <p:nvSpPr>
          <p:cNvPr id="14" name="Text 12"/>
          <p:cNvSpPr/>
          <p:nvPr/>
        </p:nvSpPr>
        <p:spPr>
          <a:xfrm>
            <a:off x="4636008" y="3227832"/>
            <a:ext cx="297180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THE COORDINATOR</a:t>
            </a:r>
            <a:endParaRPr lang="en-US" sz="1200" dirty="0"/>
          </a:p>
        </p:txBody>
      </p:sp>
      <p:sp>
        <p:nvSpPr>
          <p:cNvPr id="15" name="Text 13"/>
          <p:cNvSpPr/>
          <p:nvPr/>
        </p:nvSpPr>
        <p:spPr>
          <a:xfrm>
            <a:off x="4636008" y="3657600"/>
            <a:ext cx="2971800" cy="1554480"/>
          </a:xfrm>
          <a:prstGeom prst="rect">
            <a:avLst/>
          </a:prstGeom>
          <a:noFill/>
          <a:ln/>
        </p:spPr>
        <p:txBody>
          <a:bodyPr wrap="square" lIns="0" tIns="0" rIns="0" bIns="0" rtlCol="0" anchor="ctr"/>
          <a:lstStyle/>
          <a:p>
            <a:pPr marL="0" indent="0">
              <a:lnSpc>
                <a:spcPct val="125000"/>
              </a:lnSpc>
              <a:buNone/>
            </a:pPr>
            <a:r>
              <a:rPr lang="en-US" sz="1600" dirty="0">
                <a:solidFill>
                  <a:srgbClr val="43506B"/>
                </a:solidFill>
                <a:latin typeface="Calibri" pitchFamily="34" charset="0"/>
                <a:ea typeface="Calibri" pitchFamily="34" charset="-122"/>
                <a:cs typeface="Calibri" pitchFamily="34" charset="-120"/>
              </a:rPr>
              <a:t>Stores metadata only: file names, block locations, permissions, and replication details — never the file data itself.</a:t>
            </a:r>
            <a:endParaRPr lang="en-US" sz="1600" dirty="0"/>
          </a:p>
        </p:txBody>
      </p:sp>
      <p:sp>
        <p:nvSpPr>
          <p:cNvPr id="16" name="Shape 14"/>
          <p:cNvSpPr/>
          <p:nvPr/>
        </p:nvSpPr>
        <p:spPr>
          <a:xfrm>
            <a:off x="4636008" y="5303520"/>
            <a:ext cx="2971800" cy="502920"/>
          </a:xfrm>
          <a:prstGeom prst="roundRect">
            <a:avLst>
              <a:gd name="adj" fmla="val 10909"/>
            </a:avLst>
          </a:prstGeom>
          <a:solidFill>
            <a:srgbClr val="CFE8EF"/>
          </a:solidFill>
          <a:ln/>
        </p:spPr>
      </p:sp>
      <p:sp>
        <p:nvSpPr>
          <p:cNvPr id="17" name="Text 15"/>
          <p:cNvSpPr/>
          <p:nvPr/>
        </p:nvSpPr>
        <p:spPr>
          <a:xfrm>
            <a:off x="4773168" y="5303520"/>
            <a:ext cx="2697480" cy="502920"/>
          </a:xfrm>
          <a:prstGeom prst="rect">
            <a:avLst/>
          </a:prstGeom>
          <a:noFill/>
          <a:ln/>
        </p:spPr>
        <p:txBody>
          <a:bodyPr wrap="square" lIns="0" tIns="0" rIns="0" bIns="0" rtlCol="0" anchor="ctr"/>
          <a:lstStyle/>
          <a:p>
            <a:pPr marL="0" indent="0" algn="l">
              <a:buNone/>
            </a:pPr>
            <a:r>
              <a:rPr lang="en-US" sz="1400" b="1" i="1" dirty="0">
                <a:solidFill>
                  <a:srgbClr val="065A82"/>
                </a:solidFill>
                <a:latin typeface="Calibri" pitchFamily="34" charset="0"/>
                <a:ea typeface="Calibri" pitchFamily="34" charset="-122"/>
                <a:cs typeface="Calibri" pitchFamily="34" charset="-120"/>
              </a:rPr>
              <a:t>Called the NameNode in Hadoop</a:t>
            </a:r>
            <a:endParaRPr lang="en-US" sz="1400" dirty="0"/>
          </a:p>
        </p:txBody>
      </p:sp>
      <p:sp>
        <p:nvSpPr>
          <p:cNvPr id="18" name="Shape 16"/>
          <p:cNvSpPr/>
          <p:nvPr/>
        </p:nvSpPr>
        <p:spPr>
          <a:xfrm>
            <a:off x="8174736" y="1691640"/>
            <a:ext cx="3520440" cy="4343400"/>
          </a:xfrm>
          <a:prstGeom prst="roundRect">
            <a:avLst>
              <a:gd name="adj" fmla="val 2078"/>
            </a:avLst>
          </a:prstGeom>
          <a:solidFill>
            <a:srgbClr val="F4F8FA"/>
          </a:solidFill>
          <a:ln/>
          <a:effectLst>
            <a:outerShdw blurRad="101600" dist="38100" dir="5400000" algn="bl" rotWithShape="0">
              <a:srgbClr val="000000">
                <a:alpha val="10000"/>
              </a:srgbClr>
            </a:outerShdw>
          </a:effectLst>
        </p:spPr>
      </p:sp>
      <p:sp>
        <p:nvSpPr>
          <p:cNvPr id="19" name="Shape 17"/>
          <p:cNvSpPr/>
          <p:nvPr/>
        </p:nvSpPr>
        <p:spPr>
          <a:xfrm>
            <a:off x="8449056" y="1965960"/>
            <a:ext cx="685800" cy="685800"/>
          </a:xfrm>
          <a:prstGeom prst="ellipse">
            <a:avLst/>
          </a:prstGeom>
          <a:solidFill>
            <a:srgbClr val="1C7293"/>
          </a:solidFill>
          <a:ln/>
        </p:spPr>
      </p:sp>
      <p:sp>
        <p:nvSpPr>
          <p:cNvPr id="20" name="Text 18"/>
          <p:cNvSpPr/>
          <p:nvPr/>
        </p:nvSpPr>
        <p:spPr>
          <a:xfrm>
            <a:off x="8449056" y="1965960"/>
            <a:ext cx="6858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21" name="Text 19"/>
          <p:cNvSpPr/>
          <p:nvPr/>
        </p:nvSpPr>
        <p:spPr>
          <a:xfrm>
            <a:off x="8449056" y="2834640"/>
            <a:ext cx="2971800" cy="41148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Storage Nodes</a:t>
            </a:r>
            <a:endParaRPr lang="en-US" sz="2400" dirty="0"/>
          </a:p>
        </p:txBody>
      </p:sp>
      <p:sp>
        <p:nvSpPr>
          <p:cNvPr id="22" name="Text 20"/>
          <p:cNvSpPr/>
          <p:nvPr/>
        </p:nvSpPr>
        <p:spPr>
          <a:xfrm>
            <a:off x="8449056" y="3227832"/>
            <a:ext cx="297180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THE WORKERS</a:t>
            </a:r>
            <a:endParaRPr lang="en-US" sz="1200" dirty="0"/>
          </a:p>
        </p:txBody>
      </p:sp>
      <p:sp>
        <p:nvSpPr>
          <p:cNvPr id="23" name="Text 21"/>
          <p:cNvSpPr/>
          <p:nvPr/>
        </p:nvSpPr>
        <p:spPr>
          <a:xfrm>
            <a:off x="8449056" y="3657600"/>
            <a:ext cx="2971800" cy="1554480"/>
          </a:xfrm>
          <a:prstGeom prst="rect">
            <a:avLst/>
          </a:prstGeom>
          <a:noFill/>
          <a:ln/>
        </p:spPr>
        <p:txBody>
          <a:bodyPr wrap="square" lIns="0" tIns="0" rIns="0" bIns="0" rtlCol="0" anchor="ctr"/>
          <a:lstStyle/>
          <a:p>
            <a:pPr marL="0" indent="0">
              <a:lnSpc>
                <a:spcPct val="125000"/>
              </a:lnSpc>
              <a:buNone/>
            </a:pPr>
            <a:r>
              <a:rPr lang="en-US" sz="1600" dirty="0">
                <a:solidFill>
                  <a:srgbClr val="43506B"/>
                </a:solidFill>
                <a:latin typeface="Calibri" pitchFamily="34" charset="0"/>
                <a:ea typeface="Calibri" pitchFamily="34" charset="-122"/>
                <a:cs typeface="Calibri" pitchFamily="34" charset="-120"/>
              </a:rPr>
              <a:t>Physically store the actual data blocks and serve them on request from the master server.</a:t>
            </a:r>
            <a:endParaRPr lang="en-US" sz="1600" dirty="0"/>
          </a:p>
        </p:txBody>
      </p:sp>
      <p:sp>
        <p:nvSpPr>
          <p:cNvPr id="24" name="Shape 22"/>
          <p:cNvSpPr/>
          <p:nvPr/>
        </p:nvSpPr>
        <p:spPr>
          <a:xfrm>
            <a:off x="8449056" y="5303520"/>
            <a:ext cx="2971800" cy="502920"/>
          </a:xfrm>
          <a:prstGeom prst="roundRect">
            <a:avLst>
              <a:gd name="adj" fmla="val 10909"/>
            </a:avLst>
          </a:prstGeom>
          <a:solidFill>
            <a:srgbClr val="CFE8EF"/>
          </a:solidFill>
          <a:ln/>
        </p:spPr>
      </p:sp>
      <p:sp>
        <p:nvSpPr>
          <p:cNvPr id="25" name="Text 23"/>
          <p:cNvSpPr/>
          <p:nvPr/>
        </p:nvSpPr>
        <p:spPr>
          <a:xfrm>
            <a:off x="8586216" y="5303520"/>
            <a:ext cx="2697480" cy="502920"/>
          </a:xfrm>
          <a:prstGeom prst="rect">
            <a:avLst/>
          </a:prstGeom>
          <a:noFill/>
          <a:ln/>
        </p:spPr>
        <p:txBody>
          <a:bodyPr wrap="square" lIns="0" tIns="0" rIns="0" bIns="0" rtlCol="0" anchor="ctr"/>
          <a:lstStyle/>
          <a:p>
            <a:pPr marL="0" indent="0" algn="l">
              <a:buNone/>
            </a:pPr>
            <a:r>
              <a:rPr lang="en-US" sz="1400" b="1" i="1" dirty="0">
                <a:solidFill>
                  <a:srgbClr val="065A82"/>
                </a:solidFill>
                <a:latin typeface="Calibri" pitchFamily="34" charset="0"/>
                <a:ea typeface="Calibri" pitchFamily="34" charset="-122"/>
                <a:cs typeface="Calibri" pitchFamily="34" charset="-120"/>
              </a:rPr>
              <a:t>Called DataNodes in Hadoop</a:t>
            </a:r>
            <a:endParaRPr lang="en-US" sz="1400" dirty="0"/>
          </a:p>
        </p:txBody>
      </p:sp>
    </p:spTree>
    <p:extLst>
      <p:ext uri="{BB962C8B-B14F-4D97-AF65-F5344CB8AC3E}">
        <p14:creationId xmlns:p14="http://schemas.microsoft.com/office/powerpoint/2010/main" val="822612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dirty="0" smtClean="0">
                <a:solidFill>
                  <a:schemeClr val="accent1">
                    <a:lumMod val="75000"/>
                  </a:schemeClr>
                </a:solidFill>
              </a:rPr>
              <a:t>Parallelism in Distributed File Systems</a:t>
            </a:r>
            <a:endParaRPr lang="en-US" sz="2800" dirty="0">
              <a:solidFill>
                <a:schemeClr val="accent1">
                  <a:lumMod val="75000"/>
                </a:schemeClr>
              </a:solidFill>
            </a:endParaRPr>
          </a:p>
        </p:txBody>
      </p:sp>
      <p:sp>
        <p:nvSpPr>
          <p:cNvPr id="29" name="Rectangle 28"/>
          <p:cNvSpPr/>
          <p:nvPr/>
        </p:nvSpPr>
        <p:spPr>
          <a:xfrm>
            <a:off x="548640" y="1529060"/>
            <a:ext cx="6728460" cy="4893647"/>
          </a:xfrm>
          <a:prstGeom prst="rect">
            <a:avLst/>
          </a:prstGeom>
        </p:spPr>
        <p:txBody>
          <a:bodyPr wrap="square">
            <a:spAutoFit/>
          </a:bodyPr>
          <a:lstStyle/>
          <a:p>
            <a:pPr marL="285750" indent="-285750" algn="just">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Relies </a:t>
            </a:r>
            <a:r>
              <a:rPr lang="en-US" sz="2400" dirty="0">
                <a:latin typeface="Cambria" panose="02040503050406030204" pitchFamily="18" charset="0"/>
                <a:ea typeface="Cambria" panose="02040503050406030204" pitchFamily="18" charset="0"/>
              </a:rPr>
              <a:t>on distributing data blocks across a cluster and running computation tasks simultaneously on the nodes where the data lives</a:t>
            </a:r>
            <a:r>
              <a:rPr lang="en-US" sz="2400" dirty="0" smtClean="0">
                <a:latin typeface="Cambria" panose="02040503050406030204" pitchFamily="18" charset="0"/>
                <a:ea typeface="Cambria" panose="02040503050406030204" pitchFamily="18" charset="0"/>
              </a:rPr>
              <a:t>.</a:t>
            </a:r>
          </a:p>
          <a:p>
            <a:pPr marL="285750" indent="-28575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Hadoop is designed to process large datasets by distributing them across multiple nodes in a cluster. This is achieved through the concept of parallelism, where data is divided into smaller chunks, known as data blocks, and processed concurrently on different nodes.</a:t>
            </a:r>
          </a:p>
          <a:p>
            <a:pPr marL="285750" indent="-28575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The parallel processing capability of Hadoop enhances the overall speed and efficiency of data processing tasks.</a:t>
            </a:r>
          </a:p>
        </p:txBody>
      </p:sp>
      <p:pic>
        <p:nvPicPr>
          <p:cNvPr id="1028" name="Picture 4" descr="https://miro.medium.com/v2/resize:fit:875/1*GtpHT66qmdgFfdcdW8P-d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100" y="1529061"/>
            <a:ext cx="3860800" cy="485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63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a Data Placement Strategy?</a:t>
            </a:r>
            <a:endParaRPr lang="en-US" sz="2800" dirty="0"/>
          </a:p>
        </p:txBody>
      </p:sp>
      <p:sp>
        <p:nvSpPr>
          <p:cNvPr id="4" name="Shape 2"/>
          <p:cNvSpPr/>
          <p:nvPr/>
        </p:nvSpPr>
        <p:spPr>
          <a:xfrm>
            <a:off x="548640" y="1554480"/>
            <a:ext cx="5212080" cy="4480560"/>
          </a:xfrm>
          <a:prstGeom prst="roundRect">
            <a:avLst>
              <a:gd name="adj" fmla="val 1633"/>
            </a:avLst>
          </a:prstGeom>
          <a:solidFill>
            <a:srgbClr val="21295C"/>
          </a:solidFill>
          <a:ln/>
        </p:spPr>
      </p:sp>
      <p:sp>
        <p:nvSpPr>
          <p:cNvPr id="5" name="Text 3"/>
          <p:cNvSpPr/>
          <p:nvPr/>
        </p:nvSpPr>
        <p:spPr>
          <a:xfrm>
            <a:off x="868680" y="1828800"/>
            <a:ext cx="4572000" cy="320040"/>
          </a:xfrm>
          <a:prstGeom prst="rect">
            <a:avLst/>
          </a:prstGeom>
          <a:noFill/>
          <a:ln/>
        </p:spPr>
        <p:txBody>
          <a:bodyPr wrap="square" lIns="0" tIns="0" rIns="0" bIns="0"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THE DECISION</a:t>
            </a:r>
            <a:endParaRPr lang="en-US" sz="1400" dirty="0"/>
          </a:p>
        </p:txBody>
      </p:sp>
      <p:sp>
        <p:nvSpPr>
          <p:cNvPr id="6" name="Text 4"/>
          <p:cNvSpPr/>
          <p:nvPr/>
        </p:nvSpPr>
        <p:spPr>
          <a:xfrm>
            <a:off x="868680" y="2194560"/>
            <a:ext cx="4572000" cy="777240"/>
          </a:xfrm>
          <a:prstGeom prst="rect">
            <a:avLst/>
          </a:prstGeom>
          <a:noFill/>
          <a:ln/>
        </p:spPr>
        <p:txBody>
          <a:bodyPr wrap="square" lIns="0" tIns="0" rIns="0" bIns="0" rtlCol="0" anchor="ctr"/>
          <a:lstStyle/>
          <a:p>
            <a:pPr marL="0" indent="0">
              <a:lnSpc>
                <a:spcPct val="125000"/>
              </a:lnSpc>
              <a:buNone/>
            </a:pPr>
            <a:r>
              <a:rPr lang="en-US" sz="1600" dirty="0">
                <a:solidFill>
                  <a:srgbClr val="CFE8EF"/>
                </a:solidFill>
                <a:latin typeface="Calibri" pitchFamily="34" charset="0"/>
                <a:ea typeface="Calibri" pitchFamily="34" charset="-122"/>
                <a:cs typeface="Calibri" pitchFamily="34" charset="-120"/>
              </a:rPr>
              <a:t>When a new file is stored, the system must decide where each block should be stored.</a:t>
            </a:r>
            <a:endParaRPr lang="en-US" sz="1600" dirty="0"/>
          </a:p>
        </p:txBody>
      </p:sp>
      <p:sp>
        <p:nvSpPr>
          <p:cNvPr id="7" name="Shape 5"/>
          <p:cNvSpPr/>
          <p:nvPr/>
        </p:nvSpPr>
        <p:spPr>
          <a:xfrm>
            <a:off x="868680" y="3063240"/>
            <a:ext cx="4480560" cy="0"/>
          </a:xfrm>
          <a:prstGeom prst="line">
            <a:avLst/>
          </a:prstGeom>
          <a:noFill/>
          <a:ln w="12700">
            <a:solidFill>
              <a:srgbClr val="1C7293"/>
            </a:solidFill>
            <a:prstDash val="solid"/>
          </a:ln>
        </p:spPr>
      </p:sp>
      <p:sp>
        <p:nvSpPr>
          <p:cNvPr id="8" name="Text 6"/>
          <p:cNvSpPr/>
          <p:nvPr/>
        </p:nvSpPr>
        <p:spPr>
          <a:xfrm>
            <a:off x="868680" y="3200400"/>
            <a:ext cx="4572000" cy="320040"/>
          </a:xfrm>
          <a:prstGeom prst="rect">
            <a:avLst/>
          </a:prstGeom>
          <a:noFill/>
          <a:ln/>
        </p:spPr>
        <p:txBody>
          <a:bodyPr wrap="square" lIns="0" tIns="0" rIns="0" bIns="0"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DEFINITION</a:t>
            </a:r>
            <a:endParaRPr lang="en-US" sz="1400" dirty="0"/>
          </a:p>
        </p:txBody>
      </p:sp>
      <p:sp>
        <p:nvSpPr>
          <p:cNvPr id="9" name="Text 7"/>
          <p:cNvSpPr/>
          <p:nvPr/>
        </p:nvSpPr>
        <p:spPr>
          <a:xfrm>
            <a:off x="868680" y="3566160"/>
            <a:ext cx="4572000" cy="1188720"/>
          </a:xfrm>
          <a:prstGeom prst="rect">
            <a:avLst/>
          </a:prstGeom>
          <a:noFill/>
          <a:ln/>
        </p:spPr>
        <p:txBody>
          <a:bodyPr wrap="square" lIns="0" tIns="0" rIns="0" bIns="0" rtlCol="0" anchor="ctr"/>
          <a:lstStyle/>
          <a:p>
            <a:pPr marL="0" indent="0">
              <a:lnSpc>
                <a:spcPct val="130000"/>
              </a:lnSpc>
              <a:buNone/>
            </a:pPr>
            <a:r>
              <a:rPr lang="en-US" i="1" dirty="0">
                <a:solidFill>
                  <a:srgbClr val="FFFFFF"/>
                </a:solidFill>
                <a:latin typeface="Cambria" pitchFamily="34" charset="0"/>
                <a:ea typeface="Cambria" pitchFamily="34" charset="-122"/>
                <a:cs typeface="Cambria" pitchFamily="34" charset="-120"/>
              </a:rPr>
              <a:t>The method used by a distributed storage system to determine where data blocks and their replicas are stored across the cluster.</a:t>
            </a:r>
            <a:endParaRPr lang="en-US" dirty="0"/>
          </a:p>
        </p:txBody>
      </p:sp>
      <p:sp>
        <p:nvSpPr>
          <p:cNvPr id="10" name="Shape 8"/>
          <p:cNvSpPr/>
          <p:nvPr/>
        </p:nvSpPr>
        <p:spPr>
          <a:xfrm>
            <a:off x="5989320" y="1554480"/>
            <a:ext cx="5623560" cy="4480560"/>
          </a:xfrm>
          <a:prstGeom prst="roundRect">
            <a:avLst>
              <a:gd name="adj" fmla="val 1633"/>
            </a:avLst>
          </a:prstGeom>
          <a:solidFill>
            <a:srgbClr val="F4F8FA"/>
          </a:solidFill>
          <a:ln/>
        </p:spPr>
      </p:sp>
      <p:sp>
        <p:nvSpPr>
          <p:cNvPr id="11" name="Text 9"/>
          <p:cNvSpPr/>
          <p:nvPr/>
        </p:nvSpPr>
        <p:spPr>
          <a:xfrm>
            <a:off x="6309360" y="1828800"/>
            <a:ext cx="5120640" cy="320040"/>
          </a:xfrm>
          <a:prstGeom prst="rect">
            <a:avLst/>
          </a:prstGeom>
          <a:noFill/>
          <a:ln/>
        </p:spPr>
        <p:txBody>
          <a:bodyPr wrap="square" lIns="0" tIns="0" rIns="0" bIns="0"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GOOD PLACEMENT IMPROVES</a:t>
            </a:r>
            <a:endParaRPr lang="en-US" sz="1400" dirty="0"/>
          </a:p>
        </p:txBody>
      </p:sp>
      <p:sp>
        <p:nvSpPr>
          <p:cNvPr id="12" name="Shape 10"/>
          <p:cNvSpPr/>
          <p:nvPr/>
        </p:nvSpPr>
        <p:spPr>
          <a:xfrm>
            <a:off x="6309360" y="2331720"/>
            <a:ext cx="5029200" cy="822960"/>
          </a:xfrm>
          <a:prstGeom prst="roundRect">
            <a:avLst>
              <a:gd name="adj" fmla="val 7778"/>
            </a:avLst>
          </a:prstGeom>
          <a:solidFill>
            <a:srgbClr val="FFFFFF"/>
          </a:solidFill>
          <a:ln/>
        </p:spPr>
      </p:sp>
      <p:sp>
        <p:nvSpPr>
          <p:cNvPr id="13" name="Text 11"/>
          <p:cNvSpPr/>
          <p:nvPr/>
        </p:nvSpPr>
        <p:spPr>
          <a:xfrm>
            <a:off x="6492240" y="2496312"/>
            <a:ext cx="365760" cy="457200"/>
          </a:xfrm>
          <a:prstGeom prst="rect">
            <a:avLst/>
          </a:prstGeom>
          <a:noFill/>
          <a:ln/>
        </p:spPr>
        <p:txBody>
          <a:bodyPr wrap="square" lIns="0" tIns="0" rIns="0" bIns="0" rtlCol="0" anchor="ctr"/>
          <a:lstStyle/>
          <a:p>
            <a:pPr marL="0" indent="0">
              <a:buNone/>
            </a:pPr>
            <a:r>
              <a:rPr lang="en-US" b="1" dirty="0">
                <a:solidFill>
                  <a:srgbClr val="065A82"/>
                </a:solidFill>
                <a:latin typeface="Calibri" pitchFamily="34" charset="0"/>
                <a:ea typeface="Calibri" pitchFamily="34" charset="-122"/>
                <a:cs typeface="Calibri" pitchFamily="34" charset="-120"/>
              </a:rPr>
              <a:t>✔</a:t>
            </a:r>
            <a:endParaRPr lang="en-US" dirty="0"/>
          </a:p>
        </p:txBody>
      </p:sp>
      <p:sp>
        <p:nvSpPr>
          <p:cNvPr id="14" name="Text 12"/>
          <p:cNvSpPr/>
          <p:nvPr/>
        </p:nvSpPr>
        <p:spPr>
          <a:xfrm>
            <a:off x="6949440" y="2423160"/>
            <a:ext cx="4206240" cy="32004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Availability</a:t>
            </a:r>
            <a:endParaRPr lang="en-US" sz="1600" dirty="0"/>
          </a:p>
        </p:txBody>
      </p:sp>
      <p:sp>
        <p:nvSpPr>
          <p:cNvPr id="15" name="Text 13"/>
          <p:cNvSpPr/>
          <p:nvPr/>
        </p:nvSpPr>
        <p:spPr>
          <a:xfrm>
            <a:off x="6949440" y="2743200"/>
            <a:ext cx="4297680" cy="365760"/>
          </a:xfrm>
          <a:prstGeom prst="rect">
            <a:avLst/>
          </a:prstGeom>
          <a:noFill/>
          <a:ln/>
        </p:spPr>
        <p:txBody>
          <a:bodyPr wrap="square" lIns="0" tIns="0" rIns="0" bIns="0" rtlCol="0" anchor="ctr"/>
          <a:lstStyle/>
          <a:p>
            <a:pPr marL="0" indent="0">
              <a:lnSpc>
                <a:spcPct val="110000"/>
              </a:lnSpc>
              <a:buNone/>
            </a:pPr>
            <a:r>
              <a:rPr lang="en-US" sz="1400" dirty="0">
                <a:solidFill>
                  <a:srgbClr val="43506B"/>
                </a:solidFill>
                <a:latin typeface="Calibri" pitchFamily="34" charset="0"/>
                <a:ea typeface="Calibri" pitchFamily="34" charset="-122"/>
                <a:cs typeface="Calibri" pitchFamily="34" charset="-120"/>
              </a:rPr>
              <a:t>Data stays reachable even when individual nodes fail.</a:t>
            </a:r>
            <a:endParaRPr lang="en-US" sz="1400" dirty="0"/>
          </a:p>
        </p:txBody>
      </p:sp>
      <p:sp>
        <p:nvSpPr>
          <p:cNvPr id="16" name="Shape 14"/>
          <p:cNvSpPr/>
          <p:nvPr/>
        </p:nvSpPr>
        <p:spPr>
          <a:xfrm>
            <a:off x="6309360" y="3291840"/>
            <a:ext cx="5029200" cy="822960"/>
          </a:xfrm>
          <a:prstGeom prst="roundRect">
            <a:avLst>
              <a:gd name="adj" fmla="val 7778"/>
            </a:avLst>
          </a:prstGeom>
          <a:solidFill>
            <a:srgbClr val="CFE8EF"/>
          </a:solidFill>
          <a:ln/>
        </p:spPr>
      </p:sp>
      <p:sp>
        <p:nvSpPr>
          <p:cNvPr id="17" name="Text 15"/>
          <p:cNvSpPr/>
          <p:nvPr/>
        </p:nvSpPr>
        <p:spPr>
          <a:xfrm>
            <a:off x="6492240" y="3456432"/>
            <a:ext cx="365760" cy="457200"/>
          </a:xfrm>
          <a:prstGeom prst="rect">
            <a:avLst/>
          </a:prstGeom>
          <a:noFill/>
          <a:ln/>
        </p:spPr>
        <p:txBody>
          <a:bodyPr wrap="square" lIns="0" tIns="0" rIns="0" bIns="0" rtlCol="0" anchor="ctr"/>
          <a:lstStyle/>
          <a:p>
            <a:pPr marL="0" indent="0">
              <a:buNone/>
            </a:pPr>
            <a:r>
              <a:rPr lang="en-US" b="1" dirty="0">
                <a:solidFill>
                  <a:srgbClr val="065A82"/>
                </a:solidFill>
                <a:latin typeface="Calibri" pitchFamily="34" charset="0"/>
                <a:ea typeface="Calibri" pitchFamily="34" charset="-122"/>
                <a:cs typeface="Calibri" pitchFamily="34" charset="-120"/>
              </a:rPr>
              <a:t>✔</a:t>
            </a:r>
            <a:endParaRPr lang="en-US" dirty="0"/>
          </a:p>
        </p:txBody>
      </p:sp>
      <p:sp>
        <p:nvSpPr>
          <p:cNvPr id="18" name="Text 16"/>
          <p:cNvSpPr/>
          <p:nvPr/>
        </p:nvSpPr>
        <p:spPr>
          <a:xfrm>
            <a:off x="6949440" y="3383280"/>
            <a:ext cx="4206240" cy="32004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Speed</a:t>
            </a:r>
            <a:endParaRPr lang="en-US" sz="1600" dirty="0"/>
          </a:p>
        </p:txBody>
      </p:sp>
      <p:sp>
        <p:nvSpPr>
          <p:cNvPr id="19" name="Text 17"/>
          <p:cNvSpPr/>
          <p:nvPr/>
        </p:nvSpPr>
        <p:spPr>
          <a:xfrm>
            <a:off x="6949440" y="3703320"/>
            <a:ext cx="4297680" cy="365760"/>
          </a:xfrm>
          <a:prstGeom prst="rect">
            <a:avLst/>
          </a:prstGeom>
          <a:noFill/>
          <a:ln/>
        </p:spPr>
        <p:txBody>
          <a:bodyPr wrap="square" lIns="0" tIns="0" rIns="0" bIns="0" rtlCol="0" anchor="ctr"/>
          <a:lstStyle/>
          <a:p>
            <a:pPr marL="0" indent="0">
              <a:lnSpc>
                <a:spcPct val="110000"/>
              </a:lnSpc>
              <a:buNone/>
            </a:pPr>
            <a:r>
              <a:rPr lang="en-US" sz="1400" dirty="0">
                <a:solidFill>
                  <a:srgbClr val="43506B"/>
                </a:solidFill>
                <a:latin typeface="Calibri" pitchFamily="34" charset="0"/>
                <a:ea typeface="Calibri" pitchFamily="34" charset="-122"/>
                <a:cs typeface="Calibri" pitchFamily="34" charset="-120"/>
              </a:rPr>
              <a:t>Blocks placed near consumers cut down read/write latency.</a:t>
            </a:r>
            <a:endParaRPr lang="en-US" sz="1400" dirty="0"/>
          </a:p>
        </p:txBody>
      </p:sp>
      <p:sp>
        <p:nvSpPr>
          <p:cNvPr id="20" name="Shape 18"/>
          <p:cNvSpPr/>
          <p:nvPr/>
        </p:nvSpPr>
        <p:spPr>
          <a:xfrm>
            <a:off x="6309360" y="4251960"/>
            <a:ext cx="5029200" cy="822960"/>
          </a:xfrm>
          <a:prstGeom prst="roundRect">
            <a:avLst>
              <a:gd name="adj" fmla="val 7778"/>
            </a:avLst>
          </a:prstGeom>
          <a:solidFill>
            <a:srgbClr val="FFFFFF"/>
          </a:solidFill>
          <a:ln/>
        </p:spPr>
      </p:sp>
      <p:sp>
        <p:nvSpPr>
          <p:cNvPr id="21" name="Text 19"/>
          <p:cNvSpPr/>
          <p:nvPr/>
        </p:nvSpPr>
        <p:spPr>
          <a:xfrm>
            <a:off x="6492240" y="4416552"/>
            <a:ext cx="365760" cy="457200"/>
          </a:xfrm>
          <a:prstGeom prst="rect">
            <a:avLst/>
          </a:prstGeom>
          <a:noFill/>
          <a:ln/>
        </p:spPr>
        <p:txBody>
          <a:bodyPr wrap="square" lIns="0" tIns="0" rIns="0" bIns="0" rtlCol="0" anchor="ctr"/>
          <a:lstStyle/>
          <a:p>
            <a:pPr marL="0" indent="0">
              <a:buNone/>
            </a:pPr>
            <a:r>
              <a:rPr lang="en-US" b="1" dirty="0">
                <a:solidFill>
                  <a:srgbClr val="065A82"/>
                </a:solidFill>
                <a:latin typeface="Calibri" pitchFamily="34" charset="0"/>
                <a:ea typeface="Calibri" pitchFamily="34" charset="-122"/>
                <a:cs typeface="Calibri" pitchFamily="34" charset="-120"/>
              </a:rPr>
              <a:t>✔</a:t>
            </a:r>
            <a:endParaRPr lang="en-US" dirty="0"/>
          </a:p>
        </p:txBody>
      </p:sp>
      <p:sp>
        <p:nvSpPr>
          <p:cNvPr id="22" name="Text 20"/>
          <p:cNvSpPr/>
          <p:nvPr/>
        </p:nvSpPr>
        <p:spPr>
          <a:xfrm>
            <a:off x="6949440" y="4343400"/>
            <a:ext cx="4206240" cy="32004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Reliability</a:t>
            </a:r>
            <a:endParaRPr lang="en-US" sz="1600" dirty="0"/>
          </a:p>
        </p:txBody>
      </p:sp>
      <p:sp>
        <p:nvSpPr>
          <p:cNvPr id="23" name="Text 21"/>
          <p:cNvSpPr/>
          <p:nvPr/>
        </p:nvSpPr>
        <p:spPr>
          <a:xfrm>
            <a:off x="6949440" y="4663440"/>
            <a:ext cx="4297680" cy="365760"/>
          </a:xfrm>
          <a:prstGeom prst="rect">
            <a:avLst/>
          </a:prstGeom>
          <a:noFill/>
          <a:ln/>
        </p:spPr>
        <p:txBody>
          <a:bodyPr wrap="square" lIns="0" tIns="0" rIns="0" bIns="0" rtlCol="0" anchor="ctr"/>
          <a:lstStyle/>
          <a:p>
            <a:pPr marL="0" indent="0">
              <a:lnSpc>
                <a:spcPct val="110000"/>
              </a:lnSpc>
              <a:buNone/>
            </a:pPr>
            <a:r>
              <a:rPr lang="en-US" sz="1400" dirty="0">
                <a:solidFill>
                  <a:srgbClr val="43506B"/>
                </a:solidFill>
                <a:latin typeface="Calibri" pitchFamily="34" charset="0"/>
                <a:ea typeface="Calibri" pitchFamily="34" charset="-122"/>
                <a:cs typeface="Calibri" pitchFamily="34" charset="-120"/>
              </a:rPr>
              <a:t>Spreading replicas protects against correlated failures.</a:t>
            </a:r>
            <a:endParaRPr lang="en-US" sz="1400" dirty="0"/>
          </a:p>
        </p:txBody>
      </p:sp>
      <p:sp>
        <p:nvSpPr>
          <p:cNvPr id="24" name="Shape 22"/>
          <p:cNvSpPr/>
          <p:nvPr/>
        </p:nvSpPr>
        <p:spPr>
          <a:xfrm>
            <a:off x="6309360" y="5212080"/>
            <a:ext cx="5029200" cy="822960"/>
          </a:xfrm>
          <a:prstGeom prst="roundRect">
            <a:avLst>
              <a:gd name="adj" fmla="val 7778"/>
            </a:avLst>
          </a:prstGeom>
          <a:solidFill>
            <a:srgbClr val="CFE8EF"/>
          </a:solidFill>
          <a:ln/>
        </p:spPr>
      </p:sp>
      <p:sp>
        <p:nvSpPr>
          <p:cNvPr id="25" name="Text 23"/>
          <p:cNvSpPr/>
          <p:nvPr/>
        </p:nvSpPr>
        <p:spPr>
          <a:xfrm>
            <a:off x="6492240" y="5376672"/>
            <a:ext cx="365760" cy="457200"/>
          </a:xfrm>
          <a:prstGeom prst="rect">
            <a:avLst/>
          </a:prstGeom>
          <a:noFill/>
          <a:ln/>
        </p:spPr>
        <p:txBody>
          <a:bodyPr wrap="square" lIns="0" tIns="0" rIns="0" bIns="0" rtlCol="0" anchor="ctr"/>
          <a:lstStyle/>
          <a:p>
            <a:pPr marL="0" indent="0">
              <a:buNone/>
            </a:pPr>
            <a:r>
              <a:rPr lang="en-US" b="1" dirty="0">
                <a:solidFill>
                  <a:srgbClr val="065A82"/>
                </a:solidFill>
                <a:latin typeface="Calibri" pitchFamily="34" charset="0"/>
                <a:ea typeface="Calibri" pitchFamily="34" charset="-122"/>
                <a:cs typeface="Calibri" pitchFamily="34" charset="-120"/>
              </a:rPr>
              <a:t>✔</a:t>
            </a:r>
            <a:endParaRPr lang="en-US" dirty="0"/>
          </a:p>
        </p:txBody>
      </p:sp>
      <p:sp>
        <p:nvSpPr>
          <p:cNvPr id="26" name="Text 24"/>
          <p:cNvSpPr/>
          <p:nvPr/>
        </p:nvSpPr>
        <p:spPr>
          <a:xfrm>
            <a:off x="6949440" y="5303520"/>
            <a:ext cx="4206240" cy="32004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Load Balancing</a:t>
            </a:r>
            <a:endParaRPr lang="en-US" sz="1600" dirty="0"/>
          </a:p>
        </p:txBody>
      </p:sp>
      <p:sp>
        <p:nvSpPr>
          <p:cNvPr id="27" name="Text 25"/>
          <p:cNvSpPr/>
          <p:nvPr/>
        </p:nvSpPr>
        <p:spPr>
          <a:xfrm>
            <a:off x="6949440" y="5623560"/>
            <a:ext cx="4297680" cy="365760"/>
          </a:xfrm>
          <a:prstGeom prst="rect">
            <a:avLst/>
          </a:prstGeom>
          <a:noFill/>
          <a:ln/>
        </p:spPr>
        <p:txBody>
          <a:bodyPr wrap="square" lIns="0" tIns="0" rIns="0" bIns="0" rtlCol="0" anchor="ctr"/>
          <a:lstStyle/>
          <a:p>
            <a:pPr marL="0" indent="0">
              <a:lnSpc>
                <a:spcPct val="110000"/>
              </a:lnSpc>
              <a:buNone/>
            </a:pPr>
            <a:r>
              <a:rPr lang="en-US" sz="1400" dirty="0">
                <a:solidFill>
                  <a:srgbClr val="43506B"/>
                </a:solidFill>
                <a:latin typeface="Calibri" pitchFamily="34" charset="0"/>
                <a:ea typeface="Calibri" pitchFamily="34" charset="-122"/>
                <a:cs typeface="Calibri" pitchFamily="34" charset="-120"/>
              </a:rPr>
              <a:t>Work is spread evenly instead of overloading a few nodes.</a:t>
            </a:r>
            <a:endParaRPr lang="en-US" sz="1400" dirty="0"/>
          </a:p>
        </p:txBody>
      </p:sp>
    </p:spTree>
    <p:extLst>
      <p:ext uri="{BB962C8B-B14F-4D97-AF65-F5344CB8AC3E}">
        <p14:creationId xmlns:p14="http://schemas.microsoft.com/office/powerpoint/2010/main" val="3891215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2400" b="1" kern="0" spc="200" dirty="0">
                <a:solidFill>
                  <a:srgbClr val="F2A93B"/>
                </a:solidFill>
                <a:latin typeface="Calibri" pitchFamily="34" charset="0"/>
                <a:ea typeface="Calibri" pitchFamily="34" charset="-122"/>
                <a:cs typeface="Calibri" pitchFamily="34" charset="-120"/>
              </a:rPr>
              <a:t>WHY IT MATTERS</a:t>
            </a:r>
            <a:endParaRPr lang="en-US" sz="2400" dirty="0"/>
          </a:p>
        </p:txBody>
      </p:sp>
      <p:sp>
        <p:nvSpPr>
          <p:cNvPr id="3" name="Text 1"/>
          <p:cNvSpPr/>
          <p:nvPr/>
        </p:nvSpPr>
        <p:spPr>
          <a:xfrm>
            <a:off x="548640" y="685800"/>
            <a:ext cx="10515600" cy="5943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What Happens When Placement Goes Wrong</a:t>
            </a:r>
            <a:endParaRPr lang="en-US" sz="2700" dirty="0"/>
          </a:p>
        </p:txBody>
      </p:sp>
      <p:sp>
        <p:nvSpPr>
          <p:cNvPr id="4" name="Shape 2"/>
          <p:cNvSpPr/>
          <p:nvPr/>
        </p:nvSpPr>
        <p:spPr>
          <a:xfrm>
            <a:off x="667512" y="1581912"/>
            <a:ext cx="1965960" cy="1005840"/>
          </a:xfrm>
          <a:prstGeom prst="roundRect">
            <a:avLst>
              <a:gd name="adj" fmla="val 7273"/>
            </a:avLst>
          </a:prstGeom>
          <a:solidFill>
            <a:srgbClr val="6B2C2C"/>
          </a:solidFill>
          <a:ln w="15875">
            <a:solidFill>
              <a:srgbClr val="EE7777"/>
            </a:solidFill>
            <a:prstDash val="solid"/>
          </a:ln>
        </p:spPr>
      </p:sp>
      <p:sp>
        <p:nvSpPr>
          <p:cNvPr id="5" name="Text 3"/>
          <p:cNvSpPr/>
          <p:nvPr/>
        </p:nvSpPr>
        <p:spPr>
          <a:xfrm>
            <a:off x="758952" y="1581912"/>
            <a:ext cx="1783080" cy="100584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Poor placement</a:t>
            </a:r>
            <a:endParaRPr lang="en-US" dirty="0"/>
          </a:p>
        </p:txBody>
      </p:sp>
      <p:sp>
        <p:nvSpPr>
          <p:cNvPr id="6" name="Text 4"/>
          <p:cNvSpPr/>
          <p:nvPr/>
        </p:nvSpPr>
        <p:spPr>
          <a:xfrm>
            <a:off x="2633472" y="1581912"/>
            <a:ext cx="256032" cy="1005840"/>
          </a:xfrm>
          <a:prstGeom prst="rect">
            <a:avLst/>
          </a:prstGeom>
          <a:noFill/>
          <a:ln/>
        </p:spPr>
        <p:txBody>
          <a:bodyPr wrap="square" lIns="0" tIns="0" rIns="0" bIns="0" rtlCol="0" anchor="ctr"/>
          <a:lstStyle/>
          <a:p>
            <a:pPr marL="0" indent="0" algn="ctr">
              <a:buNone/>
            </a:pPr>
            <a:r>
              <a:rPr lang="en-US" sz="2800" b="1" dirty="0">
                <a:solidFill>
                  <a:srgbClr val="F2A93B"/>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2889504" y="1581912"/>
            <a:ext cx="1965960" cy="1005840"/>
          </a:xfrm>
          <a:prstGeom prst="roundRect">
            <a:avLst>
              <a:gd name="adj" fmla="val 7273"/>
            </a:avLst>
          </a:prstGeom>
          <a:solidFill>
            <a:srgbClr val="1B2E5E"/>
          </a:solidFill>
          <a:ln/>
        </p:spPr>
      </p:sp>
      <p:sp>
        <p:nvSpPr>
          <p:cNvPr id="8" name="Text 6"/>
          <p:cNvSpPr/>
          <p:nvPr/>
        </p:nvSpPr>
        <p:spPr>
          <a:xfrm>
            <a:off x="2980944" y="1581912"/>
            <a:ext cx="1783080" cy="100584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Network congestion</a:t>
            </a:r>
            <a:endParaRPr lang="en-US" dirty="0"/>
          </a:p>
        </p:txBody>
      </p:sp>
      <p:sp>
        <p:nvSpPr>
          <p:cNvPr id="9" name="Text 7"/>
          <p:cNvSpPr/>
          <p:nvPr/>
        </p:nvSpPr>
        <p:spPr>
          <a:xfrm>
            <a:off x="4855464" y="1581912"/>
            <a:ext cx="256032" cy="1005840"/>
          </a:xfrm>
          <a:prstGeom prst="rect">
            <a:avLst/>
          </a:prstGeom>
          <a:noFill/>
          <a:ln/>
        </p:spPr>
        <p:txBody>
          <a:bodyPr wrap="square" lIns="0" tIns="0" rIns="0" bIns="0" rtlCol="0" anchor="ctr"/>
          <a:lstStyle/>
          <a:p>
            <a:pPr marL="0" indent="0" algn="ctr">
              <a:buNone/>
            </a:pPr>
            <a:r>
              <a:rPr lang="en-US" sz="2800" b="1" dirty="0">
                <a:solidFill>
                  <a:srgbClr val="F2A93B"/>
                </a:solidFill>
                <a:latin typeface="Calibri" pitchFamily="34" charset="0"/>
                <a:ea typeface="Calibri" pitchFamily="34" charset="-122"/>
                <a:cs typeface="Calibri" pitchFamily="34" charset="-120"/>
              </a:rPr>
              <a:t>→</a:t>
            </a:r>
            <a:endParaRPr lang="en-US" sz="2800" dirty="0"/>
          </a:p>
        </p:txBody>
      </p:sp>
      <p:sp>
        <p:nvSpPr>
          <p:cNvPr id="10" name="Shape 8"/>
          <p:cNvSpPr/>
          <p:nvPr/>
        </p:nvSpPr>
        <p:spPr>
          <a:xfrm>
            <a:off x="5111496" y="1581912"/>
            <a:ext cx="1965960" cy="1005840"/>
          </a:xfrm>
          <a:prstGeom prst="roundRect">
            <a:avLst>
              <a:gd name="adj" fmla="val 7273"/>
            </a:avLst>
          </a:prstGeom>
          <a:solidFill>
            <a:srgbClr val="1B2E5E"/>
          </a:solidFill>
          <a:ln/>
        </p:spPr>
      </p:sp>
      <p:sp>
        <p:nvSpPr>
          <p:cNvPr id="11" name="Text 9"/>
          <p:cNvSpPr/>
          <p:nvPr/>
        </p:nvSpPr>
        <p:spPr>
          <a:xfrm>
            <a:off x="5202936" y="1581912"/>
            <a:ext cx="1783080" cy="100584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Server overload</a:t>
            </a:r>
            <a:endParaRPr lang="en-US" dirty="0"/>
          </a:p>
        </p:txBody>
      </p:sp>
      <p:sp>
        <p:nvSpPr>
          <p:cNvPr id="12" name="Text 10"/>
          <p:cNvSpPr/>
          <p:nvPr/>
        </p:nvSpPr>
        <p:spPr>
          <a:xfrm>
            <a:off x="7077456" y="1581912"/>
            <a:ext cx="256032" cy="1005840"/>
          </a:xfrm>
          <a:prstGeom prst="rect">
            <a:avLst/>
          </a:prstGeom>
          <a:noFill/>
          <a:ln/>
        </p:spPr>
        <p:txBody>
          <a:bodyPr wrap="square" lIns="0" tIns="0" rIns="0" bIns="0" rtlCol="0" anchor="ctr"/>
          <a:lstStyle/>
          <a:p>
            <a:pPr marL="0" indent="0" algn="ctr">
              <a:buNone/>
            </a:pPr>
            <a:r>
              <a:rPr lang="en-US" sz="2800" b="1" dirty="0">
                <a:solidFill>
                  <a:srgbClr val="F2A93B"/>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7333488" y="1581912"/>
            <a:ext cx="1965960" cy="1005840"/>
          </a:xfrm>
          <a:prstGeom prst="roundRect">
            <a:avLst>
              <a:gd name="adj" fmla="val 7273"/>
            </a:avLst>
          </a:prstGeom>
          <a:solidFill>
            <a:srgbClr val="1B2E5E"/>
          </a:solidFill>
          <a:ln/>
        </p:spPr>
      </p:sp>
      <p:sp>
        <p:nvSpPr>
          <p:cNvPr id="14" name="Text 12"/>
          <p:cNvSpPr/>
          <p:nvPr/>
        </p:nvSpPr>
        <p:spPr>
          <a:xfrm>
            <a:off x="7424928" y="1581912"/>
            <a:ext cx="1783080" cy="100584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Slow processing</a:t>
            </a:r>
            <a:endParaRPr lang="en-US" dirty="0"/>
          </a:p>
        </p:txBody>
      </p:sp>
      <p:sp>
        <p:nvSpPr>
          <p:cNvPr id="15" name="Text 13"/>
          <p:cNvSpPr/>
          <p:nvPr/>
        </p:nvSpPr>
        <p:spPr>
          <a:xfrm>
            <a:off x="9299448" y="1581912"/>
            <a:ext cx="256032" cy="1005840"/>
          </a:xfrm>
          <a:prstGeom prst="rect">
            <a:avLst/>
          </a:prstGeom>
          <a:noFill/>
          <a:ln/>
        </p:spPr>
        <p:txBody>
          <a:bodyPr wrap="square" lIns="0" tIns="0" rIns="0" bIns="0" rtlCol="0" anchor="ctr"/>
          <a:lstStyle/>
          <a:p>
            <a:pPr marL="0" indent="0" algn="ctr">
              <a:buNone/>
            </a:pPr>
            <a:r>
              <a:rPr lang="en-US" sz="2800" b="1" dirty="0">
                <a:solidFill>
                  <a:srgbClr val="F2A93B"/>
                </a:solidFill>
                <a:latin typeface="Calibri" pitchFamily="34" charset="0"/>
                <a:ea typeface="Calibri" pitchFamily="34" charset="-122"/>
                <a:cs typeface="Calibri" pitchFamily="34" charset="-120"/>
              </a:rPr>
              <a:t>→</a:t>
            </a:r>
            <a:endParaRPr lang="en-US" sz="2800" dirty="0"/>
          </a:p>
        </p:txBody>
      </p:sp>
      <p:sp>
        <p:nvSpPr>
          <p:cNvPr id="16" name="Shape 14"/>
          <p:cNvSpPr/>
          <p:nvPr/>
        </p:nvSpPr>
        <p:spPr>
          <a:xfrm>
            <a:off x="9555480" y="1581912"/>
            <a:ext cx="1965960" cy="1005840"/>
          </a:xfrm>
          <a:prstGeom prst="roundRect">
            <a:avLst>
              <a:gd name="adj" fmla="val 7273"/>
            </a:avLst>
          </a:prstGeom>
          <a:solidFill>
            <a:srgbClr val="6B2C2C"/>
          </a:solidFill>
          <a:ln w="15875">
            <a:solidFill>
              <a:srgbClr val="EE7777"/>
            </a:solidFill>
            <a:prstDash val="solid"/>
          </a:ln>
        </p:spPr>
      </p:sp>
      <p:sp>
        <p:nvSpPr>
          <p:cNvPr id="17" name="Text 15"/>
          <p:cNvSpPr/>
          <p:nvPr/>
        </p:nvSpPr>
        <p:spPr>
          <a:xfrm>
            <a:off x="9646920" y="1581912"/>
            <a:ext cx="1783080" cy="100584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Poor fault tolerance</a:t>
            </a:r>
            <a:endParaRPr lang="en-US" dirty="0"/>
          </a:p>
        </p:txBody>
      </p:sp>
      <p:sp>
        <p:nvSpPr>
          <p:cNvPr id="18" name="Text 16"/>
          <p:cNvSpPr/>
          <p:nvPr/>
        </p:nvSpPr>
        <p:spPr>
          <a:xfrm>
            <a:off x="914400" y="3136392"/>
            <a:ext cx="10332720" cy="457200"/>
          </a:xfrm>
          <a:prstGeom prst="rect">
            <a:avLst/>
          </a:prstGeom>
          <a:noFill/>
          <a:ln/>
        </p:spPr>
        <p:txBody>
          <a:bodyPr wrap="square" lIns="0" tIns="0" rIns="0" bIns="0" rtlCol="0" anchor="ctr"/>
          <a:lstStyle/>
          <a:p>
            <a:pPr marL="0" indent="0" algn="ctr">
              <a:buNone/>
            </a:pPr>
            <a:r>
              <a:rPr lang="en-US" sz="2000" i="1" dirty="0">
                <a:latin typeface="Calibri" pitchFamily="34" charset="0"/>
                <a:ea typeface="Calibri" pitchFamily="34" charset="-122"/>
                <a:cs typeface="Calibri" pitchFamily="34" charset="-120"/>
              </a:rPr>
              <a:t>A single bad placement decision cascades — this is why placement strategy is a first-class design concern, not an afterthought.</a:t>
            </a:r>
            <a:endParaRPr lang="en-US" sz="2000" dirty="0"/>
          </a:p>
        </p:txBody>
      </p:sp>
      <p:sp>
        <p:nvSpPr>
          <p:cNvPr id="19" name="Shape 17"/>
          <p:cNvSpPr/>
          <p:nvPr/>
        </p:nvSpPr>
        <p:spPr>
          <a:xfrm>
            <a:off x="548640" y="3867912"/>
            <a:ext cx="11064240" cy="0"/>
          </a:xfrm>
          <a:prstGeom prst="line">
            <a:avLst/>
          </a:prstGeom>
          <a:noFill/>
          <a:ln w="12700">
            <a:solidFill>
              <a:srgbClr val="3A4A6B"/>
            </a:solidFill>
            <a:prstDash val="solid"/>
          </a:ln>
        </p:spPr>
      </p:sp>
      <p:sp>
        <p:nvSpPr>
          <p:cNvPr id="20" name="Text 18"/>
          <p:cNvSpPr/>
          <p:nvPr/>
        </p:nvSpPr>
        <p:spPr>
          <a:xfrm>
            <a:off x="548640" y="4050792"/>
            <a:ext cx="11064240" cy="640080"/>
          </a:xfrm>
          <a:prstGeom prst="rect">
            <a:avLst/>
          </a:prstGeom>
          <a:noFill/>
          <a:ln/>
        </p:spPr>
        <p:txBody>
          <a:bodyPr wrap="square" lIns="0" tIns="0" rIns="0" bIns="0" rtlCol="0" anchor="ctr"/>
          <a:lstStyle/>
          <a:p>
            <a:pPr marL="0" indent="0" algn="ctr">
              <a:lnSpc>
                <a:spcPct val="125000"/>
              </a:lnSpc>
              <a:buNone/>
            </a:pPr>
            <a:r>
              <a:rPr lang="en-US" sz="2000" dirty="0">
                <a:latin typeface="Calibri" pitchFamily="34" charset="0"/>
                <a:ea typeface="Calibri" pitchFamily="34" charset="-122"/>
                <a:cs typeface="Calibri" pitchFamily="34" charset="-120"/>
              </a:rPr>
              <a:t>Good placement strategy breaks this chain before it starts — by spreading load, respecting rack boundaries, and keeping data close to where it's needed.</a:t>
            </a:r>
            <a:endParaRPr lang="en-US" sz="2000" dirty="0"/>
          </a:p>
        </p:txBody>
      </p:sp>
    </p:spTree>
    <p:extLst>
      <p:ext uri="{BB962C8B-B14F-4D97-AF65-F5344CB8AC3E}">
        <p14:creationId xmlns:p14="http://schemas.microsoft.com/office/powerpoint/2010/main" val="10755212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HADOOP IN PRACTICE</a:t>
            </a:r>
            <a:endParaRPr lang="en-US" sz="1300" dirty="0"/>
          </a:p>
        </p:txBody>
      </p:sp>
      <p:sp>
        <p:nvSpPr>
          <p:cNvPr id="3" name="Text 1"/>
          <p:cNvSpPr/>
          <p:nvPr/>
        </p:nvSpPr>
        <p:spPr>
          <a:xfrm>
            <a:off x="548640" y="685800"/>
            <a:ext cx="10515600" cy="59436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Typical Hadoop Placement Strategy</a:t>
            </a:r>
            <a:endParaRPr lang="en-US" sz="2700" dirty="0"/>
          </a:p>
        </p:txBody>
      </p:sp>
      <p:sp>
        <p:nvSpPr>
          <p:cNvPr id="4" name="Shape 2"/>
          <p:cNvSpPr/>
          <p:nvPr/>
        </p:nvSpPr>
        <p:spPr>
          <a:xfrm>
            <a:off x="9418320" y="713232"/>
            <a:ext cx="2194560" cy="502920"/>
          </a:xfrm>
          <a:prstGeom prst="roundRect">
            <a:avLst>
              <a:gd name="adj" fmla="val 49091"/>
            </a:avLst>
          </a:prstGeom>
          <a:solidFill>
            <a:srgbClr val="F2A93B"/>
          </a:solidFill>
          <a:ln/>
        </p:spPr>
      </p:sp>
      <p:sp>
        <p:nvSpPr>
          <p:cNvPr id="5" name="Text 3"/>
          <p:cNvSpPr/>
          <p:nvPr/>
        </p:nvSpPr>
        <p:spPr>
          <a:xfrm>
            <a:off x="9418320" y="713232"/>
            <a:ext cx="2194560" cy="502920"/>
          </a:xfrm>
          <a:prstGeom prst="rect">
            <a:avLst/>
          </a:prstGeom>
          <a:noFill/>
          <a:ln/>
        </p:spPr>
        <p:txBody>
          <a:bodyPr wrap="square" lIns="0" tIns="0" rIns="0" bIns="0" rtlCol="0" anchor="ctr"/>
          <a:lstStyle/>
          <a:p>
            <a:pPr marL="0" indent="0" algn="ctr">
              <a:buNone/>
            </a:pPr>
            <a:r>
              <a:rPr lang="en-US" sz="1200" b="1" dirty="0">
                <a:solidFill>
                  <a:srgbClr val="21295C"/>
                </a:solidFill>
                <a:latin typeface="Calibri" pitchFamily="34" charset="0"/>
                <a:ea typeface="Calibri" pitchFamily="34" charset="-122"/>
                <a:cs typeface="Calibri" pitchFamily="34" charset="-120"/>
              </a:rPr>
              <a:t>Replication Factor = 3</a:t>
            </a:r>
            <a:endParaRPr lang="en-US" sz="1200" dirty="0"/>
          </a:p>
        </p:txBody>
      </p:sp>
      <p:sp>
        <p:nvSpPr>
          <p:cNvPr id="6" name="Shape 4"/>
          <p:cNvSpPr/>
          <p:nvPr/>
        </p:nvSpPr>
        <p:spPr>
          <a:xfrm>
            <a:off x="1223010" y="1783080"/>
            <a:ext cx="3108960" cy="566928"/>
          </a:xfrm>
          <a:prstGeom prst="roundRect">
            <a:avLst>
              <a:gd name="adj" fmla="val 11290"/>
            </a:avLst>
          </a:prstGeom>
          <a:solidFill>
            <a:srgbClr val="1C7293"/>
          </a:solidFill>
          <a:ln/>
        </p:spPr>
      </p:sp>
      <p:sp>
        <p:nvSpPr>
          <p:cNvPr id="7" name="Text 5"/>
          <p:cNvSpPr/>
          <p:nvPr/>
        </p:nvSpPr>
        <p:spPr>
          <a:xfrm>
            <a:off x="1223010" y="1783080"/>
            <a:ext cx="31089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Client</a:t>
            </a:r>
            <a:endParaRPr lang="en-US" sz="2000" dirty="0"/>
          </a:p>
        </p:txBody>
      </p:sp>
      <p:sp>
        <p:nvSpPr>
          <p:cNvPr id="8" name="Shape 6"/>
          <p:cNvSpPr/>
          <p:nvPr/>
        </p:nvSpPr>
        <p:spPr>
          <a:xfrm>
            <a:off x="2777490" y="2350008"/>
            <a:ext cx="0" cy="256032"/>
          </a:xfrm>
          <a:prstGeom prst="line">
            <a:avLst/>
          </a:prstGeom>
          <a:noFill/>
          <a:ln w="19050">
            <a:solidFill>
              <a:srgbClr val="43506B"/>
            </a:solidFill>
            <a:prstDash val="solid"/>
            <a:tailEnd type="triangle"/>
          </a:ln>
        </p:spPr>
      </p:sp>
      <p:sp>
        <p:nvSpPr>
          <p:cNvPr id="9" name="Shape 7"/>
          <p:cNvSpPr/>
          <p:nvPr/>
        </p:nvSpPr>
        <p:spPr>
          <a:xfrm>
            <a:off x="1223010" y="2606040"/>
            <a:ext cx="3108960" cy="566928"/>
          </a:xfrm>
          <a:prstGeom prst="roundRect">
            <a:avLst>
              <a:gd name="adj" fmla="val 11290"/>
            </a:avLst>
          </a:prstGeom>
          <a:solidFill>
            <a:srgbClr val="065A82"/>
          </a:solidFill>
          <a:ln/>
        </p:spPr>
      </p:sp>
      <p:sp>
        <p:nvSpPr>
          <p:cNvPr id="10" name="Text 8"/>
          <p:cNvSpPr/>
          <p:nvPr/>
        </p:nvSpPr>
        <p:spPr>
          <a:xfrm>
            <a:off x="1223010" y="2606040"/>
            <a:ext cx="31089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Block A</a:t>
            </a:r>
            <a:endParaRPr lang="en-US" sz="2000" dirty="0"/>
          </a:p>
        </p:txBody>
      </p:sp>
      <p:sp>
        <p:nvSpPr>
          <p:cNvPr id="11" name="Shape 9"/>
          <p:cNvSpPr/>
          <p:nvPr/>
        </p:nvSpPr>
        <p:spPr>
          <a:xfrm>
            <a:off x="2777490" y="3172968"/>
            <a:ext cx="0" cy="256032"/>
          </a:xfrm>
          <a:prstGeom prst="line">
            <a:avLst/>
          </a:prstGeom>
          <a:noFill/>
          <a:ln w="19050">
            <a:solidFill>
              <a:srgbClr val="43506B"/>
            </a:solidFill>
            <a:prstDash val="solid"/>
            <a:tailEnd type="triangle"/>
          </a:ln>
        </p:spPr>
      </p:sp>
      <p:sp>
        <p:nvSpPr>
          <p:cNvPr id="12" name="Shape 10"/>
          <p:cNvSpPr/>
          <p:nvPr/>
        </p:nvSpPr>
        <p:spPr>
          <a:xfrm>
            <a:off x="1223010" y="3429000"/>
            <a:ext cx="3108960" cy="566928"/>
          </a:xfrm>
          <a:prstGeom prst="roundRect">
            <a:avLst>
              <a:gd name="adj" fmla="val 11290"/>
            </a:avLst>
          </a:prstGeom>
          <a:solidFill>
            <a:srgbClr val="21295C"/>
          </a:solidFill>
          <a:ln/>
        </p:spPr>
      </p:sp>
      <p:sp>
        <p:nvSpPr>
          <p:cNvPr id="13" name="Text 11"/>
          <p:cNvSpPr/>
          <p:nvPr/>
        </p:nvSpPr>
        <p:spPr>
          <a:xfrm>
            <a:off x="1223010" y="3429000"/>
            <a:ext cx="31089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Node 1  ·  Rack 1</a:t>
            </a:r>
            <a:endParaRPr lang="en-US" sz="2000" dirty="0"/>
          </a:p>
        </p:txBody>
      </p:sp>
      <p:sp>
        <p:nvSpPr>
          <p:cNvPr id="14" name="Shape 12"/>
          <p:cNvSpPr/>
          <p:nvPr/>
        </p:nvSpPr>
        <p:spPr>
          <a:xfrm>
            <a:off x="2777490" y="3995928"/>
            <a:ext cx="0" cy="256032"/>
          </a:xfrm>
          <a:prstGeom prst="line">
            <a:avLst/>
          </a:prstGeom>
          <a:noFill/>
          <a:ln w="19050">
            <a:solidFill>
              <a:srgbClr val="43506B"/>
            </a:solidFill>
            <a:prstDash val="solid"/>
            <a:tailEnd type="triangle"/>
          </a:ln>
        </p:spPr>
      </p:sp>
      <p:sp>
        <p:nvSpPr>
          <p:cNvPr id="15" name="Shape 13"/>
          <p:cNvSpPr/>
          <p:nvPr/>
        </p:nvSpPr>
        <p:spPr>
          <a:xfrm>
            <a:off x="1223010" y="4251960"/>
            <a:ext cx="3108960" cy="566928"/>
          </a:xfrm>
          <a:prstGeom prst="roundRect">
            <a:avLst>
              <a:gd name="adj" fmla="val 11290"/>
            </a:avLst>
          </a:prstGeom>
          <a:solidFill>
            <a:srgbClr val="21295C"/>
          </a:solidFill>
          <a:ln/>
        </p:spPr>
      </p:sp>
      <p:sp>
        <p:nvSpPr>
          <p:cNvPr id="16" name="Text 14"/>
          <p:cNvSpPr/>
          <p:nvPr/>
        </p:nvSpPr>
        <p:spPr>
          <a:xfrm>
            <a:off x="1223010" y="4251960"/>
            <a:ext cx="31089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Node 2  ·  Rack 2</a:t>
            </a:r>
            <a:endParaRPr lang="en-US" sz="2000" dirty="0"/>
          </a:p>
        </p:txBody>
      </p:sp>
      <p:sp>
        <p:nvSpPr>
          <p:cNvPr id="17" name="Shape 15"/>
          <p:cNvSpPr/>
          <p:nvPr/>
        </p:nvSpPr>
        <p:spPr>
          <a:xfrm>
            <a:off x="2777490" y="4818888"/>
            <a:ext cx="0" cy="256032"/>
          </a:xfrm>
          <a:prstGeom prst="line">
            <a:avLst/>
          </a:prstGeom>
          <a:noFill/>
          <a:ln w="19050">
            <a:solidFill>
              <a:srgbClr val="43506B"/>
            </a:solidFill>
            <a:prstDash val="solid"/>
            <a:tailEnd type="triangle"/>
          </a:ln>
        </p:spPr>
      </p:sp>
      <p:sp>
        <p:nvSpPr>
          <p:cNvPr id="18" name="Shape 16"/>
          <p:cNvSpPr/>
          <p:nvPr/>
        </p:nvSpPr>
        <p:spPr>
          <a:xfrm>
            <a:off x="1223010" y="5074920"/>
            <a:ext cx="3108960" cy="566928"/>
          </a:xfrm>
          <a:prstGeom prst="roundRect">
            <a:avLst>
              <a:gd name="adj" fmla="val 11290"/>
            </a:avLst>
          </a:prstGeom>
          <a:solidFill>
            <a:srgbClr val="21295C"/>
          </a:solidFill>
          <a:ln/>
        </p:spPr>
      </p:sp>
      <p:sp>
        <p:nvSpPr>
          <p:cNvPr id="19" name="Text 17"/>
          <p:cNvSpPr/>
          <p:nvPr/>
        </p:nvSpPr>
        <p:spPr>
          <a:xfrm>
            <a:off x="1223010" y="5074920"/>
            <a:ext cx="31089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Node 3  ·  Rack 2</a:t>
            </a:r>
            <a:endParaRPr lang="en-US" sz="2000" dirty="0"/>
          </a:p>
        </p:txBody>
      </p:sp>
      <p:sp>
        <p:nvSpPr>
          <p:cNvPr id="20" name="Shape 18"/>
          <p:cNvSpPr/>
          <p:nvPr/>
        </p:nvSpPr>
        <p:spPr>
          <a:xfrm>
            <a:off x="5396864" y="1527048"/>
            <a:ext cx="6216015" cy="4946904"/>
          </a:xfrm>
          <a:prstGeom prst="roundRect">
            <a:avLst>
              <a:gd name="adj" fmla="val 1649"/>
            </a:avLst>
          </a:prstGeom>
          <a:solidFill>
            <a:srgbClr val="F4F8FA"/>
          </a:solidFill>
          <a:ln/>
        </p:spPr>
      </p:sp>
      <p:sp>
        <p:nvSpPr>
          <p:cNvPr id="21" name="Text 19"/>
          <p:cNvSpPr/>
          <p:nvPr/>
        </p:nvSpPr>
        <p:spPr>
          <a:xfrm>
            <a:off x="5671184" y="1801367"/>
            <a:ext cx="5550013" cy="356993"/>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THIS ENSURES</a:t>
            </a:r>
            <a:endParaRPr lang="en-US" dirty="0"/>
          </a:p>
        </p:txBody>
      </p:sp>
      <p:sp>
        <p:nvSpPr>
          <p:cNvPr id="22" name="Shape 20"/>
          <p:cNvSpPr/>
          <p:nvPr/>
        </p:nvSpPr>
        <p:spPr>
          <a:xfrm>
            <a:off x="5671184" y="2258567"/>
            <a:ext cx="5550013" cy="1172977"/>
          </a:xfrm>
          <a:prstGeom prst="roundRect">
            <a:avLst>
              <a:gd name="adj" fmla="val 6087"/>
            </a:avLst>
          </a:prstGeom>
          <a:solidFill>
            <a:srgbClr val="FFFFFF"/>
          </a:solidFill>
          <a:ln/>
        </p:spPr>
      </p:sp>
      <p:sp>
        <p:nvSpPr>
          <p:cNvPr id="23" name="Text 21"/>
          <p:cNvSpPr/>
          <p:nvPr/>
        </p:nvSpPr>
        <p:spPr>
          <a:xfrm>
            <a:off x="5899785" y="2395728"/>
            <a:ext cx="5050512" cy="407992"/>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Rack failure protection</a:t>
            </a:r>
            <a:endParaRPr lang="en-US" sz="2000" dirty="0"/>
          </a:p>
        </p:txBody>
      </p:sp>
      <p:sp>
        <p:nvSpPr>
          <p:cNvPr id="24" name="Text 22"/>
          <p:cNvSpPr/>
          <p:nvPr/>
        </p:nvSpPr>
        <p:spPr>
          <a:xfrm>
            <a:off x="5899785" y="2734055"/>
            <a:ext cx="5050512" cy="591589"/>
          </a:xfrm>
          <a:prstGeom prst="rect">
            <a:avLst/>
          </a:prstGeom>
          <a:noFill/>
          <a:ln/>
        </p:spPr>
        <p:txBody>
          <a:bodyPr wrap="square" lIns="0" tIns="0" rIns="0" bIns="0" rtlCol="0" anchor="ctr"/>
          <a:lstStyle/>
          <a:p>
            <a:pPr marL="0" indent="0">
              <a:lnSpc>
                <a:spcPct val="115000"/>
              </a:lnSpc>
              <a:buNone/>
            </a:pPr>
            <a:r>
              <a:rPr lang="en-US" dirty="0">
                <a:solidFill>
                  <a:srgbClr val="43506B"/>
                </a:solidFill>
                <a:latin typeface="Calibri" pitchFamily="34" charset="0"/>
                <a:ea typeface="Calibri" pitchFamily="34" charset="-122"/>
                <a:cs typeface="Calibri" pitchFamily="34" charset="-120"/>
              </a:rPr>
              <a:t>Losing an entire rack still leaves a replica available on another rack.</a:t>
            </a:r>
            <a:endParaRPr lang="en-US" dirty="0"/>
          </a:p>
        </p:txBody>
      </p:sp>
      <p:sp>
        <p:nvSpPr>
          <p:cNvPr id="25" name="Shape 23"/>
          <p:cNvSpPr/>
          <p:nvPr/>
        </p:nvSpPr>
        <p:spPr>
          <a:xfrm>
            <a:off x="5671184" y="3493007"/>
            <a:ext cx="5550013" cy="1172977"/>
          </a:xfrm>
          <a:prstGeom prst="roundRect">
            <a:avLst>
              <a:gd name="adj" fmla="val 6087"/>
            </a:avLst>
          </a:prstGeom>
          <a:solidFill>
            <a:srgbClr val="FFFFFF"/>
          </a:solidFill>
          <a:ln/>
        </p:spPr>
      </p:sp>
      <p:sp>
        <p:nvSpPr>
          <p:cNvPr id="26" name="Text 24"/>
          <p:cNvSpPr/>
          <p:nvPr/>
        </p:nvSpPr>
        <p:spPr>
          <a:xfrm>
            <a:off x="5899785" y="3630168"/>
            <a:ext cx="5050512" cy="407992"/>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Better availability</a:t>
            </a:r>
            <a:endParaRPr lang="en-US" sz="2000" dirty="0"/>
          </a:p>
        </p:txBody>
      </p:sp>
      <p:sp>
        <p:nvSpPr>
          <p:cNvPr id="27" name="Text 25"/>
          <p:cNvSpPr/>
          <p:nvPr/>
        </p:nvSpPr>
        <p:spPr>
          <a:xfrm>
            <a:off x="5899785" y="3968495"/>
            <a:ext cx="5050512" cy="591589"/>
          </a:xfrm>
          <a:prstGeom prst="rect">
            <a:avLst/>
          </a:prstGeom>
          <a:noFill/>
          <a:ln/>
        </p:spPr>
        <p:txBody>
          <a:bodyPr wrap="square" lIns="0" tIns="0" rIns="0" bIns="0" rtlCol="0" anchor="ctr"/>
          <a:lstStyle/>
          <a:p>
            <a:pPr marL="0" indent="0">
              <a:lnSpc>
                <a:spcPct val="115000"/>
              </a:lnSpc>
              <a:buNone/>
            </a:pPr>
            <a:r>
              <a:rPr lang="en-US" dirty="0">
                <a:solidFill>
                  <a:srgbClr val="43506B"/>
                </a:solidFill>
                <a:latin typeface="Calibri" pitchFamily="34" charset="0"/>
                <a:ea typeface="Calibri" pitchFamily="34" charset="-122"/>
                <a:cs typeface="Calibri" pitchFamily="34" charset="-120"/>
              </a:rPr>
              <a:t>Two racks worth of copies means reads keep succeeding through most failures.</a:t>
            </a:r>
            <a:endParaRPr lang="en-US" dirty="0"/>
          </a:p>
        </p:txBody>
      </p:sp>
      <p:sp>
        <p:nvSpPr>
          <p:cNvPr id="28" name="Shape 26"/>
          <p:cNvSpPr/>
          <p:nvPr/>
        </p:nvSpPr>
        <p:spPr>
          <a:xfrm>
            <a:off x="5671184" y="4727447"/>
            <a:ext cx="5550013" cy="1172977"/>
          </a:xfrm>
          <a:prstGeom prst="roundRect">
            <a:avLst>
              <a:gd name="adj" fmla="val 6087"/>
            </a:avLst>
          </a:prstGeom>
          <a:solidFill>
            <a:srgbClr val="FFFFFF"/>
          </a:solidFill>
          <a:ln/>
        </p:spPr>
      </p:sp>
      <p:sp>
        <p:nvSpPr>
          <p:cNvPr id="29" name="Text 27"/>
          <p:cNvSpPr/>
          <p:nvPr/>
        </p:nvSpPr>
        <p:spPr>
          <a:xfrm>
            <a:off x="5899785" y="4864608"/>
            <a:ext cx="5050512" cy="407992"/>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Lower network cost</a:t>
            </a:r>
            <a:endParaRPr lang="en-US" sz="2000" dirty="0"/>
          </a:p>
        </p:txBody>
      </p:sp>
      <p:sp>
        <p:nvSpPr>
          <p:cNvPr id="30" name="Text 28"/>
          <p:cNvSpPr/>
          <p:nvPr/>
        </p:nvSpPr>
        <p:spPr>
          <a:xfrm>
            <a:off x="5899785" y="5202935"/>
            <a:ext cx="5050512" cy="591589"/>
          </a:xfrm>
          <a:prstGeom prst="rect">
            <a:avLst/>
          </a:prstGeom>
          <a:noFill/>
          <a:ln/>
        </p:spPr>
        <p:txBody>
          <a:bodyPr wrap="square" lIns="0" tIns="0" rIns="0" bIns="0" rtlCol="0" anchor="ctr"/>
          <a:lstStyle/>
          <a:p>
            <a:pPr marL="0" indent="0">
              <a:lnSpc>
                <a:spcPct val="115000"/>
              </a:lnSpc>
              <a:buNone/>
            </a:pPr>
            <a:r>
              <a:rPr lang="en-US" dirty="0">
                <a:solidFill>
                  <a:srgbClr val="43506B"/>
                </a:solidFill>
                <a:latin typeface="Calibri" pitchFamily="34" charset="0"/>
                <a:ea typeface="Calibri" pitchFamily="34" charset="-122"/>
                <a:cs typeface="Calibri" pitchFamily="34" charset="-120"/>
              </a:rPr>
              <a:t>Two replicas share Rack 2, so inter-rack traffic for that pair is minimized.</a:t>
            </a:r>
            <a:endParaRPr lang="en-US" dirty="0"/>
          </a:p>
        </p:txBody>
      </p:sp>
    </p:spTree>
    <p:extLst>
      <p:ext uri="{BB962C8B-B14F-4D97-AF65-F5344CB8AC3E}">
        <p14:creationId xmlns:p14="http://schemas.microsoft.com/office/powerpoint/2010/main" val="32770541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PLACEMENT STRATEGIES</a:t>
            </a:r>
            <a:endParaRPr lang="en-US" sz="1300" dirty="0"/>
          </a:p>
        </p:txBody>
      </p:sp>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Four Common Placement Strategies</a:t>
            </a:r>
            <a:endParaRPr lang="en-US" sz="2800" dirty="0"/>
          </a:p>
        </p:txBody>
      </p:sp>
      <p:sp>
        <p:nvSpPr>
          <p:cNvPr id="4" name="Shape 2"/>
          <p:cNvSpPr/>
          <p:nvPr/>
        </p:nvSpPr>
        <p:spPr>
          <a:xfrm>
            <a:off x="548640" y="1691640"/>
            <a:ext cx="5349240" cy="2057400"/>
          </a:xfrm>
          <a:prstGeom prst="roundRect">
            <a:avLst>
              <a:gd name="adj" fmla="val 3556"/>
            </a:avLst>
          </a:prstGeom>
          <a:solidFill>
            <a:srgbClr val="F4F8FA"/>
          </a:solidFill>
          <a:ln/>
        </p:spPr>
      </p:sp>
      <p:sp>
        <p:nvSpPr>
          <p:cNvPr id="5" name="Shape 3"/>
          <p:cNvSpPr/>
          <p:nvPr/>
        </p:nvSpPr>
        <p:spPr>
          <a:xfrm>
            <a:off x="822960" y="1947672"/>
            <a:ext cx="502920" cy="502920"/>
          </a:xfrm>
          <a:prstGeom prst="ellipse">
            <a:avLst/>
          </a:prstGeom>
          <a:solidFill>
            <a:srgbClr val="43506B"/>
          </a:solidFill>
          <a:ln/>
        </p:spPr>
      </p:sp>
      <p:sp>
        <p:nvSpPr>
          <p:cNvPr id="6" name="Text 4"/>
          <p:cNvSpPr/>
          <p:nvPr/>
        </p:nvSpPr>
        <p:spPr>
          <a:xfrm>
            <a:off x="822960" y="194767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508760" y="1911096"/>
            <a:ext cx="4114800" cy="36576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Random Placement</a:t>
            </a:r>
            <a:endParaRPr lang="en-US" sz="2000" dirty="0"/>
          </a:p>
        </p:txBody>
      </p:sp>
      <p:sp>
        <p:nvSpPr>
          <p:cNvPr id="8" name="Shape 6"/>
          <p:cNvSpPr/>
          <p:nvPr/>
        </p:nvSpPr>
        <p:spPr>
          <a:xfrm>
            <a:off x="1508760" y="2295144"/>
            <a:ext cx="2377440" cy="292608"/>
          </a:xfrm>
          <a:prstGeom prst="roundRect">
            <a:avLst>
              <a:gd name="adj" fmla="val 50000"/>
            </a:avLst>
          </a:prstGeom>
          <a:solidFill>
            <a:srgbClr val="CFE8EF"/>
          </a:solidFill>
          <a:ln/>
        </p:spPr>
      </p:sp>
      <p:sp>
        <p:nvSpPr>
          <p:cNvPr id="9" name="Text 7"/>
          <p:cNvSpPr/>
          <p:nvPr/>
        </p:nvSpPr>
        <p:spPr>
          <a:xfrm>
            <a:off x="1508760" y="2295144"/>
            <a:ext cx="2377440" cy="292608"/>
          </a:xfrm>
          <a:prstGeom prst="rect">
            <a:avLst/>
          </a:prstGeom>
          <a:noFill/>
          <a:ln/>
        </p:spPr>
        <p:txBody>
          <a:bodyPr wrap="square" lIns="0" tIns="0" rIns="0" bIns="0" rtlCol="0" anchor="ctr"/>
          <a:lstStyle/>
          <a:p>
            <a:pPr marL="0" indent="0" algn="ctr">
              <a:buNone/>
            </a:pPr>
            <a:r>
              <a:rPr lang="en-US" sz="1400" b="1" i="1" dirty="0">
                <a:solidFill>
                  <a:srgbClr val="065A82"/>
                </a:solidFill>
                <a:latin typeface="Calibri" pitchFamily="34" charset="0"/>
                <a:ea typeface="Calibri" pitchFamily="34" charset="-122"/>
                <a:cs typeface="Calibri" pitchFamily="34" charset="-120"/>
              </a:rPr>
              <a:t>Simple, poor optimization</a:t>
            </a:r>
            <a:endParaRPr lang="en-US" sz="1400" dirty="0"/>
          </a:p>
        </p:txBody>
      </p:sp>
      <p:sp>
        <p:nvSpPr>
          <p:cNvPr id="10" name="Text 8"/>
          <p:cNvSpPr/>
          <p:nvPr/>
        </p:nvSpPr>
        <p:spPr>
          <a:xfrm>
            <a:off x="822960" y="2743200"/>
            <a:ext cx="4800600" cy="868680"/>
          </a:xfrm>
          <a:prstGeom prst="rect">
            <a:avLst/>
          </a:prstGeom>
          <a:noFill/>
          <a:ln/>
        </p:spPr>
        <p:txBody>
          <a:bodyPr wrap="square" lIns="0" tIns="0" rIns="0" bIns="0" rtlCol="0" anchor="ctr"/>
          <a:lstStyle/>
          <a:p>
            <a:pPr marL="0" indent="0">
              <a:lnSpc>
                <a:spcPct val="125000"/>
              </a:lnSpc>
              <a:buNone/>
            </a:pPr>
            <a:r>
              <a:rPr lang="en-US" dirty="0">
                <a:solidFill>
                  <a:srgbClr val="43506B"/>
                </a:solidFill>
                <a:latin typeface="Calibri" pitchFamily="34" charset="0"/>
                <a:ea typeface="Calibri" pitchFamily="34" charset="-122"/>
                <a:cs typeface="Calibri" pitchFamily="34" charset="-120"/>
              </a:rPr>
              <a:t>Blocks are stored randomly across the cluster with no awareness of load or topology.</a:t>
            </a:r>
            <a:endParaRPr lang="en-US" dirty="0"/>
          </a:p>
        </p:txBody>
      </p:sp>
      <p:sp>
        <p:nvSpPr>
          <p:cNvPr id="11" name="Shape 9"/>
          <p:cNvSpPr/>
          <p:nvPr/>
        </p:nvSpPr>
        <p:spPr>
          <a:xfrm>
            <a:off x="6263640" y="1691640"/>
            <a:ext cx="5349240" cy="2057400"/>
          </a:xfrm>
          <a:prstGeom prst="roundRect">
            <a:avLst>
              <a:gd name="adj" fmla="val 3556"/>
            </a:avLst>
          </a:prstGeom>
          <a:solidFill>
            <a:srgbClr val="F4F8FA"/>
          </a:solidFill>
          <a:ln/>
        </p:spPr>
      </p:sp>
      <p:sp>
        <p:nvSpPr>
          <p:cNvPr id="12" name="Shape 10"/>
          <p:cNvSpPr/>
          <p:nvPr/>
        </p:nvSpPr>
        <p:spPr>
          <a:xfrm>
            <a:off x="6537960" y="1947672"/>
            <a:ext cx="502920" cy="502920"/>
          </a:xfrm>
          <a:prstGeom prst="ellipse">
            <a:avLst/>
          </a:prstGeom>
          <a:solidFill>
            <a:srgbClr val="F2A93B"/>
          </a:solidFill>
          <a:ln/>
        </p:spPr>
      </p:sp>
      <p:sp>
        <p:nvSpPr>
          <p:cNvPr id="13" name="Text 11"/>
          <p:cNvSpPr/>
          <p:nvPr/>
        </p:nvSpPr>
        <p:spPr>
          <a:xfrm>
            <a:off x="6537960" y="194767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Text 12"/>
          <p:cNvSpPr/>
          <p:nvPr/>
        </p:nvSpPr>
        <p:spPr>
          <a:xfrm>
            <a:off x="7223760" y="1911096"/>
            <a:ext cx="4114800" cy="36576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Rack-Aware Placement</a:t>
            </a:r>
            <a:endParaRPr lang="en-US" sz="2000" dirty="0"/>
          </a:p>
        </p:txBody>
      </p:sp>
      <p:sp>
        <p:nvSpPr>
          <p:cNvPr id="15" name="Shape 13"/>
          <p:cNvSpPr/>
          <p:nvPr/>
        </p:nvSpPr>
        <p:spPr>
          <a:xfrm>
            <a:off x="7223760" y="2295144"/>
            <a:ext cx="2377440" cy="292608"/>
          </a:xfrm>
          <a:prstGeom prst="roundRect">
            <a:avLst>
              <a:gd name="adj" fmla="val 50000"/>
            </a:avLst>
          </a:prstGeom>
          <a:solidFill>
            <a:srgbClr val="CFE8EF"/>
          </a:solidFill>
          <a:ln/>
        </p:spPr>
      </p:sp>
      <p:sp>
        <p:nvSpPr>
          <p:cNvPr id="16" name="Text 14"/>
          <p:cNvSpPr/>
          <p:nvPr/>
        </p:nvSpPr>
        <p:spPr>
          <a:xfrm>
            <a:off x="7223760" y="2295144"/>
            <a:ext cx="2377440" cy="292608"/>
          </a:xfrm>
          <a:prstGeom prst="rect">
            <a:avLst/>
          </a:prstGeom>
          <a:noFill/>
          <a:ln/>
        </p:spPr>
        <p:txBody>
          <a:bodyPr wrap="square" lIns="0" tIns="0" rIns="0" bIns="0" rtlCol="0" anchor="ctr"/>
          <a:lstStyle/>
          <a:p>
            <a:pPr marL="0" indent="0" algn="ctr">
              <a:buNone/>
            </a:pPr>
            <a:r>
              <a:rPr lang="en-US" sz="1400" b="1" i="1" dirty="0">
                <a:solidFill>
                  <a:srgbClr val="065A82"/>
                </a:solidFill>
                <a:latin typeface="Calibri" pitchFamily="34" charset="0"/>
                <a:ea typeface="Calibri" pitchFamily="34" charset="-122"/>
                <a:cs typeface="Calibri" pitchFamily="34" charset="-120"/>
              </a:rPr>
              <a:t>Most widely used</a:t>
            </a:r>
            <a:endParaRPr lang="en-US" sz="1400" dirty="0"/>
          </a:p>
        </p:txBody>
      </p:sp>
      <p:sp>
        <p:nvSpPr>
          <p:cNvPr id="17" name="Text 15"/>
          <p:cNvSpPr/>
          <p:nvPr/>
        </p:nvSpPr>
        <p:spPr>
          <a:xfrm>
            <a:off x="6537960" y="2743200"/>
            <a:ext cx="4800600" cy="868680"/>
          </a:xfrm>
          <a:prstGeom prst="rect">
            <a:avLst/>
          </a:prstGeom>
          <a:noFill/>
          <a:ln/>
        </p:spPr>
        <p:txBody>
          <a:bodyPr wrap="square" lIns="0" tIns="0" rIns="0" bIns="0" rtlCol="0" anchor="ctr"/>
          <a:lstStyle/>
          <a:p>
            <a:pPr marL="0" indent="0">
              <a:lnSpc>
                <a:spcPct val="125000"/>
              </a:lnSpc>
              <a:buNone/>
            </a:pPr>
            <a:r>
              <a:rPr lang="en-US" dirty="0">
                <a:solidFill>
                  <a:srgbClr val="43506B"/>
                </a:solidFill>
                <a:latin typeface="Calibri" pitchFamily="34" charset="0"/>
                <a:ea typeface="Calibri" pitchFamily="34" charset="-122"/>
                <a:cs typeface="Calibri" pitchFamily="34" charset="-120"/>
              </a:rPr>
              <a:t>Replicas are spread across multiple racks to survive rack-level failures.</a:t>
            </a:r>
            <a:endParaRPr lang="en-US" dirty="0"/>
          </a:p>
        </p:txBody>
      </p:sp>
      <p:sp>
        <p:nvSpPr>
          <p:cNvPr id="18" name="Shape 16"/>
          <p:cNvSpPr/>
          <p:nvPr/>
        </p:nvSpPr>
        <p:spPr>
          <a:xfrm>
            <a:off x="548640" y="4023360"/>
            <a:ext cx="5349240" cy="2057400"/>
          </a:xfrm>
          <a:prstGeom prst="roundRect">
            <a:avLst>
              <a:gd name="adj" fmla="val 3556"/>
            </a:avLst>
          </a:prstGeom>
          <a:solidFill>
            <a:srgbClr val="F4F8FA"/>
          </a:solidFill>
          <a:ln/>
        </p:spPr>
      </p:sp>
      <p:sp>
        <p:nvSpPr>
          <p:cNvPr id="19" name="Shape 17"/>
          <p:cNvSpPr/>
          <p:nvPr/>
        </p:nvSpPr>
        <p:spPr>
          <a:xfrm>
            <a:off x="822960" y="4279392"/>
            <a:ext cx="502920" cy="502920"/>
          </a:xfrm>
          <a:prstGeom prst="ellipse">
            <a:avLst/>
          </a:prstGeom>
          <a:solidFill>
            <a:srgbClr val="1C7293"/>
          </a:solidFill>
          <a:ln/>
        </p:spPr>
      </p:sp>
      <p:sp>
        <p:nvSpPr>
          <p:cNvPr id="20" name="Text 18"/>
          <p:cNvSpPr/>
          <p:nvPr/>
        </p:nvSpPr>
        <p:spPr>
          <a:xfrm>
            <a:off x="822960" y="427939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1" name="Text 19"/>
          <p:cNvSpPr/>
          <p:nvPr/>
        </p:nvSpPr>
        <p:spPr>
          <a:xfrm>
            <a:off x="1508760" y="4242816"/>
            <a:ext cx="4114800" cy="36576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Load-Based Placement</a:t>
            </a:r>
            <a:endParaRPr lang="en-US" sz="2000" dirty="0"/>
          </a:p>
        </p:txBody>
      </p:sp>
      <p:sp>
        <p:nvSpPr>
          <p:cNvPr id="22" name="Shape 20"/>
          <p:cNvSpPr/>
          <p:nvPr/>
        </p:nvSpPr>
        <p:spPr>
          <a:xfrm>
            <a:off x="1508760" y="4626864"/>
            <a:ext cx="2377440" cy="292608"/>
          </a:xfrm>
          <a:prstGeom prst="roundRect">
            <a:avLst>
              <a:gd name="adj" fmla="val 50000"/>
            </a:avLst>
          </a:prstGeom>
          <a:solidFill>
            <a:srgbClr val="CFE8EF"/>
          </a:solidFill>
          <a:ln/>
        </p:spPr>
      </p:sp>
      <p:sp>
        <p:nvSpPr>
          <p:cNvPr id="23" name="Text 21"/>
          <p:cNvSpPr/>
          <p:nvPr/>
        </p:nvSpPr>
        <p:spPr>
          <a:xfrm>
            <a:off x="1508760" y="4626864"/>
            <a:ext cx="2377440" cy="292608"/>
          </a:xfrm>
          <a:prstGeom prst="rect">
            <a:avLst/>
          </a:prstGeom>
          <a:noFill/>
          <a:ln/>
        </p:spPr>
        <p:txBody>
          <a:bodyPr wrap="square" lIns="0" tIns="0" rIns="0" bIns="0" rtlCol="0" anchor="ctr"/>
          <a:lstStyle/>
          <a:p>
            <a:pPr marL="0" indent="0" algn="ctr">
              <a:buNone/>
            </a:pPr>
            <a:r>
              <a:rPr lang="en-US" sz="1400" b="1" i="1" dirty="0">
                <a:solidFill>
                  <a:srgbClr val="065A82"/>
                </a:solidFill>
                <a:latin typeface="Calibri" pitchFamily="34" charset="0"/>
                <a:ea typeface="Calibri" pitchFamily="34" charset="-122"/>
                <a:cs typeface="Calibri" pitchFamily="34" charset="-120"/>
              </a:rPr>
              <a:t>Balances storage</a:t>
            </a:r>
            <a:endParaRPr lang="en-US" sz="1400" dirty="0"/>
          </a:p>
        </p:txBody>
      </p:sp>
      <p:sp>
        <p:nvSpPr>
          <p:cNvPr id="24" name="Text 22"/>
          <p:cNvSpPr/>
          <p:nvPr/>
        </p:nvSpPr>
        <p:spPr>
          <a:xfrm>
            <a:off x="822960" y="5074920"/>
            <a:ext cx="4800600" cy="868680"/>
          </a:xfrm>
          <a:prstGeom prst="rect">
            <a:avLst/>
          </a:prstGeom>
          <a:noFill/>
          <a:ln/>
        </p:spPr>
        <p:txBody>
          <a:bodyPr wrap="square" lIns="0" tIns="0" rIns="0" bIns="0" rtlCol="0" anchor="ctr"/>
          <a:lstStyle/>
          <a:p>
            <a:pPr marL="0" indent="0">
              <a:lnSpc>
                <a:spcPct val="125000"/>
              </a:lnSpc>
              <a:buNone/>
            </a:pPr>
            <a:r>
              <a:rPr lang="en-US" dirty="0">
                <a:solidFill>
                  <a:srgbClr val="43506B"/>
                </a:solidFill>
                <a:latin typeface="Calibri" pitchFamily="34" charset="0"/>
                <a:ea typeface="Calibri" pitchFamily="34" charset="-122"/>
                <a:cs typeface="Calibri" pitchFamily="34" charset="-120"/>
              </a:rPr>
              <a:t>New data is directed to nodes currently carrying a lower workload.</a:t>
            </a:r>
            <a:endParaRPr lang="en-US" dirty="0"/>
          </a:p>
        </p:txBody>
      </p:sp>
      <p:sp>
        <p:nvSpPr>
          <p:cNvPr id="25" name="Shape 23"/>
          <p:cNvSpPr/>
          <p:nvPr/>
        </p:nvSpPr>
        <p:spPr>
          <a:xfrm>
            <a:off x="6263640" y="4023360"/>
            <a:ext cx="5349240" cy="2057400"/>
          </a:xfrm>
          <a:prstGeom prst="roundRect">
            <a:avLst>
              <a:gd name="adj" fmla="val 3556"/>
            </a:avLst>
          </a:prstGeom>
          <a:solidFill>
            <a:srgbClr val="F4F8FA"/>
          </a:solidFill>
          <a:ln/>
        </p:spPr>
      </p:sp>
      <p:sp>
        <p:nvSpPr>
          <p:cNvPr id="26" name="Shape 24"/>
          <p:cNvSpPr/>
          <p:nvPr/>
        </p:nvSpPr>
        <p:spPr>
          <a:xfrm>
            <a:off x="6537960" y="4279392"/>
            <a:ext cx="502920" cy="502920"/>
          </a:xfrm>
          <a:prstGeom prst="ellipse">
            <a:avLst/>
          </a:prstGeom>
          <a:solidFill>
            <a:srgbClr val="065A82"/>
          </a:solidFill>
          <a:ln/>
        </p:spPr>
      </p:sp>
      <p:sp>
        <p:nvSpPr>
          <p:cNvPr id="27" name="Text 25"/>
          <p:cNvSpPr/>
          <p:nvPr/>
        </p:nvSpPr>
        <p:spPr>
          <a:xfrm>
            <a:off x="6537960" y="427939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8" name="Text 26"/>
          <p:cNvSpPr/>
          <p:nvPr/>
        </p:nvSpPr>
        <p:spPr>
          <a:xfrm>
            <a:off x="7223760" y="4242816"/>
            <a:ext cx="4114800" cy="36576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Locality-Based Placement</a:t>
            </a:r>
            <a:endParaRPr lang="en-US" sz="2000" dirty="0"/>
          </a:p>
        </p:txBody>
      </p:sp>
      <p:sp>
        <p:nvSpPr>
          <p:cNvPr id="29" name="Shape 27"/>
          <p:cNvSpPr/>
          <p:nvPr/>
        </p:nvSpPr>
        <p:spPr>
          <a:xfrm>
            <a:off x="7223760" y="4626864"/>
            <a:ext cx="2377440" cy="292608"/>
          </a:xfrm>
          <a:prstGeom prst="roundRect">
            <a:avLst>
              <a:gd name="adj" fmla="val 50000"/>
            </a:avLst>
          </a:prstGeom>
          <a:solidFill>
            <a:srgbClr val="CFE8EF"/>
          </a:solidFill>
          <a:ln/>
        </p:spPr>
      </p:sp>
      <p:sp>
        <p:nvSpPr>
          <p:cNvPr id="30" name="Text 28"/>
          <p:cNvSpPr/>
          <p:nvPr/>
        </p:nvSpPr>
        <p:spPr>
          <a:xfrm>
            <a:off x="7223760" y="4626864"/>
            <a:ext cx="2377440" cy="292608"/>
          </a:xfrm>
          <a:prstGeom prst="rect">
            <a:avLst/>
          </a:prstGeom>
          <a:noFill/>
          <a:ln/>
        </p:spPr>
        <p:txBody>
          <a:bodyPr wrap="square" lIns="0" tIns="0" rIns="0" bIns="0" rtlCol="0" anchor="ctr"/>
          <a:lstStyle/>
          <a:p>
            <a:pPr marL="0" indent="0" algn="ctr">
              <a:buNone/>
            </a:pPr>
            <a:r>
              <a:rPr lang="en-US" sz="1400" b="1" i="1" dirty="0">
                <a:solidFill>
                  <a:srgbClr val="065A82"/>
                </a:solidFill>
                <a:latin typeface="Calibri" pitchFamily="34" charset="0"/>
                <a:ea typeface="Calibri" pitchFamily="34" charset="-122"/>
                <a:cs typeface="Calibri" pitchFamily="34" charset="-120"/>
              </a:rPr>
              <a:t>Reduces latency</a:t>
            </a:r>
            <a:endParaRPr lang="en-US" sz="1400" dirty="0"/>
          </a:p>
        </p:txBody>
      </p:sp>
      <p:sp>
        <p:nvSpPr>
          <p:cNvPr id="31" name="Text 29"/>
          <p:cNvSpPr/>
          <p:nvPr/>
        </p:nvSpPr>
        <p:spPr>
          <a:xfrm>
            <a:off x="6537960" y="5074920"/>
            <a:ext cx="4800600" cy="868680"/>
          </a:xfrm>
          <a:prstGeom prst="rect">
            <a:avLst/>
          </a:prstGeom>
          <a:noFill/>
          <a:ln/>
        </p:spPr>
        <p:txBody>
          <a:bodyPr wrap="square" lIns="0" tIns="0" rIns="0" bIns="0" rtlCol="0" anchor="ctr"/>
          <a:lstStyle/>
          <a:p>
            <a:pPr marL="0" indent="0">
              <a:lnSpc>
                <a:spcPct val="125000"/>
              </a:lnSpc>
              <a:buNone/>
            </a:pPr>
            <a:r>
              <a:rPr lang="en-US" dirty="0">
                <a:solidFill>
                  <a:srgbClr val="43506B"/>
                </a:solidFill>
                <a:latin typeface="Calibri" pitchFamily="34" charset="0"/>
                <a:ea typeface="Calibri" pitchFamily="34" charset="-122"/>
                <a:cs typeface="Calibri" pitchFamily="34" charset="-120"/>
              </a:rPr>
              <a:t>Data is stored closer to the users or applications that access it most.</a:t>
            </a:r>
            <a:endParaRPr lang="en-US" dirty="0"/>
          </a:p>
        </p:txBody>
      </p:sp>
    </p:spTree>
    <p:extLst>
      <p:ext uri="{BB962C8B-B14F-4D97-AF65-F5344CB8AC3E}">
        <p14:creationId xmlns:p14="http://schemas.microsoft.com/office/powerpoint/2010/main" val="22930096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IN PRACTICE</a:t>
            </a:r>
            <a:endParaRPr lang="en-US" sz="1300" dirty="0"/>
          </a:p>
        </p:txBody>
      </p:sp>
      <p:sp>
        <p:nvSpPr>
          <p:cNvPr id="3" name="Text 1"/>
          <p:cNvSpPr/>
          <p:nvPr/>
        </p:nvSpPr>
        <p:spPr>
          <a:xfrm>
            <a:off x="548640" y="685800"/>
            <a:ext cx="10515600" cy="5943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Advantages and Real-World Proof</a:t>
            </a:r>
            <a:endParaRPr lang="en-US" sz="2700" dirty="0"/>
          </a:p>
        </p:txBody>
      </p:sp>
      <p:sp>
        <p:nvSpPr>
          <p:cNvPr id="4" name="Text 2"/>
          <p:cNvSpPr/>
          <p:nvPr/>
        </p:nvSpPr>
        <p:spPr>
          <a:xfrm>
            <a:off x="548640" y="1417320"/>
            <a:ext cx="10515600" cy="320040"/>
          </a:xfrm>
          <a:prstGeom prst="rect">
            <a:avLst/>
          </a:prstGeom>
          <a:noFill/>
          <a:ln/>
        </p:spPr>
        <p:txBody>
          <a:bodyPr wrap="square" lIns="0" tIns="0" rIns="0" bIns="0" rtlCol="0" anchor="ctr"/>
          <a:lstStyle/>
          <a:p>
            <a:pPr marL="0" indent="0">
              <a:buNone/>
            </a:pPr>
            <a:r>
              <a:rPr lang="en-US" b="1" kern="0" spc="150" dirty="0">
                <a:solidFill>
                  <a:srgbClr val="FF0000"/>
                </a:solidFill>
                <a:latin typeface="Calibri" pitchFamily="34" charset="0"/>
                <a:ea typeface="Calibri" pitchFamily="34" charset="-122"/>
                <a:cs typeface="Calibri" pitchFamily="34" charset="-120"/>
              </a:rPr>
              <a:t>ADVANTAGES</a:t>
            </a:r>
            <a:endParaRPr lang="en-US" dirty="0">
              <a:solidFill>
                <a:srgbClr val="FF0000"/>
              </a:solidFill>
            </a:endParaRPr>
          </a:p>
        </p:txBody>
      </p:sp>
      <p:sp>
        <p:nvSpPr>
          <p:cNvPr id="5" name="Shape 3"/>
          <p:cNvSpPr/>
          <p:nvPr/>
        </p:nvSpPr>
        <p:spPr>
          <a:xfrm>
            <a:off x="548640" y="1828800"/>
            <a:ext cx="2121408" cy="594360"/>
          </a:xfrm>
          <a:prstGeom prst="roundRect">
            <a:avLst>
              <a:gd name="adj" fmla="val 9231"/>
            </a:avLst>
          </a:prstGeom>
          <a:solidFill>
            <a:srgbClr val="1B2E5E"/>
          </a:solidFill>
          <a:ln/>
        </p:spPr>
      </p:sp>
      <p:sp>
        <p:nvSpPr>
          <p:cNvPr id="6" name="Text 4"/>
          <p:cNvSpPr/>
          <p:nvPr/>
        </p:nvSpPr>
        <p:spPr>
          <a:xfrm>
            <a:off x="640080" y="1828800"/>
            <a:ext cx="1938528" cy="594360"/>
          </a:xfrm>
          <a:prstGeom prst="rect">
            <a:avLst/>
          </a:prstGeom>
          <a:noFill/>
          <a:ln/>
        </p:spPr>
        <p:txBody>
          <a:bodyPr wrap="square" lIns="0" tIns="0" rIns="0" bIns="0" rtlCol="0" anchor="ctr"/>
          <a:lstStyle/>
          <a:p>
            <a:pPr marL="0" indent="0" algn="ctr">
              <a:buNone/>
            </a:pPr>
            <a:r>
              <a:rPr lang="en-US" sz="1600" b="1" dirty="0">
                <a:solidFill>
                  <a:srgbClr val="C9F2D6"/>
                </a:solidFill>
                <a:latin typeface="Calibri" pitchFamily="34" charset="0"/>
                <a:ea typeface="Calibri" pitchFamily="34" charset="-122"/>
                <a:cs typeface="Calibri" pitchFamily="34" charset="-120"/>
              </a:rPr>
              <a:t>✔ High availability</a:t>
            </a:r>
            <a:endParaRPr lang="en-US" sz="1600" dirty="0"/>
          </a:p>
        </p:txBody>
      </p:sp>
      <p:sp>
        <p:nvSpPr>
          <p:cNvPr id="7" name="Shape 5"/>
          <p:cNvSpPr/>
          <p:nvPr/>
        </p:nvSpPr>
        <p:spPr>
          <a:xfrm>
            <a:off x="2788920" y="1828800"/>
            <a:ext cx="2121408" cy="594360"/>
          </a:xfrm>
          <a:prstGeom prst="roundRect">
            <a:avLst>
              <a:gd name="adj" fmla="val 9231"/>
            </a:avLst>
          </a:prstGeom>
          <a:solidFill>
            <a:srgbClr val="1B2E5E"/>
          </a:solidFill>
          <a:ln/>
        </p:spPr>
      </p:sp>
      <p:sp>
        <p:nvSpPr>
          <p:cNvPr id="8" name="Text 6"/>
          <p:cNvSpPr/>
          <p:nvPr/>
        </p:nvSpPr>
        <p:spPr>
          <a:xfrm>
            <a:off x="2880360" y="1828800"/>
            <a:ext cx="1938528" cy="594360"/>
          </a:xfrm>
          <a:prstGeom prst="rect">
            <a:avLst/>
          </a:prstGeom>
          <a:noFill/>
          <a:ln/>
        </p:spPr>
        <p:txBody>
          <a:bodyPr wrap="square" lIns="0" tIns="0" rIns="0" bIns="0" rtlCol="0" anchor="ctr"/>
          <a:lstStyle/>
          <a:p>
            <a:pPr marL="0" indent="0" algn="ctr">
              <a:buNone/>
            </a:pPr>
            <a:r>
              <a:rPr lang="en-US" sz="1600" b="1" dirty="0">
                <a:solidFill>
                  <a:srgbClr val="C9F2D6"/>
                </a:solidFill>
                <a:latin typeface="Calibri" pitchFamily="34" charset="0"/>
                <a:ea typeface="Calibri" pitchFamily="34" charset="-122"/>
                <a:cs typeface="Calibri" pitchFamily="34" charset="-120"/>
              </a:rPr>
              <a:t>✔ Better load balancing</a:t>
            </a:r>
            <a:endParaRPr lang="en-US" sz="1600" dirty="0"/>
          </a:p>
        </p:txBody>
      </p:sp>
      <p:sp>
        <p:nvSpPr>
          <p:cNvPr id="9" name="Shape 7"/>
          <p:cNvSpPr/>
          <p:nvPr/>
        </p:nvSpPr>
        <p:spPr>
          <a:xfrm>
            <a:off x="5029200" y="1828800"/>
            <a:ext cx="2121408" cy="594360"/>
          </a:xfrm>
          <a:prstGeom prst="roundRect">
            <a:avLst>
              <a:gd name="adj" fmla="val 9231"/>
            </a:avLst>
          </a:prstGeom>
          <a:solidFill>
            <a:srgbClr val="1B2E5E"/>
          </a:solidFill>
          <a:ln/>
        </p:spPr>
      </p:sp>
      <p:sp>
        <p:nvSpPr>
          <p:cNvPr id="10" name="Text 8"/>
          <p:cNvSpPr/>
          <p:nvPr/>
        </p:nvSpPr>
        <p:spPr>
          <a:xfrm>
            <a:off x="5120640" y="1828800"/>
            <a:ext cx="1938528" cy="594360"/>
          </a:xfrm>
          <a:prstGeom prst="rect">
            <a:avLst/>
          </a:prstGeom>
          <a:noFill/>
          <a:ln/>
        </p:spPr>
        <p:txBody>
          <a:bodyPr wrap="square" lIns="0" tIns="0" rIns="0" bIns="0" rtlCol="0" anchor="ctr"/>
          <a:lstStyle/>
          <a:p>
            <a:pPr marL="0" indent="0" algn="ctr">
              <a:buNone/>
            </a:pPr>
            <a:r>
              <a:rPr lang="en-US" sz="1600" b="1" dirty="0">
                <a:solidFill>
                  <a:srgbClr val="C9F2D6"/>
                </a:solidFill>
                <a:latin typeface="Calibri" pitchFamily="34" charset="0"/>
                <a:ea typeface="Calibri" pitchFamily="34" charset="-122"/>
                <a:cs typeface="Calibri" pitchFamily="34" charset="-120"/>
              </a:rPr>
              <a:t>✔ Faster access</a:t>
            </a:r>
            <a:endParaRPr lang="en-US" sz="1600" dirty="0"/>
          </a:p>
        </p:txBody>
      </p:sp>
      <p:sp>
        <p:nvSpPr>
          <p:cNvPr id="11" name="Shape 9"/>
          <p:cNvSpPr/>
          <p:nvPr/>
        </p:nvSpPr>
        <p:spPr>
          <a:xfrm>
            <a:off x="7269480" y="1828800"/>
            <a:ext cx="2121408" cy="594360"/>
          </a:xfrm>
          <a:prstGeom prst="roundRect">
            <a:avLst>
              <a:gd name="adj" fmla="val 9231"/>
            </a:avLst>
          </a:prstGeom>
          <a:solidFill>
            <a:srgbClr val="1B2E5E"/>
          </a:solidFill>
          <a:ln/>
        </p:spPr>
      </p:sp>
      <p:sp>
        <p:nvSpPr>
          <p:cNvPr id="12" name="Text 10"/>
          <p:cNvSpPr/>
          <p:nvPr/>
        </p:nvSpPr>
        <p:spPr>
          <a:xfrm>
            <a:off x="7360920" y="1828800"/>
            <a:ext cx="1938528" cy="594360"/>
          </a:xfrm>
          <a:prstGeom prst="rect">
            <a:avLst/>
          </a:prstGeom>
          <a:noFill/>
          <a:ln/>
        </p:spPr>
        <p:txBody>
          <a:bodyPr wrap="square" lIns="0" tIns="0" rIns="0" bIns="0" rtlCol="0" anchor="ctr"/>
          <a:lstStyle/>
          <a:p>
            <a:pPr marL="0" indent="0" algn="ctr">
              <a:buNone/>
            </a:pPr>
            <a:r>
              <a:rPr lang="en-US" sz="1600" b="1" dirty="0">
                <a:solidFill>
                  <a:srgbClr val="C9F2D6"/>
                </a:solidFill>
                <a:latin typeface="Calibri" pitchFamily="34" charset="0"/>
                <a:ea typeface="Calibri" pitchFamily="34" charset="-122"/>
                <a:cs typeface="Calibri" pitchFamily="34" charset="-120"/>
              </a:rPr>
              <a:t>✔ Disaster recovery</a:t>
            </a:r>
            <a:endParaRPr lang="en-US" sz="1600" dirty="0"/>
          </a:p>
        </p:txBody>
      </p:sp>
      <p:sp>
        <p:nvSpPr>
          <p:cNvPr id="13" name="Shape 11"/>
          <p:cNvSpPr/>
          <p:nvPr/>
        </p:nvSpPr>
        <p:spPr>
          <a:xfrm>
            <a:off x="9509760" y="1828800"/>
            <a:ext cx="2121408" cy="594360"/>
          </a:xfrm>
          <a:prstGeom prst="roundRect">
            <a:avLst>
              <a:gd name="adj" fmla="val 9231"/>
            </a:avLst>
          </a:prstGeom>
          <a:solidFill>
            <a:srgbClr val="1B2E5E"/>
          </a:solidFill>
          <a:ln/>
        </p:spPr>
      </p:sp>
      <p:sp>
        <p:nvSpPr>
          <p:cNvPr id="14" name="Text 12"/>
          <p:cNvSpPr/>
          <p:nvPr/>
        </p:nvSpPr>
        <p:spPr>
          <a:xfrm>
            <a:off x="9601200" y="1828800"/>
            <a:ext cx="1938528" cy="594360"/>
          </a:xfrm>
          <a:prstGeom prst="rect">
            <a:avLst/>
          </a:prstGeom>
          <a:noFill/>
          <a:ln/>
        </p:spPr>
        <p:txBody>
          <a:bodyPr wrap="square" lIns="0" tIns="0" rIns="0" bIns="0" rtlCol="0" anchor="ctr"/>
          <a:lstStyle/>
          <a:p>
            <a:pPr marL="0" indent="0" algn="ctr">
              <a:buNone/>
            </a:pPr>
            <a:r>
              <a:rPr lang="en-US" sz="1600" b="1" dirty="0">
                <a:solidFill>
                  <a:srgbClr val="C9F2D6"/>
                </a:solidFill>
                <a:latin typeface="Calibri" pitchFamily="34" charset="0"/>
                <a:ea typeface="Calibri" pitchFamily="34" charset="-122"/>
                <a:cs typeface="Calibri" pitchFamily="34" charset="-120"/>
              </a:rPr>
              <a:t>✔ Reduced congestion</a:t>
            </a:r>
            <a:endParaRPr lang="en-US" sz="1600" dirty="0"/>
          </a:p>
        </p:txBody>
      </p:sp>
      <p:sp>
        <p:nvSpPr>
          <p:cNvPr id="15" name="Shape 13"/>
          <p:cNvSpPr/>
          <p:nvPr/>
        </p:nvSpPr>
        <p:spPr>
          <a:xfrm>
            <a:off x="548640" y="2697480"/>
            <a:ext cx="11064240" cy="0"/>
          </a:xfrm>
          <a:prstGeom prst="line">
            <a:avLst/>
          </a:prstGeom>
          <a:noFill/>
          <a:ln w="12700">
            <a:solidFill>
              <a:srgbClr val="3A4A6B"/>
            </a:solidFill>
            <a:prstDash val="solid"/>
          </a:ln>
        </p:spPr>
      </p:sp>
      <p:sp>
        <p:nvSpPr>
          <p:cNvPr id="16" name="Text 14"/>
          <p:cNvSpPr/>
          <p:nvPr/>
        </p:nvSpPr>
        <p:spPr>
          <a:xfrm>
            <a:off x="548640" y="2834640"/>
            <a:ext cx="10515600" cy="320040"/>
          </a:xfrm>
          <a:prstGeom prst="rect">
            <a:avLst/>
          </a:prstGeom>
          <a:noFill/>
          <a:ln/>
        </p:spPr>
        <p:txBody>
          <a:bodyPr wrap="square" lIns="0" tIns="0" rIns="0" bIns="0" rtlCol="0" anchor="ctr"/>
          <a:lstStyle/>
          <a:p>
            <a:pPr marL="0" indent="0">
              <a:buNone/>
            </a:pPr>
            <a:r>
              <a:rPr lang="en-US" sz="1600" b="1" kern="0" spc="200" dirty="0">
                <a:solidFill>
                  <a:srgbClr val="F2A93B"/>
                </a:solidFill>
                <a:latin typeface="Calibri" pitchFamily="34" charset="0"/>
                <a:ea typeface="Calibri" pitchFamily="34" charset="-122"/>
                <a:cs typeface="Calibri" pitchFamily="34" charset="-120"/>
              </a:rPr>
              <a:t>REAL-WORLD PROOF</a:t>
            </a:r>
            <a:endParaRPr lang="en-US" sz="1600" dirty="0"/>
          </a:p>
        </p:txBody>
      </p:sp>
      <p:sp>
        <p:nvSpPr>
          <p:cNvPr id="17" name="Shape 15"/>
          <p:cNvSpPr/>
          <p:nvPr/>
        </p:nvSpPr>
        <p:spPr>
          <a:xfrm>
            <a:off x="548640" y="3246120"/>
            <a:ext cx="3520440" cy="2651760"/>
          </a:xfrm>
          <a:prstGeom prst="roundRect">
            <a:avLst>
              <a:gd name="adj" fmla="val 2759"/>
            </a:avLst>
          </a:prstGeom>
          <a:solidFill>
            <a:srgbClr val="1B2E5E"/>
          </a:solidFill>
          <a:ln/>
        </p:spPr>
      </p:sp>
      <p:sp>
        <p:nvSpPr>
          <p:cNvPr id="18" name="Text 16"/>
          <p:cNvSpPr/>
          <p:nvPr/>
        </p:nvSpPr>
        <p:spPr>
          <a:xfrm>
            <a:off x="822960" y="3474720"/>
            <a:ext cx="2971800" cy="3657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Amazon</a:t>
            </a:r>
            <a:endParaRPr lang="en-US" sz="2400" dirty="0"/>
          </a:p>
        </p:txBody>
      </p:sp>
      <p:sp>
        <p:nvSpPr>
          <p:cNvPr id="19" name="Text 17"/>
          <p:cNvSpPr/>
          <p:nvPr/>
        </p:nvSpPr>
        <p:spPr>
          <a:xfrm>
            <a:off x="822960" y="3977640"/>
            <a:ext cx="2971800" cy="1737360"/>
          </a:xfrm>
          <a:prstGeom prst="rect">
            <a:avLst/>
          </a:prstGeom>
          <a:noFill/>
          <a:ln/>
        </p:spPr>
        <p:txBody>
          <a:bodyPr wrap="square" lIns="0" tIns="0" rIns="0" bIns="0" rtlCol="0" anchor="ctr"/>
          <a:lstStyle/>
          <a:p>
            <a:pPr marL="0" indent="0">
              <a:lnSpc>
                <a:spcPct val="130000"/>
              </a:lnSpc>
              <a:buNone/>
            </a:pPr>
            <a:r>
              <a:rPr lang="en-US" dirty="0">
                <a:solidFill>
                  <a:srgbClr val="CFE8EF"/>
                </a:solidFill>
                <a:latin typeface="Calibri" pitchFamily="34" charset="0"/>
                <a:ea typeface="Calibri" pitchFamily="34" charset="-122"/>
                <a:cs typeface="Calibri" pitchFamily="34" charset="-120"/>
              </a:rPr>
              <a:t>Customer data spans multiple Availability Zones. If one data center fails, shopping continues uninterrupted.</a:t>
            </a:r>
            <a:endParaRPr lang="en-US" dirty="0"/>
          </a:p>
        </p:txBody>
      </p:sp>
      <p:sp>
        <p:nvSpPr>
          <p:cNvPr id="20" name="Shape 18"/>
          <p:cNvSpPr/>
          <p:nvPr/>
        </p:nvSpPr>
        <p:spPr>
          <a:xfrm>
            <a:off x="4343400" y="3246120"/>
            <a:ext cx="3520440" cy="2651760"/>
          </a:xfrm>
          <a:prstGeom prst="roundRect">
            <a:avLst>
              <a:gd name="adj" fmla="val 2759"/>
            </a:avLst>
          </a:prstGeom>
          <a:solidFill>
            <a:srgbClr val="1B2E5E"/>
          </a:solidFill>
          <a:ln/>
        </p:spPr>
      </p:sp>
      <p:sp>
        <p:nvSpPr>
          <p:cNvPr id="21" name="Text 19"/>
          <p:cNvSpPr/>
          <p:nvPr/>
        </p:nvSpPr>
        <p:spPr>
          <a:xfrm>
            <a:off x="4617720" y="3474720"/>
            <a:ext cx="2971800" cy="3657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Google Photos</a:t>
            </a:r>
            <a:endParaRPr lang="en-US" sz="2400" dirty="0"/>
          </a:p>
        </p:txBody>
      </p:sp>
      <p:sp>
        <p:nvSpPr>
          <p:cNvPr id="22" name="Text 20"/>
          <p:cNvSpPr/>
          <p:nvPr/>
        </p:nvSpPr>
        <p:spPr>
          <a:xfrm>
            <a:off x="4617720" y="3977640"/>
            <a:ext cx="2971800" cy="1737360"/>
          </a:xfrm>
          <a:prstGeom prst="rect">
            <a:avLst/>
          </a:prstGeom>
          <a:noFill/>
          <a:ln/>
        </p:spPr>
        <p:txBody>
          <a:bodyPr wrap="square" lIns="0" tIns="0" rIns="0" bIns="0" rtlCol="0" anchor="ctr"/>
          <a:lstStyle/>
          <a:p>
            <a:pPr marL="0" indent="0">
              <a:lnSpc>
                <a:spcPct val="130000"/>
              </a:lnSpc>
              <a:buNone/>
            </a:pPr>
            <a:r>
              <a:rPr lang="en-US" dirty="0">
                <a:solidFill>
                  <a:srgbClr val="CFE8EF"/>
                </a:solidFill>
                <a:latin typeface="Calibri" pitchFamily="34" charset="0"/>
                <a:ea typeface="Calibri" pitchFamily="34" charset="-122"/>
                <a:cs typeface="Calibri" pitchFamily="34" charset="-120"/>
              </a:rPr>
              <a:t>Photos are stored across multiple geographical regions — if one region is unavailable, another serves the data.</a:t>
            </a:r>
            <a:endParaRPr lang="en-US" dirty="0"/>
          </a:p>
        </p:txBody>
      </p:sp>
      <p:sp>
        <p:nvSpPr>
          <p:cNvPr id="23" name="Shape 21"/>
          <p:cNvSpPr/>
          <p:nvPr/>
        </p:nvSpPr>
        <p:spPr>
          <a:xfrm>
            <a:off x="8138160" y="3246120"/>
            <a:ext cx="3520440" cy="2651760"/>
          </a:xfrm>
          <a:prstGeom prst="roundRect">
            <a:avLst>
              <a:gd name="adj" fmla="val 2759"/>
            </a:avLst>
          </a:prstGeom>
          <a:solidFill>
            <a:srgbClr val="1B2E5E"/>
          </a:solidFill>
          <a:ln/>
        </p:spPr>
      </p:sp>
      <p:sp>
        <p:nvSpPr>
          <p:cNvPr id="24" name="Text 22"/>
          <p:cNvSpPr/>
          <p:nvPr/>
        </p:nvSpPr>
        <p:spPr>
          <a:xfrm>
            <a:off x="8412480" y="3474720"/>
            <a:ext cx="2971800" cy="3657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Facebook</a:t>
            </a:r>
            <a:endParaRPr lang="en-US" sz="2400" dirty="0"/>
          </a:p>
        </p:txBody>
      </p:sp>
      <p:sp>
        <p:nvSpPr>
          <p:cNvPr id="25" name="Text 23"/>
          <p:cNvSpPr/>
          <p:nvPr/>
        </p:nvSpPr>
        <p:spPr>
          <a:xfrm>
            <a:off x="8412480" y="3977640"/>
            <a:ext cx="2971800" cy="1737360"/>
          </a:xfrm>
          <a:prstGeom prst="rect">
            <a:avLst/>
          </a:prstGeom>
          <a:noFill/>
          <a:ln/>
        </p:spPr>
        <p:txBody>
          <a:bodyPr wrap="square" lIns="0" tIns="0" rIns="0" bIns="0" rtlCol="0" anchor="ctr"/>
          <a:lstStyle/>
          <a:p>
            <a:pPr marL="0" indent="0">
              <a:lnSpc>
                <a:spcPct val="130000"/>
              </a:lnSpc>
              <a:buNone/>
            </a:pPr>
            <a:r>
              <a:rPr lang="en-US" dirty="0">
                <a:solidFill>
                  <a:srgbClr val="CFE8EF"/>
                </a:solidFill>
                <a:latin typeface="Calibri" pitchFamily="34" charset="0"/>
                <a:ea typeface="Calibri" pitchFamily="34" charset="-122"/>
                <a:cs typeface="Calibri" pitchFamily="34" charset="-120"/>
              </a:rPr>
              <a:t>Billions of images are copied across many servers, reducing load time and improving availability at scale.</a:t>
            </a:r>
            <a:endParaRPr lang="en-US" dirty="0"/>
          </a:p>
        </p:txBody>
      </p:sp>
    </p:spTree>
    <p:extLst>
      <p:ext uri="{BB962C8B-B14F-4D97-AF65-F5344CB8AC3E}">
        <p14:creationId xmlns:p14="http://schemas.microsoft.com/office/powerpoint/2010/main" val="3964613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REAL-LIFE ANALOGY</a:t>
            </a:r>
            <a:endParaRPr lang="en-US" sz="1300" dirty="0"/>
          </a:p>
        </p:txBody>
      </p:sp>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The School Library, Three Times Over</a:t>
            </a:r>
            <a:endParaRPr lang="en-US" sz="2800" dirty="0"/>
          </a:p>
        </p:txBody>
      </p:sp>
      <p:sp>
        <p:nvSpPr>
          <p:cNvPr id="4" name="Text 2"/>
          <p:cNvSpPr/>
          <p:nvPr/>
        </p:nvSpPr>
        <p:spPr>
          <a:xfrm>
            <a:off x="548640" y="1371600"/>
            <a:ext cx="10515600" cy="411480"/>
          </a:xfrm>
          <a:prstGeom prst="rect">
            <a:avLst/>
          </a:prstGeom>
          <a:noFill/>
          <a:ln/>
        </p:spPr>
        <p:txBody>
          <a:bodyPr wrap="square" lIns="0" tIns="0" rIns="0" bIns="0" rtlCol="0" anchor="ctr"/>
          <a:lstStyle/>
          <a:p>
            <a:pPr marL="0" indent="0">
              <a:buNone/>
            </a:pPr>
            <a:r>
              <a:rPr lang="en-US" sz="1600" dirty="0">
                <a:solidFill>
                  <a:srgbClr val="43506B"/>
                </a:solidFill>
                <a:latin typeface="Calibri" pitchFamily="34" charset="0"/>
                <a:ea typeface="Calibri" pitchFamily="34" charset="-122"/>
                <a:cs typeface="Calibri" pitchFamily="34" charset="-120"/>
              </a:rPr>
              <a:t>Imagine a school library keeping three copies of the same textbook in three different locations:</a:t>
            </a:r>
            <a:endParaRPr lang="en-US" sz="1600" dirty="0"/>
          </a:p>
        </p:txBody>
      </p:sp>
      <p:sp>
        <p:nvSpPr>
          <p:cNvPr id="5" name="Shape 3"/>
          <p:cNvSpPr/>
          <p:nvPr/>
        </p:nvSpPr>
        <p:spPr>
          <a:xfrm>
            <a:off x="914400" y="2011680"/>
            <a:ext cx="3291840" cy="1234440"/>
          </a:xfrm>
          <a:prstGeom prst="roundRect">
            <a:avLst>
              <a:gd name="adj" fmla="val 5926"/>
            </a:avLst>
          </a:prstGeom>
          <a:solidFill>
            <a:srgbClr val="1C7293"/>
          </a:solidFill>
          <a:ln/>
        </p:spPr>
      </p:sp>
      <p:sp>
        <p:nvSpPr>
          <p:cNvPr id="6" name="Text 4"/>
          <p:cNvSpPr/>
          <p:nvPr/>
        </p:nvSpPr>
        <p:spPr>
          <a:xfrm>
            <a:off x="914400" y="2148840"/>
            <a:ext cx="3291840" cy="45720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1051560" y="2651760"/>
            <a:ext cx="3017520" cy="50292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Computer Department Library</a:t>
            </a:r>
            <a:endParaRPr lang="en-US" dirty="0"/>
          </a:p>
        </p:txBody>
      </p:sp>
      <p:sp>
        <p:nvSpPr>
          <p:cNvPr id="8" name="Shape 6"/>
          <p:cNvSpPr/>
          <p:nvPr/>
        </p:nvSpPr>
        <p:spPr>
          <a:xfrm>
            <a:off x="4572000" y="2011680"/>
            <a:ext cx="3291840" cy="1234440"/>
          </a:xfrm>
          <a:prstGeom prst="roundRect">
            <a:avLst>
              <a:gd name="adj" fmla="val 5926"/>
            </a:avLst>
          </a:prstGeom>
          <a:solidFill>
            <a:srgbClr val="065A82"/>
          </a:solidFill>
          <a:ln/>
        </p:spPr>
      </p:sp>
      <p:sp>
        <p:nvSpPr>
          <p:cNvPr id="9" name="Text 7"/>
          <p:cNvSpPr/>
          <p:nvPr/>
        </p:nvSpPr>
        <p:spPr>
          <a:xfrm>
            <a:off x="4572000" y="2148840"/>
            <a:ext cx="3291840" cy="45720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4709160" y="2651760"/>
            <a:ext cx="3017520" cy="50292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Central Library</a:t>
            </a:r>
            <a:endParaRPr lang="en-US" dirty="0"/>
          </a:p>
        </p:txBody>
      </p:sp>
      <p:sp>
        <p:nvSpPr>
          <p:cNvPr id="11" name="Shape 9"/>
          <p:cNvSpPr/>
          <p:nvPr/>
        </p:nvSpPr>
        <p:spPr>
          <a:xfrm>
            <a:off x="8229600" y="2011680"/>
            <a:ext cx="3291840" cy="1234440"/>
          </a:xfrm>
          <a:prstGeom prst="roundRect">
            <a:avLst>
              <a:gd name="adj" fmla="val 5926"/>
            </a:avLst>
          </a:prstGeom>
          <a:solidFill>
            <a:srgbClr val="1C7293"/>
          </a:solidFill>
          <a:ln/>
        </p:spPr>
      </p:sp>
      <p:sp>
        <p:nvSpPr>
          <p:cNvPr id="12" name="Text 10"/>
          <p:cNvSpPr/>
          <p:nvPr/>
        </p:nvSpPr>
        <p:spPr>
          <a:xfrm>
            <a:off x="8229600" y="2148840"/>
            <a:ext cx="3291840" cy="45720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3" name="Text 11"/>
          <p:cNvSpPr/>
          <p:nvPr/>
        </p:nvSpPr>
        <p:spPr>
          <a:xfrm>
            <a:off x="8366760" y="2651760"/>
            <a:ext cx="3017520" cy="502920"/>
          </a:xfrm>
          <a:prstGeom prst="rect">
            <a:avLst/>
          </a:prstGeom>
          <a:noFill/>
          <a:ln/>
        </p:spPr>
        <p:txBody>
          <a:bodyPr wrap="square" lIns="0" tIns="0" rIns="0" bIns="0"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Reference Section</a:t>
            </a:r>
            <a:endParaRPr lang="en-US" dirty="0"/>
          </a:p>
        </p:txBody>
      </p:sp>
      <p:sp>
        <p:nvSpPr>
          <p:cNvPr id="14" name="Text 12"/>
          <p:cNvSpPr/>
          <p:nvPr/>
        </p:nvSpPr>
        <p:spPr>
          <a:xfrm>
            <a:off x="914400" y="3520440"/>
            <a:ext cx="10332720" cy="365760"/>
          </a:xfrm>
          <a:prstGeom prst="rect">
            <a:avLst/>
          </a:prstGeom>
          <a:noFill/>
          <a:ln/>
        </p:spPr>
        <p:txBody>
          <a:bodyPr wrap="square" lIns="0" tIns="0" rIns="0" bIns="0" rtlCol="0" anchor="ctr"/>
          <a:lstStyle/>
          <a:p>
            <a:pPr marL="0" indent="0" algn="ctr">
              <a:buNone/>
            </a:pPr>
            <a:r>
              <a:rPr lang="en-US" b="1" i="1" dirty="0">
                <a:solidFill>
                  <a:srgbClr val="065A82"/>
                </a:solidFill>
                <a:latin typeface="Calibri" pitchFamily="34" charset="0"/>
                <a:ea typeface="Calibri" pitchFamily="34" charset="-122"/>
                <a:cs typeface="Calibri" pitchFamily="34" charset="-120"/>
              </a:rPr>
              <a:t>If one section is closed, students can still access the book from another location.</a:t>
            </a:r>
            <a:endParaRPr lang="en-US" dirty="0"/>
          </a:p>
        </p:txBody>
      </p:sp>
      <p:sp>
        <p:nvSpPr>
          <p:cNvPr id="15" name="Shape 13"/>
          <p:cNvSpPr/>
          <p:nvPr/>
        </p:nvSpPr>
        <p:spPr>
          <a:xfrm>
            <a:off x="548640" y="4114800"/>
            <a:ext cx="11064240" cy="1417320"/>
          </a:xfrm>
          <a:prstGeom prst="roundRect">
            <a:avLst>
              <a:gd name="adj" fmla="val 5161"/>
            </a:avLst>
          </a:prstGeom>
          <a:solidFill>
            <a:srgbClr val="21295C"/>
          </a:solidFill>
          <a:ln/>
        </p:spPr>
      </p:sp>
      <p:sp>
        <p:nvSpPr>
          <p:cNvPr id="16" name="Text 14"/>
          <p:cNvSpPr/>
          <p:nvPr/>
        </p:nvSpPr>
        <p:spPr>
          <a:xfrm>
            <a:off x="868680" y="4114800"/>
            <a:ext cx="10424160" cy="1417320"/>
          </a:xfrm>
          <a:prstGeom prst="rect">
            <a:avLst/>
          </a:prstGeom>
          <a:noFill/>
          <a:ln/>
        </p:spPr>
        <p:txBody>
          <a:bodyPr wrap="square" lIns="0" tIns="0" rIns="0" bIns="0" rtlCol="0" anchor="ctr"/>
          <a:lstStyle/>
          <a:p>
            <a:pPr marL="0" indent="0" algn="l">
              <a:lnSpc>
                <a:spcPct val="130000"/>
              </a:lnSpc>
              <a:buNone/>
            </a:pPr>
            <a:r>
              <a:rPr lang="en-US" sz="2400" i="1" dirty="0">
                <a:solidFill>
                  <a:srgbClr val="FFFFFF"/>
                </a:solidFill>
                <a:latin typeface="Cambria" pitchFamily="34" charset="0"/>
                <a:ea typeface="Cambria" pitchFamily="34" charset="-122"/>
                <a:cs typeface="Cambria" pitchFamily="34" charset="-120"/>
              </a:rPr>
              <a:t>This mirrors distributed storage: replicated data is placed across different racks or storage nodes, so the failure of one never costs you access to the whole.</a:t>
            </a:r>
            <a:endParaRPr lang="en-US" sz="2400" dirty="0"/>
          </a:p>
        </p:txBody>
      </p:sp>
      <p:sp>
        <p:nvSpPr>
          <p:cNvPr id="17" name="Text 15"/>
          <p:cNvSpPr/>
          <p:nvPr/>
        </p:nvSpPr>
        <p:spPr>
          <a:xfrm>
            <a:off x="548640" y="5760720"/>
            <a:ext cx="11064240" cy="457200"/>
          </a:xfrm>
          <a:prstGeom prst="rect">
            <a:avLst/>
          </a:prstGeom>
          <a:noFill/>
          <a:ln/>
        </p:spPr>
        <p:txBody>
          <a:bodyPr wrap="square" lIns="0" tIns="0" rIns="0" bIns="0" rtlCol="0" anchor="ctr"/>
          <a:lstStyle/>
          <a:p>
            <a:pPr marL="0" indent="0" algn="ctr">
              <a:buNone/>
            </a:pPr>
            <a:r>
              <a:rPr lang="en-US" i="1" dirty="0">
                <a:solidFill>
                  <a:srgbClr val="43506B"/>
                </a:solidFill>
                <a:latin typeface="Calibri" pitchFamily="34" charset="0"/>
                <a:ea typeface="Calibri" pitchFamily="34" charset="-122"/>
                <a:cs typeface="Calibri" pitchFamily="34" charset="-120"/>
              </a:rPr>
              <a:t>Key takeaway: a good placement strategy is invisible when it works — users only notice placement when it fails.</a:t>
            </a:r>
            <a:endParaRPr lang="en-US" dirty="0"/>
          </a:p>
        </p:txBody>
      </p:sp>
    </p:spTree>
    <p:extLst>
      <p:ext uri="{BB962C8B-B14F-4D97-AF65-F5344CB8AC3E}">
        <p14:creationId xmlns:p14="http://schemas.microsoft.com/office/powerpoint/2010/main" val="3640438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8090"/>
        </a:solidFill>
        <a:effectLst/>
      </p:bgPr>
    </p:bg>
    <p:spTree>
      <p:nvGrpSpPr>
        <p:cNvPr id="1" name=""/>
        <p:cNvGrpSpPr/>
        <p:nvPr/>
      </p:nvGrpSpPr>
      <p:grpSpPr>
        <a:xfrm>
          <a:off x="0" y="0"/>
          <a:ext cx="0" cy="0"/>
          <a:chOff x="0" y="0"/>
          <a:chExt cx="0" cy="0"/>
        </a:xfrm>
      </p:grpSpPr>
      <p:sp>
        <p:nvSpPr>
          <p:cNvPr id="4" name="Text 2"/>
          <p:cNvSpPr/>
          <p:nvPr/>
        </p:nvSpPr>
        <p:spPr>
          <a:xfrm>
            <a:off x="822960" y="731520"/>
            <a:ext cx="5486400" cy="365760"/>
          </a:xfrm>
          <a:prstGeom prst="rect">
            <a:avLst/>
          </a:prstGeom>
          <a:noFill/>
          <a:ln/>
        </p:spPr>
        <p:txBody>
          <a:bodyPr wrap="square" rtlCol="0" anchor="ctr"/>
          <a:lstStyle/>
          <a:p>
            <a:r>
              <a:rPr lang="en-US" sz="3200" b="1" i="1" dirty="0">
                <a:solidFill>
                  <a:schemeClr val="bg1"/>
                </a:solidFill>
                <a:latin typeface="Cambria" pitchFamily="34" charset="0"/>
                <a:ea typeface="Cambria" pitchFamily="34" charset="-122"/>
                <a:cs typeface="Cambria" pitchFamily="34" charset="-120"/>
              </a:rPr>
              <a:t>Data Locality</a:t>
            </a:r>
            <a:endParaRPr lang="en-US" sz="3200" b="1" dirty="0">
              <a:solidFill>
                <a:schemeClr val="bg1"/>
              </a:solidFill>
            </a:endParaRPr>
          </a:p>
        </p:txBody>
      </p:sp>
      <p:sp>
        <p:nvSpPr>
          <p:cNvPr id="5" name="Text 3"/>
          <p:cNvSpPr/>
          <p:nvPr/>
        </p:nvSpPr>
        <p:spPr>
          <a:xfrm>
            <a:off x="822960" y="1463040"/>
            <a:ext cx="9875520" cy="2651760"/>
          </a:xfrm>
          <a:prstGeom prst="rect">
            <a:avLst/>
          </a:prstGeom>
          <a:noFill/>
          <a:ln/>
        </p:spPr>
        <p:txBody>
          <a:bodyPr wrap="square" rtlCol="0" anchor="t"/>
          <a:lstStyle/>
          <a:p>
            <a:pPr>
              <a:lnSpc>
                <a:spcPct val="130000"/>
              </a:lnSpc>
            </a:pPr>
            <a:r>
              <a:rPr lang="en-US" sz="3000" b="1" dirty="0">
                <a:solidFill>
                  <a:srgbClr val="FFFFFF"/>
                </a:solidFill>
                <a:latin typeface="Cambria" pitchFamily="34" charset="0"/>
                <a:ea typeface="Cambria" pitchFamily="34" charset="-122"/>
                <a:cs typeface="Cambria" pitchFamily="34" charset="-120"/>
              </a:rPr>
              <a:t>Data Locality </a:t>
            </a:r>
            <a:r>
              <a:rPr lang="en-US" sz="3000" dirty="0">
                <a:solidFill>
                  <a:srgbClr val="EAF7F5"/>
                </a:solidFill>
                <a:latin typeface="Cambria" pitchFamily="34" charset="0"/>
                <a:ea typeface="Cambria" pitchFamily="34" charset="-122"/>
                <a:cs typeface="Cambria" pitchFamily="34" charset="-120"/>
              </a:rPr>
              <a:t>is the practice of executing computations on the machine where the required data is stored, minimizing network communication and improving performance.</a:t>
            </a:r>
            <a:endParaRPr lang="en-US" sz="3000" dirty="0">
              <a:solidFill>
                <a:prstClr val="black"/>
              </a:solidFill>
            </a:endParaRPr>
          </a:p>
        </p:txBody>
      </p:sp>
      <p:sp>
        <p:nvSpPr>
          <p:cNvPr id="6" name="Shape 4"/>
          <p:cNvSpPr/>
          <p:nvPr/>
        </p:nvSpPr>
        <p:spPr>
          <a:xfrm>
            <a:off x="822960" y="4663440"/>
            <a:ext cx="914400" cy="914400"/>
          </a:xfrm>
          <a:prstGeom prst="ellipse">
            <a:avLst/>
          </a:prstGeom>
          <a:solidFill>
            <a:srgbClr val="013A40"/>
          </a:solidFill>
          <a:ln/>
        </p:spPr>
      </p:sp>
      <p:pic>
        <p:nvPicPr>
          <p:cNvPr id="7" name="Image 0" descr="/home/claude/dl_deck/icon_route_FFFFFF.png"/>
          <p:cNvPicPr>
            <a:picLocks noChangeAspect="1"/>
          </p:cNvPicPr>
          <p:nvPr/>
        </p:nvPicPr>
        <p:blipFill>
          <a:blip r:embed="rId3"/>
          <a:stretch>
            <a:fillRect/>
          </a:stretch>
        </p:blipFill>
        <p:spPr>
          <a:xfrm>
            <a:off x="1042416" y="4882896"/>
            <a:ext cx="475488" cy="475488"/>
          </a:xfrm>
          <a:prstGeom prst="rect">
            <a:avLst/>
          </a:prstGeom>
        </p:spPr>
      </p:pic>
      <p:sp>
        <p:nvSpPr>
          <p:cNvPr id="8" name="Text 5"/>
          <p:cNvSpPr/>
          <p:nvPr/>
        </p:nvSpPr>
        <p:spPr>
          <a:xfrm>
            <a:off x="1920239" y="4709160"/>
            <a:ext cx="10090786" cy="822960"/>
          </a:xfrm>
          <a:prstGeom prst="rect">
            <a:avLst/>
          </a:prstGeom>
          <a:noFill/>
          <a:ln/>
        </p:spPr>
        <p:txBody>
          <a:bodyPr wrap="square" rtlCol="0" anchor="ctr"/>
          <a:lstStyle/>
          <a:p>
            <a:r>
              <a:rPr lang="en-US" sz="2400" i="1" dirty="0">
                <a:solidFill>
                  <a:srgbClr val="D6F5EF"/>
                </a:solidFill>
                <a:ea typeface="Calibri" pitchFamily="34" charset="-122"/>
                <a:cs typeface="Calibri" pitchFamily="34" charset="-120"/>
              </a:rPr>
              <a:t>Send the small program to the big data — not the big data to the program.</a:t>
            </a:r>
            <a:endParaRPr lang="en-US" sz="2400" dirty="0">
              <a:solidFill>
                <a:prstClr val="black"/>
              </a:solidFill>
            </a:endParaRPr>
          </a:p>
        </p:txBody>
      </p:sp>
    </p:spTree>
    <p:extLst>
      <p:ext uri="{BB962C8B-B14F-4D97-AF65-F5344CB8AC3E}">
        <p14:creationId xmlns:p14="http://schemas.microsoft.com/office/powerpoint/2010/main" val="32279760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r>
              <a:rPr lang="en-US" sz="3000" b="1" dirty="0">
                <a:solidFill>
                  <a:srgbClr val="013A40"/>
                </a:solidFill>
                <a:latin typeface="Cambria" pitchFamily="34" charset="0"/>
                <a:ea typeface="Cambria" pitchFamily="34" charset="-122"/>
                <a:cs typeface="Cambria" pitchFamily="34" charset="-120"/>
              </a:rPr>
              <a:t>Traditional Processing vs. Data Locality</a:t>
            </a:r>
            <a:endParaRPr lang="en-US" sz="3000" dirty="0">
              <a:solidFill>
                <a:prstClr val="black"/>
              </a:solidFill>
            </a:endParaRPr>
          </a:p>
        </p:txBody>
      </p:sp>
      <p:sp>
        <p:nvSpPr>
          <p:cNvPr id="3" name="Shape 1"/>
          <p:cNvSpPr/>
          <p:nvPr/>
        </p:nvSpPr>
        <p:spPr>
          <a:xfrm>
            <a:off x="548640" y="1280160"/>
            <a:ext cx="5212080" cy="5166360"/>
          </a:xfrm>
          <a:prstGeom prst="roundRect">
            <a:avLst>
              <a:gd name="adj" fmla="val 1770"/>
            </a:avLst>
          </a:prstGeom>
          <a:solidFill>
            <a:srgbClr val="F3E3E1"/>
          </a:solidFill>
          <a:ln/>
        </p:spPr>
      </p:sp>
      <p:sp>
        <p:nvSpPr>
          <p:cNvPr id="4" name="Text 2"/>
          <p:cNvSpPr/>
          <p:nvPr/>
        </p:nvSpPr>
        <p:spPr>
          <a:xfrm>
            <a:off x="868680" y="1554480"/>
            <a:ext cx="4572000" cy="457200"/>
          </a:xfrm>
          <a:prstGeom prst="rect">
            <a:avLst/>
          </a:prstGeom>
          <a:noFill/>
          <a:ln/>
        </p:spPr>
        <p:txBody>
          <a:bodyPr wrap="square" rtlCol="0" anchor="ctr"/>
          <a:lstStyle/>
          <a:p>
            <a:r>
              <a:rPr lang="en-US" sz="2400" b="1" dirty="0">
                <a:solidFill>
                  <a:srgbClr val="B85042"/>
                </a:solidFill>
                <a:ea typeface="Calibri" pitchFamily="34" charset="-122"/>
                <a:cs typeface="Calibri" pitchFamily="34" charset="-120"/>
              </a:rPr>
              <a:t>Traditional Processing</a:t>
            </a:r>
            <a:endParaRPr lang="en-US" sz="2400" dirty="0">
              <a:solidFill>
                <a:prstClr val="black"/>
              </a:solidFill>
            </a:endParaRPr>
          </a:p>
        </p:txBody>
      </p:sp>
      <p:sp>
        <p:nvSpPr>
          <p:cNvPr id="5" name="Shape 3"/>
          <p:cNvSpPr/>
          <p:nvPr/>
        </p:nvSpPr>
        <p:spPr>
          <a:xfrm>
            <a:off x="914400" y="2240280"/>
            <a:ext cx="685800" cy="685800"/>
          </a:xfrm>
          <a:prstGeom prst="ellipse">
            <a:avLst/>
          </a:prstGeom>
          <a:solidFill>
            <a:srgbClr val="B85042"/>
          </a:solidFill>
          <a:ln/>
        </p:spPr>
      </p:sp>
      <p:pic>
        <p:nvPicPr>
          <p:cNvPr id="6" name="Image 0" descr="/home/claude/dl_deck/icon_database_FFFFFF.png"/>
          <p:cNvPicPr>
            <a:picLocks noChangeAspect="1"/>
          </p:cNvPicPr>
          <p:nvPr/>
        </p:nvPicPr>
        <p:blipFill>
          <a:blip r:embed="rId3"/>
          <a:stretch>
            <a:fillRect/>
          </a:stretch>
        </p:blipFill>
        <p:spPr>
          <a:xfrm>
            <a:off x="1060704" y="2386584"/>
            <a:ext cx="393192" cy="393192"/>
          </a:xfrm>
          <a:prstGeom prst="rect">
            <a:avLst/>
          </a:prstGeom>
        </p:spPr>
      </p:pic>
      <p:sp>
        <p:nvSpPr>
          <p:cNvPr id="7" name="Text 4"/>
          <p:cNvSpPr/>
          <p:nvPr/>
        </p:nvSpPr>
        <p:spPr>
          <a:xfrm>
            <a:off x="1783080" y="2240280"/>
            <a:ext cx="3657600" cy="685800"/>
          </a:xfrm>
          <a:prstGeom prst="rect">
            <a:avLst/>
          </a:prstGeom>
          <a:noFill/>
          <a:ln/>
        </p:spPr>
        <p:txBody>
          <a:bodyPr wrap="square" rtlCol="0" anchor="ctr"/>
          <a:lstStyle/>
          <a:p>
            <a:r>
              <a:rPr lang="en-US" sz="2000" b="1" dirty="0">
                <a:solidFill>
                  <a:srgbClr val="013A40"/>
                </a:solidFill>
                <a:ea typeface="Calibri" pitchFamily="34" charset="-122"/>
                <a:cs typeface="Calibri" pitchFamily="34" charset="-120"/>
              </a:rPr>
              <a:t>Large Data</a:t>
            </a:r>
            <a:endParaRPr lang="en-US" sz="2000" dirty="0">
              <a:solidFill>
                <a:prstClr val="black"/>
              </a:solidFill>
            </a:endParaRPr>
          </a:p>
        </p:txBody>
      </p:sp>
      <p:sp>
        <p:nvSpPr>
          <p:cNvPr id="8" name="Shape 5"/>
          <p:cNvSpPr/>
          <p:nvPr/>
        </p:nvSpPr>
        <p:spPr>
          <a:xfrm>
            <a:off x="1252728" y="2926080"/>
            <a:ext cx="0" cy="365760"/>
          </a:xfrm>
          <a:prstGeom prst="line">
            <a:avLst/>
          </a:prstGeom>
          <a:noFill/>
          <a:ln w="25400">
            <a:solidFill>
              <a:srgbClr val="B85042"/>
            </a:solidFill>
            <a:prstDash val="solid"/>
            <a:tailEnd type="triangle"/>
          </a:ln>
        </p:spPr>
      </p:sp>
      <p:sp>
        <p:nvSpPr>
          <p:cNvPr id="9" name="Shape 6"/>
          <p:cNvSpPr/>
          <p:nvPr/>
        </p:nvSpPr>
        <p:spPr>
          <a:xfrm>
            <a:off x="914400" y="3291840"/>
            <a:ext cx="685800" cy="685800"/>
          </a:xfrm>
          <a:prstGeom prst="ellipse">
            <a:avLst/>
          </a:prstGeom>
          <a:solidFill>
            <a:srgbClr val="B85042"/>
          </a:solidFill>
          <a:ln/>
        </p:spPr>
      </p:sp>
      <p:pic>
        <p:nvPicPr>
          <p:cNvPr id="10" name="Image 1" descr="/home/claude/dl_deck/icon_exchange_FFFFFF.png"/>
          <p:cNvPicPr>
            <a:picLocks noChangeAspect="1"/>
          </p:cNvPicPr>
          <p:nvPr/>
        </p:nvPicPr>
        <p:blipFill>
          <a:blip r:embed="rId4"/>
          <a:stretch>
            <a:fillRect/>
          </a:stretch>
        </p:blipFill>
        <p:spPr>
          <a:xfrm>
            <a:off x="1060704" y="3438144"/>
            <a:ext cx="393192" cy="393192"/>
          </a:xfrm>
          <a:prstGeom prst="rect">
            <a:avLst/>
          </a:prstGeom>
        </p:spPr>
      </p:pic>
      <p:sp>
        <p:nvSpPr>
          <p:cNvPr id="11" name="Text 7"/>
          <p:cNvSpPr/>
          <p:nvPr/>
        </p:nvSpPr>
        <p:spPr>
          <a:xfrm>
            <a:off x="1783080" y="3291840"/>
            <a:ext cx="3657600" cy="685800"/>
          </a:xfrm>
          <a:prstGeom prst="rect">
            <a:avLst/>
          </a:prstGeom>
          <a:noFill/>
          <a:ln/>
        </p:spPr>
        <p:txBody>
          <a:bodyPr wrap="square" rtlCol="0" anchor="ctr"/>
          <a:lstStyle/>
          <a:p>
            <a:r>
              <a:rPr lang="en-US" sz="2000" b="1" dirty="0">
                <a:solidFill>
                  <a:srgbClr val="013A40"/>
                </a:solidFill>
                <a:ea typeface="Calibri" pitchFamily="34" charset="-122"/>
                <a:cs typeface="Calibri" pitchFamily="34" charset="-120"/>
              </a:rPr>
              <a:t>Transfer to CPU</a:t>
            </a:r>
            <a:endParaRPr lang="en-US" sz="2000" dirty="0">
              <a:solidFill>
                <a:prstClr val="black"/>
              </a:solidFill>
            </a:endParaRPr>
          </a:p>
        </p:txBody>
      </p:sp>
      <p:sp>
        <p:nvSpPr>
          <p:cNvPr id="12" name="Shape 8"/>
          <p:cNvSpPr/>
          <p:nvPr/>
        </p:nvSpPr>
        <p:spPr>
          <a:xfrm>
            <a:off x="1252728" y="3977640"/>
            <a:ext cx="0" cy="365760"/>
          </a:xfrm>
          <a:prstGeom prst="line">
            <a:avLst/>
          </a:prstGeom>
          <a:noFill/>
          <a:ln w="25400">
            <a:solidFill>
              <a:srgbClr val="B85042"/>
            </a:solidFill>
            <a:prstDash val="solid"/>
            <a:tailEnd type="triangle"/>
          </a:ln>
        </p:spPr>
      </p:sp>
      <p:sp>
        <p:nvSpPr>
          <p:cNvPr id="13" name="Shape 9"/>
          <p:cNvSpPr/>
          <p:nvPr/>
        </p:nvSpPr>
        <p:spPr>
          <a:xfrm>
            <a:off x="914400" y="4343400"/>
            <a:ext cx="685800" cy="685800"/>
          </a:xfrm>
          <a:prstGeom prst="ellipse">
            <a:avLst/>
          </a:prstGeom>
          <a:solidFill>
            <a:srgbClr val="B85042"/>
          </a:solidFill>
          <a:ln/>
        </p:spPr>
      </p:sp>
      <p:pic>
        <p:nvPicPr>
          <p:cNvPr id="14" name="Image 2" descr="/home/claude/dl_deck/icon_cogs_FFFFFF.png"/>
          <p:cNvPicPr>
            <a:picLocks noChangeAspect="1"/>
          </p:cNvPicPr>
          <p:nvPr/>
        </p:nvPicPr>
        <p:blipFill>
          <a:blip r:embed="rId5"/>
          <a:stretch>
            <a:fillRect/>
          </a:stretch>
        </p:blipFill>
        <p:spPr>
          <a:xfrm>
            <a:off x="1060704" y="4489704"/>
            <a:ext cx="393192" cy="393192"/>
          </a:xfrm>
          <a:prstGeom prst="rect">
            <a:avLst/>
          </a:prstGeom>
        </p:spPr>
      </p:pic>
      <p:sp>
        <p:nvSpPr>
          <p:cNvPr id="15" name="Text 10"/>
          <p:cNvSpPr/>
          <p:nvPr/>
        </p:nvSpPr>
        <p:spPr>
          <a:xfrm>
            <a:off x="1783080" y="4343400"/>
            <a:ext cx="3657600" cy="685800"/>
          </a:xfrm>
          <a:prstGeom prst="rect">
            <a:avLst/>
          </a:prstGeom>
          <a:noFill/>
          <a:ln/>
        </p:spPr>
        <p:txBody>
          <a:bodyPr wrap="square" rtlCol="0" anchor="ctr"/>
          <a:lstStyle/>
          <a:p>
            <a:r>
              <a:rPr lang="en-US" sz="2000" b="1" dirty="0">
                <a:solidFill>
                  <a:srgbClr val="013A40"/>
                </a:solidFill>
                <a:ea typeface="Calibri" pitchFamily="34" charset="-122"/>
                <a:cs typeface="Calibri" pitchFamily="34" charset="-120"/>
              </a:rPr>
              <a:t>Processing</a:t>
            </a:r>
            <a:endParaRPr lang="en-US" sz="2000" dirty="0">
              <a:solidFill>
                <a:prstClr val="black"/>
              </a:solidFill>
            </a:endParaRPr>
          </a:p>
        </p:txBody>
      </p:sp>
      <p:sp>
        <p:nvSpPr>
          <p:cNvPr id="16" name="Shape 11"/>
          <p:cNvSpPr/>
          <p:nvPr/>
        </p:nvSpPr>
        <p:spPr>
          <a:xfrm>
            <a:off x="868680" y="5440680"/>
            <a:ext cx="4572000" cy="0"/>
          </a:xfrm>
          <a:prstGeom prst="line">
            <a:avLst/>
          </a:prstGeom>
          <a:noFill/>
          <a:ln w="12700">
            <a:solidFill>
              <a:srgbClr val="E0B9B3"/>
            </a:solidFill>
            <a:prstDash val="solid"/>
          </a:ln>
        </p:spPr>
      </p:sp>
      <p:sp>
        <p:nvSpPr>
          <p:cNvPr id="17" name="Text 12"/>
          <p:cNvSpPr/>
          <p:nvPr/>
        </p:nvSpPr>
        <p:spPr>
          <a:xfrm>
            <a:off x="868680" y="5577840"/>
            <a:ext cx="4572000" cy="320040"/>
          </a:xfrm>
          <a:prstGeom prst="rect">
            <a:avLst/>
          </a:prstGeom>
          <a:noFill/>
          <a:ln/>
        </p:spPr>
        <p:txBody>
          <a:bodyPr wrap="square" rtlCol="0" anchor="ctr"/>
          <a:lstStyle/>
          <a:p>
            <a:r>
              <a:rPr lang="en-US" b="1" dirty="0">
                <a:solidFill>
                  <a:srgbClr val="B85042"/>
                </a:solidFill>
                <a:ea typeface="Calibri" pitchFamily="34" charset="-122"/>
                <a:cs typeface="Calibri" pitchFamily="34" charset="-120"/>
              </a:rPr>
              <a:t>Problem</a:t>
            </a:r>
            <a:endParaRPr lang="en-US" dirty="0">
              <a:solidFill>
                <a:prstClr val="black"/>
              </a:solidFill>
            </a:endParaRPr>
          </a:p>
        </p:txBody>
      </p:sp>
      <p:sp>
        <p:nvSpPr>
          <p:cNvPr id="18" name="Text 13"/>
          <p:cNvSpPr/>
          <p:nvPr/>
        </p:nvSpPr>
        <p:spPr>
          <a:xfrm>
            <a:off x="868680" y="5925312"/>
            <a:ext cx="4572000" cy="457200"/>
          </a:xfrm>
          <a:prstGeom prst="rect">
            <a:avLst/>
          </a:prstGeom>
          <a:noFill/>
          <a:ln/>
        </p:spPr>
        <p:txBody>
          <a:bodyPr wrap="square" rtlCol="0" anchor="ctr"/>
          <a:lstStyle/>
          <a:p>
            <a:r>
              <a:rPr lang="en-US" dirty="0">
                <a:solidFill>
                  <a:srgbClr val="16262A"/>
                </a:solidFill>
                <a:ea typeface="Calibri" pitchFamily="34" charset="-122"/>
                <a:cs typeface="Calibri" pitchFamily="34" charset="-120"/>
              </a:rPr>
              <a:t>Huge network traffic  ·  Slow processing</a:t>
            </a:r>
            <a:endParaRPr lang="en-US" dirty="0">
              <a:solidFill>
                <a:prstClr val="black"/>
              </a:solidFill>
            </a:endParaRPr>
          </a:p>
        </p:txBody>
      </p:sp>
      <p:sp>
        <p:nvSpPr>
          <p:cNvPr id="19" name="Shape 14"/>
          <p:cNvSpPr/>
          <p:nvPr/>
        </p:nvSpPr>
        <p:spPr>
          <a:xfrm>
            <a:off x="6355080" y="1280160"/>
            <a:ext cx="5257800" cy="5166360"/>
          </a:xfrm>
          <a:prstGeom prst="roundRect">
            <a:avLst>
              <a:gd name="adj" fmla="val 1770"/>
            </a:avLst>
          </a:prstGeom>
          <a:solidFill>
            <a:srgbClr val="013A40"/>
          </a:solidFill>
          <a:ln/>
        </p:spPr>
      </p:sp>
      <p:sp>
        <p:nvSpPr>
          <p:cNvPr id="20" name="Text 15"/>
          <p:cNvSpPr/>
          <p:nvPr/>
        </p:nvSpPr>
        <p:spPr>
          <a:xfrm>
            <a:off x="6675120" y="1554480"/>
            <a:ext cx="4617720" cy="457200"/>
          </a:xfrm>
          <a:prstGeom prst="rect">
            <a:avLst/>
          </a:prstGeom>
          <a:noFill/>
          <a:ln/>
        </p:spPr>
        <p:txBody>
          <a:bodyPr wrap="square" rtlCol="0" anchor="ctr"/>
          <a:lstStyle/>
          <a:p>
            <a:r>
              <a:rPr lang="en-US" sz="2400" b="1" dirty="0">
                <a:solidFill>
                  <a:srgbClr val="02C39A"/>
                </a:solidFill>
                <a:ea typeface="Calibri" pitchFamily="34" charset="-122"/>
                <a:cs typeface="Calibri" pitchFamily="34" charset="-120"/>
              </a:rPr>
              <a:t>Data Locality Approach</a:t>
            </a:r>
            <a:endParaRPr lang="en-US" sz="2400" dirty="0">
              <a:solidFill>
                <a:prstClr val="black"/>
              </a:solidFill>
            </a:endParaRPr>
          </a:p>
        </p:txBody>
      </p:sp>
      <p:sp>
        <p:nvSpPr>
          <p:cNvPr id="21" name="Shape 16"/>
          <p:cNvSpPr/>
          <p:nvPr/>
        </p:nvSpPr>
        <p:spPr>
          <a:xfrm>
            <a:off x="6720840" y="2194560"/>
            <a:ext cx="594360" cy="594360"/>
          </a:xfrm>
          <a:prstGeom prst="ellipse">
            <a:avLst/>
          </a:prstGeom>
          <a:solidFill>
            <a:srgbClr val="00A896"/>
          </a:solidFill>
          <a:ln/>
        </p:spPr>
      </p:sp>
      <p:pic>
        <p:nvPicPr>
          <p:cNvPr id="22" name="Image 3" descr="/home/claude/dl_deck/icon_database_013A40.png"/>
          <p:cNvPicPr>
            <a:picLocks noChangeAspect="1"/>
          </p:cNvPicPr>
          <p:nvPr/>
        </p:nvPicPr>
        <p:blipFill>
          <a:blip r:embed="rId3"/>
          <a:stretch>
            <a:fillRect/>
          </a:stretch>
        </p:blipFill>
        <p:spPr>
          <a:xfrm>
            <a:off x="6848856" y="2322576"/>
            <a:ext cx="338328" cy="338328"/>
          </a:xfrm>
          <a:prstGeom prst="rect">
            <a:avLst/>
          </a:prstGeom>
        </p:spPr>
      </p:pic>
      <p:sp>
        <p:nvSpPr>
          <p:cNvPr id="23" name="Text 17"/>
          <p:cNvSpPr/>
          <p:nvPr/>
        </p:nvSpPr>
        <p:spPr>
          <a:xfrm>
            <a:off x="7498080" y="2194560"/>
            <a:ext cx="3794760" cy="594360"/>
          </a:xfrm>
          <a:prstGeom prst="rect">
            <a:avLst/>
          </a:prstGeom>
          <a:noFill/>
          <a:ln/>
        </p:spPr>
        <p:txBody>
          <a:bodyPr wrap="square" rtlCol="0" anchor="ctr"/>
          <a:lstStyle/>
          <a:p>
            <a:r>
              <a:rPr lang="en-US" sz="2000" b="1" dirty="0">
                <a:solidFill>
                  <a:srgbClr val="FFFFFF"/>
                </a:solidFill>
                <a:ea typeface="Calibri" pitchFamily="34" charset="-122"/>
                <a:cs typeface="Calibri" pitchFamily="34" charset="-120"/>
              </a:rPr>
              <a:t>Large Data</a:t>
            </a:r>
            <a:endParaRPr lang="en-US" sz="2000" dirty="0">
              <a:solidFill>
                <a:prstClr val="black"/>
              </a:solidFill>
            </a:endParaRPr>
          </a:p>
        </p:txBody>
      </p:sp>
      <p:sp>
        <p:nvSpPr>
          <p:cNvPr id="24" name="Shape 18"/>
          <p:cNvSpPr/>
          <p:nvPr/>
        </p:nvSpPr>
        <p:spPr>
          <a:xfrm>
            <a:off x="7013448" y="2788920"/>
            <a:ext cx="0" cy="292608"/>
          </a:xfrm>
          <a:prstGeom prst="line">
            <a:avLst/>
          </a:prstGeom>
          <a:noFill/>
          <a:ln w="25400">
            <a:solidFill>
              <a:srgbClr val="00A896"/>
            </a:solidFill>
            <a:prstDash val="solid"/>
            <a:tailEnd type="triangle"/>
          </a:ln>
        </p:spPr>
      </p:sp>
      <p:sp>
        <p:nvSpPr>
          <p:cNvPr id="25" name="Shape 19"/>
          <p:cNvSpPr/>
          <p:nvPr/>
        </p:nvSpPr>
        <p:spPr>
          <a:xfrm>
            <a:off x="6720840" y="3081528"/>
            <a:ext cx="594360" cy="594360"/>
          </a:xfrm>
          <a:prstGeom prst="ellipse">
            <a:avLst/>
          </a:prstGeom>
          <a:solidFill>
            <a:srgbClr val="00A896"/>
          </a:solidFill>
          <a:ln/>
        </p:spPr>
      </p:sp>
      <p:pic>
        <p:nvPicPr>
          <p:cNvPr id="26" name="Image 4" descr="/home/claude/dl_deck/icon_server_013A40.png"/>
          <p:cNvPicPr>
            <a:picLocks noChangeAspect="1"/>
          </p:cNvPicPr>
          <p:nvPr/>
        </p:nvPicPr>
        <p:blipFill>
          <a:blip r:embed="rId6"/>
          <a:stretch>
            <a:fillRect/>
          </a:stretch>
        </p:blipFill>
        <p:spPr>
          <a:xfrm>
            <a:off x="6848856" y="3209544"/>
            <a:ext cx="338328" cy="338328"/>
          </a:xfrm>
          <a:prstGeom prst="rect">
            <a:avLst/>
          </a:prstGeom>
        </p:spPr>
      </p:pic>
      <p:sp>
        <p:nvSpPr>
          <p:cNvPr id="27" name="Text 20"/>
          <p:cNvSpPr/>
          <p:nvPr/>
        </p:nvSpPr>
        <p:spPr>
          <a:xfrm>
            <a:off x="7498080" y="3081528"/>
            <a:ext cx="3794760" cy="594360"/>
          </a:xfrm>
          <a:prstGeom prst="rect">
            <a:avLst/>
          </a:prstGeom>
          <a:noFill/>
          <a:ln/>
        </p:spPr>
        <p:txBody>
          <a:bodyPr wrap="square" rtlCol="0" anchor="ctr"/>
          <a:lstStyle/>
          <a:p>
            <a:r>
              <a:rPr lang="en-US" sz="2000" b="1" dirty="0">
                <a:solidFill>
                  <a:srgbClr val="FFFFFF"/>
                </a:solidFill>
                <a:ea typeface="Calibri" pitchFamily="34" charset="-122"/>
                <a:cs typeface="Calibri" pitchFamily="34" charset="-120"/>
              </a:rPr>
              <a:t>Stored on Node 5</a:t>
            </a:r>
            <a:endParaRPr lang="en-US" sz="2000" dirty="0">
              <a:solidFill>
                <a:prstClr val="black"/>
              </a:solidFill>
            </a:endParaRPr>
          </a:p>
        </p:txBody>
      </p:sp>
      <p:sp>
        <p:nvSpPr>
          <p:cNvPr id="28" name="Shape 21"/>
          <p:cNvSpPr/>
          <p:nvPr/>
        </p:nvSpPr>
        <p:spPr>
          <a:xfrm>
            <a:off x="7013448" y="3675888"/>
            <a:ext cx="0" cy="292608"/>
          </a:xfrm>
          <a:prstGeom prst="line">
            <a:avLst/>
          </a:prstGeom>
          <a:noFill/>
          <a:ln w="25400">
            <a:solidFill>
              <a:srgbClr val="00A896"/>
            </a:solidFill>
            <a:prstDash val="solid"/>
            <a:tailEnd type="triangle"/>
          </a:ln>
        </p:spPr>
      </p:sp>
      <p:sp>
        <p:nvSpPr>
          <p:cNvPr id="29" name="Shape 22"/>
          <p:cNvSpPr/>
          <p:nvPr/>
        </p:nvSpPr>
        <p:spPr>
          <a:xfrm>
            <a:off x="6720840" y="3968496"/>
            <a:ext cx="594360" cy="594360"/>
          </a:xfrm>
          <a:prstGeom prst="ellipse">
            <a:avLst/>
          </a:prstGeom>
          <a:solidFill>
            <a:srgbClr val="00A896"/>
          </a:solidFill>
          <a:ln/>
        </p:spPr>
      </p:sp>
      <p:pic>
        <p:nvPicPr>
          <p:cNvPr id="30" name="Image 5" descr="/home/claude/dl_deck/icon_exchange_013A40.png"/>
          <p:cNvPicPr>
            <a:picLocks noChangeAspect="1"/>
          </p:cNvPicPr>
          <p:nvPr/>
        </p:nvPicPr>
        <p:blipFill>
          <a:blip r:embed="rId4"/>
          <a:stretch>
            <a:fillRect/>
          </a:stretch>
        </p:blipFill>
        <p:spPr>
          <a:xfrm>
            <a:off x="6848856" y="4096512"/>
            <a:ext cx="338328" cy="338328"/>
          </a:xfrm>
          <a:prstGeom prst="rect">
            <a:avLst/>
          </a:prstGeom>
        </p:spPr>
      </p:pic>
      <p:sp>
        <p:nvSpPr>
          <p:cNvPr id="31" name="Text 23"/>
          <p:cNvSpPr/>
          <p:nvPr/>
        </p:nvSpPr>
        <p:spPr>
          <a:xfrm>
            <a:off x="7498080" y="3968496"/>
            <a:ext cx="3794760" cy="594360"/>
          </a:xfrm>
          <a:prstGeom prst="rect">
            <a:avLst/>
          </a:prstGeom>
          <a:noFill/>
          <a:ln/>
        </p:spPr>
        <p:txBody>
          <a:bodyPr wrap="square" rtlCol="0" anchor="ctr"/>
          <a:lstStyle/>
          <a:p>
            <a:r>
              <a:rPr lang="en-US" sz="2000" b="1" dirty="0">
                <a:solidFill>
                  <a:srgbClr val="FFFFFF"/>
                </a:solidFill>
                <a:ea typeface="Calibri" pitchFamily="34" charset="-122"/>
                <a:cs typeface="Calibri" pitchFamily="34" charset="-120"/>
              </a:rPr>
              <a:t>Program moves to Node 5</a:t>
            </a:r>
            <a:endParaRPr lang="en-US" sz="2000" dirty="0">
              <a:solidFill>
                <a:prstClr val="black"/>
              </a:solidFill>
            </a:endParaRPr>
          </a:p>
        </p:txBody>
      </p:sp>
      <p:sp>
        <p:nvSpPr>
          <p:cNvPr id="32" name="Shape 24"/>
          <p:cNvSpPr/>
          <p:nvPr/>
        </p:nvSpPr>
        <p:spPr>
          <a:xfrm>
            <a:off x="7013448" y="4562856"/>
            <a:ext cx="0" cy="292608"/>
          </a:xfrm>
          <a:prstGeom prst="line">
            <a:avLst/>
          </a:prstGeom>
          <a:noFill/>
          <a:ln w="25400">
            <a:solidFill>
              <a:srgbClr val="00A896"/>
            </a:solidFill>
            <a:prstDash val="solid"/>
            <a:tailEnd type="triangle"/>
          </a:ln>
        </p:spPr>
      </p:sp>
      <p:sp>
        <p:nvSpPr>
          <p:cNvPr id="33" name="Shape 25"/>
          <p:cNvSpPr/>
          <p:nvPr/>
        </p:nvSpPr>
        <p:spPr>
          <a:xfrm>
            <a:off x="6720840" y="4855464"/>
            <a:ext cx="594360" cy="594360"/>
          </a:xfrm>
          <a:prstGeom prst="ellipse">
            <a:avLst/>
          </a:prstGeom>
          <a:solidFill>
            <a:srgbClr val="00A896"/>
          </a:solidFill>
          <a:ln/>
        </p:spPr>
      </p:sp>
      <p:pic>
        <p:nvPicPr>
          <p:cNvPr id="34" name="Image 6" descr="/home/claude/dl_deck/icon_check_013A40.png"/>
          <p:cNvPicPr>
            <a:picLocks noChangeAspect="1"/>
          </p:cNvPicPr>
          <p:nvPr/>
        </p:nvPicPr>
        <p:blipFill>
          <a:blip r:embed="rId7"/>
          <a:stretch>
            <a:fillRect/>
          </a:stretch>
        </p:blipFill>
        <p:spPr>
          <a:xfrm>
            <a:off x="6848856" y="4983480"/>
            <a:ext cx="338328" cy="338328"/>
          </a:xfrm>
          <a:prstGeom prst="rect">
            <a:avLst/>
          </a:prstGeom>
        </p:spPr>
      </p:pic>
      <p:sp>
        <p:nvSpPr>
          <p:cNvPr id="35" name="Text 26"/>
          <p:cNvSpPr/>
          <p:nvPr/>
        </p:nvSpPr>
        <p:spPr>
          <a:xfrm>
            <a:off x="7498080" y="4855464"/>
            <a:ext cx="3794760" cy="594360"/>
          </a:xfrm>
          <a:prstGeom prst="rect">
            <a:avLst/>
          </a:prstGeom>
          <a:noFill/>
          <a:ln/>
        </p:spPr>
        <p:txBody>
          <a:bodyPr wrap="square" rtlCol="0" anchor="ctr"/>
          <a:lstStyle/>
          <a:p>
            <a:r>
              <a:rPr lang="en-US" sz="2000" b="1" dirty="0">
                <a:solidFill>
                  <a:srgbClr val="FFFFFF"/>
                </a:solidFill>
                <a:ea typeface="Calibri" pitchFamily="34" charset="-122"/>
                <a:cs typeface="Calibri" pitchFamily="34" charset="-120"/>
              </a:rPr>
              <a:t>Local Processing</a:t>
            </a:r>
            <a:endParaRPr lang="en-US" sz="2000" dirty="0">
              <a:solidFill>
                <a:prstClr val="black"/>
              </a:solidFill>
            </a:endParaRPr>
          </a:p>
        </p:txBody>
      </p:sp>
      <p:sp>
        <p:nvSpPr>
          <p:cNvPr id="36" name="Text 27"/>
          <p:cNvSpPr/>
          <p:nvPr/>
        </p:nvSpPr>
        <p:spPr>
          <a:xfrm>
            <a:off x="6675120" y="5788152"/>
            <a:ext cx="4617720" cy="548640"/>
          </a:xfrm>
          <a:prstGeom prst="rect">
            <a:avLst/>
          </a:prstGeom>
          <a:noFill/>
          <a:ln/>
        </p:spPr>
        <p:txBody>
          <a:bodyPr wrap="square" rtlCol="0" anchor="ctr"/>
          <a:lstStyle/>
          <a:p>
            <a:r>
              <a:rPr lang="en-US" sz="2000" b="1" i="1" dirty="0">
                <a:solidFill>
                  <a:srgbClr val="8FD9CE"/>
                </a:solidFill>
                <a:ea typeface="Calibri" pitchFamily="34" charset="-122"/>
                <a:cs typeface="Calibri" pitchFamily="34" charset="-120"/>
              </a:rPr>
              <a:t>No large file transfer required.</a:t>
            </a:r>
            <a:endParaRPr lang="en-US" sz="2000" dirty="0">
              <a:solidFill>
                <a:prstClr val="black"/>
              </a:solidFill>
            </a:endParaRPr>
          </a:p>
        </p:txBody>
      </p:sp>
    </p:spTree>
    <p:extLst>
      <p:ext uri="{BB962C8B-B14F-4D97-AF65-F5344CB8AC3E}">
        <p14:creationId xmlns:p14="http://schemas.microsoft.com/office/powerpoint/2010/main" val="19439571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40080"/>
          </a:xfrm>
          <a:prstGeom prst="rect">
            <a:avLst/>
          </a:prstGeom>
          <a:noFill/>
          <a:ln/>
        </p:spPr>
        <p:txBody>
          <a:bodyPr wrap="square" rtlCol="0" anchor="ctr"/>
          <a:lstStyle/>
          <a:p>
            <a:r>
              <a:rPr lang="en-US" sz="3200" b="1" dirty="0">
                <a:solidFill>
                  <a:srgbClr val="013A40"/>
                </a:solidFill>
                <a:latin typeface="Cambria" pitchFamily="34" charset="0"/>
                <a:ea typeface="Cambria" pitchFamily="34" charset="-122"/>
                <a:cs typeface="Cambria" pitchFamily="34" charset="-120"/>
              </a:rPr>
              <a:t>Why Is Data Locality Important?</a:t>
            </a:r>
            <a:endParaRPr lang="en-US" sz="3200" dirty="0">
              <a:solidFill>
                <a:prstClr val="black"/>
              </a:solidFill>
            </a:endParaRPr>
          </a:p>
        </p:txBody>
      </p:sp>
      <p:sp>
        <p:nvSpPr>
          <p:cNvPr id="3" name="Shape 1"/>
          <p:cNvSpPr/>
          <p:nvPr/>
        </p:nvSpPr>
        <p:spPr>
          <a:xfrm>
            <a:off x="548640" y="1371600"/>
            <a:ext cx="5394960" cy="4754880"/>
          </a:xfrm>
          <a:prstGeom prst="roundRect">
            <a:avLst>
              <a:gd name="adj" fmla="val 1923"/>
            </a:avLst>
          </a:prstGeom>
          <a:solidFill>
            <a:srgbClr val="F3E3E1"/>
          </a:solidFill>
          <a:ln/>
        </p:spPr>
      </p:sp>
      <p:sp>
        <p:nvSpPr>
          <p:cNvPr id="4" name="Shape 2"/>
          <p:cNvSpPr/>
          <p:nvPr/>
        </p:nvSpPr>
        <p:spPr>
          <a:xfrm>
            <a:off x="868680" y="1691640"/>
            <a:ext cx="777240" cy="777240"/>
          </a:xfrm>
          <a:prstGeom prst="ellipse">
            <a:avLst/>
          </a:prstGeom>
          <a:solidFill>
            <a:srgbClr val="B85042"/>
          </a:solidFill>
          <a:ln/>
        </p:spPr>
      </p:sp>
      <p:pic>
        <p:nvPicPr>
          <p:cNvPr id="5" name="Image 0" descr="/home/claude/dl_deck/icon_exchange_FFFFFF.png"/>
          <p:cNvPicPr>
            <a:picLocks noChangeAspect="1"/>
          </p:cNvPicPr>
          <p:nvPr/>
        </p:nvPicPr>
        <p:blipFill>
          <a:blip r:embed="rId3"/>
          <a:stretch>
            <a:fillRect/>
          </a:stretch>
        </p:blipFill>
        <p:spPr>
          <a:xfrm>
            <a:off x="1055218" y="1878178"/>
            <a:ext cx="404165" cy="404165"/>
          </a:xfrm>
          <a:prstGeom prst="rect">
            <a:avLst/>
          </a:prstGeom>
        </p:spPr>
      </p:pic>
      <p:sp>
        <p:nvSpPr>
          <p:cNvPr id="6" name="Text 3"/>
          <p:cNvSpPr/>
          <p:nvPr/>
        </p:nvSpPr>
        <p:spPr>
          <a:xfrm>
            <a:off x="1828800" y="1737360"/>
            <a:ext cx="3931920" cy="548640"/>
          </a:xfrm>
          <a:prstGeom prst="rect">
            <a:avLst/>
          </a:prstGeom>
          <a:noFill/>
          <a:ln/>
        </p:spPr>
        <p:txBody>
          <a:bodyPr wrap="square" rtlCol="0" anchor="ctr"/>
          <a:lstStyle/>
          <a:p>
            <a:r>
              <a:rPr lang="en-US" sz="2400" b="1" dirty="0">
                <a:solidFill>
                  <a:srgbClr val="B85042"/>
                </a:solidFill>
                <a:ea typeface="Calibri" pitchFamily="34" charset="-122"/>
                <a:cs typeface="Calibri" pitchFamily="34" charset="-120"/>
              </a:rPr>
              <a:t>Copying the file first</a:t>
            </a:r>
            <a:endParaRPr lang="en-US" sz="2400" dirty="0">
              <a:solidFill>
                <a:prstClr val="black"/>
              </a:solidFill>
            </a:endParaRPr>
          </a:p>
        </p:txBody>
      </p:sp>
      <p:sp>
        <p:nvSpPr>
          <p:cNvPr id="7" name="Text 4"/>
          <p:cNvSpPr/>
          <p:nvPr/>
        </p:nvSpPr>
        <p:spPr>
          <a:xfrm>
            <a:off x="868680" y="2651760"/>
            <a:ext cx="4754880" cy="1371600"/>
          </a:xfrm>
          <a:prstGeom prst="rect">
            <a:avLst/>
          </a:prstGeom>
          <a:noFill/>
          <a:ln/>
        </p:spPr>
        <p:txBody>
          <a:bodyPr wrap="square" rtlCol="0" anchor="t"/>
          <a:lstStyle/>
          <a:p>
            <a:pPr>
              <a:lnSpc>
                <a:spcPct val="130000"/>
              </a:lnSpc>
            </a:pPr>
            <a:r>
              <a:rPr lang="en-US" sz="2000" dirty="0">
                <a:solidFill>
                  <a:srgbClr val="16262A"/>
                </a:solidFill>
                <a:ea typeface="Calibri" pitchFamily="34" charset="-122"/>
                <a:cs typeface="Calibri" pitchFamily="34" charset="-120"/>
              </a:rPr>
              <a:t>Imagine copying a 200 GB movie from one laptop to another laptop before you can even start editing it.</a:t>
            </a:r>
            <a:endParaRPr lang="en-US" sz="2000" dirty="0">
              <a:solidFill>
                <a:prstClr val="black"/>
              </a:solidFill>
            </a:endParaRPr>
          </a:p>
        </p:txBody>
      </p:sp>
      <p:sp>
        <p:nvSpPr>
          <p:cNvPr id="8" name="Shape 5"/>
          <p:cNvSpPr/>
          <p:nvPr/>
        </p:nvSpPr>
        <p:spPr>
          <a:xfrm>
            <a:off x="868680" y="4114800"/>
            <a:ext cx="4754880" cy="0"/>
          </a:xfrm>
          <a:prstGeom prst="line">
            <a:avLst/>
          </a:prstGeom>
          <a:noFill/>
          <a:ln w="12700">
            <a:solidFill>
              <a:srgbClr val="E0B9B3"/>
            </a:solidFill>
            <a:prstDash val="solid"/>
          </a:ln>
        </p:spPr>
      </p:sp>
      <p:sp>
        <p:nvSpPr>
          <p:cNvPr id="9" name="Text 6"/>
          <p:cNvSpPr/>
          <p:nvPr/>
        </p:nvSpPr>
        <p:spPr>
          <a:xfrm>
            <a:off x="868680" y="4297680"/>
            <a:ext cx="4754880" cy="1463040"/>
          </a:xfrm>
          <a:prstGeom prst="rect">
            <a:avLst/>
          </a:prstGeom>
          <a:noFill/>
          <a:ln/>
        </p:spPr>
        <p:txBody>
          <a:bodyPr wrap="square" rtlCol="0" anchor="t"/>
          <a:lstStyle/>
          <a:p>
            <a:pPr>
              <a:lnSpc>
                <a:spcPct val="130000"/>
              </a:lnSpc>
            </a:pPr>
            <a:r>
              <a:rPr lang="en-US" sz="2000" b="1" dirty="0">
                <a:solidFill>
                  <a:srgbClr val="B85042"/>
                </a:solidFill>
                <a:ea typeface="Calibri" pitchFamily="34" charset="-122"/>
                <a:cs typeface="Calibri" pitchFamily="34" charset="-120"/>
              </a:rPr>
              <a:t>Very slow — the transfer itself can take longer than the actual editing work.</a:t>
            </a:r>
            <a:endParaRPr lang="en-US" sz="2000" dirty="0">
              <a:solidFill>
                <a:prstClr val="black"/>
              </a:solidFill>
            </a:endParaRPr>
          </a:p>
        </p:txBody>
      </p:sp>
      <p:sp>
        <p:nvSpPr>
          <p:cNvPr id="10" name="Shape 7"/>
          <p:cNvSpPr/>
          <p:nvPr/>
        </p:nvSpPr>
        <p:spPr>
          <a:xfrm>
            <a:off x="6217920" y="1371600"/>
            <a:ext cx="5394960" cy="4754880"/>
          </a:xfrm>
          <a:prstGeom prst="roundRect">
            <a:avLst>
              <a:gd name="adj" fmla="val 1923"/>
            </a:avLst>
          </a:prstGeom>
          <a:solidFill>
            <a:srgbClr val="013A40"/>
          </a:solidFill>
          <a:ln/>
        </p:spPr>
      </p:sp>
      <p:sp>
        <p:nvSpPr>
          <p:cNvPr id="11" name="Shape 8"/>
          <p:cNvSpPr/>
          <p:nvPr/>
        </p:nvSpPr>
        <p:spPr>
          <a:xfrm>
            <a:off x="6537960" y="1691640"/>
            <a:ext cx="777240" cy="777240"/>
          </a:xfrm>
          <a:prstGeom prst="ellipse">
            <a:avLst/>
          </a:prstGeom>
          <a:solidFill>
            <a:srgbClr val="00A896"/>
          </a:solidFill>
          <a:ln/>
        </p:spPr>
      </p:sp>
      <p:pic>
        <p:nvPicPr>
          <p:cNvPr id="12" name="Image 1" descr="/home/claude/dl_deck/icon_laptop_013A40.png"/>
          <p:cNvPicPr>
            <a:picLocks noChangeAspect="1"/>
          </p:cNvPicPr>
          <p:nvPr/>
        </p:nvPicPr>
        <p:blipFill>
          <a:blip r:embed="rId4"/>
          <a:stretch>
            <a:fillRect/>
          </a:stretch>
        </p:blipFill>
        <p:spPr>
          <a:xfrm>
            <a:off x="6724498" y="1878178"/>
            <a:ext cx="404165" cy="404165"/>
          </a:xfrm>
          <a:prstGeom prst="rect">
            <a:avLst/>
          </a:prstGeom>
        </p:spPr>
      </p:pic>
      <p:sp>
        <p:nvSpPr>
          <p:cNvPr id="13" name="Text 9"/>
          <p:cNvSpPr/>
          <p:nvPr/>
        </p:nvSpPr>
        <p:spPr>
          <a:xfrm>
            <a:off x="7498080" y="1737360"/>
            <a:ext cx="3931920" cy="548640"/>
          </a:xfrm>
          <a:prstGeom prst="rect">
            <a:avLst/>
          </a:prstGeom>
          <a:noFill/>
          <a:ln/>
        </p:spPr>
        <p:txBody>
          <a:bodyPr wrap="square" rtlCol="0" anchor="ctr"/>
          <a:lstStyle/>
          <a:p>
            <a:r>
              <a:rPr lang="en-US" sz="2400" b="1" dirty="0">
                <a:solidFill>
                  <a:srgbClr val="02C39A"/>
                </a:solidFill>
                <a:ea typeface="Calibri" pitchFamily="34" charset="-122"/>
                <a:cs typeface="Calibri" pitchFamily="34" charset="-120"/>
              </a:rPr>
              <a:t>Editing where it already is</a:t>
            </a:r>
            <a:endParaRPr lang="en-US" sz="2400" dirty="0">
              <a:solidFill>
                <a:prstClr val="black"/>
              </a:solidFill>
            </a:endParaRPr>
          </a:p>
        </p:txBody>
      </p:sp>
      <p:sp>
        <p:nvSpPr>
          <p:cNvPr id="14" name="Text 10"/>
          <p:cNvSpPr/>
          <p:nvPr/>
        </p:nvSpPr>
        <p:spPr>
          <a:xfrm>
            <a:off x="6537960" y="2651760"/>
            <a:ext cx="4754880" cy="1371600"/>
          </a:xfrm>
          <a:prstGeom prst="rect">
            <a:avLst/>
          </a:prstGeom>
          <a:noFill/>
          <a:ln/>
        </p:spPr>
        <p:txBody>
          <a:bodyPr wrap="square" rtlCol="0" anchor="t"/>
          <a:lstStyle/>
          <a:p>
            <a:pPr>
              <a:lnSpc>
                <a:spcPct val="130000"/>
              </a:lnSpc>
            </a:pPr>
            <a:r>
              <a:rPr lang="en-US" sz="2000" dirty="0">
                <a:solidFill>
                  <a:srgbClr val="EAF7F5"/>
                </a:solidFill>
                <a:ea typeface="Calibri" pitchFamily="34" charset="-122"/>
                <a:cs typeface="Calibri" pitchFamily="34" charset="-120"/>
              </a:rPr>
              <a:t>Instead, edit the movie directly on the laptop where the file already exists — no transfer at all.</a:t>
            </a:r>
            <a:endParaRPr lang="en-US" sz="2000" dirty="0">
              <a:solidFill>
                <a:prstClr val="black"/>
              </a:solidFill>
            </a:endParaRPr>
          </a:p>
        </p:txBody>
      </p:sp>
      <p:sp>
        <p:nvSpPr>
          <p:cNvPr id="15" name="Shape 11"/>
          <p:cNvSpPr/>
          <p:nvPr/>
        </p:nvSpPr>
        <p:spPr>
          <a:xfrm>
            <a:off x="6537960" y="4114800"/>
            <a:ext cx="4754880" cy="0"/>
          </a:xfrm>
          <a:prstGeom prst="line">
            <a:avLst/>
          </a:prstGeom>
          <a:noFill/>
          <a:ln w="12700">
            <a:solidFill>
              <a:srgbClr val="245A5F"/>
            </a:solidFill>
            <a:prstDash val="solid"/>
          </a:ln>
        </p:spPr>
      </p:sp>
      <p:sp>
        <p:nvSpPr>
          <p:cNvPr id="16" name="Text 12"/>
          <p:cNvSpPr/>
          <p:nvPr/>
        </p:nvSpPr>
        <p:spPr>
          <a:xfrm>
            <a:off x="6537960" y="4297680"/>
            <a:ext cx="4754880" cy="1463040"/>
          </a:xfrm>
          <a:prstGeom prst="rect">
            <a:avLst/>
          </a:prstGeom>
          <a:noFill/>
          <a:ln/>
        </p:spPr>
        <p:txBody>
          <a:bodyPr wrap="square" rtlCol="0" anchor="t"/>
          <a:lstStyle/>
          <a:p>
            <a:pPr>
              <a:lnSpc>
                <a:spcPct val="130000"/>
              </a:lnSpc>
            </a:pPr>
            <a:r>
              <a:rPr lang="en-US" sz="2000" b="1" dirty="0">
                <a:solidFill>
                  <a:srgbClr val="02C39A"/>
                </a:solidFill>
                <a:ea typeface="Calibri" pitchFamily="34" charset="-122"/>
                <a:cs typeface="Calibri" pitchFamily="34" charset="-120"/>
              </a:rPr>
              <a:t>Much faster — this is exactly what Data Locality does for Big Data processing.</a:t>
            </a:r>
            <a:endParaRPr lang="en-US" sz="2000" dirty="0">
              <a:solidFill>
                <a:prstClr val="black"/>
              </a:solidFill>
            </a:endParaRPr>
          </a:p>
        </p:txBody>
      </p:sp>
    </p:spTree>
    <p:extLst>
      <p:ext uri="{BB962C8B-B14F-4D97-AF65-F5344CB8AC3E}">
        <p14:creationId xmlns:p14="http://schemas.microsoft.com/office/powerpoint/2010/main" val="9547371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r>
              <a:rPr lang="en-US" sz="3400" b="1" dirty="0">
                <a:solidFill>
                  <a:srgbClr val="013A40"/>
                </a:solidFill>
                <a:latin typeface="Cambria" pitchFamily="34" charset="0"/>
                <a:ea typeface="Cambria" pitchFamily="34" charset="-122"/>
                <a:cs typeface="Cambria" pitchFamily="34" charset="-120"/>
              </a:rPr>
              <a:t>Types of Data Locality</a:t>
            </a:r>
            <a:endParaRPr lang="en-US" sz="3400" dirty="0">
              <a:solidFill>
                <a:prstClr val="black"/>
              </a:solidFill>
            </a:endParaRPr>
          </a:p>
        </p:txBody>
      </p:sp>
      <p:sp>
        <p:nvSpPr>
          <p:cNvPr id="3" name="Text 1"/>
          <p:cNvSpPr/>
          <p:nvPr/>
        </p:nvSpPr>
        <p:spPr>
          <a:xfrm>
            <a:off x="548640" y="1051560"/>
            <a:ext cx="10058400" cy="365760"/>
          </a:xfrm>
          <a:prstGeom prst="rect">
            <a:avLst/>
          </a:prstGeom>
          <a:noFill/>
          <a:ln/>
        </p:spPr>
        <p:txBody>
          <a:bodyPr wrap="square" rtlCol="0" anchor="ctr"/>
          <a:lstStyle/>
          <a:p>
            <a:r>
              <a:rPr lang="en-US" sz="1400" i="1" dirty="0">
                <a:solidFill>
                  <a:srgbClr val="5C7175"/>
                </a:solidFill>
                <a:ea typeface="Calibri" pitchFamily="34" charset="-122"/>
                <a:cs typeface="Calibri" pitchFamily="34" charset="-120"/>
              </a:rPr>
              <a:t>Not all locality is equal — performance depends on how far the data must travel.</a:t>
            </a:r>
            <a:endParaRPr lang="en-US" sz="1400" dirty="0">
              <a:solidFill>
                <a:prstClr val="black"/>
              </a:solidFill>
            </a:endParaRPr>
          </a:p>
        </p:txBody>
      </p:sp>
      <p:sp>
        <p:nvSpPr>
          <p:cNvPr id="4" name="Shape 2"/>
          <p:cNvSpPr/>
          <p:nvPr/>
        </p:nvSpPr>
        <p:spPr>
          <a:xfrm>
            <a:off x="548640" y="1691640"/>
            <a:ext cx="3429000" cy="3977640"/>
          </a:xfrm>
          <a:prstGeom prst="roundRect">
            <a:avLst>
              <a:gd name="adj" fmla="val 2667"/>
            </a:avLst>
          </a:prstGeom>
          <a:solidFill>
            <a:srgbClr val="013A40"/>
          </a:solidFill>
          <a:ln/>
        </p:spPr>
      </p:sp>
      <p:sp>
        <p:nvSpPr>
          <p:cNvPr id="5" name="Shape 3"/>
          <p:cNvSpPr/>
          <p:nvPr/>
        </p:nvSpPr>
        <p:spPr>
          <a:xfrm>
            <a:off x="868680" y="2011680"/>
            <a:ext cx="777240" cy="777240"/>
          </a:xfrm>
          <a:prstGeom prst="ellipse">
            <a:avLst/>
          </a:prstGeom>
          <a:solidFill>
            <a:srgbClr val="00A896"/>
          </a:solidFill>
          <a:ln/>
        </p:spPr>
      </p:sp>
      <p:pic>
        <p:nvPicPr>
          <p:cNvPr id="6" name="Image 0" descr="/home/claude/dl_deck/icon_check_013A40.png"/>
          <p:cNvPicPr>
            <a:picLocks noChangeAspect="1"/>
          </p:cNvPicPr>
          <p:nvPr/>
        </p:nvPicPr>
        <p:blipFill>
          <a:blip r:embed="rId3"/>
          <a:stretch>
            <a:fillRect/>
          </a:stretch>
        </p:blipFill>
        <p:spPr>
          <a:xfrm>
            <a:off x="1055218" y="2198218"/>
            <a:ext cx="404165" cy="404165"/>
          </a:xfrm>
          <a:prstGeom prst="rect">
            <a:avLst/>
          </a:prstGeom>
        </p:spPr>
      </p:pic>
      <p:sp>
        <p:nvSpPr>
          <p:cNvPr id="7" name="Text 4"/>
          <p:cNvSpPr/>
          <p:nvPr/>
        </p:nvSpPr>
        <p:spPr>
          <a:xfrm>
            <a:off x="822960" y="2971800"/>
            <a:ext cx="2880360" cy="457200"/>
          </a:xfrm>
          <a:prstGeom prst="rect">
            <a:avLst/>
          </a:prstGeom>
          <a:noFill/>
          <a:ln/>
        </p:spPr>
        <p:txBody>
          <a:bodyPr wrap="square" rtlCol="0" anchor="t"/>
          <a:lstStyle/>
          <a:p>
            <a:r>
              <a:rPr lang="en-US" sz="2800" b="1" dirty="0">
                <a:solidFill>
                  <a:srgbClr val="FFFFFF"/>
                </a:solidFill>
                <a:ea typeface="Calibri" pitchFamily="34" charset="-122"/>
                <a:cs typeface="Calibri" pitchFamily="34" charset="-120"/>
              </a:rPr>
              <a:t>1. Node Local</a:t>
            </a:r>
            <a:endParaRPr lang="en-US" sz="2800" dirty="0">
              <a:solidFill>
                <a:prstClr val="black"/>
              </a:solidFill>
            </a:endParaRPr>
          </a:p>
        </p:txBody>
      </p:sp>
      <p:sp>
        <p:nvSpPr>
          <p:cNvPr id="8" name="Text 5"/>
          <p:cNvSpPr/>
          <p:nvPr/>
        </p:nvSpPr>
        <p:spPr>
          <a:xfrm>
            <a:off x="822960" y="3474720"/>
            <a:ext cx="2880360" cy="1188720"/>
          </a:xfrm>
          <a:prstGeom prst="rect">
            <a:avLst/>
          </a:prstGeom>
          <a:noFill/>
          <a:ln/>
        </p:spPr>
        <p:txBody>
          <a:bodyPr wrap="square" rtlCol="0" anchor="t"/>
          <a:lstStyle/>
          <a:p>
            <a:pPr>
              <a:lnSpc>
                <a:spcPct val="125000"/>
              </a:lnSpc>
            </a:pPr>
            <a:r>
              <a:rPr lang="en-US" sz="2000" dirty="0">
                <a:solidFill>
                  <a:srgbClr val="F0F7F6"/>
                </a:solidFill>
                <a:ea typeface="Calibri" pitchFamily="34" charset="-122"/>
                <a:cs typeface="Calibri" pitchFamily="34" charset="-120"/>
              </a:rPr>
              <a:t>Data and processing run on the exact same machine.</a:t>
            </a:r>
            <a:endParaRPr lang="en-US" sz="2000" dirty="0">
              <a:solidFill>
                <a:prstClr val="black"/>
              </a:solidFill>
            </a:endParaRPr>
          </a:p>
        </p:txBody>
      </p:sp>
      <p:sp>
        <p:nvSpPr>
          <p:cNvPr id="9" name="Shape 6"/>
          <p:cNvSpPr/>
          <p:nvPr/>
        </p:nvSpPr>
        <p:spPr>
          <a:xfrm>
            <a:off x="822960" y="4983480"/>
            <a:ext cx="2880360" cy="457200"/>
          </a:xfrm>
          <a:prstGeom prst="roundRect">
            <a:avLst>
              <a:gd name="adj" fmla="val 12000"/>
            </a:avLst>
          </a:prstGeom>
          <a:solidFill>
            <a:srgbClr val="FFFFFF">
              <a:alpha val="12000"/>
            </a:srgbClr>
          </a:solidFill>
          <a:ln/>
        </p:spPr>
      </p:sp>
      <p:sp>
        <p:nvSpPr>
          <p:cNvPr id="10" name="Text 7"/>
          <p:cNvSpPr/>
          <p:nvPr/>
        </p:nvSpPr>
        <p:spPr>
          <a:xfrm>
            <a:off x="822960" y="4983480"/>
            <a:ext cx="2880360" cy="457200"/>
          </a:xfrm>
          <a:prstGeom prst="rect">
            <a:avLst/>
          </a:prstGeom>
          <a:noFill/>
          <a:ln/>
        </p:spPr>
        <p:txBody>
          <a:bodyPr wrap="square" rtlCol="0" anchor="ctr"/>
          <a:lstStyle/>
          <a:p>
            <a:pPr algn="ctr"/>
            <a:r>
              <a:rPr lang="en-US" sz="2000" b="1" dirty="0">
                <a:solidFill>
                  <a:srgbClr val="02C39A"/>
                </a:solidFill>
                <a:ea typeface="Calibri" pitchFamily="34" charset="-122"/>
                <a:cs typeface="Calibri" pitchFamily="34" charset="-120"/>
              </a:rPr>
              <a:t>Best performance</a:t>
            </a:r>
            <a:endParaRPr lang="en-US" sz="2000" dirty="0">
              <a:solidFill>
                <a:prstClr val="black"/>
              </a:solidFill>
            </a:endParaRPr>
          </a:p>
        </p:txBody>
      </p:sp>
      <p:sp>
        <p:nvSpPr>
          <p:cNvPr id="11" name="Shape 8"/>
          <p:cNvSpPr/>
          <p:nvPr/>
        </p:nvSpPr>
        <p:spPr>
          <a:xfrm>
            <a:off x="4297680" y="1691640"/>
            <a:ext cx="3429000" cy="3977640"/>
          </a:xfrm>
          <a:prstGeom prst="roundRect">
            <a:avLst>
              <a:gd name="adj" fmla="val 2667"/>
            </a:avLst>
          </a:prstGeom>
          <a:solidFill>
            <a:srgbClr val="028090"/>
          </a:solidFill>
          <a:ln/>
        </p:spPr>
      </p:sp>
      <p:sp>
        <p:nvSpPr>
          <p:cNvPr id="12" name="Shape 9"/>
          <p:cNvSpPr/>
          <p:nvPr/>
        </p:nvSpPr>
        <p:spPr>
          <a:xfrm>
            <a:off x="4617720" y="2011680"/>
            <a:ext cx="777240" cy="777240"/>
          </a:xfrm>
          <a:prstGeom prst="ellipse">
            <a:avLst/>
          </a:prstGeom>
          <a:solidFill>
            <a:srgbClr val="013A40"/>
          </a:solidFill>
          <a:ln/>
        </p:spPr>
      </p:sp>
      <p:pic>
        <p:nvPicPr>
          <p:cNvPr id="13" name="Image 1" descr="/home/claude/dl_deck/icon_layers_FFFFFF.png"/>
          <p:cNvPicPr>
            <a:picLocks noChangeAspect="1"/>
          </p:cNvPicPr>
          <p:nvPr/>
        </p:nvPicPr>
        <p:blipFill>
          <a:blip r:embed="rId4"/>
          <a:stretch>
            <a:fillRect/>
          </a:stretch>
        </p:blipFill>
        <p:spPr>
          <a:xfrm>
            <a:off x="4804258" y="2198218"/>
            <a:ext cx="404165" cy="404165"/>
          </a:xfrm>
          <a:prstGeom prst="rect">
            <a:avLst/>
          </a:prstGeom>
        </p:spPr>
      </p:pic>
      <p:sp>
        <p:nvSpPr>
          <p:cNvPr id="14" name="Text 10"/>
          <p:cNvSpPr/>
          <p:nvPr/>
        </p:nvSpPr>
        <p:spPr>
          <a:xfrm>
            <a:off x="4572000" y="2971800"/>
            <a:ext cx="2880360" cy="457200"/>
          </a:xfrm>
          <a:prstGeom prst="rect">
            <a:avLst/>
          </a:prstGeom>
          <a:noFill/>
          <a:ln/>
        </p:spPr>
        <p:txBody>
          <a:bodyPr wrap="square" rtlCol="0" anchor="t"/>
          <a:lstStyle/>
          <a:p>
            <a:r>
              <a:rPr lang="en-US" sz="2800" b="1" dirty="0">
                <a:solidFill>
                  <a:srgbClr val="FFFFFF"/>
                </a:solidFill>
                <a:ea typeface="Calibri" pitchFamily="34" charset="-122"/>
                <a:cs typeface="Calibri" pitchFamily="34" charset="-120"/>
              </a:rPr>
              <a:t>2. Rack Local</a:t>
            </a:r>
            <a:endParaRPr lang="en-US" sz="2800" dirty="0">
              <a:solidFill>
                <a:prstClr val="black"/>
              </a:solidFill>
            </a:endParaRPr>
          </a:p>
        </p:txBody>
      </p:sp>
      <p:sp>
        <p:nvSpPr>
          <p:cNvPr id="15" name="Text 11"/>
          <p:cNvSpPr/>
          <p:nvPr/>
        </p:nvSpPr>
        <p:spPr>
          <a:xfrm>
            <a:off x="4572000" y="3474720"/>
            <a:ext cx="2880360" cy="1188720"/>
          </a:xfrm>
          <a:prstGeom prst="rect">
            <a:avLst/>
          </a:prstGeom>
          <a:noFill/>
          <a:ln/>
        </p:spPr>
        <p:txBody>
          <a:bodyPr wrap="square" rtlCol="0" anchor="t"/>
          <a:lstStyle/>
          <a:p>
            <a:pPr>
              <a:lnSpc>
                <a:spcPct val="125000"/>
              </a:lnSpc>
            </a:pPr>
            <a:r>
              <a:rPr lang="en-US" sz="2000" dirty="0">
                <a:solidFill>
                  <a:srgbClr val="F0F7F6"/>
                </a:solidFill>
                <a:ea typeface="Calibri" pitchFamily="34" charset="-122"/>
                <a:cs typeface="Calibri" pitchFamily="34" charset="-120"/>
              </a:rPr>
              <a:t>Processing occurs on a different machine within the same rack.</a:t>
            </a:r>
            <a:endParaRPr lang="en-US" sz="2000" dirty="0">
              <a:solidFill>
                <a:prstClr val="black"/>
              </a:solidFill>
            </a:endParaRPr>
          </a:p>
        </p:txBody>
      </p:sp>
      <p:sp>
        <p:nvSpPr>
          <p:cNvPr id="16" name="Shape 12"/>
          <p:cNvSpPr/>
          <p:nvPr/>
        </p:nvSpPr>
        <p:spPr>
          <a:xfrm>
            <a:off x="4572000" y="4983480"/>
            <a:ext cx="2880360" cy="457200"/>
          </a:xfrm>
          <a:prstGeom prst="roundRect">
            <a:avLst>
              <a:gd name="adj" fmla="val 12000"/>
            </a:avLst>
          </a:prstGeom>
          <a:solidFill>
            <a:srgbClr val="FFFFFF">
              <a:alpha val="12000"/>
            </a:srgbClr>
          </a:solidFill>
          <a:ln/>
        </p:spPr>
      </p:sp>
      <p:sp>
        <p:nvSpPr>
          <p:cNvPr id="17" name="Text 13"/>
          <p:cNvSpPr/>
          <p:nvPr/>
        </p:nvSpPr>
        <p:spPr>
          <a:xfrm>
            <a:off x="4572000" y="4983480"/>
            <a:ext cx="2880360" cy="457200"/>
          </a:xfrm>
          <a:prstGeom prst="rect">
            <a:avLst/>
          </a:prstGeom>
          <a:noFill/>
          <a:ln/>
        </p:spPr>
        <p:txBody>
          <a:bodyPr wrap="square" rtlCol="0" anchor="ctr"/>
          <a:lstStyle/>
          <a:p>
            <a:pPr algn="ctr"/>
            <a:r>
              <a:rPr lang="en-US" sz="2000" b="1" dirty="0">
                <a:solidFill>
                  <a:srgbClr val="E8B84B"/>
                </a:solidFill>
                <a:ea typeface="Calibri" pitchFamily="34" charset="-122"/>
                <a:cs typeface="Calibri" pitchFamily="34" charset="-120"/>
              </a:rPr>
              <a:t>Slightly slower</a:t>
            </a:r>
            <a:endParaRPr lang="en-US" sz="2000" dirty="0">
              <a:solidFill>
                <a:prstClr val="black"/>
              </a:solidFill>
            </a:endParaRPr>
          </a:p>
        </p:txBody>
      </p:sp>
      <p:sp>
        <p:nvSpPr>
          <p:cNvPr id="18" name="Shape 14"/>
          <p:cNvSpPr/>
          <p:nvPr/>
        </p:nvSpPr>
        <p:spPr>
          <a:xfrm>
            <a:off x="8046720" y="1691640"/>
            <a:ext cx="3429000" cy="3977640"/>
          </a:xfrm>
          <a:prstGeom prst="roundRect">
            <a:avLst>
              <a:gd name="adj" fmla="val 2667"/>
            </a:avLst>
          </a:prstGeom>
          <a:solidFill>
            <a:srgbClr val="B85042"/>
          </a:solidFill>
          <a:ln/>
        </p:spPr>
      </p:sp>
      <p:sp>
        <p:nvSpPr>
          <p:cNvPr id="19" name="Shape 15"/>
          <p:cNvSpPr/>
          <p:nvPr/>
        </p:nvSpPr>
        <p:spPr>
          <a:xfrm>
            <a:off x="8366760" y="2011680"/>
            <a:ext cx="777240" cy="777240"/>
          </a:xfrm>
          <a:prstGeom prst="ellipse">
            <a:avLst/>
          </a:prstGeom>
          <a:solidFill>
            <a:srgbClr val="013A40"/>
          </a:solidFill>
          <a:ln/>
        </p:spPr>
      </p:sp>
      <p:pic>
        <p:nvPicPr>
          <p:cNvPr id="20" name="Image 2" descr="/home/claude/dl_deck/icon_route_FFFFFF.png"/>
          <p:cNvPicPr>
            <a:picLocks noChangeAspect="1"/>
          </p:cNvPicPr>
          <p:nvPr/>
        </p:nvPicPr>
        <p:blipFill>
          <a:blip r:embed="rId5"/>
          <a:stretch>
            <a:fillRect/>
          </a:stretch>
        </p:blipFill>
        <p:spPr>
          <a:xfrm>
            <a:off x="8553298" y="2198218"/>
            <a:ext cx="404165" cy="404165"/>
          </a:xfrm>
          <a:prstGeom prst="rect">
            <a:avLst/>
          </a:prstGeom>
        </p:spPr>
      </p:pic>
      <p:sp>
        <p:nvSpPr>
          <p:cNvPr id="21" name="Text 16"/>
          <p:cNvSpPr/>
          <p:nvPr/>
        </p:nvSpPr>
        <p:spPr>
          <a:xfrm>
            <a:off x="8321040" y="2971800"/>
            <a:ext cx="2880360" cy="457200"/>
          </a:xfrm>
          <a:prstGeom prst="rect">
            <a:avLst/>
          </a:prstGeom>
          <a:noFill/>
          <a:ln/>
        </p:spPr>
        <p:txBody>
          <a:bodyPr wrap="square" rtlCol="0" anchor="t"/>
          <a:lstStyle/>
          <a:p>
            <a:r>
              <a:rPr lang="en-US" sz="2800" b="1" dirty="0">
                <a:solidFill>
                  <a:srgbClr val="FFFFFF"/>
                </a:solidFill>
                <a:ea typeface="Calibri" pitchFamily="34" charset="-122"/>
                <a:cs typeface="Calibri" pitchFamily="34" charset="-120"/>
              </a:rPr>
              <a:t>3. Remote Rack</a:t>
            </a:r>
            <a:endParaRPr lang="en-US" sz="2800" dirty="0">
              <a:solidFill>
                <a:prstClr val="black"/>
              </a:solidFill>
            </a:endParaRPr>
          </a:p>
        </p:txBody>
      </p:sp>
      <p:sp>
        <p:nvSpPr>
          <p:cNvPr id="22" name="Text 17"/>
          <p:cNvSpPr/>
          <p:nvPr/>
        </p:nvSpPr>
        <p:spPr>
          <a:xfrm>
            <a:off x="8321040" y="3474720"/>
            <a:ext cx="2880360" cy="1188720"/>
          </a:xfrm>
          <a:prstGeom prst="rect">
            <a:avLst/>
          </a:prstGeom>
          <a:noFill/>
          <a:ln/>
        </p:spPr>
        <p:txBody>
          <a:bodyPr wrap="square" rtlCol="0" anchor="t"/>
          <a:lstStyle/>
          <a:p>
            <a:pPr>
              <a:lnSpc>
                <a:spcPct val="125000"/>
              </a:lnSpc>
            </a:pPr>
            <a:r>
              <a:rPr lang="en-US" sz="2000" dirty="0">
                <a:solidFill>
                  <a:srgbClr val="F0F7F6"/>
                </a:solidFill>
                <a:ea typeface="Calibri" pitchFamily="34" charset="-122"/>
                <a:cs typeface="Calibri" pitchFamily="34" charset="-120"/>
              </a:rPr>
              <a:t>Data must travel across racks to reach the processing machine.</a:t>
            </a:r>
            <a:endParaRPr lang="en-US" sz="2000" dirty="0">
              <a:solidFill>
                <a:prstClr val="black"/>
              </a:solidFill>
            </a:endParaRPr>
          </a:p>
        </p:txBody>
      </p:sp>
      <p:sp>
        <p:nvSpPr>
          <p:cNvPr id="23" name="Shape 18"/>
          <p:cNvSpPr/>
          <p:nvPr/>
        </p:nvSpPr>
        <p:spPr>
          <a:xfrm>
            <a:off x="8321040" y="4983480"/>
            <a:ext cx="2880360" cy="457200"/>
          </a:xfrm>
          <a:prstGeom prst="roundRect">
            <a:avLst>
              <a:gd name="adj" fmla="val 12000"/>
            </a:avLst>
          </a:prstGeom>
          <a:solidFill>
            <a:srgbClr val="FFFFFF">
              <a:alpha val="12000"/>
            </a:srgbClr>
          </a:solidFill>
          <a:ln/>
        </p:spPr>
      </p:sp>
      <p:sp>
        <p:nvSpPr>
          <p:cNvPr id="24" name="Text 19"/>
          <p:cNvSpPr/>
          <p:nvPr/>
        </p:nvSpPr>
        <p:spPr>
          <a:xfrm>
            <a:off x="8321040" y="4983480"/>
            <a:ext cx="2880360" cy="457200"/>
          </a:xfrm>
          <a:prstGeom prst="rect">
            <a:avLst/>
          </a:prstGeom>
          <a:noFill/>
          <a:ln/>
        </p:spPr>
        <p:txBody>
          <a:bodyPr wrap="square" rtlCol="0" anchor="ctr"/>
          <a:lstStyle/>
          <a:p>
            <a:pPr algn="ctr"/>
            <a:r>
              <a:rPr lang="en-US" sz="2000" b="1" dirty="0">
                <a:solidFill>
                  <a:srgbClr val="F3C6C0"/>
                </a:solidFill>
                <a:ea typeface="Calibri" pitchFamily="34" charset="-122"/>
                <a:cs typeface="Calibri" pitchFamily="34" charset="-120"/>
              </a:rPr>
              <a:t>Slowest option</a:t>
            </a:r>
            <a:endParaRPr lang="en-US" sz="2000" dirty="0">
              <a:solidFill>
                <a:prstClr val="black"/>
              </a:solidFill>
            </a:endParaRPr>
          </a:p>
        </p:txBody>
      </p:sp>
    </p:spTree>
    <p:extLst>
      <p:ext uri="{BB962C8B-B14F-4D97-AF65-F5344CB8AC3E}">
        <p14:creationId xmlns:p14="http://schemas.microsoft.com/office/powerpoint/2010/main" val="31433146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r>
              <a:rPr lang="en-US" sz="3400" b="1" dirty="0">
                <a:solidFill>
                  <a:srgbClr val="013A40"/>
                </a:solidFill>
                <a:latin typeface="Cambria" pitchFamily="34" charset="0"/>
                <a:ea typeface="Cambria" pitchFamily="34" charset="-122"/>
                <a:cs typeface="Cambria" pitchFamily="34" charset="-120"/>
              </a:rPr>
              <a:t>Data Locality Hierarchy</a:t>
            </a:r>
            <a:endParaRPr lang="en-US" sz="3400" dirty="0">
              <a:solidFill>
                <a:prstClr val="black"/>
              </a:solidFill>
            </a:endParaRPr>
          </a:p>
        </p:txBody>
      </p:sp>
      <p:sp>
        <p:nvSpPr>
          <p:cNvPr id="3" name="Text 1"/>
          <p:cNvSpPr/>
          <p:nvPr/>
        </p:nvSpPr>
        <p:spPr>
          <a:xfrm>
            <a:off x="548640" y="1051560"/>
            <a:ext cx="10058400" cy="365760"/>
          </a:xfrm>
          <a:prstGeom prst="rect">
            <a:avLst/>
          </a:prstGeom>
          <a:noFill/>
          <a:ln/>
        </p:spPr>
        <p:txBody>
          <a:bodyPr wrap="square" rtlCol="0" anchor="ctr"/>
          <a:lstStyle/>
          <a:p>
            <a:r>
              <a:rPr lang="en-US" sz="1400" i="1" dirty="0">
                <a:solidFill>
                  <a:srgbClr val="5C7175"/>
                </a:solidFill>
                <a:ea typeface="Calibri" pitchFamily="34" charset="-122"/>
                <a:cs typeface="Calibri" pitchFamily="34" charset="-120"/>
              </a:rPr>
              <a:t>Performance drops the further data must travel from the processing task</a:t>
            </a:r>
            <a:endParaRPr lang="en-US" sz="1400" dirty="0">
              <a:solidFill>
                <a:prstClr val="black"/>
              </a:solidFill>
            </a:endParaRPr>
          </a:p>
        </p:txBody>
      </p:sp>
      <p:sp>
        <p:nvSpPr>
          <p:cNvPr id="4" name="Shape 2"/>
          <p:cNvSpPr/>
          <p:nvPr/>
        </p:nvSpPr>
        <p:spPr>
          <a:xfrm>
            <a:off x="2194560" y="1737360"/>
            <a:ext cx="7772400" cy="1051560"/>
          </a:xfrm>
          <a:prstGeom prst="roundRect">
            <a:avLst>
              <a:gd name="adj" fmla="val 7826"/>
            </a:avLst>
          </a:prstGeom>
          <a:solidFill>
            <a:srgbClr val="02C39A"/>
          </a:solidFill>
          <a:ln/>
        </p:spPr>
      </p:sp>
      <p:sp>
        <p:nvSpPr>
          <p:cNvPr id="5" name="Text 3"/>
          <p:cNvSpPr/>
          <p:nvPr/>
        </p:nvSpPr>
        <p:spPr>
          <a:xfrm>
            <a:off x="2560320" y="1737360"/>
            <a:ext cx="5577840" cy="1051560"/>
          </a:xfrm>
          <a:prstGeom prst="rect">
            <a:avLst/>
          </a:prstGeom>
          <a:noFill/>
          <a:ln/>
        </p:spPr>
        <p:txBody>
          <a:bodyPr wrap="square" rtlCol="0" anchor="ctr"/>
          <a:lstStyle/>
          <a:p>
            <a:r>
              <a:rPr lang="en-US" sz="2800" b="1" dirty="0">
                <a:solidFill>
                  <a:srgbClr val="013A40"/>
                </a:solidFill>
                <a:ea typeface="Calibri" pitchFamily="34" charset="-122"/>
                <a:cs typeface="Calibri" pitchFamily="34" charset="-120"/>
              </a:rPr>
              <a:t>Node Local</a:t>
            </a:r>
            <a:endParaRPr lang="en-US" sz="2800" dirty="0">
              <a:solidFill>
                <a:prstClr val="black"/>
              </a:solidFill>
            </a:endParaRPr>
          </a:p>
        </p:txBody>
      </p:sp>
      <p:sp>
        <p:nvSpPr>
          <p:cNvPr id="6" name="Text 4"/>
          <p:cNvSpPr/>
          <p:nvPr/>
        </p:nvSpPr>
        <p:spPr>
          <a:xfrm>
            <a:off x="7863840" y="1737360"/>
            <a:ext cx="1828800" cy="1051560"/>
          </a:xfrm>
          <a:prstGeom prst="rect">
            <a:avLst/>
          </a:prstGeom>
          <a:noFill/>
          <a:ln/>
        </p:spPr>
        <p:txBody>
          <a:bodyPr wrap="square" rtlCol="0" anchor="ctr"/>
          <a:lstStyle/>
          <a:p>
            <a:pPr algn="r"/>
            <a:r>
              <a:rPr lang="en-US" b="1" dirty="0">
                <a:solidFill>
                  <a:srgbClr val="013A40"/>
                </a:solidFill>
                <a:ea typeface="Calibri" pitchFamily="34" charset="-122"/>
                <a:cs typeface="Calibri" pitchFamily="34" charset="-120"/>
              </a:rPr>
              <a:t>Best Performance</a:t>
            </a:r>
            <a:endParaRPr lang="en-US" dirty="0">
              <a:solidFill>
                <a:prstClr val="black"/>
              </a:solidFill>
            </a:endParaRPr>
          </a:p>
        </p:txBody>
      </p:sp>
      <p:sp>
        <p:nvSpPr>
          <p:cNvPr id="7" name="Shape 5"/>
          <p:cNvSpPr/>
          <p:nvPr/>
        </p:nvSpPr>
        <p:spPr>
          <a:xfrm>
            <a:off x="6080760" y="2788920"/>
            <a:ext cx="0" cy="320040"/>
          </a:xfrm>
          <a:prstGeom prst="line">
            <a:avLst/>
          </a:prstGeom>
          <a:noFill/>
          <a:ln w="25400">
            <a:solidFill>
              <a:srgbClr val="5C7175"/>
            </a:solidFill>
            <a:prstDash val="solid"/>
            <a:tailEnd type="triangle"/>
          </a:ln>
        </p:spPr>
      </p:sp>
      <p:sp>
        <p:nvSpPr>
          <p:cNvPr id="8" name="Shape 6"/>
          <p:cNvSpPr/>
          <p:nvPr/>
        </p:nvSpPr>
        <p:spPr>
          <a:xfrm>
            <a:off x="2971800" y="3108960"/>
            <a:ext cx="6217920" cy="1051560"/>
          </a:xfrm>
          <a:prstGeom prst="roundRect">
            <a:avLst>
              <a:gd name="adj" fmla="val 7826"/>
            </a:avLst>
          </a:prstGeom>
          <a:solidFill>
            <a:srgbClr val="00A896"/>
          </a:solidFill>
          <a:ln/>
        </p:spPr>
      </p:sp>
      <p:sp>
        <p:nvSpPr>
          <p:cNvPr id="9" name="Text 7"/>
          <p:cNvSpPr/>
          <p:nvPr/>
        </p:nvSpPr>
        <p:spPr>
          <a:xfrm>
            <a:off x="3337560" y="3108960"/>
            <a:ext cx="4023360" cy="1051560"/>
          </a:xfrm>
          <a:prstGeom prst="rect">
            <a:avLst/>
          </a:prstGeom>
          <a:noFill/>
          <a:ln/>
        </p:spPr>
        <p:txBody>
          <a:bodyPr wrap="square" rtlCol="0" anchor="ctr"/>
          <a:lstStyle/>
          <a:p>
            <a:r>
              <a:rPr lang="en-US" sz="2800" b="1" dirty="0">
                <a:solidFill>
                  <a:srgbClr val="013A40"/>
                </a:solidFill>
                <a:ea typeface="Calibri" pitchFamily="34" charset="-122"/>
                <a:cs typeface="Calibri" pitchFamily="34" charset="-120"/>
              </a:rPr>
              <a:t>Rack Local</a:t>
            </a:r>
            <a:endParaRPr lang="en-US" sz="2800" dirty="0">
              <a:solidFill>
                <a:prstClr val="black"/>
              </a:solidFill>
            </a:endParaRPr>
          </a:p>
        </p:txBody>
      </p:sp>
      <p:sp>
        <p:nvSpPr>
          <p:cNvPr id="10" name="Text 8"/>
          <p:cNvSpPr/>
          <p:nvPr/>
        </p:nvSpPr>
        <p:spPr>
          <a:xfrm>
            <a:off x="7086600" y="3108960"/>
            <a:ext cx="1828800" cy="1051560"/>
          </a:xfrm>
          <a:prstGeom prst="rect">
            <a:avLst/>
          </a:prstGeom>
          <a:noFill/>
          <a:ln/>
        </p:spPr>
        <p:txBody>
          <a:bodyPr wrap="square" rtlCol="0" anchor="ctr"/>
          <a:lstStyle/>
          <a:p>
            <a:pPr algn="r"/>
            <a:r>
              <a:rPr lang="en-US" b="1" dirty="0">
                <a:solidFill>
                  <a:srgbClr val="013A40"/>
                </a:solidFill>
                <a:ea typeface="Calibri" pitchFamily="34" charset="-122"/>
                <a:cs typeface="Calibri" pitchFamily="34" charset="-120"/>
              </a:rPr>
              <a:t>Moderate Performance</a:t>
            </a:r>
            <a:endParaRPr lang="en-US" dirty="0">
              <a:solidFill>
                <a:prstClr val="black"/>
              </a:solidFill>
            </a:endParaRPr>
          </a:p>
        </p:txBody>
      </p:sp>
      <p:sp>
        <p:nvSpPr>
          <p:cNvPr id="11" name="Shape 9"/>
          <p:cNvSpPr/>
          <p:nvPr/>
        </p:nvSpPr>
        <p:spPr>
          <a:xfrm>
            <a:off x="6080760" y="4160520"/>
            <a:ext cx="0" cy="320040"/>
          </a:xfrm>
          <a:prstGeom prst="line">
            <a:avLst/>
          </a:prstGeom>
          <a:noFill/>
          <a:ln w="25400">
            <a:solidFill>
              <a:srgbClr val="5C7175"/>
            </a:solidFill>
            <a:prstDash val="solid"/>
            <a:tailEnd type="triangle"/>
          </a:ln>
        </p:spPr>
      </p:sp>
      <p:sp>
        <p:nvSpPr>
          <p:cNvPr id="12" name="Shape 10"/>
          <p:cNvSpPr/>
          <p:nvPr/>
        </p:nvSpPr>
        <p:spPr>
          <a:xfrm>
            <a:off x="3749040" y="4480560"/>
            <a:ext cx="4663440" cy="1051560"/>
          </a:xfrm>
          <a:prstGeom prst="roundRect">
            <a:avLst>
              <a:gd name="adj" fmla="val 7826"/>
            </a:avLst>
          </a:prstGeom>
          <a:solidFill>
            <a:srgbClr val="B85042"/>
          </a:solidFill>
          <a:ln/>
        </p:spPr>
      </p:sp>
      <p:sp>
        <p:nvSpPr>
          <p:cNvPr id="13" name="Text 11"/>
          <p:cNvSpPr/>
          <p:nvPr/>
        </p:nvSpPr>
        <p:spPr>
          <a:xfrm>
            <a:off x="4114800" y="4480560"/>
            <a:ext cx="2468880" cy="1051560"/>
          </a:xfrm>
          <a:prstGeom prst="rect">
            <a:avLst/>
          </a:prstGeom>
          <a:noFill/>
          <a:ln/>
        </p:spPr>
        <p:txBody>
          <a:bodyPr wrap="square" rtlCol="0" anchor="ctr"/>
          <a:lstStyle/>
          <a:p>
            <a:r>
              <a:rPr lang="en-US" sz="2800" b="1" dirty="0">
                <a:solidFill>
                  <a:srgbClr val="FFFFFF"/>
                </a:solidFill>
                <a:ea typeface="Calibri" pitchFamily="34" charset="-122"/>
                <a:cs typeface="Calibri" pitchFamily="34" charset="-120"/>
              </a:rPr>
              <a:t>Remote Rack</a:t>
            </a:r>
            <a:endParaRPr lang="en-US" sz="2800" dirty="0">
              <a:solidFill>
                <a:prstClr val="black"/>
              </a:solidFill>
            </a:endParaRPr>
          </a:p>
        </p:txBody>
      </p:sp>
      <p:sp>
        <p:nvSpPr>
          <p:cNvPr id="14" name="Text 12"/>
          <p:cNvSpPr/>
          <p:nvPr/>
        </p:nvSpPr>
        <p:spPr>
          <a:xfrm>
            <a:off x="6309360" y="4480560"/>
            <a:ext cx="1828800" cy="1051560"/>
          </a:xfrm>
          <a:prstGeom prst="rect">
            <a:avLst/>
          </a:prstGeom>
          <a:noFill/>
          <a:ln/>
        </p:spPr>
        <p:txBody>
          <a:bodyPr wrap="square" rtlCol="0" anchor="ctr"/>
          <a:lstStyle/>
          <a:p>
            <a:pPr algn="r"/>
            <a:r>
              <a:rPr lang="en-US" b="1" dirty="0">
                <a:solidFill>
                  <a:srgbClr val="F3C6C0"/>
                </a:solidFill>
                <a:ea typeface="Calibri" pitchFamily="34" charset="-122"/>
                <a:cs typeface="Calibri" pitchFamily="34" charset="-120"/>
              </a:rPr>
              <a:t>Worst Performance</a:t>
            </a:r>
            <a:endParaRPr lang="en-US" dirty="0">
              <a:solidFill>
                <a:prstClr val="black"/>
              </a:solidFill>
            </a:endParaRPr>
          </a:p>
        </p:txBody>
      </p:sp>
    </p:spTree>
    <p:extLst>
      <p:ext uri="{BB962C8B-B14F-4D97-AF65-F5344CB8AC3E}">
        <p14:creationId xmlns:p14="http://schemas.microsoft.com/office/powerpoint/2010/main" val="867985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13A40"/>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rtlCol="0" anchor="ctr"/>
          <a:lstStyle/>
          <a:p>
            <a:r>
              <a:rPr lang="en-US" sz="3400" b="1" dirty="0">
                <a:solidFill>
                  <a:srgbClr val="FFFFFF"/>
                </a:solidFill>
                <a:latin typeface="Cambria" pitchFamily="34" charset="0"/>
                <a:ea typeface="Cambria" pitchFamily="34" charset="-122"/>
                <a:cs typeface="Cambria" pitchFamily="34" charset="-120"/>
              </a:rPr>
              <a:t>Advantages</a:t>
            </a:r>
            <a:endParaRPr lang="en-US" sz="3400" dirty="0">
              <a:solidFill>
                <a:prstClr val="black"/>
              </a:solidFill>
            </a:endParaRPr>
          </a:p>
        </p:txBody>
      </p:sp>
      <p:sp>
        <p:nvSpPr>
          <p:cNvPr id="3" name="Shape 1"/>
          <p:cNvSpPr/>
          <p:nvPr/>
        </p:nvSpPr>
        <p:spPr>
          <a:xfrm>
            <a:off x="868680" y="1876425"/>
            <a:ext cx="1965960" cy="2743200"/>
          </a:xfrm>
          <a:prstGeom prst="roundRect">
            <a:avLst>
              <a:gd name="adj" fmla="val 4651"/>
            </a:avLst>
          </a:prstGeom>
          <a:solidFill>
            <a:srgbClr val="028090"/>
          </a:solidFill>
          <a:ln/>
        </p:spPr>
      </p:sp>
      <p:sp>
        <p:nvSpPr>
          <p:cNvPr id="4" name="Shape 2"/>
          <p:cNvSpPr/>
          <p:nvPr/>
        </p:nvSpPr>
        <p:spPr>
          <a:xfrm>
            <a:off x="1440180" y="2242185"/>
            <a:ext cx="822960" cy="822960"/>
          </a:xfrm>
          <a:prstGeom prst="ellipse">
            <a:avLst/>
          </a:prstGeom>
          <a:solidFill>
            <a:srgbClr val="00A896"/>
          </a:solidFill>
          <a:ln/>
        </p:spPr>
      </p:sp>
      <p:pic>
        <p:nvPicPr>
          <p:cNvPr id="5" name="Image 0" descr="/home/claude/dl_deck/icon_bolt_013A40.png"/>
          <p:cNvPicPr>
            <a:picLocks noChangeAspect="1"/>
          </p:cNvPicPr>
          <p:nvPr/>
        </p:nvPicPr>
        <p:blipFill>
          <a:blip r:embed="rId3"/>
          <a:stretch>
            <a:fillRect/>
          </a:stretch>
        </p:blipFill>
        <p:spPr>
          <a:xfrm>
            <a:off x="1637690" y="2439695"/>
            <a:ext cx="427939" cy="427939"/>
          </a:xfrm>
          <a:prstGeom prst="rect">
            <a:avLst/>
          </a:prstGeom>
        </p:spPr>
      </p:pic>
      <p:sp>
        <p:nvSpPr>
          <p:cNvPr id="6" name="Text 3"/>
          <p:cNvSpPr/>
          <p:nvPr/>
        </p:nvSpPr>
        <p:spPr>
          <a:xfrm>
            <a:off x="1005840" y="3339465"/>
            <a:ext cx="1691640" cy="1005840"/>
          </a:xfrm>
          <a:prstGeom prst="rect">
            <a:avLst/>
          </a:prstGeom>
          <a:noFill/>
          <a:ln/>
        </p:spPr>
        <p:txBody>
          <a:bodyPr wrap="square" rtlCol="0" anchor="t"/>
          <a:lstStyle/>
          <a:p>
            <a:pPr algn="ctr"/>
            <a:r>
              <a:rPr lang="en-US" sz="2400" b="1" dirty="0">
                <a:solidFill>
                  <a:srgbClr val="FFFFFF"/>
                </a:solidFill>
                <a:ea typeface="Calibri" pitchFamily="34" charset="-122"/>
                <a:cs typeface="Calibri" pitchFamily="34" charset="-120"/>
              </a:rPr>
              <a:t>Faster execution</a:t>
            </a:r>
            <a:endParaRPr lang="en-US" sz="2400" dirty="0">
              <a:solidFill>
                <a:prstClr val="black"/>
              </a:solidFill>
            </a:endParaRPr>
          </a:p>
        </p:txBody>
      </p:sp>
      <p:sp>
        <p:nvSpPr>
          <p:cNvPr id="7" name="Shape 4"/>
          <p:cNvSpPr/>
          <p:nvPr/>
        </p:nvSpPr>
        <p:spPr>
          <a:xfrm>
            <a:off x="3017520" y="1876425"/>
            <a:ext cx="1965960" cy="2743200"/>
          </a:xfrm>
          <a:prstGeom prst="roundRect">
            <a:avLst>
              <a:gd name="adj" fmla="val 4651"/>
            </a:avLst>
          </a:prstGeom>
          <a:solidFill>
            <a:srgbClr val="028090"/>
          </a:solidFill>
          <a:ln/>
        </p:spPr>
      </p:sp>
      <p:sp>
        <p:nvSpPr>
          <p:cNvPr id="8" name="Shape 5"/>
          <p:cNvSpPr/>
          <p:nvPr/>
        </p:nvSpPr>
        <p:spPr>
          <a:xfrm>
            <a:off x="3589020" y="2242185"/>
            <a:ext cx="822960" cy="822960"/>
          </a:xfrm>
          <a:prstGeom prst="ellipse">
            <a:avLst/>
          </a:prstGeom>
          <a:solidFill>
            <a:srgbClr val="00A896"/>
          </a:solidFill>
          <a:ln/>
        </p:spPr>
      </p:sp>
      <p:pic>
        <p:nvPicPr>
          <p:cNvPr id="9" name="Image 1" descr="/home/claude/dl_deck/icon_network_013A40.png"/>
          <p:cNvPicPr>
            <a:picLocks noChangeAspect="1"/>
          </p:cNvPicPr>
          <p:nvPr/>
        </p:nvPicPr>
        <p:blipFill>
          <a:blip r:embed="rId4"/>
          <a:stretch>
            <a:fillRect/>
          </a:stretch>
        </p:blipFill>
        <p:spPr>
          <a:xfrm>
            <a:off x="3786530" y="2439695"/>
            <a:ext cx="427939" cy="427939"/>
          </a:xfrm>
          <a:prstGeom prst="rect">
            <a:avLst/>
          </a:prstGeom>
        </p:spPr>
      </p:pic>
      <p:sp>
        <p:nvSpPr>
          <p:cNvPr id="10" name="Text 6"/>
          <p:cNvSpPr/>
          <p:nvPr/>
        </p:nvSpPr>
        <p:spPr>
          <a:xfrm>
            <a:off x="3154680" y="3339465"/>
            <a:ext cx="1691640" cy="1005840"/>
          </a:xfrm>
          <a:prstGeom prst="rect">
            <a:avLst/>
          </a:prstGeom>
          <a:noFill/>
          <a:ln/>
        </p:spPr>
        <p:txBody>
          <a:bodyPr wrap="square" rtlCol="0" anchor="t"/>
          <a:lstStyle/>
          <a:p>
            <a:pPr algn="ctr"/>
            <a:r>
              <a:rPr lang="en-US" sz="2400" b="1" dirty="0">
                <a:solidFill>
                  <a:srgbClr val="FFFFFF"/>
                </a:solidFill>
                <a:ea typeface="Calibri" pitchFamily="34" charset="-122"/>
                <a:cs typeface="Calibri" pitchFamily="34" charset="-120"/>
              </a:rPr>
              <a:t>Less network traffic</a:t>
            </a:r>
            <a:endParaRPr lang="en-US" sz="2400" dirty="0">
              <a:solidFill>
                <a:prstClr val="black"/>
              </a:solidFill>
            </a:endParaRPr>
          </a:p>
        </p:txBody>
      </p:sp>
      <p:sp>
        <p:nvSpPr>
          <p:cNvPr id="11" name="Shape 7"/>
          <p:cNvSpPr/>
          <p:nvPr/>
        </p:nvSpPr>
        <p:spPr>
          <a:xfrm>
            <a:off x="5166360" y="1876425"/>
            <a:ext cx="1965960" cy="2743200"/>
          </a:xfrm>
          <a:prstGeom prst="roundRect">
            <a:avLst>
              <a:gd name="adj" fmla="val 4651"/>
            </a:avLst>
          </a:prstGeom>
          <a:solidFill>
            <a:srgbClr val="028090"/>
          </a:solidFill>
          <a:ln/>
        </p:spPr>
      </p:sp>
      <p:sp>
        <p:nvSpPr>
          <p:cNvPr id="12" name="Shape 8"/>
          <p:cNvSpPr/>
          <p:nvPr/>
        </p:nvSpPr>
        <p:spPr>
          <a:xfrm>
            <a:off x="5737860" y="2242185"/>
            <a:ext cx="822960" cy="822960"/>
          </a:xfrm>
          <a:prstGeom prst="ellipse">
            <a:avLst/>
          </a:prstGeom>
          <a:solidFill>
            <a:srgbClr val="00A896"/>
          </a:solidFill>
          <a:ln/>
        </p:spPr>
      </p:sp>
      <p:pic>
        <p:nvPicPr>
          <p:cNvPr id="13" name="Image 2" descr="/home/claude/dl_deck/icon_gauge_013A40.png"/>
          <p:cNvPicPr>
            <a:picLocks noChangeAspect="1"/>
          </p:cNvPicPr>
          <p:nvPr/>
        </p:nvPicPr>
        <p:blipFill>
          <a:blip r:embed="rId5"/>
          <a:stretch>
            <a:fillRect/>
          </a:stretch>
        </p:blipFill>
        <p:spPr>
          <a:xfrm>
            <a:off x="5935370" y="2439695"/>
            <a:ext cx="427939" cy="427939"/>
          </a:xfrm>
          <a:prstGeom prst="rect">
            <a:avLst/>
          </a:prstGeom>
        </p:spPr>
      </p:pic>
      <p:sp>
        <p:nvSpPr>
          <p:cNvPr id="14" name="Text 9"/>
          <p:cNvSpPr/>
          <p:nvPr/>
        </p:nvSpPr>
        <p:spPr>
          <a:xfrm>
            <a:off x="5303520" y="3339465"/>
            <a:ext cx="1691640" cy="1005840"/>
          </a:xfrm>
          <a:prstGeom prst="rect">
            <a:avLst/>
          </a:prstGeom>
          <a:noFill/>
          <a:ln/>
        </p:spPr>
        <p:txBody>
          <a:bodyPr wrap="square" rtlCol="0" anchor="t"/>
          <a:lstStyle/>
          <a:p>
            <a:pPr algn="ctr"/>
            <a:r>
              <a:rPr lang="en-US" sz="2400" b="1" dirty="0">
                <a:solidFill>
                  <a:srgbClr val="FFFFFF"/>
                </a:solidFill>
                <a:ea typeface="Calibri" pitchFamily="34" charset="-122"/>
                <a:cs typeface="Calibri" pitchFamily="34" charset="-120"/>
              </a:rPr>
              <a:t>Better throughput</a:t>
            </a:r>
            <a:endParaRPr lang="en-US" sz="2400" dirty="0">
              <a:solidFill>
                <a:prstClr val="black"/>
              </a:solidFill>
            </a:endParaRPr>
          </a:p>
        </p:txBody>
      </p:sp>
      <p:sp>
        <p:nvSpPr>
          <p:cNvPr id="15" name="Shape 10"/>
          <p:cNvSpPr/>
          <p:nvPr/>
        </p:nvSpPr>
        <p:spPr>
          <a:xfrm>
            <a:off x="7315200" y="1876425"/>
            <a:ext cx="1965960" cy="2743200"/>
          </a:xfrm>
          <a:prstGeom prst="roundRect">
            <a:avLst>
              <a:gd name="adj" fmla="val 4651"/>
            </a:avLst>
          </a:prstGeom>
          <a:solidFill>
            <a:srgbClr val="028090"/>
          </a:solidFill>
          <a:ln/>
        </p:spPr>
      </p:sp>
      <p:sp>
        <p:nvSpPr>
          <p:cNvPr id="16" name="Shape 11"/>
          <p:cNvSpPr/>
          <p:nvPr/>
        </p:nvSpPr>
        <p:spPr>
          <a:xfrm>
            <a:off x="7886700" y="2242185"/>
            <a:ext cx="822960" cy="822960"/>
          </a:xfrm>
          <a:prstGeom prst="ellipse">
            <a:avLst/>
          </a:prstGeom>
          <a:solidFill>
            <a:srgbClr val="00A896"/>
          </a:solidFill>
          <a:ln/>
        </p:spPr>
      </p:sp>
      <p:pic>
        <p:nvPicPr>
          <p:cNvPr id="17" name="Image 3" descr="/home/claude/dl_deck/icon_route_013A40.png"/>
          <p:cNvPicPr>
            <a:picLocks noChangeAspect="1"/>
          </p:cNvPicPr>
          <p:nvPr/>
        </p:nvPicPr>
        <p:blipFill>
          <a:blip r:embed="rId6"/>
          <a:stretch>
            <a:fillRect/>
          </a:stretch>
        </p:blipFill>
        <p:spPr>
          <a:xfrm>
            <a:off x="8084210" y="2439695"/>
            <a:ext cx="427939" cy="427939"/>
          </a:xfrm>
          <a:prstGeom prst="rect">
            <a:avLst/>
          </a:prstGeom>
        </p:spPr>
      </p:pic>
      <p:sp>
        <p:nvSpPr>
          <p:cNvPr id="18" name="Text 12"/>
          <p:cNvSpPr/>
          <p:nvPr/>
        </p:nvSpPr>
        <p:spPr>
          <a:xfrm>
            <a:off x="7452360" y="3339465"/>
            <a:ext cx="1691640" cy="1005840"/>
          </a:xfrm>
          <a:prstGeom prst="rect">
            <a:avLst/>
          </a:prstGeom>
          <a:noFill/>
          <a:ln/>
        </p:spPr>
        <p:txBody>
          <a:bodyPr wrap="square" rtlCol="0" anchor="t"/>
          <a:lstStyle/>
          <a:p>
            <a:pPr algn="ctr"/>
            <a:r>
              <a:rPr lang="en-US" sz="2400" b="1" dirty="0">
                <a:solidFill>
                  <a:srgbClr val="FFFFFF"/>
                </a:solidFill>
                <a:ea typeface="Calibri" pitchFamily="34" charset="-122"/>
                <a:cs typeface="Calibri" pitchFamily="34" charset="-120"/>
              </a:rPr>
              <a:t>Lower latency</a:t>
            </a:r>
            <a:endParaRPr lang="en-US" sz="2400" dirty="0">
              <a:solidFill>
                <a:prstClr val="black"/>
              </a:solidFill>
            </a:endParaRPr>
          </a:p>
        </p:txBody>
      </p:sp>
      <p:sp>
        <p:nvSpPr>
          <p:cNvPr id="19" name="Shape 13"/>
          <p:cNvSpPr/>
          <p:nvPr/>
        </p:nvSpPr>
        <p:spPr>
          <a:xfrm>
            <a:off x="9464040" y="1876425"/>
            <a:ext cx="1965960" cy="2743200"/>
          </a:xfrm>
          <a:prstGeom prst="roundRect">
            <a:avLst>
              <a:gd name="adj" fmla="val 4651"/>
            </a:avLst>
          </a:prstGeom>
          <a:solidFill>
            <a:srgbClr val="028090"/>
          </a:solidFill>
          <a:ln/>
        </p:spPr>
      </p:sp>
      <p:sp>
        <p:nvSpPr>
          <p:cNvPr id="20" name="Shape 14"/>
          <p:cNvSpPr/>
          <p:nvPr/>
        </p:nvSpPr>
        <p:spPr>
          <a:xfrm>
            <a:off x="10035540" y="2242185"/>
            <a:ext cx="822960" cy="822960"/>
          </a:xfrm>
          <a:prstGeom prst="ellipse">
            <a:avLst/>
          </a:prstGeom>
          <a:solidFill>
            <a:srgbClr val="00A896"/>
          </a:solidFill>
          <a:ln/>
        </p:spPr>
      </p:sp>
      <p:pic>
        <p:nvPicPr>
          <p:cNvPr id="21" name="Image 4" descr="/home/claude/dl_deck/icon_cogs_013A40.png"/>
          <p:cNvPicPr>
            <a:picLocks noChangeAspect="1"/>
          </p:cNvPicPr>
          <p:nvPr/>
        </p:nvPicPr>
        <p:blipFill>
          <a:blip r:embed="rId7"/>
          <a:stretch>
            <a:fillRect/>
          </a:stretch>
        </p:blipFill>
        <p:spPr>
          <a:xfrm>
            <a:off x="10233050" y="2439695"/>
            <a:ext cx="427939" cy="427939"/>
          </a:xfrm>
          <a:prstGeom prst="rect">
            <a:avLst/>
          </a:prstGeom>
        </p:spPr>
      </p:pic>
      <p:sp>
        <p:nvSpPr>
          <p:cNvPr id="22" name="Text 15"/>
          <p:cNvSpPr/>
          <p:nvPr/>
        </p:nvSpPr>
        <p:spPr>
          <a:xfrm>
            <a:off x="9601200" y="3339465"/>
            <a:ext cx="1691640" cy="1005840"/>
          </a:xfrm>
          <a:prstGeom prst="rect">
            <a:avLst/>
          </a:prstGeom>
          <a:noFill/>
          <a:ln/>
        </p:spPr>
        <p:txBody>
          <a:bodyPr wrap="square" rtlCol="0" anchor="t"/>
          <a:lstStyle/>
          <a:p>
            <a:pPr algn="ctr"/>
            <a:r>
              <a:rPr lang="en-US" sz="2400" b="1" dirty="0">
                <a:solidFill>
                  <a:srgbClr val="FFFFFF"/>
                </a:solidFill>
                <a:ea typeface="Calibri" pitchFamily="34" charset="-122"/>
                <a:cs typeface="Calibri" pitchFamily="34" charset="-120"/>
              </a:rPr>
              <a:t>Higher cluster efficiency</a:t>
            </a:r>
            <a:endParaRPr lang="en-US" sz="2400" dirty="0">
              <a:solidFill>
                <a:prstClr val="black"/>
              </a:solidFill>
            </a:endParaRPr>
          </a:p>
        </p:txBody>
      </p:sp>
    </p:spTree>
    <p:extLst>
      <p:ext uri="{BB962C8B-B14F-4D97-AF65-F5344CB8AC3E}">
        <p14:creationId xmlns:p14="http://schemas.microsoft.com/office/powerpoint/2010/main" val="38920827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r>
              <a:rPr lang="en-US" sz="3400" b="1" dirty="0">
                <a:solidFill>
                  <a:srgbClr val="013A40"/>
                </a:solidFill>
                <a:latin typeface="Cambria" pitchFamily="34" charset="0"/>
                <a:ea typeface="Cambria" pitchFamily="34" charset="-122"/>
                <a:cs typeface="Cambria" pitchFamily="34" charset="-120"/>
              </a:rPr>
              <a:t>Real-World Examples</a:t>
            </a:r>
            <a:endParaRPr lang="en-US" sz="3400" dirty="0">
              <a:solidFill>
                <a:prstClr val="black"/>
              </a:solidFill>
            </a:endParaRPr>
          </a:p>
        </p:txBody>
      </p:sp>
      <p:sp>
        <p:nvSpPr>
          <p:cNvPr id="3" name="Shape 1"/>
          <p:cNvSpPr/>
          <p:nvPr/>
        </p:nvSpPr>
        <p:spPr>
          <a:xfrm>
            <a:off x="548640" y="1417320"/>
            <a:ext cx="5394960" cy="4709160"/>
          </a:xfrm>
          <a:prstGeom prst="roundRect">
            <a:avLst>
              <a:gd name="adj" fmla="val 1942"/>
            </a:avLst>
          </a:prstGeom>
          <a:solidFill>
            <a:srgbClr val="EEF6F6"/>
          </a:solidFill>
          <a:ln/>
        </p:spPr>
      </p:sp>
      <p:sp>
        <p:nvSpPr>
          <p:cNvPr id="4" name="Shape 2"/>
          <p:cNvSpPr/>
          <p:nvPr/>
        </p:nvSpPr>
        <p:spPr>
          <a:xfrm>
            <a:off x="868680" y="1737360"/>
            <a:ext cx="777240" cy="777240"/>
          </a:xfrm>
          <a:prstGeom prst="ellipse">
            <a:avLst/>
          </a:prstGeom>
          <a:solidFill>
            <a:srgbClr val="028090"/>
          </a:solidFill>
          <a:ln/>
        </p:spPr>
      </p:sp>
      <p:pic>
        <p:nvPicPr>
          <p:cNvPr id="5" name="Image 0" descr="/home/claude/dl_deck/icon_youtube_FFFFFF.png"/>
          <p:cNvPicPr>
            <a:picLocks noChangeAspect="1"/>
          </p:cNvPicPr>
          <p:nvPr/>
        </p:nvPicPr>
        <p:blipFill>
          <a:blip r:embed="rId3"/>
          <a:stretch>
            <a:fillRect/>
          </a:stretch>
        </p:blipFill>
        <p:spPr>
          <a:xfrm>
            <a:off x="1055218" y="1923898"/>
            <a:ext cx="404165" cy="404165"/>
          </a:xfrm>
          <a:prstGeom prst="rect">
            <a:avLst/>
          </a:prstGeom>
        </p:spPr>
      </p:pic>
      <p:sp>
        <p:nvSpPr>
          <p:cNvPr id="6" name="Text 3"/>
          <p:cNvSpPr/>
          <p:nvPr/>
        </p:nvSpPr>
        <p:spPr>
          <a:xfrm>
            <a:off x="1828800" y="1783080"/>
            <a:ext cx="3931920" cy="548640"/>
          </a:xfrm>
          <a:prstGeom prst="rect">
            <a:avLst/>
          </a:prstGeom>
          <a:noFill/>
          <a:ln/>
        </p:spPr>
        <p:txBody>
          <a:bodyPr wrap="square" rtlCol="0" anchor="ctr"/>
          <a:lstStyle/>
          <a:p>
            <a:r>
              <a:rPr lang="en-US" sz="2800" b="1" dirty="0">
                <a:solidFill>
                  <a:srgbClr val="013A40"/>
                </a:solidFill>
                <a:ea typeface="Calibri" pitchFamily="34" charset="-122"/>
                <a:cs typeface="Calibri" pitchFamily="34" charset="-120"/>
              </a:rPr>
              <a:t>YouTube</a:t>
            </a:r>
            <a:endParaRPr lang="en-US" sz="2800" dirty="0">
              <a:solidFill>
                <a:prstClr val="black"/>
              </a:solidFill>
            </a:endParaRPr>
          </a:p>
        </p:txBody>
      </p:sp>
      <p:sp>
        <p:nvSpPr>
          <p:cNvPr id="7" name="Text 4"/>
          <p:cNvSpPr/>
          <p:nvPr/>
        </p:nvSpPr>
        <p:spPr>
          <a:xfrm>
            <a:off x="868680" y="2697480"/>
            <a:ext cx="4754880" cy="914400"/>
          </a:xfrm>
          <a:prstGeom prst="rect">
            <a:avLst/>
          </a:prstGeom>
          <a:noFill/>
          <a:ln/>
        </p:spPr>
        <p:txBody>
          <a:bodyPr wrap="square" rtlCol="0" anchor="t"/>
          <a:lstStyle/>
          <a:p>
            <a:pPr>
              <a:lnSpc>
                <a:spcPct val="130000"/>
              </a:lnSpc>
            </a:pPr>
            <a:r>
              <a:rPr lang="en-US" sz="2000" dirty="0">
                <a:solidFill>
                  <a:srgbClr val="16262A"/>
                </a:solidFill>
                <a:ea typeface="Calibri" pitchFamily="34" charset="-122"/>
                <a:cs typeface="Calibri" pitchFamily="34" charset="-120"/>
              </a:rPr>
              <a:t>Videos are stored in regional data centers around the world.</a:t>
            </a:r>
            <a:endParaRPr lang="en-US" sz="2000" dirty="0">
              <a:solidFill>
                <a:prstClr val="black"/>
              </a:solidFill>
            </a:endParaRPr>
          </a:p>
        </p:txBody>
      </p:sp>
      <p:sp>
        <p:nvSpPr>
          <p:cNvPr id="8" name="Shape 5"/>
          <p:cNvSpPr/>
          <p:nvPr/>
        </p:nvSpPr>
        <p:spPr>
          <a:xfrm>
            <a:off x="868680" y="3611880"/>
            <a:ext cx="4754880" cy="0"/>
          </a:xfrm>
          <a:prstGeom prst="line">
            <a:avLst/>
          </a:prstGeom>
          <a:noFill/>
          <a:ln w="12700">
            <a:solidFill>
              <a:srgbClr val="D9E8E7"/>
            </a:solidFill>
            <a:prstDash val="solid"/>
          </a:ln>
        </p:spPr>
      </p:sp>
      <p:sp>
        <p:nvSpPr>
          <p:cNvPr id="9" name="Text 6"/>
          <p:cNvSpPr/>
          <p:nvPr/>
        </p:nvSpPr>
        <p:spPr>
          <a:xfrm>
            <a:off x="868680" y="3794760"/>
            <a:ext cx="4754880" cy="2103120"/>
          </a:xfrm>
          <a:prstGeom prst="rect">
            <a:avLst/>
          </a:prstGeom>
          <a:noFill/>
          <a:ln/>
        </p:spPr>
        <p:txBody>
          <a:bodyPr wrap="square" rtlCol="0" anchor="t"/>
          <a:lstStyle/>
          <a:p>
            <a:pPr>
              <a:lnSpc>
                <a:spcPct val="130000"/>
              </a:lnSpc>
            </a:pPr>
            <a:r>
              <a:rPr lang="en-US" sz="2000" dirty="0">
                <a:solidFill>
                  <a:srgbClr val="16262A"/>
                </a:solidFill>
                <a:ea typeface="Calibri" pitchFamily="34" charset="-122"/>
                <a:cs typeface="Calibri" pitchFamily="34" charset="-120"/>
              </a:rPr>
              <a:t>Users watch videos from the nearest server. </a:t>
            </a:r>
            <a:r>
              <a:rPr lang="en-US" sz="2000" b="1" dirty="0">
                <a:solidFill>
                  <a:srgbClr val="013A40"/>
                </a:solidFill>
                <a:ea typeface="Calibri" pitchFamily="34" charset="-122"/>
                <a:cs typeface="Calibri" pitchFamily="34" charset="-120"/>
              </a:rPr>
              <a:t>Instead of transferring videos worldwide, content is served locally.</a:t>
            </a:r>
            <a:endParaRPr lang="en-US" sz="2000" dirty="0">
              <a:solidFill>
                <a:prstClr val="black"/>
              </a:solidFill>
            </a:endParaRPr>
          </a:p>
        </p:txBody>
      </p:sp>
      <p:sp>
        <p:nvSpPr>
          <p:cNvPr id="10" name="Shape 7"/>
          <p:cNvSpPr/>
          <p:nvPr/>
        </p:nvSpPr>
        <p:spPr>
          <a:xfrm>
            <a:off x="6217920" y="1417320"/>
            <a:ext cx="5394960" cy="4709160"/>
          </a:xfrm>
          <a:prstGeom prst="roundRect">
            <a:avLst>
              <a:gd name="adj" fmla="val 1942"/>
            </a:avLst>
          </a:prstGeom>
          <a:solidFill>
            <a:srgbClr val="013A40"/>
          </a:solidFill>
          <a:ln/>
        </p:spPr>
      </p:sp>
      <p:sp>
        <p:nvSpPr>
          <p:cNvPr id="11" name="Shape 8"/>
          <p:cNvSpPr/>
          <p:nvPr/>
        </p:nvSpPr>
        <p:spPr>
          <a:xfrm>
            <a:off x="6537960" y="1737360"/>
            <a:ext cx="777240" cy="777240"/>
          </a:xfrm>
          <a:prstGeom prst="ellipse">
            <a:avLst/>
          </a:prstGeom>
          <a:solidFill>
            <a:srgbClr val="00A896"/>
          </a:solidFill>
          <a:ln/>
        </p:spPr>
      </p:sp>
      <p:pic>
        <p:nvPicPr>
          <p:cNvPr id="12" name="Image 1" descr="/home/claude/dl_deck/icon_map_013A40.png"/>
          <p:cNvPicPr>
            <a:picLocks noChangeAspect="1"/>
          </p:cNvPicPr>
          <p:nvPr/>
        </p:nvPicPr>
        <p:blipFill>
          <a:blip r:embed="rId4"/>
          <a:stretch>
            <a:fillRect/>
          </a:stretch>
        </p:blipFill>
        <p:spPr>
          <a:xfrm>
            <a:off x="6724498" y="1923898"/>
            <a:ext cx="404165" cy="404165"/>
          </a:xfrm>
          <a:prstGeom prst="rect">
            <a:avLst/>
          </a:prstGeom>
        </p:spPr>
      </p:pic>
      <p:sp>
        <p:nvSpPr>
          <p:cNvPr id="13" name="Text 9"/>
          <p:cNvSpPr/>
          <p:nvPr/>
        </p:nvSpPr>
        <p:spPr>
          <a:xfrm>
            <a:off x="7498080" y="1783080"/>
            <a:ext cx="3931920" cy="548640"/>
          </a:xfrm>
          <a:prstGeom prst="rect">
            <a:avLst/>
          </a:prstGeom>
          <a:noFill/>
          <a:ln/>
        </p:spPr>
        <p:txBody>
          <a:bodyPr wrap="square" rtlCol="0" anchor="ctr"/>
          <a:lstStyle/>
          <a:p>
            <a:r>
              <a:rPr lang="en-US" sz="2800" b="1" dirty="0">
                <a:solidFill>
                  <a:srgbClr val="FFFFFF"/>
                </a:solidFill>
                <a:ea typeface="Calibri" pitchFamily="34" charset="-122"/>
                <a:cs typeface="Calibri" pitchFamily="34" charset="-120"/>
              </a:rPr>
              <a:t>Google Maps</a:t>
            </a:r>
            <a:endParaRPr lang="en-US" sz="2800" dirty="0">
              <a:solidFill>
                <a:prstClr val="black"/>
              </a:solidFill>
            </a:endParaRPr>
          </a:p>
        </p:txBody>
      </p:sp>
      <p:sp>
        <p:nvSpPr>
          <p:cNvPr id="14" name="Text 10"/>
          <p:cNvSpPr/>
          <p:nvPr/>
        </p:nvSpPr>
        <p:spPr>
          <a:xfrm>
            <a:off x="6537960" y="2697480"/>
            <a:ext cx="4754880" cy="914400"/>
          </a:xfrm>
          <a:prstGeom prst="rect">
            <a:avLst/>
          </a:prstGeom>
          <a:noFill/>
          <a:ln/>
        </p:spPr>
        <p:txBody>
          <a:bodyPr wrap="square" rtlCol="0" anchor="t"/>
          <a:lstStyle/>
          <a:p>
            <a:pPr>
              <a:lnSpc>
                <a:spcPct val="130000"/>
              </a:lnSpc>
            </a:pPr>
            <a:r>
              <a:rPr lang="en-US" sz="2000" dirty="0">
                <a:solidFill>
                  <a:srgbClr val="EAF7F5"/>
                </a:solidFill>
                <a:ea typeface="Calibri" pitchFamily="34" charset="-122"/>
                <a:cs typeface="Calibri" pitchFamily="34" charset="-120"/>
              </a:rPr>
              <a:t>Map data is cached in nearby regional servers close to users.</a:t>
            </a:r>
            <a:endParaRPr lang="en-US" sz="2000" dirty="0">
              <a:solidFill>
                <a:prstClr val="black"/>
              </a:solidFill>
            </a:endParaRPr>
          </a:p>
        </p:txBody>
      </p:sp>
      <p:sp>
        <p:nvSpPr>
          <p:cNvPr id="15" name="Shape 11"/>
          <p:cNvSpPr/>
          <p:nvPr/>
        </p:nvSpPr>
        <p:spPr>
          <a:xfrm>
            <a:off x="6537960" y="3611880"/>
            <a:ext cx="4754880" cy="0"/>
          </a:xfrm>
          <a:prstGeom prst="line">
            <a:avLst/>
          </a:prstGeom>
          <a:noFill/>
          <a:ln w="12700">
            <a:solidFill>
              <a:srgbClr val="245A5F"/>
            </a:solidFill>
            <a:prstDash val="solid"/>
          </a:ln>
        </p:spPr>
      </p:sp>
      <p:sp>
        <p:nvSpPr>
          <p:cNvPr id="16" name="Text 12"/>
          <p:cNvSpPr/>
          <p:nvPr/>
        </p:nvSpPr>
        <p:spPr>
          <a:xfrm>
            <a:off x="6537960" y="3794760"/>
            <a:ext cx="4754880" cy="2103120"/>
          </a:xfrm>
          <a:prstGeom prst="rect">
            <a:avLst/>
          </a:prstGeom>
          <a:noFill/>
          <a:ln/>
        </p:spPr>
        <p:txBody>
          <a:bodyPr wrap="square" rtlCol="0" anchor="t"/>
          <a:lstStyle/>
          <a:p>
            <a:pPr>
              <a:lnSpc>
                <a:spcPct val="130000"/>
              </a:lnSpc>
            </a:pPr>
            <a:r>
              <a:rPr lang="en-US" sz="2000" b="1" dirty="0">
                <a:solidFill>
                  <a:srgbClr val="EAF7F5"/>
                </a:solidFill>
                <a:ea typeface="Calibri" pitchFamily="34" charset="-122"/>
                <a:cs typeface="Calibri" pitchFamily="34" charset="-120"/>
              </a:rPr>
              <a:t>Users receive responses quickly because the data is stored close to them.</a:t>
            </a:r>
            <a:endParaRPr lang="en-US" sz="2000" dirty="0">
              <a:solidFill>
                <a:prstClr val="black"/>
              </a:solidFill>
            </a:endParaRPr>
          </a:p>
        </p:txBody>
      </p:sp>
    </p:spTree>
    <p:extLst>
      <p:ext uri="{BB962C8B-B14F-4D97-AF65-F5344CB8AC3E}">
        <p14:creationId xmlns:p14="http://schemas.microsoft.com/office/powerpoint/2010/main" val="20694285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8090"/>
        </a:solidFill>
        <a:effectLst/>
      </p:bgPr>
    </p:bg>
    <p:spTree>
      <p:nvGrpSpPr>
        <p:cNvPr id="1" name=""/>
        <p:cNvGrpSpPr/>
        <p:nvPr/>
      </p:nvGrpSpPr>
      <p:grpSpPr>
        <a:xfrm>
          <a:off x="0" y="0"/>
          <a:ext cx="0" cy="0"/>
          <a:chOff x="0" y="0"/>
          <a:chExt cx="0" cy="0"/>
        </a:xfrm>
      </p:grpSpPr>
      <p:sp>
        <p:nvSpPr>
          <p:cNvPr id="3" name="Text 1"/>
          <p:cNvSpPr/>
          <p:nvPr/>
        </p:nvSpPr>
        <p:spPr>
          <a:xfrm>
            <a:off x="822960" y="822960"/>
            <a:ext cx="5486400" cy="365760"/>
          </a:xfrm>
          <a:prstGeom prst="rect">
            <a:avLst/>
          </a:prstGeom>
          <a:noFill/>
          <a:ln/>
        </p:spPr>
        <p:txBody>
          <a:bodyPr wrap="square" rtlCol="0" anchor="ctr"/>
          <a:lstStyle/>
          <a:p>
            <a:r>
              <a:rPr lang="en-US" sz="1400" b="1" kern="0" spc="200" dirty="0">
                <a:solidFill>
                  <a:srgbClr val="BFEDE6"/>
                </a:solidFill>
                <a:ea typeface="Calibri" pitchFamily="34" charset="-122"/>
                <a:cs typeface="Calibri" pitchFamily="34" charset="-120"/>
              </a:rPr>
              <a:t>INDUSTRY EXAMPLE</a:t>
            </a:r>
            <a:endParaRPr lang="en-US" sz="1400" dirty="0">
              <a:solidFill>
                <a:prstClr val="black"/>
              </a:solidFill>
            </a:endParaRPr>
          </a:p>
        </p:txBody>
      </p:sp>
      <p:sp>
        <p:nvSpPr>
          <p:cNvPr id="4" name="Text 2"/>
          <p:cNvSpPr/>
          <p:nvPr/>
        </p:nvSpPr>
        <p:spPr>
          <a:xfrm>
            <a:off x="777240" y="1188720"/>
            <a:ext cx="9144000" cy="914400"/>
          </a:xfrm>
          <a:prstGeom prst="rect">
            <a:avLst/>
          </a:prstGeom>
          <a:noFill/>
          <a:ln/>
        </p:spPr>
        <p:txBody>
          <a:bodyPr wrap="square" rtlCol="0" anchor="ctr"/>
          <a:lstStyle/>
          <a:p>
            <a:r>
              <a:rPr lang="en-US" sz="4200" b="1" dirty="0">
                <a:solidFill>
                  <a:srgbClr val="FFFFFF"/>
                </a:solidFill>
                <a:latin typeface="Cambria" pitchFamily="34" charset="0"/>
                <a:ea typeface="Cambria" pitchFamily="34" charset="-122"/>
                <a:cs typeface="Cambria" pitchFamily="34" charset="-120"/>
              </a:rPr>
              <a:t>Hadoop MapReduce</a:t>
            </a:r>
            <a:endParaRPr lang="en-US" sz="4200" dirty="0">
              <a:solidFill>
                <a:prstClr val="black"/>
              </a:solidFill>
            </a:endParaRPr>
          </a:p>
        </p:txBody>
      </p:sp>
      <p:sp>
        <p:nvSpPr>
          <p:cNvPr id="5" name="Shape 3"/>
          <p:cNvSpPr/>
          <p:nvPr/>
        </p:nvSpPr>
        <p:spPr>
          <a:xfrm>
            <a:off x="822960" y="2377440"/>
            <a:ext cx="914400" cy="914400"/>
          </a:xfrm>
          <a:prstGeom prst="ellipse">
            <a:avLst/>
          </a:prstGeom>
          <a:solidFill>
            <a:srgbClr val="013A40"/>
          </a:solidFill>
          <a:ln/>
        </p:spPr>
      </p:sp>
      <p:pic>
        <p:nvPicPr>
          <p:cNvPr id="6" name="Image 0" descr="/home/claude/dl_deck/icon_project_FFFFFF.png"/>
          <p:cNvPicPr>
            <a:picLocks noChangeAspect="1"/>
          </p:cNvPicPr>
          <p:nvPr/>
        </p:nvPicPr>
        <p:blipFill>
          <a:blip r:embed="rId3"/>
          <a:stretch>
            <a:fillRect/>
          </a:stretch>
        </p:blipFill>
        <p:spPr>
          <a:xfrm>
            <a:off x="1042416" y="2596896"/>
            <a:ext cx="475488" cy="475488"/>
          </a:xfrm>
          <a:prstGeom prst="rect">
            <a:avLst/>
          </a:prstGeom>
        </p:spPr>
      </p:pic>
      <p:sp>
        <p:nvSpPr>
          <p:cNvPr id="7" name="Text 4"/>
          <p:cNvSpPr/>
          <p:nvPr/>
        </p:nvSpPr>
        <p:spPr>
          <a:xfrm>
            <a:off x="1965960" y="2377440"/>
            <a:ext cx="8686800" cy="1005840"/>
          </a:xfrm>
          <a:prstGeom prst="rect">
            <a:avLst/>
          </a:prstGeom>
          <a:noFill/>
          <a:ln/>
        </p:spPr>
        <p:txBody>
          <a:bodyPr wrap="square" rtlCol="0" anchor="ctr"/>
          <a:lstStyle/>
          <a:p>
            <a:pPr>
              <a:lnSpc>
                <a:spcPct val="125000"/>
              </a:lnSpc>
            </a:pPr>
            <a:r>
              <a:rPr lang="en-US" sz="2400" dirty="0">
                <a:solidFill>
                  <a:srgbClr val="FFFFFF"/>
                </a:solidFill>
                <a:ea typeface="Calibri" pitchFamily="34" charset="-122"/>
                <a:cs typeface="Calibri" pitchFamily="34" charset="-120"/>
              </a:rPr>
              <a:t>Hadoop MapReduce schedules tasks on the DataNode that already contains the required data block.</a:t>
            </a:r>
            <a:endParaRPr lang="en-US" sz="2400" dirty="0">
              <a:solidFill>
                <a:prstClr val="black"/>
              </a:solidFill>
            </a:endParaRPr>
          </a:p>
        </p:txBody>
      </p:sp>
      <p:sp>
        <p:nvSpPr>
          <p:cNvPr id="8" name="Shape 5"/>
          <p:cNvSpPr/>
          <p:nvPr/>
        </p:nvSpPr>
        <p:spPr>
          <a:xfrm>
            <a:off x="822960" y="3657600"/>
            <a:ext cx="9966960" cy="2194560"/>
          </a:xfrm>
          <a:prstGeom prst="roundRect">
            <a:avLst>
              <a:gd name="adj" fmla="val 5000"/>
            </a:avLst>
          </a:prstGeom>
          <a:solidFill>
            <a:srgbClr val="013A40"/>
          </a:solidFill>
          <a:ln/>
        </p:spPr>
      </p:sp>
      <p:sp>
        <p:nvSpPr>
          <p:cNvPr id="9" name="Text 6"/>
          <p:cNvSpPr/>
          <p:nvPr/>
        </p:nvSpPr>
        <p:spPr>
          <a:xfrm>
            <a:off x="1188720" y="3886200"/>
            <a:ext cx="9235440" cy="1737360"/>
          </a:xfrm>
          <a:prstGeom prst="rect">
            <a:avLst/>
          </a:prstGeom>
          <a:noFill/>
          <a:ln/>
        </p:spPr>
        <p:txBody>
          <a:bodyPr wrap="square" rtlCol="0" anchor="t"/>
          <a:lstStyle/>
          <a:p>
            <a:pPr>
              <a:lnSpc>
                <a:spcPct val="130000"/>
              </a:lnSpc>
            </a:pPr>
            <a:r>
              <a:rPr lang="en-US" sz="2000" b="1" dirty="0">
                <a:solidFill>
                  <a:srgbClr val="FFFFFF"/>
                </a:solidFill>
                <a:ea typeface="Calibri" pitchFamily="34" charset="-122"/>
                <a:cs typeface="Calibri" pitchFamily="34" charset="-120"/>
              </a:rPr>
              <a:t>This minimizes network usage </a:t>
            </a:r>
            <a:r>
              <a:rPr lang="en-US" sz="2000" dirty="0">
                <a:solidFill>
                  <a:srgbClr val="D6F5EF"/>
                </a:solidFill>
                <a:ea typeface="Calibri" pitchFamily="34" charset="-122"/>
                <a:cs typeface="Calibri" pitchFamily="34" charset="-120"/>
              </a:rPr>
              <a:t>by keeping the computation as close as possible to the data it needs — the scheduler always prefers Node Local, then Rack Local, before falling back to Remote Rack.</a:t>
            </a:r>
            <a:endParaRPr lang="en-US" sz="2000" dirty="0">
              <a:solidFill>
                <a:prstClr val="black"/>
              </a:solidFill>
            </a:endParaRPr>
          </a:p>
        </p:txBody>
      </p:sp>
    </p:spTree>
    <p:extLst>
      <p:ext uri="{BB962C8B-B14F-4D97-AF65-F5344CB8AC3E}">
        <p14:creationId xmlns:p14="http://schemas.microsoft.com/office/powerpoint/2010/main" val="27923604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r>
              <a:rPr lang="en-US" sz="3400" b="1" dirty="0">
                <a:solidFill>
                  <a:srgbClr val="013A40"/>
                </a:solidFill>
                <a:latin typeface="Cambria" pitchFamily="34" charset="0"/>
                <a:ea typeface="Cambria" pitchFamily="34" charset="-122"/>
                <a:cs typeface="Cambria" pitchFamily="34" charset="-120"/>
              </a:rPr>
              <a:t>Classroom Activity</a:t>
            </a:r>
            <a:endParaRPr lang="en-US" sz="3400" dirty="0">
              <a:solidFill>
                <a:prstClr val="black"/>
              </a:solidFill>
            </a:endParaRPr>
          </a:p>
        </p:txBody>
      </p:sp>
      <p:sp>
        <p:nvSpPr>
          <p:cNvPr id="3" name="Shape 1"/>
          <p:cNvSpPr/>
          <p:nvPr/>
        </p:nvSpPr>
        <p:spPr>
          <a:xfrm>
            <a:off x="548640" y="1371600"/>
            <a:ext cx="10881360" cy="2606040"/>
          </a:xfrm>
          <a:prstGeom prst="roundRect">
            <a:avLst>
              <a:gd name="adj" fmla="val 4211"/>
            </a:avLst>
          </a:prstGeom>
          <a:solidFill>
            <a:srgbClr val="EEF6F6"/>
          </a:solidFill>
          <a:ln/>
        </p:spPr>
      </p:sp>
      <p:sp>
        <p:nvSpPr>
          <p:cNvPr id="4" name="Shape 2"/>
          <p:cNvSpPr/>
          <p:nvPr/>
        </p:nvSpPr>
        <p:spPr>
          <a:xfrm>
            <a:off x="914400" y="1691640"/>
            <a:ext cx="868680" cy="868680"/>
          </a:xfrm>
          <a:prstGeom prst="ellipse">
            <a:avLst/>
          </a:prstGeom>
          <a:solidFill>
            <a:srgbClr val="028090"/>
          </a:solidFill>
          <a:ln/>
        </p:spPr>
      </p:sp>
      <p:pic>
        <p:nvPicPr>
          <p:cNvPr id="5" name="Image 0" descr="/home/claude/dl_deck/icon_question_FFFFFF.png"/>
          <p:cNvPicPr>
            <a:picLocks noChangeAspect="1"/>
          </p:cNvPicPr>
          <p:nvPr/>
        </p:nvPicPr>
        <p:blipFill>
          <a:blip r:embed="rId3"/>
          <a:stretch>
            <a:fillRect/>
          </a:stretch>
        </p:blipFill>
        <p:spPr>
          <a:xfrm>
            <a:off x="1122883" y="1900123"/>
            <a:ext cx="451714" cy="451714"/>
          </a:xfrm>
          <a:prstGeom prst="rect">
            <a:avLst/>
          </a:prstGeom>
        </p:spPr>
      </p:pic>
      <p:sp>
        <p:nvSpPr>
          <p:cNvPr id="6" name="Text 3"/>
          <p:cNvSpPr/>
          <p:nvPr/>
        </p:nvSpPr>
        <p:spPr>
          <a:xfrm>
            <a:off x="1965960" y="1691640"/>
            <a:ext cx="8961120" cy="411480"/>
          </a:xfrm>
          <a:prstGeom prst="rect">
            <a:avLst/>
          </a:prstGeom>
          <a:noFill/>
          <a:ln/>
        </p:spPr>
        <p:txBody>
          <a:bodyPr wrap="square" rtlCol="0" anchor="ctr"/>
          <a:lstStyle/>
          <a:p>
            <a:r>
              <a:rPr lang="en-US" sz="2000" b="1" dirty="0">
                <a:solidFill>
                  <a:srgbClr val="028090"/>
                </a:solidFill>
                <a:ea typeface="Calibri" pitchFamily="34" charset="-122"/>
                <a:cs typeface="Calibri" pitchFamily="34" charset="-120"/>
              </a:rPr>
              <a:t>Think about it:</a:t>
            </a:r>
            <a:endParaRPr lang="en-US" sz="2000" dirty="0">
              <a:solidFill>
                <a:prstClr val="black"/>
              </a:solidFill>
            </a:endParaRPr>
          </a:p>
        </p:txBody>
      </p:sp>
      <p:sp>
        <p:nvSpPr>
          <p:cNvPr id="7" name="Text 4"/>
          <p:cNvSpPr/>
          <p:nvPr/>
        </p:nvSpPr>
        <p:spPr>
          <a:xfrm>
            <a:off x="1965960" y="2148840"/>
            <a:ext cx="9052560" cy="502920"/>
          </a:xfrm>
          <a:prstGeom prst="rect">
            <a:avLst/>
          </a:prstGeom>
          <a:noFill/>
          <a:ln/>
        </p:spPr>
        <p:txBody>
          <a:bodyPr wrap="square" rtlCol="0" anchor="t"/>
          <a:lstStyle/>
          <a:p>
            <a:r>
              <a:rPr lang="en-US" sz="2800" b="1" dirty="0">
                <a:solidFill>
                  <a:srgbClr val="013A40"/>
                </a:solidFill>
                <a:latin typeface="Cambria" pitchFamily="34" charset="0"/>
                <a:ea typeface="Cambria" pitchFamily="34" charset="-122"/>
                <a:cs typeface="Cambria" pitchFamily="34" charset="-120"/>
              </a:rPr>
              <a:t>You have a 500 GB file. Would you:</a:t>
            </a:r>
            <a:endParaRPr lang="en-US" sz="2800" dirty="0">
              <a:solidFill>
                <a:prstClr val="black"/>
              </a:solidFill>
            </a:endParaRPr>
          </a:p>
        </p:txBody>
      </p:sp>
      <p:sp>
        <p:nvSpPr>
          <p:cNvPr id="8" name="Shape 5"/>
          <p:cNvSpPr/>
          <p:nvPr/>
        </p:nvSpPr>
        <p:spPr>
          <a:xfrm>
            <a:off x="1965960" y="2743200"/>
            <a:ext cx="4206240" cy="1005840"/>
          </a:xfrm>
          <a:prstGeom prst="roundRect">
            <a:avLst>
              <a:gd name="adj" fmla="val 7273"/>
            </a:avLst>
          </a:prstGeom>
          <a:solidFill>
            <a:srgbClr val="F3E3E1"/>
          </a:solidFill>
          <a:ln w="15875">
            <a:solidFill>
              <a:srgbClr val="B85042"/>
            </a:solidFill>
            <a:prstDash val="solid"/>
          </a:ln>
        </p:spPr>
      </p:sp>
      <p:sp>
        <p:nvSpPr>
          <p:cNvPr id="9" name="Text 6"/>
          <p:cNvSpPr/>
          <p:nvPr/>
        </p:nvSpPr>
        <p:spPr>
          <a:xfrm>
            <a:off x="2194560" y="2743200"/>
            <a:ext cx="3794760" cy="1005840"/>
          </a:xfrm>
          <a:prstGeom prst="rect">
            <a:avLst/>
          </a:prstGeom>
          <a:noFill/>
          <a:ln/>
        </p:spPr>
        <p:txBody>
          <a:bodyPr wrap="square" rtlCol="0" anchor="ctr"/>
          <a:lstStyle/>
          <a:p>
            <a:r>
              <a:rPr lang="en-US" b="1" dirty="0">
                <a:solidFill>
                  <a:srgbClr val="B85042"/>
                </a:solidFill>
                <a:ea typeface="Calibri" pitchFamily="34" charset="-122"/>
                <a:cs typeface="Calibri" pitchFamily="34" charset="-120"/>
              </a:rPr>
              <a:t>A)  </a:t>
            </a:r>
            <a:r>
              <a:rPr lang="en-US" dirty="0">
                <a:solidFill>
                  <a:srgbClr val="013A40"/>
                </a:solidFill>
                <a:ea typeface="Calibri" pitchFamily="34" charset="-122"/>
                <a:cs typeface="Calibri" pitchFamily="34" charset="-120"/>
              </a:rPr>
              <a:t>Move the file to another computer?</a:t>
            </a:r>
            <a:endParaRPr lang="en-US" dirty="0">
              <a:solidFill>
                <a:prstClr val="black"/>
              </a:solidFill>
            </a:endParaRPr>
          </a:p>
        </p:txBody>
      </p:sp>
      <p:sp>
        <p:nvSpPr>
          <p:cNvPr id="10" name="Shape 7"/>
          <p:cNvSpPr/>
          <p:nvPr/>
        </p:nvSpPr>
        <p:spPr>
          <a:xfrm>
            <a:off x="6355080" y="2743200"/>
            <a:ext cx="4206240" cy="1005840"/>
          </a:xfrm>
          <a:prstGeom prst="roundRect">
            <a:avLst>
              <a:gd name="adj" fmla="val 7273"/>
            </a:avLst>
          </a:prstGeom>
          <a:solidFill>
            <a:srgbClr val="DFF5EF"/>
          </a:solidFill>
          <a:ln w="15875">
            <a:solidFill>
              <a:srgbClr val="02C39A"/>
            </a:solidFill>
            <a:prstDash val="solid"/>
          </a:ln>
        </p:spPr>
      </p:sp>
      <p:sp>
        <p:nvSpPr>
          <p:cNvPr id="11" name="Text 8"/>
          <p:cNvSpPr/>
          <p:nvPr/>
        </p:nvSpPr>
        <p:spPr>
          <a:xfrm>
            <a:off x="6583680" y="2743200"/>
            <a:ext cx="3794760" cy="1005840"/>
          </a:xfrm>
          <a:prstGeom prst="rect">
            <a:avLst/>
          </a:prstGeom>
          <a:noFill/>
          <a:ln/>
        </p:spPr>
        <p:txBody>
          <a:bodyPr wrap="square" rtlCol="0" anchor="ctr"/>
          <a:lstStyle/>
          <a:p>
            <a:r>
              <a:rPr lang="en-US" b="1" dirty="0">
                <a:solidFill>
                  <a:srgbClr val="029C7B"/>
                </a:solidFill>
                <a:ea typeface="Calibri" pitchFamily="34" charset="-122"/>
                <a:cs typeface="Calibri" pitchFamily="34" charset="-120"/>
              </a:rPr>
              <a:t>B)  </a:t>
            </a:r>
            <a:r>
              <a:rPr lang="en-US" dirty="0">
                <a:solidFill>
                  <a:srgbClr val="013A40"/>
                </a:solidFill>
                <a:ea typeface="Calibri" pitchFamily="34" charset="-122"/>
                <a:cs typeface="Calibri" pitchFamily="34" charset="-120"/>
              </a:rPr>
              <a:t>Move the program to the computer storing the file?</a:t>
            </a:r>
            <a:endParaRPr lang="en-US" dirty="0">
              <a:solidFill>
                <a:prstClr val="black"/>
              </a:solidFill>
            </a:endParaRPr>
          </a:p>
        </p:txBody>
      </p:sp>
      <p:sp>
        <p:nvSpPr>
          <p:cNvPr id="12" name="Text 9"/>
          <p:cNvSpPr/>
          <p:nvPr/>
        </p:nvSpPr>
        <p:spPr>
          <a:xfrm>
            <a:off x="914400" y="4114800"/>
            <a:ext cx="10149840" cy="365760"/>
          </a:xfrm>
          <a:prstGeom prst="rect">
            <a:avLst/>
          </a:prstGeom>
          <a:noFill/>
          <a:ln/>
        </p:spPr>
        <p:txBody>
          <a:bodyPr wrap="square" rtlCol="0" anchor="ctr"/>
          <a:lstStyle/>
          <a:p>
            <a:r>
              <a:rPr lang="en-US" sz="1600" i="1" dirty="0">
                <a:solidFill>
                  <a:srgbClr val="5C7175"/>
                </a:solidFill>
                <a:ea typeface="Calibri" pitchFamily="34" charset="-122"/>
                <a:cs typeface="Calibri" pitchFamily="34" charset="-120"/>
              </a:rPr>
              <a:t>Discuss in pairs — justify your answer using the Data Locality Hierarchy from this chapter.</a:t>
            </a:r>
            <a:endParaRPr lang="en-US" sz="1600" dirty="0">
              <a:solidFill>
                <a:prstClr val="black"/>
              </a:solidFill>
            </a:endParaRPr>
          </a:p>
        </p:txBody>
      </p:sp>
      <p:sp>
        <p:nvSpPr>
          <p:cNvPr id="13" name="Text 10"/>
          <p:cNvSpPr/>
          <p:nvPr/>
        </p:nvSpPr>
        <p:spPr>
          <a:xfrm>
            <a:off x="548640" y="4617720"/>
            <a:ext cx="9144000" cy="365760"/>
          </a:xfrm>
          <a:prstGeom prst="rect">
            <a:avLst/>
          </a:prstGeom>
          <a:noFill/>
          <a:ln/>
        </p:spPr>
        <p:txBody>
          <a:bodyPr wrap="square" rtlCol="0" anchor="ctr"/>
          <a:lstStyle/>
          <a:p>
            <a:r>
              <a:rPr lang="en-US" b="1" dirty="0">
                <a:solidFill>
                  <a:srgbClr val="013A40"/>
                </a:solidFill>
                <a:ea typeface="Calibri" pitchFamily="34" charset="-122"/>
                <a:cs typeface="Calibri" pitchFamily="34" charset="-120"/>
              </a:rPr>
              <a:t>Exam-Oriented Points to Remember</a:t>
            </a:r>
            <a:endParaRPr lang="en-US" dirty="0">
              <a:solidFill>
                <a:prstClr val="black"/>
              </a:solidFill>
            </a:endParaRPr>
          </a:p>
        </p:txBody>
      </p:sp>
      <p:sp>
        <p:nvSpPr>
          <p:cNvPr id="14" name="Shape 11"/>
          <p:cNvSpPr/>
          <p:nvPr/>
        </p:nvSpPr>
        <p:spPr>
          <a:xfrm>
            <a:off x="594360" y="5148072"/>
            <a:ext cx="91440" cy="91440"/>
          </a:xfrm>
          <a:prstGeom prst="ellipse">
            <a:avLst/>
          </a:prstGeom>
          <a:solidFill>
            <a:srgbClr val="028090"/>
          </a:solidFill>
          <a:ln/>
        </p:spPr>
      </p:sp>
      <p:sp>
        <p:nvSpPr>
          <p:cNvPr id="15" name="Text 12"/>
          <p:cNvSpPr/>
          <p:nvPr/>
        </p:nvSpPr>
        <p:spPr>
          <a:xfrm>
            <a:off x="822960" y="4965192"/>
            <a:ext cx="10515600" cy="411480"/>
          </a:xfrm>
          <a:prstGeom prst="rect">
            <a:avLst/>
          </a:prstGeom>
          <a:noFill/>
          <a:ln/>
        </p:spPr>
        <p:txBody>
          <a:bodyPr wrap="square" lIns="0" tIns="0" rIns="0" bIns="0" rtlCol="0" anchor="ctr"/>
          <a:lstStyle/>
          <a:p>
            <a:r>
              <a:rPr lang="en-US" sz="1600" dirty="0">
                <a:solidFill>
                  <a:srgbClr val="16262A"/>
                </a:solidFill>
                <a:ea typeface="Calibri" pitchFamily="34" charset="-122"/>
                <a:cs typeface="Calibri" pitchFamily="34" charset="-120"/>
              </a:rPr>
              <a:t>Data Locality = executing computation where the data already resides</a:t>
            </a:r>
            <a:endParaRPr lang="en-US" sz="1600" dirty="0">
              <a:solidFill>
                <a:prstClr val="black"/>
              </a:solidFill>
            </a:endParaRPr>
          </a:p>
        </p:txBody>
      </p:sp>
      <p:sp>
        <p:nvSpPr>
          <p:cNvPr id="16" name="Shape 13"/>
          <p:cNvSpPr/>
          <p:nvPr/>
        </p:nvSpPr>
        <p:spPr>
          <a:xfrm>
            <a:off x="594360" y="5605272"/>
            <a:ext cx="91440" cy="91440"/>
          </a:xfrm>
          <a:prstGeom prst="ellipse">
            <a:avLst/>
          </a:prstGeom>
          <a:solidFill>
            <a:srgbClr val="028090"/>
          </a:solidFill>
          <a:ln/>
        </p:spPr>
      </p:sp>
      <p:sp>
        <p:nvSpPr>
          <p:cNvPr id="17" name="Text 14"/>
          <p:cNvSpPr/>
          <p:nvPr/>
        </p:nvSpPr>
        <p:spPr>
          <a:xfrm>
            <a:off x="822960" y="5422392"/>
            <a:ext cx="10515600" cy="411480"/>
          </a:xfrm>
          <a:prstGeom prst="rect">
            <a:avLst/>
          </a:prstGeom>
          <a:noFill/>
          <a:ln/>
        </p:spPr>
        <p:txBody>
          <a:bodyPr wrap="square" lIns="0" tIns="0" rIns="0" bIns="0" rtlCol="0" anchor="ctr"/>
          <a:lstStyle/>
          <a:p>
            <a:r>
              <a:rPr lang="en-US" sz="1600" dirty="0">
                <a:solidFill>
                  <a:srgbClr val="16262A"/>
                </a:solidFill>
                <a:ea typeface="Calibri" pitchFamily="34" charset="-122"/>
                <a:cs typeface="Calibri" pitchFamily="34" charset="-120"/>
              </a:rPr>
              <a:t>Three types: Node Local (best), Rack Local, Remote Rack (worst)</a:t>
            </a:r>
            <a:endParaRPr lang="en-US" sz="1600" dirty="0">
              <a:solidFill>
                <a:prstClr val="black"/>
              </a:solidFill>
            </a:endParaRPr>
          </a:p>
        </p:txBody>
      </p:sp>
      <p:sp>
        <p:nvSpPr>
          <p:cNvPr id="18" name="Shape 15"/>
          <p:cNvSpPr/>
          <p:nvPr/>
        </p:nvSpPr>
        <p:spPr>
          <a:xfrm>
            <a:off x="594360" y="6062472"/>
            <a:ext cx="91440" cy="91440"/>
          </a:xfrm>
          <a:prstGeom prst="ellipse">
            <a:avLst/>
          </a:prstGeom>
          <a:solidFill>
            <a:srgbClr val="028090"/>
          </a:solidFill>
          <a:ln/>
        </p:spPr>
      </p:sp>
      <p:sp>
        <p:nvSpPr>
          <p:cNvPr id="19" name="Text 16"/>
          <p:cNvSpPr/>
          <p:nvPr/>
        </p:nvSpPr>
        <p:spPr>
          <a:xfrm>
            <a:off x="822960" y="5879592"/>
            <a:ext cx="10515600" cy="411480"/>
          </a:xfrm>
          <a:prstGeom prst="rect">
            <a:avLst/>
          </a:prstGeom>
          <a:noFill/>
          <a:ln/>
        </p:spPr>
        <p:txBody>
          <a:bodyPr wrap="square" lIns="0" tIns="0" rIns="0" bIns="0" rtlCol="0" anchor="ctr"/>
          <a:lstStyle/>
          <a:p>
            <a:r>
              <a:rPr lang="en-US" sz="1600" dirty="0">
                <a:solidFill>
                  <a:srgbClr val="16262A"/>
                </a:solidFill>
                <a:ea typeface="Calibri" pitchFamily="34" charset="-122"/>
                <a:cs typeface="Calibri" pitchFamily="34" charset="-120"/>
              </a:rPr>
              <a:t>Hadoop MapReduce always prefers Node Local scheduling first</a:t>
            </a:r>
            <a:endParaRPr lang="en-US" sz="1600" dirty="0">
              <a:solidFill>
                <a:prstClr val="black"/>
              </a:solidFill>
            </a:endParaRPr>
          </a:p>
        </p:txBody>
      </p:sp>
    </p:spTree>
    <p:extLst>
      <p:ext uri="{BB962C8B-B14F-4D97-AF65-F5344CB8AC3E}">
        <p14:creationId xmlns:p14="http://schemas.microsoft.com/office/powerpoint/2010/main" val="3905444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Defining Apache Hadoop</a:t>
            </a:r>
            <a:endParaRPr lang="en-US" sz="3000" dirty="0"/>
          </a:p>
        </p:txBody>
      </p:sp>
      <p:sp>
        <p:nvSpPr>
          <p:cNvPr id="4" name="Shape 2"/>
          <p:cNvSpPr/>
          <p:nvPr/>
        </p:nvSpPr>
        <p:spPr>
          <a:xfrm>
            <a:off x="548640" y="1600200"/>
            <a:ext cx="11064240" cy="1920240"/>
          </a:xfrm>
          <a:prstGeom prst="roundRect">
            <a:avLst>
              <a:gd name="adj" fmla="val 3810"/>
            </a:avLst>
          </a:prstGeom>
          <a:solidFill>
            <a:srgbClr val="21295C"/>
          </a:solidFill>
          <a:ln/>
        </p:spPr>
      </p:sp>
      <p:sp>
        <p:nvSpPr>
          <p:cNvPr id="5" name="Text 3"/>
          <p:cNvSpPr/>
          <p:nvPr/>
        </p:nvSpPr>
        <p:spPr>
          <a:xfrm>
            <a:off x="868680" y="1828800"/>
            <a:ext cx="5486400" cy="320040"/>
          </a:xfrm>
          <a:prstGeom prst="rect">
            <a:avLst/>
          </a:prstGeom>
          <a:noFill/>
          <a:ln/>
        </p:spPr>
        <p:txBody>
          <a:bodyPr wrap="square" lIns="0" tIns="0" rIns="0" bIns="0" rtlCol="0" anchor="ctr"/>
          <a:lstStyle/>
          <a:p>
            <a:pPr marL="0" indent="0">
              <a:buNone/>
            </a:pPr>
            <a:r>
              <a:rPr lang="en-US" sz="1600" b="1" kern="0" spc="200" dirty="0">
                <a:solidFill>
                  <a:srgbClr val="F2A93B"/>
                </a:solidFill>
                <a:latin typeface="Calibri" pitchFamily="34" charset="0"/>
                <a:ea typeface="Calibri" pitchFamily="34" charset="-122"/>
                <a:cs typeface="Calibri" pitchFamily="34" charset="-120"/>
              </a:rPr>
              <a:t>FORMAL DEFINITION</a:t>
            </a:r>
            <a:endParaRPr lang="en-US" sz="1600" dirty="0"/>
          </a:p>
        </p:txBody>
      </p:sp>
      <p:sp>
        <p:nvSpPr>
          <p:cNvPr id="6" name="Text 4"/>
          <p:cNvSpPr/>
          <p:nvPr/>
        </p:nvSpPr>
        <p:spPr>
          <a:xfrm>
            <a:off x="868680" y="2194560"/>
            <a:ext cx="10424160" cy="1188720"/>
          </a:xfrm>
          <a:prstGeom prst="rect">
            <a:avLst/>
          </a:prstGeom>
          <a:noFill/>
          <a:ln/>
        </p:spPr>
        <p:txBody>
          <a:bodyPr wrap="square" lIns="0" tIns="0" rIns="0" bIns="0" rtlCol="0" anchor="ctr"/>
          <a:lstStyle/>
          <a:p>
            <a:pPr marL="0" indent="0">
              <a:lnSpc>
                <a:spcPct val="130000"/>
              </a:lnSpc>
              <a:buNone/>
            </a:pPr>
            <a:r>
              <a:rPr lang="en-US" sz="2000" dirty="0">
                <a:solidFill>
                  <a:srgbClr val="CFE8EF"/>
                </a:solidFill>
                <a:latin typeface="Calibri" pitchFamily="34" charset="0"/>
                <a:ea typeface="Calibri" pitchFamily="34" charset="-122"/>
                <a:cs typeface="Calibri" pitchFamily="34" charset="-120"/>
              </a:rPr>
              <a:t>Apache Hadoop is an open-source framework developed by the Apache Software Foundation for storing and processing extremely large datasets across a cluster of interconnected computers using distributed storage and parallel processing.</a:t>
            </a:r>
            <a:endParaRPr lang="en-US" sz="2000" dirty="0"/>
          </a:p>
        </p:txBody>
      </p:sp>
      <p:sp>
        <p:nvSpPr>
          <p:cNvPr id="7" name="Shape 5"/>
          <p:cNvSpPr/>
          <p:nvPr/>
        </p:nvSpPr>
        <p:spPr>
          <a:xfrm>
            <a:off x="548640" y="3749039"/>
            <a:ext cx="11064240" cy="2680335"/>
          </a:xfrm>
          <a:prstGeom prst="roundRect">
            <a:avLst>
              <a:gd name="adj" fmla="val 3721"/>
            </a:avLst>
          </a:prstGeom>
          <a:solidFill>
            <a:srgbClr val="F4F8FA"/>
          </a:solidFill>
          <a:ln/>
        </p:spPr>
      </p:sp>
      <p:sp>
        <p:nvSpPr>
          <p:cNvPr id="8" name="Text 6"/>
          <p:cNvSpPr/>
          <p:nvPr/>
        </p:nvSpPr>
        <p:spPr>
          <a:xfrm>
            <a:off x="868680" y="3817620"/>
            <a:ext cx="7315200" cy="320040"/>
          </a:xfrm>
          <a:prstGeom prst="rect">
            <a:avLst/>
          </a:prstGeom>
          <a:noFill/>
          <a:ln/>
        </p:spPr>
        <p:txBody>
          <a:bodyPr wrap="square" lIns="0" tIns="0" rIns="0" bIns="0" rtlCol="0" anchor="ctr"/>
          <a:lstStyle/>
          <a:p>
            <a:pPr marL="0" indent="0">
              <a:buNone/>
            </a:pPr>
            <a:r>
              <a:rPr lang="en-US" sz="1600" b="1" kern="0" spc="150" dirty="0">
                <a:solidFill>
                  <a:srgbClr val="1C7293"/>
                </a:solidFill>
                <a:latin typeface="Calibri" pitchFamily="34" charset="0"/>
                <a:ea typeface="Calibri" pitchFamily="34" charset="-122"/>
                <a:cs typeface="Calibri" pitchFamily="34" charset="-120"/>
              </a:rPr>
              <a:t>SIMPLE </a:t>
            </a:r>
            <a:r>
              <a:rPr lang="en-US" sz="1600" b="1" kern="0" spc="150" dirty="0" smtClean="0">
                <a:solidFill>
                  <a:srgbClr val="1C7293"/>
                </a:solidFill>
                <a:latin typeface="Calibri" pitchFamily="34" charset="0"/>
                <a:ea typeface="Calibri" pitchFamily="34" charset="-122"/>
                <a:cs typeface="Calibri" pitchFamily="34" charset="-120"/>
              </a:rPr>
              <a:t>DEFINITION</a:t>
            </a:r>
            <a:endParaRPr lang="en-US" sz="1600" dirty="0"/>
          </a:p>
        </p:txBody>
      </p:sp>
      <p:sp>
        <p:nvSpPr>
          <p:cNvPr id="9" name="Text 7"/>
          <p:cNvSpPr/>
          <p:nvPr/>
        </p:nvSpPr>
        <p:spPr>
          <a:xfrm>
            <a:off x="868680" y="4343400"/>
            <a:ext cx="10424160" cy="914400"/>
          </a:xfrm>
          <a:prstGeom prst="rect">
            <a:avLst/>
          </a:prstGeom>
          <a:noFill/>
          <a:ln/>
        </p:spPr>
        <p:txBody>
          <a:bodyPr wrap="square" lIns="0" tIns="0" rIns="0" bIns="0" rtlCol="0" anchor="ctr"/>
          <a:lstStyle/>
          <a:p>
            <a:pPr marL="0" indent="0">
              <a:lnSpc>
                <a:spcPct val="135000"/>
              </a:lnSpc>
              <a:buNone/>
            </a:pPr>
            <a:r>
              <a:rPr lang="en-US" sz="2400" b="1" i="1" dirty="0">
                <a:solidFill>
                  <a:srgbClr val="21295C"/>
                </a:solidFill>
                <a:latin typeface="Cambria" pitchFamily="34" charset="0"/>
                <a:ea typeface="Cambria" pitchFamily="34" charset="-122"/>
                <a:cs typeface="Cambria" pitchFamily="34" charset="-120"/>
              </a:rPr>
              <a:t>Hadoop is a software framework that stores huge amounts of data across many computers and processes that data in parallel, making Big Data processing faster, reliable, and scalable.</a:t>
            </a:r>
            <a:endParaRPr lang="en-US" sz="2400" dirty="0"/>
          </a:p>
        </p:txBody>
      </p:sp>
      <p:sp>
        <p:nvSpPr>
          <p:cNvPr id="10" name="Text 8"/>
          <p:cNvSpPr/>
          <p:nvPr/>
        </p:nvSpPr>
        <p:spPr>
          <a:xfrm>
            <a:off x="868680" y="5852161"/>
            <a:ext cx="10424160" cy="365760"/>
          </a:xfrm>
          <a:prstGeom prst="rect">
            <a:avLst/>
          </a:prstGeom>
          <a:noFill/>
          <a:ln/>
        </p:spPr>
        <p:txBody>
          <a:bodyPr wrap="square" lIns="0" tIns="0" rIns="0" bIns="0" rtlCol="0" anchor="ctr"/>
          <a:lstStyle/>
          <a:p>
            <a:pPr marL="0" indent="0">
              <a:buNone/>
            </a:pPr>
            <a:r>
              <a:rPr lang="en-US" sz="1600" i="1" dirty="0">
                <a:solidFill>
                  <a:srgbClr val="43506B"/>
                </a:solidFill>
                <a:latin typeface="Calibri" pitchFamily="34" charset="0"/>
                <a:ea typeface="Calibri" pitchFamily="34" charset="-122"/>
                <a:cs typeface="Calibri" pitchFamily="34" charset="-120"/>
              </a:rPr>
              <a:t>Unlike traditional systems that store data on a single server, Hadoop distributes data across multiple nodes and processes it simultaneously.</a:t>
            </a:r>
            <a:endParaRPr lang="en-US" sz="1600" dirty="0"/>
          </a:p>
        </p:txBody>
      </p:sp>
    </p:spTree>
    <p:extLst>
      <p:ext uri="{BB962C8B-B14F-4D97-AF65-F5344CB8AC3E}">
        <p14:creationId xmlns:p14="http://schemas.microsoft.com/office/powerpoint/2010/main" val="2534759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548640" y="1691640"/>
            <a:ext cx="3566160" cy="1417320"/>
          </a:xfrm>
          <a:prstGeom prst="roundRect">
            <a:avLst>
              <a:gd name="adj" fmla="val 5161"/>
            </a:avLst>
          </a:prstGeom>
          <a:solidFill>
            <a:srgbClr val="1B2E5E"/>
          </a:solidFill>
          <a:ln/>
        </p:spPr>
      </p:sp>
      <p:sp>
        <p:nvSpPr>
          <p:cNvPr id="5" name="Shape 3"/>
          <p:cNvSpPr/>
          <p:nvPr/>
        </p:nvSpPr>
        <p:spPr>
          <a:xfrm>
            <a:off x="777240" y="1920240"/>
            <a:ext cx="411480" cy="411480"/>
          </a:xfrm>
          <a:prstGeom prst="ellipse">
            <a:avLst/>
          </a:prstGeom>
          <a:solidFill>
            <a:srgbClr val="F2A93B"/>
          </a:solidFill>
          <a:ln/>
        </p:spPr>
      </p:sp>
      <p:sp>
        <p:nvSpPr>
          <p:cNvPr id="6" name="Text 4"/>
          <p:cNvSpPr/>
          <p:nvPr/>
        </p:nvSpPr>
        <p:spPr>
          <a:xfrm>
            <a:off x="777240" y="192024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777240" y="242316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Open-source framework</a:t>
            </a:r>
            <a:endParaRPr lang="en-US" sz="2000" dirty="0"/>
          </a:p>
        </p:txBody>
      </p:sp>
      <p:sp>
        <p:nvSpPr>
          <p:cNvPr id="8" name="Shape 6"/>
          <p:cNvSpPr/>
          <p:nvPr/>
        </p:nvSpPr>
        <p:spPr>
          <a:xfrm>
            <a:off x="4343400" y="1691640"/>
            <a:ext cx="3566160" cy="1417320"/>
          </a:xfrm>
          <a:prstGeom prst="roundRect">
            <a:avLst>
              <a:gd name="adj" fmla="val 5161"/>
            </a:avLst>
          </a:prstGeom>
          <a:solidFill>
            <a:srgbClr val="1B2E5E"/>
          </a:solidFill>
          <a:ln/>
        </p:spPr>
      </p:sp>
      <p:sp>
        <p:nvSpPr>
          <p:cNvPr id="9" name="Shape 7"/>
          <p:cNvSpPr/>
          <p:nvPr/>
        </p:nvSpPr>
        <p:spPr>
          <a:xfrm>
            <a:off x="4572000" y="1920240"/>
            <a:ext cx="411480" cy="411480"/>
          </a:xfrm>
          <a:prstGeom prst="ellipse">
            <a:avLst/>
          </a:prstGeom>
          <a:solidFill>
            <a:srgbClr val="F2A93B"/>
          </a:solidFill>
          <a:ln/>
        </p:spPr>
      </p:sp>
      <p:sp>
        <p:nvSpPr>
          <p:cNvPr id="10" name="Text 8"/>
          <p:cNvSpPr/>
          <p:nvPr/>
        </p:nvSpPr>
        <p:spPr>
          <a:xfrm>
            <a:off x="4572000" y="192024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11" name="Text 9"/>
          <p:cNvSpPr/>
          <p:nvPr/>
        </p:nvSpPr>
        <p:spPr>
          <a:xfrm>
            <a:off x="4572000" y="242316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Designed for Big Data</a:t>
            </a:r>
            <a:endParaRPr lang="en-US" sz="2000" dirty="0"/>
          </a:p>
        </p:txBody>
      </p:sp>
      <p:sp>
        <p:nvSpPr>
          <p:cNvPr id="12" name="Shape 10"/>
          <p:cNvSpPr/>
          <p:nvPr/>
        </p:nvSpPr>
        <p:spPr>
          <a:xfrm>
            <a:off x="8138160" y="1691640"/>
            <a:ext cx="3566160" cy="1417320"/>
          </a:xfrm>
          <a:prstGeom prst="roundRect">
            <a:avLst>
              <a:gd name="adj" fmla="val 5161"/>
            </a:avLst>
          </a:prstGeom>
          <a:solidFill>
            <a:srgbClr val="1B2E5E"/>
          </a:solidFill>
          <a:ln/>
        </p:spPr>
      </p:sp>
      <p:sp>
        <p:nvSpPr>
          <p:cNvPr id="13" name="Shape 11"/>
          <p:cNvSpPr/>
          <p:nvPr/>
        </p:nvSpPr>
        <p:spPr>
          <a:xfrm>
            <a:off x="8366760" y="1920240"/>
            <a:ext cx="411480" cy="411480"/>
          </a:xfrm>
          <a:prstGeom prst="ellipse">
            <a:avLst/>
          </a:prstGeom>
          <a:solidFill>
            <a:srgbClr val="F2A93B"/>
          </a:solidFill>
          <a:ln/>
        </p:spPr>
      </p:sp>
      <p:sp>
        <p:nvSpPr>
          <p:cNvPr id="14" name="Text 12"/>
          <p:cNvSpPr/>
          <p:nvPr/>
        </p:nvSpPr>
        <p:spPr>
          <a:xfrm>
            <a:off x="8366760" y="192024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8366760" y="242316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Stores data across multiple computers</a:t>
            </a:r>
            <a:endParaRPr lang="en-US" sz="2000" dirty="0"/>
          </a:p>
        </p:txBody>
      </p:sp>
      <p:sp>
        <p:nvSpPr>
          <p:cNvPr id="16" name="Shape 14"/>
          <p:cNvSpPr/>
          <p:nvPr/>
        </p:nvSpPr>
        <p:spPr>
          <a:xfrm>
            <a:off x="548640" y="3337560"/>
            <a:ext cx="3566160" cy="1417320"/>
          </a:xfrm>
          <a:prstGeom prst="roundRect">
            <a:avLst>
              <a:gd name="adj" fmla="val 5161"/>
            </a:avLst>
          </a:prstGeom>
          <a:solidFill>
            <a:srgbClr val="1B2E5E"/>
          </a:solidFill>
          <a:ln/>
        </p:spPr>
      </p:sp>
      <p:sp>
        <p:nvSpPr>
          <p:cNvPr id="17" name="Shape 15"/>
          <p:cNvSpPr/>
          <p:nvPr/>
        </p:nvSpPr>
        <p:spPr>
          <a:xfrm>
            <a:off x="777240" y="3566160"/>
            <a:ext cx="411480" cy="411480"/>
          </a:xfrm>
          <a:prstGeom prst="ellipse">
            <a:avLst/>
          </a:prstGeom>
          <a:solidFill>
            <a:srgbClr val="F2A93B"/>
          </a:solidFill>
          <a:ln/>
        </p:spPr>
      </p:sp>
      <p:sp>
        <p:nvSpPr>
          <p:cNvPr id="18" name="Text 16"/>
          <p:cNvSpPr/>
          <p:nvPr/>
        </p:nvSpPr>
        <p:spPr>
          <a:xfrm>
            <a:off x="777240" y="356616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19" name="Text 17"/>
          <p:cNvSpPr/>
          <p:nvPr/>
        </p:nvSpPr>
        <p:spPr>
          <a:xfrm>
            <a:off x="777240" y="406908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Supports parallel processing</a:t>
            </a:r>
            <a:endParaRPr lang="en-US" sz="2000" dirty="0"/>
          </a:p>
        </p:txBody>
      </p:sp>
      <p:sp>
        <p:nvSpPr>
          <p:cNvPr id="20" name="Shape 18"/>
          <p:cNvSpPr/>
          <p:nvPr/>
        </p:nvSpPr>
        <p:spPr>
          <a:xfrm>
            <a:off x="4343400" y="3337560"/>
            <a:ext cx="3566160" cy="1417320"/>
          </a:xfrm>
          <a:prstGeom prst="roundRect">
            <a:avLst>
              <a:gd name="adj" fmla="val 5161"/>
            </a:avLst>
          </a:prstGeom>
          <a:solidFill>
            <a:srgbClr val="1B2E5E"/>
          </a:solidFill>
          <a:ln/>
        </p:spPr>
      </p:sp>
      <p:sp>
        <p:nvSpPr>
          <p:cNvPr id="21" name="Shape 19"/>
          <p:cNvSpPr/>
          <p:nvPr/>
        </p:nvSpPr>
        <p:spPr>
          <a:xfrm>
            <a:off x="4572000" y="3566160"/>
            <a:ext cx="411480" cy="411480"/>
          </a:xfrm>
          <a:prstGeom prst="ellipse">
            <a:avLst/>
          </a:prstGeom>
          <a:solidFill>
            <a:srgbClr val="F2A93B"/>
          </a:solidFill>
          <a:ln/>
        </p:spPr>
      </p:sp>
      <p:sp>
        <p:nvSpPr>
          <p:cNvPr id="22" name="Text 20"/>
          <p:cNvSpPr/>
          <p:nvPr/>
        </p:nvSpPr>
        <p:spPr>
          <a:xfrm>
            <a:off x="4572000" y="356616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4572000" y="406908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Highly scalable</a:t>
            </a:r>
            <a:endParaRPr lang="en-US" sz="2000" dirty="0"/>
          </a:p>
        </p:txBody>
      </p:sp>
      <p:sp>
        <p:nvSpPr>
          <p:cNvPr id="24" name="Shape 22"/>
          <p:cNvSpPr/>
          <p:nvPr/>
        </p:nvSpPr>
        <p:spPr>
          <a:xfrm>
            <a:off x="8138160" y="3337560"/>
            <a:ext cx="3566160" cy="1417320"/>
          </a:xfrm>
          <a:prstGeom prst="roundRect">
            <a:avLst>
              <a:gd name="adj" fmla="val 5161"/>
            </a:avLst>
          </a:prstGeom>
          <a:solidFill>
            <a:srgbClr val="1B2E5E"/>
          </a:solidFill>
          <a:ln/>
        </p:spPr>
      </p:sp>
      <p:sp>
        <p:nvSpPr>
          <p:cNvPr id="25" name="Shape 23"/>
          <p:cNvSpPr/>
          <p:nvPr/>
        </p:nvSpPr>
        <p:spPr>
          <a:xfrm>
            <a:off x="8366760" y="3566160"/>
            <a:ext cx="411480" cy="411480"/>
          </a:xfrm>
          <a:prstGeom prst="ellipse">
            <a:avLst/>
          </a:prstGeom>
          <a:solidFill>
            <a:srgbClr val="F2A93B"/>
          </a:solidFill>
          <a:ln/>
        </p:spPr>
      </p:sp>
      <p:sp>
        <p:nvSpPr>
          <p:cNvPr id="26" name="Text 24"/>
          <p:cNvSpPr/>
          <p:nvPr/>
        </p:nvSpPr>
        <p:spPr>
          <a:xfrm>
            <a:off x="8366760" y="356616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8366760" y="406908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Fault tolerant</a:t>
            </a:r>
            <a:endParaRPr lang="en-US" sz="2000" dirty="0"/>
          </a:p>
        </p:txBody>
      </p:sp>
      <p:sp>
        <p:nvSpPr>
          <p:cNvPr id="28" name="Shape 26"/>
          <p:cNvSpPr/>
          <p:nvPr/>
        </p:nvSpPr>
        <p:spPr>
          <a:xfrm>
            <a:off x="548640" y="4983480"/>
            <a:ext cx="3566160" cy="1417320"/>
          </a:xfrm>
          <a:prstGeom prst="roundRect">
            <a:avLst>
              <a:gd name="adj" fmla="val 5161"/>
            </a:avLst>
          </a:prstGeom>
          <a:solidFill>
            <a:srgbClr val="1B2E5E"/>
          </a:solidFill>
          <a:ln/>
        </p:spPr>
      </p:sp>
      <p:sp>
        <p:nvSpPr>
          <p:cNvPr id="29" name="Shape 27"/>
          <p:cNvSpPr/>
          <p:nvPr/>
        </p:nvSpPr>
        <p:spPr>
          <a:xfrm>
            <a:off x="777240" y="5212080"/>
            <a:ext cx="411480" cy="411480"/>
          </a:xfrm>
          <a:prstGeom prst="ellipse">
            <a:avLst/>
          </a:prstGeom>
          <a:solidFill>
            <a:srgbClr val="F2A93B"/>
          </a:solidFill>
          <a:ln/>
        </p:spPr>
      </p:sp>
      <p:sp>
        <p:nvSpPr>
          <p:cNvPr id="30" name="Text 28"/>
          <p:cNvSpPr/>
          <p:nvPr/>
        </p:nvSpPr>
        <p:spPr>
          <a:xfrm>
            <a:off x="777240" y="5212080"/>
            <a:ext cx="411480" cy="411480"/>
          </a:xfrm>
          <a:prstGeom prst="rect">
            <a:avLst/>
          </a:prstGeom>
          <a:noFill/>
          <a:ln/>
        </p:spPr>
        <p:txBody>
          <a:bodyPr wrap="square" lIns="0" tIns="0" rIns="0" bIns="0" rtlCol="0" anchor="ctr"/>
          <a:lstStyle/>
          <a:p>
            <a:pPr marL="0" indent="0" algn="ctr">
              <a:buNone/>
            </a:pPr>
            <a:r>
              <a:rPr lang="en-US" sz="2400" b="1" dirty="0">
                <a:solidFill>
                  <a:srgbClr val="21295C"/>
                </a:solidFill>
                <a:latin typeface="Calibri" pitchFamily="34" charset="0"/>
                <a:ea typeface="Calibri" pitchFamily="34" charset="-122"/>
                <a:cs typeface="Calibri" pitchFamily="34" charset="-120"/>
              </a:rPr>
              <a:t>✓</a:t>
            </a:r>
            <a:endParaRPr lang="en-US" sz="2400" dirty="0"/>
          </a:p>
        </p:txBody>
      </p:sp>
      <p:sp>
        <p:nvSpPr>
          <p:cNvPr id="31" name="Text 29"/>
          <p:cNvSpPr/>
          <p:nvPr/>
        </p:nvSpPr>
        <p:spPr>
          <a:xfrm>
            <a:off x="777240" y="5715000"/>
            <a:ext cx="3108960" cy="59436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libri" pitchFamily="34" charset="0"/>
                <a:ea typeface="Calibri" pitchFamily="34" charset="-122"/>
                <a:cs typeface="Calibri" pitchFamily="34" charset="-120"/>
              </a:rPr>
              <a:t>Cost-effective (commodity hardware)</a:t>
            </a:r>
            <a:endParaRPr lang="en-US" sz="2000" dirty="0"/>
          </a:p>
        </p:txBody>
      </p:sp>
      <p:sp>
        <p:nvSpPr>
          <p:cNvPr id="34"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chemeClr val="accent1">
                    <a:lumMod val="75000"/>
                  </a:schemeClr>
                </a:solidFill>
                <a:latin typeface="Cambria" pitchFamily="34" charset="0"/>
                <a:ea typeface="Cambria" pitchFamily="34" charset="-122"/>
                <a:cs typeface="Cambria" pitchFamily="34" charset="-120"/>
              </a:rPr>
              <a:t>Key Characteristics of Hadoop</a:t>
            </a:r>
            <a:endParaRPr lang="en-US" sz="2800" dirty="0">
              <a:solidFill>
                <a:schemeClr val="accent1">
                  <a:lumMod val="75000"/>
                </a:schemeClr>
              </a:solidFill>
            </a:endParaRPr>
          </a:p>
        </p:txBody>
      </p:sp>
    </p:spTree>
    <p:extLst>
      <p:ext uri="{BB962C8B-B14F-4D97-AF65-F5344CB8AC3E}">
        <p14:creationId xmlns:p14="http://schemas.microsoft.com/office/powerpoint/2010/main" val="7578531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137160"/>
            <a:ext cx="10515600" cy="59436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The Problems Hadoop Had to Solve</a:t>
            </a:r>
            <a:endParaRPr lang="en-US" sz="2700" dirty="0"/>
          </a:p>
        </p:txBody>
      </p:sp>
      <p:sp>
        <p:nvSpPr>
          <p:cNvPr id="4" name="Text 2"/>
          <p:cNvSpPr/>
          <p:nvPr/>
        </p:nvSpPr>
        <p:spPr>
          <a:xfrm>
            <a:off x="548640" y="1102614"/>
            <a:ext cx="11064240" cy="594360"/>
          </a:xfrm>
          <a:prstGeom prst="rect">
            <a:avLst/>
          </a:prstGeom>
          <a:noFill/>
          <a:ln/>
        </p:spPr>
        <p:txBody>
          <a:bodyPr wrap="square" lIns="0" tIns="0" rIns="0" bIns="0" rtlCol="0" anchor="ctr"/>
          <a:lstStyle/>
          <a:p>
            <a:pPr marL="0" indent="0">
              <a:lnSpc>
                <a:spcPct val="125000"/>
              </a:lnSpc>
              <a:buNone/>
            </a:pPr>
            <a:r>
              <a:rPr lang="en-US" dirty="0">
                <a:solidFill>
                  <a:srgbClr val="43506B"/>
                </a:solidFill>
                <a:latin typeface="Calibri" pitchFamily="34" charset="0"/>
                <a:ea typeface="Calibri" pitchFamily="34" charset="-122"/>
                <a:cs typeface="Calibri" pitchFamily="34" charset="-120"/>
              </a:rPr>
              <a:t>As internet usage grew, companies like Google, Facebook, Amazon, and Yahoo generated enormous data daily — traditional single-server systems could not keep up with storage, processing speed, hardware failure, or scalability demands.</a:t>
            </a:r>
            <a:endParaRPr lang="en-US" dirty="0"/>
          </a:p>
        </p:txBody>
      </p:sp>
      <p:sp>
        <p:nvSpPr>
          <p:cNvPr id="5" name="Shape 3"/>
          <p:cNvSpPr/>
          <p:nvPr/>
        </p:nvSpPr>
        <p:spPr>
          <a:xfrm>
            <a:off x="548640" y="2103120"/>
            <a:ext cx="5074920" cy="502920"/>
          </a:xfrm>
          <a:prstGeom prst="roundRect">
            <a:avLst>
              <a:gd name="adj" fmla="val 10909"/>
            </a:avLst>
          </a:prstGeom>
          <a:solidFill>
            <a:srgbClr val="C7CBD1"/>
          </a:solidFill>
          <a:ln/>
        </p:spPr>
      </p:sp>
      <p:sp>
        <p:nvSpPr>
          <p:cNvPr id="6" name="Text 4"/>
          <p:cNvSpPr/>
          <p:nvPr/>
        </p:nvSpPr>
        <p:spPr>
          <a:xfrm>
            <a:off x="548640" y="2103120"/>
            <a:ext cx="5074920" cy="502920"/>
          </a:xfrm>
          <a:prstGeom prst="rect">
            <a:avLst/>
          </a:prstGeom>
          <a:noFill/>
          <a:ln/>
        </p:spPr>
        <p:txBody>
          <a:bodyPr wrap="square" lIns="0" tIns="0" rIns="0" bIns="0" rtlCol="0" anchor="ctr"/>
          <a:lstStyle/>
          <a:p>
            <a:pPr marL="0" indent="0" algn="ctr">
              <a:buNone/>
            </a:pPr>
            <a:r>
              <a:rPr lang="en-US" sz="1600" b="1" kern="0" spc="100" dirty="0">
                <a:solidFill>
                  <a:srgbClr val="21295C"/>
                </a:solidFill>
                <a:latin typeface="Calibri" pitchFamily="34" charset="0"/>
                <a:ea typeface="Calibri" pitchFamily="34" charset="-122"/>
                <a:cs typeface="Calibri" pitchFamily="34" charset="-120"/>
              </a:rPr>
              <a:t>TRADITIONAL SYSTEM</a:t>
            </a:r>
            <a:endParaRPr lang="en-US" sz="1600" dirty="0"/>
          </a:p>
        </p:txBody>
      </p:sp>
      <p:sp>
        <p:nvSpPr>
          <p:cNvPr id="7" name="Shape 5"/>
          <p:cNvSpPr/>
          <p:nvPr/>
        </p:nvSpPr>
        <p:spPr>
          <a:xfrm>
            <a:off x="6080760" y="2103120"/>
            <a:ext cx="5074920" cy="502920"/>
          </a:xfrm>
          <a:prstGeom prst="roundRect">
            <a:avLst>
              <a:gd name="adj" fmla="val 10909"/>
            </a:avLst>
          </a:prstGeom>
          <a:solidFill>
            <a:srgbClr val="6B2C2C"/>
          </a:solidFill>
          <a:ln/>
        </p:spPr>
      </p:sp>
      <p:sp>
        <p:nvSpPr>
          <p:cNvPr id="8" name="Text 6"/>
          <p:cNvSpPr/>
          <p:nvPr/>
        </p:nvSpPr>
        <p:spPr>
          <a:xfrm>
            <a:off x="6080760" y="2103120"/>
            <a:ext cx="5074920" cy="502920"/>
          </a:xfrm>
          <a:prstGeom prst="rect">
            <a:avLst/>
          </a:prstGeom>
          <a:noFill/>
          <a:ln/>
        </p:spPr>
        <p:txBody>
          <a:bodyPr wrap="square" lIns="0" tIns="0" rIns="0" bIns="0" rtlCol="0" anchor="ctr"/>
          <a:lstStyle/>
          <a:p>
            <a:pPr marL="0" indent="0" algn="ctr">
              <a:buNone/>
            </a:pPr>
            <a:r>
              <a:rPr lang="en-US" sz="1600" b="1" kern="0" spc="100" dirty="0">
                <a:solidFill>
                  <a:srgbClr val="FFFFFF"/>
                </a:solidFill>
                <a:latin typeface="Calibri" pitchFamily="34" charset="0"/>
                <a:ea typeface="Calibri" pitchFamily="34" charset="-122"/>
                <a:cs typeface="Calibri" pitchFamily="34" charset="-120"/>
              </a:rPr>
              <a:t>PROBLEM</a:t>
            </a:r>
            <a:endParaRPr lang="en-US" sz="1600" dirty="0"/>
          </a:p>
        </p:txBody>
      </p:sp>
      <p:sp>
        <p:nvSpPr>
          <p:cNvPr id="9" name="Shape 7"/>
          <p:cNvSpPr/>
          <p:nvPr/>
        </p:nvSpPr>
        <p:spPr>
          <a:xfrm>
            <a:off x="548640" y="2743200"/>
            <a:ext cx="5074920" cy="640080"/>
          </a:xfrm>
          <a:prstGeom prst="rect">
            <a:avLst/>
          </a:prstGeom>
          <a:solidFill>
            <a:srgbClr val="F4F8FA"/>
          </a:solidFill>
          <a:ln/>
        </p:spPr>
      </p:sp>
      <p:sp>
        <p:nvSpPr>
          <p:cNvPr id="10" name="Text 8"/>
          <p:cNvSpPr/>
          <p:nvPr/>
        </p:nvSpPr>
        <p:spPr>
          <a:xfrm>
            <a:off x="777240" y="2743200"/>
            <a:ext cx="4617720" cy="640080"/>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Single server</a:t>
            </a:r>
            <a:endParaRPr lang="en-US" dirty="0"/>
          </a:p>
        </p:txBody>
      </p:sp>
      <p:sp>
        <p:nvSpPr>
          <p:cNvPr id="11" name="Shape 9"/>
          <p:cNvSpPr/>
          <p:nvPr/>
        </p:nvSpPr>
        <p:spPr>
          <a:xfrm>
            <a:off x="6080760" y="2743200"/>
            <a:ext cx="5074920" cy="640080"/>
          </a:xfrm>
          <a:prstGeom prst="rect">
            <a:avLst/>
          </a:prstGeom>
          <a:solidFill>
            <a:srgbClr val="F7E4E4"/>
          </a:solidFill>
          <a:ln/>
        </p:spPr>
      </p:sp>
      <p:sp>
        <p:nvSpPr>
          <p:cNvPr id="12" name="Text 10"/>
          <p:cNvSpPr/>
          <p:nvPr/>
        </p:nvSpPr>
        <p:spPr>
          <a:xfrm>
            <a:off x="6309360" y="2743200"/>
            <a:ext cx="4617720" cy="640080"/>
          </a:xfrm>
          <a:prstGeom prst="rect">
            <a:avLst/>
          </a:prstGeom>
          <a:noFill/>
          <a:ln/>
        </p:spPr>
        <p:txBody>
          <a:bodyPr wrap="square" lIns="0" tIns="0" rIns="0" bIns="0" rtlCol="0" anchor="ctr"/>
          <a:lstStyle/>
          <a:p>
            <a:pPr marL="0" indent="0" algn="l">
              <a:buNone/>
            </a:pPr>
            <a:r>
              <a:rPr lang="en-US" b="1" dirty="0">
                <a:solidFill>
                  <a:srgbClr val="8A2E2E"/>
                </a:solidFill>
                <a:latin typeface="Calibri" pitchFamily="34" charset="0"/>
                <a:ea typeface="Calibri" pitchFamily="34" charset="-122"/>
                <a:cs typeface="Calibri" pitchFamily="34" charset="-120"/>
              </a:rPr>
              <a:t>Limited storage capacity</a:t>
            </a:r>
            <a:endParaRPr lang="en-US" dirty="0"/>
          </a:p>
        </p:txBody>
      </p:sp>
      <p:sp>
        <p:nvSpPr>
          <p:cNvPr id="13" name="Shape 11"/>
          <p:cNvSpPr/>
          <p:nvPr/>
        </p:nvSpPr>
        <p:spPr>
          <a:xfrm>
            <a:off x="548640" y="3456432"/>
            <a:ext cx="5074920" cy="640080"/>
          </a:xfrm>
          <a:prstGeom prst="rect">
            <a:avLst/>
          </a:prstGeom>
          <a:solidFill>
            <a:srgbClr val="FFFFFF"/>
          </a:solidFill>
          <a:ln/>
        </p:spPr>
      </p:sp>
      <p:sp>
        <p:nvSpPr>
          <p:cNvPr id="14" name="Text 12"/>
          <p:cNvSpPr/>
          <p:nvPr/>
        </p:nvSpPr>
        <p:spPr>
          <a:xfrm>
            <a:off x="777240" y="3456432"/>
            <a:ext cx="4617720" cy="640080"/>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Vertical scaling</a:t>
            </a:r>
            <a:endParaRPr lang="en-US" dirty="0"/>
          </a:p>
        </p:txBody>
      </p:sp>
      <p:sp>
        <p:nvSpPr>
          <p:cNvPr id="15" name="Shape 13"/>
          <p:cNvSpPr/>
          <p:nvPr/>
        </p:nvSpPr>
        <p:spPr>
          <a:xfrm>
            <a:off x="6080760" y="3456432"/>
            <a:ext cx="5074920" cy="640080"/>
          </a:xfrm>
          <a:prstGeom prst="rect">
            <a:avLst/>
          </a:prstGeom>
          <a:solidFill>
            <a:srgbClr val="FBF0F0"/>
          </a:solidFill>
          <a:ln/>
        </p:spPr>
      </p:sp>
      <p:sp>
        <p:nvSpPr>
          <p:cNvPr id="16" name="Text 14"/>
          <p:cNvSpPr/>
          <p:nvPr/>
        </p:nvSpPr>
        <p:spPr>
          <a:xfrm>
            <a:off x="6309360" y="3456432"/>
            <a:ext cx="4617720" cy="640080"/>
          </a:xfrm>
          <a:prstGeom prst="rect">
            <a:avLst/>
          </a:prstGeom>
          <a:noFill/>
          <a:ln/>
        </p:spPr>
        <p:txBody>
          <a:bodyPr wrap="square" lIns="0" tIns="0" rIns="0" bIns="0" rtlCol="0" anchor="ctr"/>
          <a:lstStyle/>
          <a:p>
            <a:pPr marL="0" indent="0" algn="l">
              <a:buNone/>
            </a:pPr>
            <a:r>
              <a:rPr lang="en-US" b="1" dirty="0">
                <a:solidFill>
                  <a:srgbClr val="8A2E2E"/>
                </a:solidFill>
                <a:latin typeface="Calibri" pitchFamily="34" charset="0"/>
                <a:ea typeface="Calibri" pitchFamily="34" charset="-122"/>
                <a:cs typeface="Calibri" pitchFamily="34" charset="-120"/>
              </a:rPr>
              <a:t>Expensive hardware upgrades</a:t>
            </a:r>
            <a:endParaRPr lang="en-US" dirty="0"/>
          </a:p>
        </p:txBody>
      </p:sp>
      <p:sp>
        <p:nvSpPr>
          <p:cNvPr id="17" name="Shape 15"/>
          <p:cNvSpPr/>
          <p:nvPr/>
        </p:nvSpPr>
        <p:spPr>
          <a:xfrm>
            <a:off x="548640" y="4169664"/>
            <a:ext cx="5074920" cy="640080"/>
          </a:xfrm>
          <a:prstGeom prst="rect">
            <a:avLst/>
          </a:prstGeom>
          <a:solidFill>
            <a:srgbClr val="F4F8FA"/>
          </a:solidFill>
          <a:ln/>
        </p:spPr>
      </p:sp>
      <p:sp>
        <p:nvSpPr>
          <p:cNvPr id="18" name="Text 16"/>
          <p:cNvSpPr/>
          <p:nvPr/>
        </p:nvSpPr>
        <p:spPr>
          <a:xfrm>
            <a:off x="777240" y="4169664"/>
            <a:ext cx="4617720" cy="640080"/>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Single point of failure</a:t>
            </a:r>
            <a:endParaRPr lang="en-US" dirty="0"/>
          </a:p>
        </p:txBody>
      </p:sp>
      <p:sp>
        <p:nvSpPr>
          <p:cNvPr id="19" name="Shape 17"/>
          <p:cNvSpPr/>
          <p:nvPr/>
        </p:nvSpPr>
        <p:spPr>
          <a:xfrm>
            <a:off x="6080760" y="4169664"/>
            <a:ext cx="5074920" cy="640080"/>
          </a:xfrm>
          <a:prstGeom prst="rect">
            <a:avLst/>
          </a:prstGeom>
          <a:solidFill>
            <a:srgbClr val="F7E4E4"/>
          </a:solidFill>
          <a:ln/>
        </p:spPr>
      </p:sp>
      <p:sp>
        <p:nvSpPr>
          <p:cNvPr id="20" name="Text 18"/>
          <p:cNvSpPr/>
          <p:nvPr/>
        </p:nvSpPr>
        <p:spPr>
          <a:xfrm>
            <a:off x="6309360" y="4169664"/>
            <a:ext cx="4617720" cy="640080"/>
          </a:xfrm>
          <a:prstGeom prst="rect">
            <a:avLst/>
          </a:prstGeom>
          <a:noFill/>
          <a:ln/>
        </p:spPr>
        <p:txBody>
          <a:bodyPr wrap="square" lIns="0" tIns="0" rIns="0" bIns="0" rtlCol="0" anchor="ctr"/>
          <a:lstStyle/>
          <a:p>
            <a:pPr marL="0" indent="0" algn="l">
              <a:buNone/>
            </a:pPr>
            <a:r>
              <a:rPr lang="en-US" b="1" dirty="0">
                <a:solidFill>
                  <a:srgbClr val="8A2E2E"/>
                </a:solidFill>
                <a:latin typeface="Calibri" pitchFamily="34" charset="0"/>
                <a:ea typeface="Calibri" pitchFamily="34" charset="-122"/>
                <a:cs typeface="Calibri" pitchFamily="34" charset="-120"/>
              </a:rPr>
              <a:t>Entire system may stop</a:t>
            </a:r>
            <a:endParaRPr lang="en-US" dirty="0"/>
          </a:p>
        </p:txBody>
      </p:sp>
      <p:sp>
        <p:nvSpPr>
          <p:cNvPr id="21" name="Shape 19"/>
          <p:cNvSpPr/>
          <p:nvPr/>
        </p:nvSpPr>
        <p:spPr>
          <a:xfrm>
            <a:off x="548640" y="4882896"/>
            <a:ext cx="5074920" cy="640080"/>
          </a:xfrm>
          <a:prstGeom prst="rect">
            <a:avLst/>
          </a:prstGeom>
          <a:solidFill>
            <a:srgbClr val="FFFFFF"/>
          </a:solidFill>
          <a:ln/>
        </p:spPr>
      </p:sp>
      <p:sp>
        <p:nvSpPr>
          <p:cNvPr id="22" name="Text 20"/>
          <p:cNvSpPr/>
          <p:nvPr/>
        </p:nvSpPr>
        <p:spPr>
          <a:xfrm>
            <a:off x="777240" y="4882896"/>
            <a:ext cx="4617720" cy="640080"/>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Sequential processing</a:t>
            </a:r>
            <a:endParaRPr lang="en-US" dirty="0"/>
          </a:p>
        </p:txBody>
      </p:sp>
      <p:sp>
        <p:nvSpPr>
          <p:cNvPr id="23" name="Shape 21"/>
          <p:cNvSpPr/>
          <p:nvPr/>
        </p:nvSpPr>
        <p:spPr>
          <a:xfrm>
            <a:off x="6080760" y="4882896"/>
            <a:ext cx="5074920" cy="640080"/>
          </a:xfrm>
          <a:prstGeom prst="rect">
            <a:avLst/>
          </a:prstGeom>
          <a:solidFill>
            <a:srgbClr val="FBF0F0"/>
          </a:solidFill>
          <a:ln/>
        </p:spPr>
      </p:sp>
      <p:sp>
        <p:nvSpPr>
          <p:cNvPr id="24" name="Text 22"/>
          <p:cNvSpPr/>
          <p:nvPr/>
        </p:nvSpPr>
        <p:spPr>
          <a:xfrm>
            <a:off x="6309360" y="4882896"/>
            <a:ext cx="4617720" cy="640080"/>
          </a:xfrm>
          <a:prstGeom prst="rect">
            <a:avLst/>
          </a:prstGeom>
          <a:noFill/>
          <a:ln/>
        </p:spPr>
        <p:txBody>
          <a:bodyPr wrap="square" lIns="0" tIns="0" rIns="0" bIns="0" rtlCol="0" anchor="ctr"/>
          <a:lstStyle/>
          <a:p>
            <a:pPr marL="0" indent="0" algn="l">
              <a:buNone/>
            </a:pPr>
            <a:r>
              <a:rPr lang="en-US" b="1" dirty="0">
                <a:solidFill>
                  <a:srgbClr val="8A2E2E"/>
                </a:solidFill>
                <a:latin typeface="Calibri" pitchFamily="34" charset="0"/>
                <a:ea typeface="Calibri" pitchFamily="34" charset="-122"/>
                <a:cs typeface="Calibri" pitchFamily="34" charset="-120"/>
              </a:rPr>
              <a:t>Slow performance</a:t>
            </a:r>
            <a:endParaRPr lang="en-US" dirty="0"/>
          </a:p>
        </p:txBody>
      </p:sp>
      <p:sp>
        <p:nvSpPr>
          <p:cNvPr id="25" name="Shape 23"/>
          <p:cNvSpPr/>
          <p:nvPr/>
        </p:nvSpPr>
        <p:spPr>
          <a:xfrm>
            <a:off x="548640" y="5596128"/>
            <a:ext cx="5074920" cy="640080"/>
          </a:xfrm>
          <a:prstGeom prst="rect">
            <a:avLst/>
          </a:prstGeom>
          <a:solidFill>
            <a:srgbClr val="F4F8FA"/>
          </a:solidFill>
          <a:ln/>
        </p:spPr>
      </p:sp>
      <p:sp>
        <p:nvSpPr>
          <p:cNvPr id="26" name="Text 24"/>
          <p:cNvSpPr/>
          <p:nvPr/>
        </p:nvSpPr>
        <p:spPr>
          <a:xfrm>
            <a:off x="777240" y="5596128"/>
            <a:ext cx="4617720" cy="640080"/>
          </a:xfrm>
          <a:prstGeom prst="rect">
            <a:avLst/>
          </a:prstGeom>
          <a:noFill/>
          <a:ln/>
        </p:spPr>
        <p:txBody>
          <a:bodyPr wrap="square" lIns="0" tIns="0" rIns="0" bIns="0" rtlCol="0" anchor="ctr"/>
          <a:lstStyle/>
          <a:p>
            <a:pPr marL="0" indent="0" algn="l">
              <a:buNone/>
            </a:pPr>
            <a:r>
              <a:rPr lang="en-US" dirty="0">
                <a:solidFill>
                  <a:srgbClr val="43506B"/>
                </a:solidFill>
                <a:latin typeface="Calibri" pitchFamily="34" charset="0"/>
                <a:ea typeface="Calibri" pitchFamily="34" charset="-122"/>
                <a:cs typeface="Calibri" pitchFamily="34" charset="-120"/>
              </a:rPr>
              <a:t>Difficult scalability</a:t>
            </a:r>
            <a:endParaRPr lang="en-US" dirty="0"/>
          </a:p>
        </p:txBody>
      </p:sp>
      <p:sp>
        <p:nvSpPr>
          <p:cNvPr id="27" name="Shape 25"/>
          <p:cNvSpPr/>
          <p:nvPr/>
        </p:nvSpPr>
        <p:spPr>
          <a:xfrm>
            <a:off x="6080760" y="5596128"/>
            <a:ext cx="5074920" cy="640080"/>
          </a:xfrm>
          <a:prstGeom prst="rect">
            <a:avLst/>
          </a:prstGeom>
          <a:solidFill>
            <a:srgbClr val="F7E4E4"/>
          </a:solidFill>
          <a:ln/>
        </p:spPr>
      </p:sp>
      <p:sp>
        <p:nvSpPr>
          <p:cNvPr id="28" name="Text 26"/>
          <p:cNvSpPr/>
          <p:nvPr/>
        </p:nvSpPr>
        <p:spPr>
          <a:xfrm>
            <a:off x="6309360" y="5596128"/>
            <a:ext cx="4617720" cy="640080"/>
          </a:xfrm>
          <a:prstGeom prst="rect">
            <a:avLst/>
          </a:prstGeom>
          <a:noFill/>
          <a:ln/>
        </p:spPr>
        <p:txBody>
          <a:bodyPr wrap="square" lIns="0" tIns="0" rIns="0" bIns="0" rtlCol="0" anchor="ctr"/>
          <a:lstStyle/>
          <a:p>
            <a:pPr marL="0" indent="0" algn="l">
              <a:buNone/>
            </a:pPr>
            <a:r>
              <a:rPr lang="en-US" b="1" dirty="0">
                <a:solidFill>
                  <a:srgbClr val="8A2E2E"/>
                </a:solidFill>
                <a:latin typeface="Calibri" pitchFamily="34" charset="0"/>
                <a:ea typeface="Calibri" pitchFamily="34" charset="-122"/>
                <a:cs typeface="Calibri" pitchFamily="34" charset="-120"/>
              </a:rPr>
              <a:t>Adding resources is costly</a:t>
            </a:r>
            <a:endParaRPr lang="en-US" dirty="0"/>
          </a:p>
        </p:txBody>
      </p:sp>
    </p:spTree>
    <p:extLst>
      <p:ext uri="{BB962C8B-B14F-4D97-AF65-F5344CB8AC3E}">
        <p14:creationId xmlns:p14="http://schemas.microsoft.com/office/powerpoint/2010/main" val="2142943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chemeClr val="accent1">
                    <a:lumMod val="75000"/>
                  </a:schemeClr>
                </a:solidFill>
                <a:latin typeface="Cambria" pitchFamily="34" charset="0"/>
                <a:ea typeface="Cambria" pitchFamily="34" charset="-122"/>
                <a:cs typeface="Cambria" pitchFamily="34" charset="-120"/>
              </a:rPr>
              <a:t>How Hadoop Solves These Problems</a:t>
            </a:r>
            <a:endParaRPr lang="en-US" sz="2800" dirty="0">
              <a:solidFill>
                <a:schemeClr val="accent1">
                  <a:lumMod val="75000"/>
                </a:schemeClr>
              </a:solidFill>
            </a:endParaRPr>
          </a:p>
        </p:txBody>
      </p:sp>
      <p:sp>
        <p:nvSpPr>
          <p:cNvPr id="4" name="Shape 2"/>
          <p:cNvSpPr/>
          <p:nvPr/>
        </p:nvSpPr>
        <p:spPr>
          <a:xfrm>
            <a:off x="548640" y="1737360"/>
            <a:ext cx="5074920" cy="502920"/>
          </a:xfrm>
          <a:prstGeom prst="roundRect">
            <a:avLst>
              <a:gd name="adj" fmla="val 10909"/>
            </a:avLst>
          </a:prstGeom>
          <a:solidFill>
            <a:srgbClr val="1B2E5E"/>
          </a:solidFill>
          <a:ln/>
        </p:spPr>
      </p:sp>
      <p:sp>
        <p:nvSpPr>
          <p:cNvPr id="5" name="Text 3"/>
          <p:cNvSpPr/>
          <p:nvPr/>
        </p:nvSpPr>
        <p:spPr>
          <a:xfrm>
            <a:off x="548640" y="1737360"/>
            <a:ext cx="5074920" cy="502920"/>
          </a:xfrm>
          <a:prstGeom prst="rect">
            <a:avLst/>
          </a:prstGeom>
          <a:noFill/>
          <a:ln/>
        </p:spPr>
        <p:txBody>
          <a:bodyPr wrap="square" lIns="0" tIns="0" rIns="0" bIns="0" rtlCol="0" anchor="ctr"/>
          <a:lstStyle/>
          <a:p>
            <a:pPr marL="0" indent="0" algn="ctr">
              <a:buNone/>
            </a:pPr>
            <a:r>
              <a:rPr lang="en-US" sz="2000" b="1" kern="0" spc="100" dirty="0">
                <a:solidFill>
                  <a:srgbClr val="CFE8EF"/>
                </a:solidFill>
                <a:latin typeface="Calibri" pitchFamily="34" charset="0"/>
                <a:ea typeface="Calibri" pitchFamily="34" charset="-122"/>
                <a:cs typeface="Calibri" pitchFamily="34" charset="-120"/>
              </a:rPr>
              <a:t>PROBLEM</a:t>
            </a:r>
            <a:endParaRPr lang="en-US" sz="2000" dirty="0"/>
          </a:p>
        </p:txBody>
      </p:sp>
      <p:sp>
        <p:nvSpPr>
          <p:cNvPr id="6" name="Shape 4"/>
          <p:cNvSpPr/>
          <p:nvPr/>
        </p:nvSpPr>
        <p:spPr>
          <a:xfrm>
            <a:off x="6080760" y="1737360"/>
            <a:ext cx="5074920" cy="502920"/>
          </a:xfrm>
          <a:prstGeom prst="roundRect">
            <a:avLst>
              <a:gd name="adj" fmla="val 10909"/>
            </a:avLst>
          </a:prstGeom>
          <a:solidFill>
            <a:srgbClr val="F2A93B"/>
          </a:solidFill>
          <a:ln/>
        </p:spPr>
      </p:sp>
      <p:sp>
        <p:nvSpPr>
          <p:cNvPr id="7" name="Text 5"/>
          <p:cNvSpPr/>
          <p:nvPr/>
        </p:nvSpPr>
        <p:spPr>
          <a:xfrm>
            <a:off x="6080760" y="1737360"/>
            <a:ext cx="5074920" cy="502920"/>
          </a:xfrm>
          <a:prstGeom prst="rect">
            <a:avLst/>
          </a:prstGeom>
          <a:noFill/>
          <a:ln/>
        </p:spPr>
        <p:txBody>
          <a:bodyPr wrap="square" lIns="0" tIns="0" rIns="0" bIns="0" rtlCol="0" anchor="ctr"/>
          <a:lstStyle/>
          <a:p>
            <a:pPr marL="0" indent="0" algn="ctr">
              <a:buNone/>
            </a:pPr>
            <a:r>
              <a:rPr lang="en-US" sz="2000" b="1" kern="0" spc="100" dirty="0">
                <a:solidFill>
                  <a:srgbClr val="21295C"/>
                </a:solidFill>
                <a:latin typeface="Calibri" pitchFamily="34" charset="0"/>
                <a:ea typeface="Calibri" pitchFamily="34" charset="-122"/>
                <a:cs typeface="Calibri" pitchFamily="34" charset="-120"/>
              </a:rPr>
              <a:t>HADOOP SOLUTION</a:t>
            </a:r>
            <a:endParaRPr lang="en-US" sz="2000" dirty="0"/>
          </a:p>
        </p:txBody>
      </p:sp>
      <p:sp>
        <p:nvSpPr>
          <p:cNvPr id="8" name="Shape 6"/>
          <p:cNvSpPr/>
          <p:nvPr/>
        </p:nvSpPr>
        <p:spPr>
          <a:xfrm>
            <a:off x="548640" y="2377440"/>
            <a:ext cx="5074920" cy="676656"/>
          </a:xfrm>
          <a:prstGeom prst="rect">
            <a:avLst/>
          </a:prstGeom>
          <a:solidFill>
            <a:srgbClr val="1B2E5E"/>
          </a:solidFill>
          <a:ln/>
        </p:spPr>
      </p:sp>
      <p:sp>
        <p:nvSpPr>
          <p:cNvPr id="9" name="Text 7"/>
          <p:cNvSpPr/>
          <p:nvPr/>
        </p:nvSpPr>
        <p:spPr>
          <a:xfrm>
            <a:off x="777240" y="2377440"/>
            <a:ext cx="4617720" cy="676656"/>
          </a:xfrm>
          <a:prstGeom prst="rect">
            <a:avLst/>
          </a:prstGeom>
          <a:noFill/>
          <a:ln/>
        </p:spPr>
        <p:txBody>
          <a:bodyPr wrap="square" lIns="0" tIns="0" rIns="0" bIns="0" rtlCol="0" anchor="ctr"/>
          <a:lstStyle/>
          <a:p>
            <a:pPr marL="0" indent="0" algn="l">
              <a:buNone/>
            </a:pPr>
            <a:r>
              <a:rPr lang="en-US" sz="2000" dirty="0">
                <a:solidFill>
                  <a:srgbClr val="CFE8EF"/>
                </a:solidFill>
                <a:latin typeface="Calibri" pitchFamily="34" charset="0"/>
                <a:ea typeface="Calibri" pitchFamily="34" charset="-122"/>
                <a:cs typeface="Calibri" pitchFamily="34" charset="-120"/>
              </a:rPr>
              <a:t>Huge data</a:t>
            </a:r>
            <a:endParaRPr lang="en-US" sz="2000" dirty="0"/>
          </a:p>
        </p:txBody>
      </p:sp>
      <p:sp>
        <p:nvSpPr>
          <p:cNvPr id="10" name="Shape 8"/>
          <p:cNvSpPr/>
          <p:nvPr/>
        </p:nvSpPr>
        <p:spPr>
          <a:xfrm>
            <a:off x="6080760" y="2377440"/>
            <a:ext cx="5074920" cy="676656"/>
          </a:xfrm>
          <a:prstGeom prst="rect">
            <a:avLst/>
          </a:prstGeom>
          <a:solidFill>
            <a:srgbClr val="2B3F73"/>
          </a:solidFill>
          <a:ln/>
        </p:spPr>
      </p:sp>
      <p:sp>
        <p:nvSpPr>
          <p:cNvPr id="11" name="Text 9"/>
          <p:cNvSpPr/>
          <p:nvPr/>
        </p:nvSpPr>
        <p:spPr>
          <a:xfrm>
            <a:off x="6309360" y="2377440"/>
            <a:ext cx="4617720" cy="676656"/>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Distributed storage (HDFS)</a:t>
            </a:r>
            <a:endParaRPr lang="en-US" sz="2000" dirty="0"/>
          </a:p>
        </p:txBody>
      </p:sp>
      <p:sp>
        <p:nvSpPr>
          <p:cNvPr id="12" name="Shape 10"/>
          <p:cNvSpPr/>
          <p:nvPr/>
        </p:nvSpPr>
        <p:spPr>
          <a:xfrm>
            <a:off x="548640" y="3127248"/>
            <a:ext cx="5074920" cy="676656"/>
          </a:xfrm>
          <a:prstGeom prst="rect">
            <a:avLst/>
          </a:prstGeom>
          <a:solidFill>
            <a:srgbClr val="16264C"/>
          </a:solidFill>
          <a:ln/>
        </p:spPr>
      </p:sp>
      <p:sp>
        <p:nvSpPr>
          <p:cNvPr id="13" name="Text 11"/>
          <p:cNvSpPr/>
          <p:nvPr/>
        </p:nvSpPr>
        <p:spPr>
          <a:xfrm>
            <a:off x="777240" y="3127248"/>
            <a:ext cx="4617720" cy="676656"/>
          </a:xfrm>
          <a:prstGeom prst="rect">
            <a:avLst/>
          </a:prstGeom>
          <a:noFill/>
          <a:ln/>
        </p:spPr>
        <p:txBody>
          <a:bodyPr wrap="square" lIns="0" tIns="0" rIns="0" bIns="0" rtlCol="0" anchor="ctr"/>
          <a:lstStyle/>
          <a:p>
            <a:pPr marL="0" indent="0" algn="l">
              <a:buNone/>
            </a:pPr>
            <a:r>
              <a:rPr lang="en-US" sz="2000" dirty="0">
                <a:solidFill>
                  <a:srgbClr val="CFE8EF"/>
                </a:solidFill>
                <a:latin typeface="Calibri" pitchFamily="34" charset="0"/>
                <a:ea typeface="Calibri" pitchFamily="34" charset="-122"/>
                <a:cs typeface="Calibri" pitchFamily="34" charset="-120"/>
              </a:rPr>
              <a:t>Slow processing</a:t>
            </a:r>
            <a:endParaRPr lang="en-US" sz="2000" dirty="0"/>
          </a:p>
        </p:txBody>
      </p:sp>
      <p:sp>
        <p:nvSpPr>
          <p:cNvPr id="14" name="Shape 12"/>
          <p:cNvSpPr/>
          <p:nvPr/>
        </p:nvSpPr>
        <p:spPr>
          <a:xfrm>
            <a:off x="6080760" y="3127248"/>
            <a:ext cx="5074920" cy="676656"/>
          </a:xfrm>
          <a:prstGeom prst="rect">
            <a:avLst/>
          </a:prstGeom>
          <a:solidFill>
            <a:srgbClr val="263768"/>
          </a:solidFill>
          <a:ln/>
        </p:spPr>
      </p:sp>
      <p:sp>
        <p:nvSpPr>
          <p:cNvPr id="15" name="Text 13"/>
          <p:cNvSpPr/>
          <p:nvPr/>
        </p:nvSpPr>
        <p:spPr>
          <a:xfrm>
            <a:off x="6309360" y="3127248"/>
            <a:ext cx="4617720" cy="676656"/>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Parallel processing (MapReduce)</a:t>
            </a:r>
            <a:endParaRPr lang="en-US" sz="2000" dirty="0"/>
          </a:p>
        </p:txBody>
      </p:sp>
      <p:sp>
        <p:nvSpPr>
          <p:cNvPr id="16" name="Shape 14"/>
          <p:cNvSpPr/>
          <p:nvPr/>
        </p:nvSpPr>
        <p:spPr>
          <a:xfrm>
            <a:off x="548640" y="3877056"/>
            <a:ext cx="5074920" cy="676656"/>
          </a:xfrm>
          <a:prstGeom prst="rect">
            <a:avLst/>
          </a:prstGeom>
          <a:solidFill>
            <a:srgbClr val="1B2E5E"/>
          </a:solidFill>
          <a:ln/>
        </p:spPr>
      </p:sp>
      <p:sp>
        <p:nvSpPr>
          <p:cNvPr id="17" name="Text 15"/>
          <p:cNvSpPr/>
          <p:nvPr/>
        </p:nvSpPr>
        <p:spPr>
          <a:xfrm>
            <a:off x="777240" y="3877056"/>
            <a:ext cx="4617720" cy="676656"/>
          </a:xfrm>
          <a:prstGeom prst="rect">
            <a:avLst/>
          </a:prstGeom>
          <a:noFill/>
          <a:ln/>
        </p:spPr>
        <p:txBody>
          <a:bodyPr wrap="square" lIns="0" tIns="0" rIns="0" bIns="0" rtlCol="0" anchor="ctr"/>
          <a:lstStyle/>
          <a:p>
            <a:pPr marL="0" indent="0" algn="l">
              <a:buNone/>
            </a:pPr>
            <a:r>
              <a:rPr lang="en-US" sz="2000" dirty="0">
                <a:solidFill>
                  <a:srgbClr val="CFE8EF"/>
                </a:solidFill>
                <a:latin typeface="Calibri" pitchFamily="34" charset="0"/>
                <a:ea typeface="Calibri" pitchFamily="34" charset="-122"/>
                <a:cs typeface="Calibri" pitchFamily="34" charset="-120"/>
              </a:rPr>
              <a:t>Hardware failure</a:t>
            </a:r>
            <a:endParaRPr lang="en-US" sz="2000" dirty="0"/>
          </a:p>
        </p:txBody>
      </p:sp>
      <p:sp>
        <p:nvSpPr>
          <p:cNvPr id="18" name="Shape 16"/>
          <p:cNvSpPr/>
          <p:nvPr/>
        </p:nvSpPr>
        <p:spPr>
          <a:xfrm>
            <a:off x="6080760" y="3877056"/>
            <a:ext cx="5074920" cy="676656"/>
          </a:xfrm>
          <a:prstGeom prst="rect">
            <a:avLst/>
          </a:prstGeom>
          <a:solidFill>
            <a:srgbClr val="2B3F73"/>
          </a:solidFill>
          <a:ln/>
        </p:spPr>
      </p:sp>
      <p:sp>
        <p:nvSpPr>
          <p:cNvPr id="19" name="Text 17"/>
          <p:cNvSpPr/>
          <p:nvPr/>
        </p:nvSpPr>
        <p:spPr>
          <a:xfrm>
            <a:off x="6309360" y="3877056"/>
            <a:ext cx="4617720" cy="676656"/>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Replication and fault tolerance</a:t>
            </a:r>
            <a:endParaRPr lang="en-US" sz="2000" dirty="0"/>
          </a:p>
        </p:txBody>
      </p:sp>
      <p:sp>
        <p:nvSpPr>
          <p:cNvPr id="20" name="Shape 18"/>
          <p:cNvSpPr/>
          <p:nvPr/>
        </p:nvSpPr>
        <p:spPr>
          <a:xfrm>
            <a:off x="548640" y="4626864"/>
            <a:ext cx="5074920" cy="676656"/>
          </a:xfrm>
          <a:prstGeom prst="rect">
            <a:avLst/>
          </a:prstGeom>
          <a:solidFill>
            <a:srgbClr val="16264C"/>
          </a:solidFill>
          <a:ln/>
        </p:spPr>
      </p:sp>
      <p:sp>
        <p:nvSpPr>
          <p:cNvPr id="21" name="Text 19"/>
          <p:cNvSpPr/>
          <p:nvPr/>
        </p:nvSpPr>
        <p:spPr>
          <a:xfrm>
            <a:off x="777240" y="4626864"/>
            <a:ext cx="4617720" cy="676656"/>
          </a:xfrm>
          <a:prstGeom prst="rect">
            <a:avLst/>
          </a:prstGeom>
          <a:noFill/>
          <a:ln/>
        </p:spPr>
        <p:txBody>
          <a:bodyPr wrap="square" lIns="0" tIns="0" rIns="0" bIns="0" rtlCol="0" anchor="ctr"/>
          <a:lstStyle/>
          <a:p>
            <a:pPr marL="0" indent="0" algn="l">
              <a:buNone/>
            </a:pPr>
            <a:r>
              <a:rPr lang="en-US" sz="2000" dirty="0">
                <a:solidFill>
                  <a:srgbClr val="CFE8EF"/>
                </a:solidFill>
                <a:latin typeface="Calibri" pitchFamily="34" charset="0"/>
                <a:ea typeface="Calibri" pitchFamily="34" charset="-122"/>
                <a:cs typeface="Calibri" pitchFamily="34" charset="-120"/>
              </a:rPr>
              <a:t>Scalability</a:t>
            </a:r>
            <a:endParaRPr lang="en-US" sz="2000" dirty="0"/>
          </a:p>
        </p:txBody>
      </p:sp>
      <p:sp>
        <p:nvSpPr>
          <p:cNvPr id="22" name="Shape 20"/>
          <p:cNvSpPr/>
          <p:nvPr/>
        </p:nvSpPr>
        <p:spPr>
          <a:xfrm>
            <a:off x="6080760" y="4626864"/>
            <a:ext cx="5074920" cy="676656"/>
          </a:xfrm>
          <a:prstGeom prst="rect">
            <a:avLst/>
          </a:prstGeom>
          <a:solidFill>
            <a:srgbClr val="263768"/>
          </a:solidFill>
          <a:ln/>
        </p:spPr>
      </p:sp>
      <p:sp>
        <p:nvSpPr>
          <p:cNvPr id="23" name="Text 21"/>
          <p:cNvSpPr/>
          <p:nvPr/>
        </p:nvSpPr>
        <p:spPr>
          <a:xfrm>
            <a:off x="6309360" y="4626864"/>
            <a:ext cx="4617720" cy="676656"/>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Add more DataNodes</a:t>
            </a:r>
            <a:endParaRPr lang="en-US" sz="2000" dirty="0"/>
          </a:p>
        </p:txBody>
      </p:sp>
      <p:sp>
        <p:nvSpPr>
          <p:cNvPr id="24" name="Shape 22"/>
          <p:cNvSpPr/>
          <p:nvPr/>
        </p:nvSpPr>
        <p:spPr>
          <a:xfrm>
            <a:off x="548640" y="5376672"/>
            <a:ext cx="5074920" cy="676656"/>
          </a:xfrm>
          <a:prstGeom prst="rect">
            <a:avLst/>
          </a:prstGeom>
          <a:solidFill>
            <a:srgbClr val="1B2E5E"/>
          </a:solidFill>
          <a:ln/>
        </p:spPr>
      </p:sp>
      <p:sp>
        <p:nvSpPr>
          <p:cNvPr id="25" name="Text 23"/>
          <p:cNvSpPr/>
          <p:nvPr/>
        </p:nvSpPr>
        <p:spPr>
          <a:xfrm>
            <a:off x="777240" y="5376672"/>
            <a:ext cx="4617720" cy="676656"/>
          </a:xfrm>
          <a:prstGeom prst="rect">
            <a:avLst/>
          </a:prstGeom>
          <a:noFill/>
          <a:ln/>
        </p:spPr>
        <p:txBody>
          <a:bodyPr wrap="square" lIns="0" tIns="0" rIns="0" bIns="0" rtlCol="0" anchor="ctr"/>
          <a:lstStyle/>
          <a:p>
            <a:pPr marL="0" indent="0" algn="l">
              <a:buNone/>
            </a:pPr>
            <a:r>
              <a:rPr lang="en-US" sz="2000" dirty="0">
                <a:solidFill>
                  <a:srgbClr val="CFE8EF"/>
                </a:solidFill>
                <a:latin typeface="Calibri" pitchFamily="34" charset="0"/>
                <a:ea typeface="Calibri" pitchFamily="34" charset="-122"/>
                <a:cs typeface="Calibri" pitchFamily="34" charset="-120"/>
              </a:rPr>
              <a:t>High cost</a:t>
            </a:r>
            <a:endParaRPr lang="en-US" sz="2000" dirty="0"/>
          </a:p>
        </p:txBody>
      </p:sp>
      <p:sp>
        <p:nvSpPr>
          <p:cNvPr id="26" name="Shape 24"/>
          <p:cNvSpPr/>
          <p:nvPr/>
        </p:nvSpPr>
        <p:spPr>
          <a:xfrm>
            <a:off x="6080760" y="5376672"/>
            <a:ext cx="5074920" cy="676656"/>
          </a:xfrm>
          <a:prstGeom prst="rect">
            <a:avLst/>
          </a:prstGeom>
          <a:solidFill>
            <a:srgbClr val="2B3F73"/>
          </a:solidFill>
          <a:ln/>
        </p:spPr>
      </p:sp>
      <p:sp>
        <p:nvSpPr>
          <p:cNvPr id="27" name="Text 25"/>
          <p:cNvSpPr/>
          <p:nvPr/>
        </p:nvSpPr>
        <p:spPr>
          <a:xfrm>
            <a:off x="6309360" y="5376672"/>
            <a:ext cx="4617720" cy="676656"/>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Commodity hardware</a:t>
            </a:r>
            <a:endParaRPr lang="en-US" sz="2000" dirty="0"/>
          </a:p>
        </p:txBody>
      </p:sp>
    </p:spTree>
    <p:extLst>
      <p:ext uri="{BB962C8B-B14F-4D97-AF65-F5344CB8AC3E}">
        <p14:creationId xmlns:p14="http://schemas.microsoft.com/office/powerpoint/2010/main" val="3748963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594360"/>
          </a:xfrm>
          <a:prstGeom prst="rect">
            <a:avLst/>
          </a:prstGeom>
          <a:noFill/>
          <a:ln/>
        </p:spPr>
        <p:txBody>
          <a:bodyPr wrap="square" lIns="0" tIns="0" rIns="0" bIns="0"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Traditional System vs. Hadoop, Side by Side</a:t>
            </a:r>
            <a:endParaRPr lang="en-US" sz="2600" dirty="0"/>
          </a:p>
        </p:txBody>
      </p:sp>
      <p:sp>
        <p:nvSpPr>
          <p:cNvPr id="4" name="Text 2"/>
          <p:cNvSpPr/>
          <p:nvPr/>
        </p:nvSpPr>
        <p:spPr>
          <a:xfrm>
            <a:off x="1371600" y="1463040"/>
            <a:ext cx="4206240" cy="320040"/>
          </a:xfrm>
          <a:prstGeom prst="rect">
            <a:avLst/>
          </a:prstGeom>
          <a:noFill/>
          <a:ln/>
        </p:spPr>
        <p:txBody>
          <a:bodyPr wrap="square" lIns="0" tIns="0" rIns="0" bIns="0" rtlCol="0" anchor="ctr"/>
          <a:lstStyle/>
          <a:p>
            <a:pPr marL="0" indent="0" algn="ctr">
              <a:buNone/>
            </a:pPr>
            <a:r>
              <a:rPr lang="en-US" b="1" kern="0" spc="100" dirty="0">
                <a:solidFill>
                  <a:srgbClr val="B23A3A"/>
                </a:solidFill>
                <a:latin typeface="Calibri" pitchFamily="34" charset="0"/>
                <a:ea typeface="Calibri" pitchFamily="34" charset="-122"/>
                <a:cs typeface="Calibri" pitchFamily="34" charset="-120"/>
              </a:rPr>
              <a:t>TRADITIONAL SYSTEM</a:t>
            </a:r>
            <a:endParaRPr lang="en-US" dirty="0"/>
          </a:p>
        </p:txBody>
      </p:sp>
      <p:sp>
        <p:nvSpPr>
          <p:cNvPr id="5" name="Shape 3"/>
          <p:cNvSpPr/>
          <p:nvPr/>
        </p:nvSpPr>
        <p:spPr>
          <a:xfrm>
            <a:off x="1371600" y="1828800"/>
            <a:ext cx="4206240" cy="548640"/>
          </a:xfrm>
          <a:prstGeom prst="roundRect">
            <a:avLst>
              <a:gd name="adj" fmla="val 10000"/>
            </a:avLst>
          </a:prstGeom>
          <a:solidFill>
            <a:srgbClr val="F4F8FA"/>
          </a:solidFill>
          <a:ln/>
        </p:spPr>
      </p:sp>
      <p:sp>
        <p:nvSpPr>
          <p:cNvPr id="6" name="Text 4"/>
          <p:cNvSpPr/>
          <p:nvPr/>
        </p:nvSpPr>
        <p:spPr>
          <a:xfrm>
            <a:off x="1371600" y="1828800"/>
            <a:ext cx="42062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libri" pitchFamily="34" charset="0"/>
                <a:ea typeface="Calibri" pitchFamily="34" charset="-122"/>
                <a:cs typeface="Calibri" pitchFamily="34" charset="-120"/>
              </a:rPr>
              <a:t>Large Data</a:t>
            </a:r>
            <a:endParaRPr lang="en-US" sz="2000" dirty="0"/>
          </a:p>
        </p:txBody>
      </p:sp>
      <p:sp>
        <p:nvSpPr>
          <p:cNvPr id="7" name="Shape 5"/>
          <p:cNvSpPr/>
          <p:nvPr/>
        </p:nvSpPr>
        <p:spPr>
          <a:xfrm>
            <a:off x="3474720" y="2377440"/>
            <a:ext cx="0" cy="274320"/>
          </a:xfrm>
          <a:prstGeom prst="line">
            <a:avLst/>
          </a:prstGeom>
          <a:noFill/>
          <a:ln w="19050">
            <a:solidFill>
              <a:srgbClr val="43506B"/>
            </a:solidFill>
            <a:prstDash val="solid"/>
            <a:tailEnd type="triangle"/>
          </a:ln>
        </p:spPr>
      </p:sp>
      <p:sp>
        <p:nvSpPr>
          <p:cNvPr id="8" name="Shape 6"/>
          <p:cNvSpPr/>
          <p:nvPr/>
        </p:nvSpPr>
        <p:spPr>
          <a:xfrm>
            <a:off x="1371600" y="2651760"/>
            <a:ext cx="4206240" cy="548640"/>
          </a:xfrm>
          <a:prstGeom prst="roundRect">
            <a:avLst>
              <a:gd name="adj" fmla="val 10000"/>
            </a:avLst>
          </a:prstGeom>
          <a:solidFill>
            <a:srgbClr val="F4F8FA"/>
          </a:solidFill>
          <a:ln/>
        </p:spPr>
      </p:sp>
      <p:sp>
        <p:nvSpPr>
          <p:cNvPr id="9" name="Text 7"/>
          <p:cNvSpPr/>
          <p:nvPr/>
        </p:nvSpPr>
        <p:spPr>
          <a:xfrm>
            <a:off x="1371600" y="2651760"/>
            <a:ext cx="42062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libri" pitchFamily="34" charset="0"/>
                <a:ea typeface="Calibri" pitchFamily="34" charset="-122"/>
                <a:cs typeface="Calibri" pitchFamily="34" charset="-120"/>
              </a:rPr>
              <a:t>Single Server</a:t>
            </a:r>
            <a:endParaRPr lang="en-US" sz="2000" dirty="0"/>
          </a:p>
        </p:txBody>
      </p:sp>
      <p:sp>
        <p:nvSpPr>
          <p:cNvPr id="10" name="Shape 8"/>
          <p:cNvSpPr/>
          <p:nvPr/>
        </p:nvSpPr>
        <p:spPr>
          <a:xfrm>
            <a:off x="3474720" y="3200400"/>
            <a:ext cx="0" cy="274320"/>
          </a:xfrm>
          <a:prstGeom prst="line">
            <a:avLst/>
          </a:prstGeom>
          <a:noFill/>
          <a:ln w="19050">
            <a:solidFill>
              <a:srgbClr val="43506B"/>
            </a:solidFill>
            <a:prstDash val="solid"/>
            <a:tailEnd type="triangle"/>
          </a:ln>
        </p:spPr>
      </p:sp>
      <p:sp>
        <p:nvSpPr>
          <p:cNvPr id="11" name="Shape 9"/>
          <p:cNvSpPr/>
          <p:nvPr/>
        </p:nvSpPr>
        <p:spPr>
          <a:xfrm>
            <a:off x="1371600" y="3474720"/>
            <a:ext cx="4206240" cy="548640"/>
          </a:xfrm>
          <a:prstGeom prst="roundRect">
            <a:avLst>
              <a:gd name="adj" fmla="val 10000"/>
            </a:avLst>
          </a:prstGeom>
          <a:solidFill>
            <a:srgbClr val="F4F8FA"/>
          </a:solidFill>
          <a:ln/>
        </p:spPr>
      </p:sp>
      <p:sp>
        <p:nvSpPr>
          <p:cNvPr id="12" name="Text 10"/>
          <p:cNvSpPr/>
          <p:nvPr/>
        </p:nvSpPr>
        <p:spPr>
          <a:xfrm>
            <a:off x="1371600" y="3474720"/>
            <a:ext cx="42062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libri" pitchFamily="34" charset="0"/>
                <a:ea typeface="Calibri" pitchFamily="34" charset="-122"/>
                <a:cs typeface="Calibri" pitchFamily="34" charset="-120"/>
              </a:rPr>
              <a:t>Storage Full</a:t>
            </a:r>
            <a:endParaRPr lang="en-US" sz="2000" dirty="0"/>
          </a:p>
        </p:txBody>
      </p:sp>
      <p:sp>
        <p:nvSpPr>
          <p:cNvPr id="13" name="Shape 11"/>
          <p:cNvSpPr/>
          <p:nvPr/>
        </p:nvSpPr>
        <p:spPr>
          <a:xfrm>
            <a:off x="3474720" y="4023360"/>
            <a:ext cx="0" cy="274320"/>
          </a:xfrm>
          <a:prstGeom prst="line">
            <a:avLst/>
          </a:prstGeom>
          <a:noFill/>
          <a:ln w="19050">
            <a:solidFill>
              <a:srgbClr val="43506B"/>
            </a:solidFill>
            <a:prstDash val="solid"/>
            <a:tailEnd type="triangle"/>
          </a:ln>
        </p:spPr>
      </p:sp>
      <p:sp>
        <p:nvSpPr>
          <p:cNvPr id="14" name="Shape 12"/>
          <p:cNvSpPr/>
          <p:nvPr/>
        </p:nvSpPr>
        <p:spPr>
          <a:xfrm>
            <a:off x="1371600" y="4297680"/>
            <a:ext cx="4206240" cy="548640"/>
          </a:xfrm>
          <a:prstGeom prst="roundRect">
            <a:avLst>
              <a:gd name="adj" fmla="val 10000"/>
            </a:avLst>
          </a:prstGeom>
          <a:solidFill>
            <a:srgbClr val="F4F8FA"/>
          </a:solidFill>
          <a:ln/>
        </p:spPr>
      </p:sp>
      <p:sp>
        <p:nvSpPr>
          <p:cNvPr id="15" name="Text 13"/>
          <p:cNvSpPr/>
          <p:nvPr/>
        </p:nvSpPr>
        <p:spPr>
          <a:xfrm>
            <a:off x="1371600" y="4297680"/>
            <a:ext cx="42062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libri" pitchFamily="34" charset="0"/>
                <a:ea typeface="Calibri" pitchFamily="34" charset="-122"/>
                <a:cs typeface="Calibri" pitchFamily="34" charset="-120"/>
              </a:rPr>
              <a:t>Slow Processing</a:t>
            </a:r>
            <a:endParaRPr lang="en-US" sz="2000" dirty="0"/>
          </a:p>
        </p:txBody>
      </p:sp>
      <p:sp>
        <p:nvSpPr>
          <p:cNvPr id="16" name="Shape 14"/>
          <p:cNvSpPr/>
          <p:nvPr/>
        </p:nvSpPr>
        <p:spPr>
          <a:xfrm>
            <a:off x="3474720" y="4846320"/>
            <a:ext cx="0" cy="274320"/>
          </a:xfrm>
          <a:prstGeom prst="line">
            <a:avLst/>
          </a:prstGeom>
          <a:noFill/>
          <a:ln w="19050">
            <a:solidFill>
              <a:srgbClr val="43506B"/>
            </a:solidFill>
            <a:prstDash val="solid"/>
            <a:tailEnd type="triangle"/>
          </a:ln>
        </p:spPr>
      </p:sp>
      <p:sp>
        <p:nvSpPr>
          <p:cNvPr id="17" name="Shape 15"/>
          <p:cNvSpPr/>
          <p:nvPr/>
        </p:nvSpPr>
        <p:spPr>
          <a:xfrm>
            <a:off x="1371600" y="5120640"/>
            <a:ext cx="4206240" cy="548640"/>
          </a:xfrm>
          <a:prstGeom prst="roundRect">
            <a:avLst>
              <a:gd name="adj" fmla="val 10000"/>
            </a:avLst>
          </a:prstGeom>
          <a:solidFill>
            <a:srgbClr val="6B2C2C"/>
          </a:solidFill>
          <a:ln/>
        </p:spPr>
      </p:sp>
      <p:sp>
        <p:nvSpPr>
          <p:cNvPr id="18" name="Text 16"/>
          <p:cNvSpPr/>
          <p:nvPr/>
        </p:nvSpPr>
        <p:spPr>
          <a:xfrm>
            <a:off x="1371600" y="5120640"/>
            <a:ext cx="42062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Failure</a:t>
            </a:r>
            <a:endParaRPr lang="en-US" sz="2000" dirty="0"/>
          </a:p>
        </p:txBody>
      </p:sp>
      <p:sp>
        <p:nvSpPr>
          <p:cNvPr id="19" name="Shape 17"/>
          <p:cNvSpPr/>
          <p:nvPr/>
        </p:nvSpPr>
        <p:spPr>
          <a:xfrm>
            <a:off x="6080760" y="1463040"/>
            <a:ext cx="0" cy="4572000"/>
          </a:xfrm>
          <a:prstGeom prst="line">
            <a:avLst/>
          </a:prstGeom>
          <a:noFill/>
          <a:ln w="12700">
            <a:solidFill>
              <a:srgbClr val="D5DCE3"/>
            </a:solidFill>
            <a:prstDash val="dash"/>
          </a:ln>
        </p:spPr>
      </p:sp>
      <p:sp>
        <p:nvSpPr>
          <p:cNvPr id="20" name="Text 18"/>
          <p:cNvSpPr/>
          <p:nvPr/>
        </p:nvSpPr>
        <p:spPr>
          <a:xfrm>
            <a:off x="6583680" y="1463040"/>
            <a:ext cx="4206240" cy="320040"/>
          </a:xfrm>
          <a:prstGeom prst="rect">
            <a:avLst/>
          </a:prstGeom>
          <a:noFill/>
          <a:ln/>
        </p:spPr>
        <p:txBody>
          <a:bodyPr wrap="square" lIns="0" tIns="0" rIns="0" bIns="0" rtlCol="0" anchor="ctr"/>
          <a:lstStyle/>
          <a:p>
            <a:pPr marL="0" indent="0" algn="ctr">
              <a:buNone/>
            </a:pPr>
            <a:r>
              <a:rPr lang="en-US" b="1" kern="0" spc="100" dirty="0">
                <a:solidFill>
                  <a:srgbClr val="1F7A45"/>
                </a:solidFill>
                <a:latin typeface="Calibri" pitchFamily="34" charset="0"/>
                <a:ea typeface="Calibri" pitchFamily="34" charset="-122"/>
                <a:cs typeface="Calibri" pitchFamily="34" charset="-120"/>
              </a:rPr>
              <a:t>HADOOP</a:t>
            </a:r>
            <a:endParaRPr lang="en-US" dirty="0"/>
          </a:p>
        </p:txBody>
      </p:sp>
      <p:sp>
        <p:nvSpPr>
          <p:cNvPr id="21" name="Shape 19"/>
          <p:cNvSpPr/>
          <p:nvPr/>
        </p:nvSpPr>
        <p:spPr>
          <a:xfrm>
            <a:off x="6583680" y="1828800"/>
            <a:ext cx="4206240" cy="548640"/>
          </a:xfrm>
          <a:prstGeom prst="roundRect">
            <a:avLst>
              <a:gd name="adj" fmla="val 10000"/>
            </a:avLst>
          </a:prstGeom>
          <a:solidFill>
            <a:srgbClr val="21295C"/>
          </a:solidFill>
          <a:ln/>
        </p:spPr>
      </p:sp>
      <p:sp>
        <p:nvSpPr>
          <p:cNvPr id="22" name="Text 20"/>
          <p:cNvSpPr/>
          <p:nvPr/>
        </p:nvSpPr>
        <p:spPr>
          <a:xfrm>
            <a:off x="6583680" y="1828800"/>
            <a:ext cx="42062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Large Data</a:t>
            </a:r>
            <a:endParaRPr lang="en-US" sz="2000" dirty="0"/>
          </a:p>
        </p:txBody>
      </p:sp>
      <p:sp>
        <p:nvSpPr>
          <p:cNvPr id="23" name="Shape 21"/>
          <p:cNvSpPr/>
          <p:nvPr/>
        </p:nvSpPr>
        <p:spPr>
          <a:xfrm>
            <a:off x="8686800" y="2377440"/>
            <a:ext cx="0" cy="274320"/>
          </a:xfrm>
          <a:prstGeom prst="line">
            <a:avLst/>
          </a:prstGeom>
          <a:noFill/>
          <a:ln w="19050">
            <a:solidFill>
              <a:srgbClr val="F2A93B"/>
            </a:solidFill>
            <a:prstDash val="solid"/>
            <a:tailEnd type="triangle"/>
          </a:ln>
        </p:spPr>
      </p:sp>
      <p:sp>
        <p:nvSpPr>
          <p:cNvPr id="24" name="Shape 22"/>
          <p:cNvSpPr/>
          <p:nvPr/>
        </p:nvSpPr>
        <p:spPr>
          <a:xfrm>
            <a:off x="6583680" y="2651760"/>
            <a:ext cx="4206240" cy="548640"/>
          </a:xfrm>
          <a:prstGeom prst="roundRect">
            <a:avLst>
              <a:gd name="adj" fmla="val 10000"/>
            </a:avLst>
          </a:prstGeom>
          <a:solidFill>
            <a:srgbClr val="21295C"/>
          </a:solidFill>
          <a:ln/>
        </p:spPr>
      </p:sp>
      <p:sp>
        <p:nvSpPr>
          <p:cNvPr id="25" name="Text 23"/>
          <p:cNvSpPr/>
          <p:nvPr/>
        </p:nvSpPr>
        <p:spPr>
          <a:xfrm>
            <a:off x="6583680" y="2651760"/>
            <a:ext cx="42062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Distributed Cluster</a:t>
            </a:r>
            <a:endParaRPr lang="en-US" sz="2000" dirty="0"/>
          </a:p>
        </p:txBody>
      </p:sp>
      <p:sp>
        <p:nvSpPr>
          <p:cNvPr id="26" name="Shape 24"/>
          <p:cNvSpPr/>
          <p:nvPr/>
        </p:nvSpPr>
        <p:spPr>
          <a:xfrm>
            <a:off x="8686800" y="3200400"/>
            <a:ext cx="0" cy="274320"/>
          </a:xfrm>
          <a:prstGeom prst="line">
            <a:avLst/>
          </a:prstGeom>
          <a:noFill/>
          <a:ln w="19050">
            <a:solidFill>
              <a:srgbClr val="F2A93B"/>
            </a:solidFill>
            <a:prstDash val="solid"/>
            <a:tailEnd type="triangle"/>
          </a:ln>
        </p:spPr>
      </p:sp>
      <p:sp>
        <p:nvSpPr>
          <p:cNvPr id="27" name="Shape 25"/>
          <p:cNvSpPr/>
          <p:nvPr/>
        </p:nvSpPr>
        <p:spPr>
          <a:xfrm>
            <a:off x="6583680" y="3474720"/>
            <a:ext cx="4206240" cy="548640"/>
          </a:xfrm>
          <a:prstGeom prst="roundRect">
            <a:avLst>
              <a:gd name="adj" fmla="val 10000"/>
            </a:avLst>
          </a:prstGeom>
          <a:solidFill>
            <a:srgbClr val="21295C"/>
          </a:solidFill>
          <a:ln/>
        </p:spPr>
      </p:sp>
      <p:sp>
        <p:nvSpPr>
          <p:cNvPr id="28" name="Text 26"/>
          <p:cNvSpPr/>
          <p:nvPr/>
        </p:nvSpPr>
        <p:spPr>
          <a:xfrm>
            <a:off x="6583680" y="3474720"/>
            <a:ext cx="42062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Multiple DataNodes</a:t>
            </a:r>
            <a:endParaRPr lang="en-US" sz="2000" dirty="0"/>
          </a:p>
        </p:txBody>
      </p:sp>
      <p:sp>
        <p:nvSpPr>
          <p:cNvPr id="29" name="Shape 27"/>
          <p:cNvSpPr/>
          <p:nvPr/>
        </p:nvSpPr>
        <p:spPr>
          <a:xfrm>
            <a:off x="8686800" y="4023360"/>
            <a:ext cx="0" cy="274320"/>
          </a:xfrm>
          <a:prstGeom prst="line">
            <a:avLst/>
          </a:prstGeom>
          <a:noFill/>
          <a:ln w="19050">
            <a:solidFill>
              <a:srgbClr val="F2A93B"/>
            </a:solidFill>
            <a:prstDash val="solid"/>
            <a:tailEnd type="triangle"/>
          </a:ln>
        </p:spPr>
      </p:sp>
      <p:sp>
        <p:nvSpPr>
          <p:cNvPr id="30" name="Shape 28"/>
          <p:cNvSpPr/>
          <p:nvPr/>
        </p:nvSpPr>
        <p:spPr>
          <a:xfrm>
            <a:off x="6583680" y="4297680"/>
            <a:ext cx="4206240" cy="548640"/>
          </a:xfrm>
          <a:prstGeom prst="roundRect">
            <a:avLst>
              <a:gd name="adj" fmla="val 10000"/>
            </a:avLst>
          </a:prstGeom>
          <a:solidFill>
            <a:srgbClr val="21295C"/>
          </a:solidFill>
          <a:ln/>
        </p:spPr>
      </p:sp>
      <p:sp>
        <p:nvSpPr>
          <p:cNvPr id="31" name="Text 29"/>
          <p:cNvSpPr/>
          <p:nvPr/>
        </p:nvSpPr>
        <p:spPr>
          <a:xfrm>
            <a:off x="6583680" y="4297680"/>
            <a:ext cx="42062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Parallel Processing</a:t>
            </a:r>
            <a:endParaRPr lang="en-US" sz="2000" dirty="0"/>
          </a:p>
        </p:txBody>
      </p:sp>
      <p:sp>
        <p:nvSpPr>
          <p:cNvPr id="32" name="Shape 30"/>
          <p:cNvSpPr/>
          <p:nvPr/>
        </p:nvSpPr>
        <p:spPr>
          <a:xfrm>
            <a:off x="8686800" y="4846320"/>
            <a:ext cx="0" cy="274320"/>
          </a:xfrm>
          <a:prstGeom prst="line">
            <a:avLst/>
          </a:prstGeom>
          <a:noFill/>
          <a:ln w="19050">
            <a:solidFill>
              <a:srgbClr val="F2A93B"/>
            </a:solidFill>
            <a:prstDash val="solid"/>
            <a:tailEnd type="triangle"/>
          </a:ln>
        </p:spPr>
      </p:sp>
      <p:sp>
        <p:nvSpPr>
          <p:cNvPr id="33" name="Shape 31"/>
          <p:cNvSpPr/>
          <p:nvPr/>
        </p:nvSpPr>
        <p:spPr>
          <a:xfrm>
            <a:off x="6583680" y="5120640"/>
            <a:ext cx="4206240" cy="548640"/>
          </a:xfrm>
          <a:prstGeom prst="roundRect">
            <a:avLst>
              <a:gd name="adj" fmla="val 10000"/>
            </a:avLst>
          </a:prstGeom>
          <a:solidFill>
            <a:srgbClr val="1F4A2E"/>
          </a:solidFill>
          <a:ln/>
        </p:spPr>
      </p:sp>
      <p:sp>
        <p:nvSpPr>
          <p:cNvPr id="34" name="Text 32"/>
          <p:cNvSpPr/>
          <p:nvPr/>
        </p:nvSpPr>
        <p:spPr>
          <a:xfrm>
            <a:off x="6583680" y="5120640"/>
            <a:ext cx="4206240" cy="548640"/>
          </a:xfrm>
          <a:prstGeom prst="rect">
            <a:avLst/>
          </a:prstGeom>
          <a:noFill/>
          <a:ln/>
        </p:spPr>
        <p:txBody>
          <a:bodyPr wrap="square" lIns="0" tIns="0" rIns="0" bIns="0" rtlCol="0" anchor="ctr"/>
          <a:lstStyle/>
          <a:p>
            <a:pPr marL="0" indent="0" algn="ctr">
              <a:buNone/>
            </a:pPr>
            <a:r>
              <a:rPr lang="en-US" sz="2000" b="1" dirty="0">
                <a:solidFill>
                  <a:srgbClr val="C9F2D6"/>
                </a:solidFill>
                <a:latin typeface="Calibri" pitchFamily="34" charset="0"/>
                <a:ea typeface="Calibri" pitchFamily="34" charset="-122"/>
                <a:cs typeface="Calibri" pitchFamily="34" charset="-120"/>
              </a:rPr>
              <a:t>Fast &amp; Reliable</a:t>
            </a:r>
            <a:endParaRPr lang="en-US" sz="2000" dirty="0"/>
          </a:p>
        </p:txBody>
      </p:sp>
    </p:spTree>
    <p:extLst>
      <p:ext uri="{BB962C8B-B14F-4D97-AF65-F5344CB8AC3E}">
        <p14:creationId xmlns:p14="http://schemas.microsoft.com/office/powerpoint/2010/main" val="523540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Features of Hadoop (1/2)</a:t>
            </a:r>
            <a:endParaRPr lang="en-US" sz="2800" dirty="0"/>
          </a:p>
        </p:txBody>
      </p:sp>
      <p:sp>
        <p:nvSpPr>
          <p:cNvPr id="4" name="Text 2"/>
          <p:cNvSpPr/>
          <p:nvPr/>
        </p:nvSpPr>
        <p:spPr>
          <a:xfrm>
            <a:off x="548640" y="1325880"/>
            <a:ext cx="10515600" cy="365760"/>
          </a:xfrm>
          <a:prstGeom prst="rect">
            <a:avLst/>
          </a:prstGeom>
          <a:noFill/>
          <a:ln/>
        </p:spPr>
        <p:txBody>
          <a:bodyPr wrap="square" lIns="0" tIns="0" rIns="0" bIns="0" rtlCol="0" anchor="ctr"/>
          <a:lstStyle/>
          <a:p>
            <a:pPr marL="0" indent="0">
              <a:buNone/>
            </a:pPr>
            <a:r>
              <a:rPr lang="en-US" i="1" dirty="0">
                <a:solidFill>
                  <a:srgbClr val="43506B"/>
                </a:solidFill>
                <a:latin typeface="Calibri" pitchFamily="34" charset="0"/>
                <a:ea typeface="Calibri" pitchFamily="34" charset="-122"/>
                <a:cs typeface="Calibri" pitchFamily="34" charset="-120"/>
              </a:rPr>
              <a:t>Features are the characteristics that make Hadoop suitable for processing Big Data.</a:t>
            </a:r>
            <a:endParaRPr lang="en-US" dirty="0"/>
          </a:p>
        </p:txBody>
      </p:sp>
      <p:sp>
        <p:nvSpPr>
          <p:cNvPr id="5" name="Shape 3"/>
          <p:cNvSpPr/>
          <p:nvPr/>
        </p:nvSpPr>
        <p:spPr>
          <a:xfrm>
            <a:off x="548640" y="1828800"/>
            <a:ext cx="5349240" cy="1965960"/>
          </a:xfrm>
          <a:prstGeom prst="roundRect">
            <a:avLst>
              <a:gd name="adj" fmla="val 3721"/>
            </a:avLst>
          </a:prstGeom>
          <a:solidFill>
            <a:srgbClr val="F4F8FA"/>
          </a:solidFill>
          <a:ln/>
        </p:spPr>
      </p:sp>
      <p:sp>
        <p:nvSpPr>
          <p:cNvPr id="6" name="Shape 4"/>
          <p:cNvSpPr/>
          <p:nvPr/>
        </p:nvSpPr>
        <p:spPr>
          <a:xfrm>
            <a:off x="822960" y="2084832"/>
            <a:ext cx="502920" cy="502920"/>
          </a:xfrm>
          <a:prstGeom prst="ellipse">
            <a:avLst/>
          </a:prstGeom>
          <a:solidFill>
            <a:srgbClr val="1C7293"/>
          </a:solidFill>
          <a:ln/>
        </p:spPr>
      </p:sp>
      <p:sp>
        <p:nvSpPr>
          <p:cNvPr id="7" name="Text 5"/>
          <p:cNvSpPr/>
          <p:nvPr/>
        </p:nvSpPr>
        <p:spPr>
          <a:xfrm>
            <a:off x="822960" y="208483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508760" y="2084832"/>
            <a:ext cx="411480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Distributed Storage</a:t>
            </a:r>
            <a:endParaRPr lang="en-US" sz="2400" dirty="0"/>
          </a:p>
        </p:txBody>
      </p:sp>
      <p:sp>
        <p:nvSpPr>
          <p:cNvPr id="9" name="Text 7"/>
          <p:cNvSpPr/>
          <p:nvPr/>
        </p:nvSpPr>
        <p:spPr>
          <a:xfrm>
            <a:off x="822960" y="2653665"/>
            <a:ext cx="4800600" cy="685800"/>
          </a:xfrm>
          <a:prstGeom prst="rect">
            <a:avLst/>
          </a:prstGeom>
          <a:noFill/>
          <a:ln/>
        </p:spPr>
        <p:txBody>
          <a:bodyPr wrap="square" lIns="0" tIns="0" rIns="0" bIns="0" rtlCol="0" anchor="ctr"/>
          <a:lstStyle/>
          <a:p>
            <a:pPr marL="0" indent="0">
              <a:lnSpc>
                <a:spcPct val="120000"/>
              </a:lnSpc>
              <a:buNone/>
            </a:pPr>
            <a:r>
              <a:rPr lang="en-US" dirty="0">
                <a:solidFill>
                  <a:srgbClr val="43506B"/>
                </a:solidFill>
                <a:latin typeface="Calibri" pitchFamily="34" charset="0"/>
                <a:ea typeface="Calibri" pitchFamily="34" charset="-122"/>
                <a:cs typeface="Calibri" pitchFamily="34" charset="-120"/>
              </a:rPr>
              <a:t>Data is divided into blocks and stored across multiple computers using HDFS.</a:t>
            </a:r>
            <a:endParaRPr lang="en-US" dirty="0"/>
          </a:p>
        </p:txBody>
      </p:sp>
      <p:sp>
        <p:nvSpPr>
          <p:cNvPr id="10" name="Shape 8"/>
          <p:cNvSpPr/>
          <p:nvPr/>
        </p:nvSpPr>
        <p:spPr>
          <a:xfrm>
            <a:off x="822960" y="3337560"/>
            <a:ext cx="4800600" cy="320040"/>
          </a:xfrm>
          <a:prstGeom prst="roundRect">
            <a:avLst>
              <a:gd name="adj" fmla="val 48571"/>
            </a:avLst>
          </a:prstGeom>
          <a:solidFill>
            <a:srgbClr val="CFE8EF"/>
          </a:solidFill>
          <a:ln/>
        </p:spPr>
      </p:sp>
      <p:sp>
        <p:nvSpPr>
          <p:cNvPr id="11" name="Text 9"/>
          <p:cNvSpPr/>
          <p:nvPr/>
        </p:nvSpPr>
        <p:spPr>
          <a:xfrm>
            <a:off x="822960" y="3337560"/>
            <a:ext cx="4800600" cy="320040"/>
          </a:xfrm>
          <a:prstGeom prst="rect">
            <a:avLst/>
          </a:prstGeom>
          <a:noFill/>
          <a:ln/>
        </p:spPr>
        <p:txBody>
          <a:bodyPr wrap="square" lIns="0" tIns="0" rIns="0" bIns="0" rtlCol="0" anchor="ctr"/>
          <a:lstStyle/>
          <a:p>
            <a:pPr marL="0" indent="0" algn="ctr">
              <a:buNone/>
            </a:pPr>
            <a:r>
              <a:rPr lang="en-US" sz="1600" b="1" i="1" dirty="0">
                <a:solidFill>
                  <a:srgbClr val="065A82"/>
                </a:solidFill>
                <a:latin typeface="Calibri" pitchFamily="34" charset="0"/>
                <a:ea typeface="Calibri" pitchFamily="34" charset="-122"/>
                <a:cs typeface="Calibri" pitchFamily="34" charset="-120"/>
              </a:rPr>
              <a:t>Benefit: Unlimited storage expansion</a:t>
            </a:r>
            <a:endParaRPr lang="en-US" sz="1600" dirty="0"/>
          </a:p>
        </p:txBody>
      </p:sp>
      <p:sp>
        <p:nvSpPr>
          <p:cNvPr id="12" name="Shape 10"/>
          <p:cNvSpPr/>
          <p:nvPr/>
        </p:nvSpPr>
        <p:spPr>
          <a:xfrm>
            <a:off x="6263640" y="1828800"/>
            <a:ext cx="5349240" cy="1965960"/>
          </a:xfrm>
          <a:prstGeom prst="roundRect">
            <a:avLst>
              <a:gd name="adj" fmla="val 3721"/>
            </a:avLst>
          </a:prstGeom>
          <a:solidFill>
            <a:srgbClr val="F4F8FA"/>
          </a:solidFill>
          <a:ln/>
        </p:spPr>
      </p:sp>
      <p:sp>
        <p:nvSpPr>
          <p:cNvPr id="13" name="Shape 11"/>
          <p:cNvSpPr/>
          <p:nvPr/>
        </p:nvSpPr>
        <p:spPr>
          <a:xfrm>
            <a:off x="6537960" y="2084832"/>
            <a:ext cx="502920" cy="502920"/>
          </a:xfrm>
          <a:prstGeom prst="ellipse">
            <a:avLst/>
          </a:prstGeom>
          <a:solidFill>
            <a:srgbClr val="1C7293"/>
          </a:solidFill>
          <a:ln/>
        </p:spPr>
      </p:sp>
      <p:sp>
        <p:nvSpPr>
          <p:cNvPr id="14" name="Text 12"/>
          <p:cNvSpPr/>
          <p:nvPr/>
        </p:nvSpPr>
        <p:spPr>
          <a:xfrm>
            <a:off x="6537960" y="208483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Text 13"/>
          <p:cNvSpPr/>
          <p:nvPr/>
        </p:nvSpPr>
        <p:spPr>
          <a:xfrm>
            <a:off x="7223760" y="2084832"/>
            <a:ext cx="411480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Parallel Processing</a:t>
            </a:r>
            <a:endParaRPr lang="en-US" sz="2400" dirty="0"/>
          </a:p>
        </p:txBody>
      </p:sp>
      <p:sp>
        <p:nvSpPr>
          <p:cNvPr id="16" name="Text 14"/>
          <p:cNvSpPr/>
          <p:nvPr/>
        </p:nvSpPr>
        <p:spPr>
          <a:xfrm>
            <a:off x="6537960" y="2653665"/>
            <a:ext cx="4800600" cy="685800"/>
          </a:xfrm>
          <a:prstGeom prst="rect">
            <a:avLst/>
          </a:prstGeom>
          <a:noFill/>
          <a:ln/>
        </p:spPr>
        <p:txBody>
          <a:bodyPr wrap="square" lIns="0" tIns="0" rIns="0" bIns="0" rtlCol="0" anchor="ctr"/>
          <a:lstStyle/>
          <a:p>
            <a:pPr marL="0" indent="0">
              <a:lnSpc>
                <a:spcPct val="120000"/>
              </a:lnSpc>
              <a:buNone/>
            </a:pPr>
            <a:r>
              <a:rPr lang="en-US" dirty="0">
                <a:solidFill>
                  <a:srgbClr val="43506B"/>
                </a:solidFill>
                <a:latin typeface="Calibri" pitchFamily="34" charset="0"/>
                <a:ea typeface="Calibri" pitchFamily="34" charset="-122"/>
                <a:cs typeface="Calibri" pitchFamily="34" charset="-120"/>
              </a:rPr>
              <a:t>Many computers process different portions of the data simultaneously.</a:t>
            </a:r>
            <a:endParaRPr lang="en-US" dirty="0"/>
          </a:p>
        </p:txBody>
      </p:sp>
      <p:sp>
        <p:nvSpPr>
          <p:cNvPr id="17" name="Shape 15"/>
          <p:cNvSpPr/>
          <p:nvPr/>
        </p:nvSpPr>
        <p:spPr>
          <a:xfrm>
            <a:off x="6537960" y="3337560"/>
            <a:ext cx="4800600" cy="320040"/>
          </a:xfrm>
          <a:prstGeom prst="roundRect">
            <a:avLst>
              <a:gd name="adj" fmla="val 48571"/>
            </a:avLst>
          </a:prstGeom>
          <a:solidFill>
            <a:srgbClr val="CFE8EF"/>
          </a:solidFill>
          <a:ln/>
        </p:spPr>
      </p:sp>
      <p:sp>
        <p:nvSpPr>
          <p:cNvPr id="18" name="Text 16"/>
          <p:cNvSpPr/>
          <p:nvPr/>
        </p:nvSpPr>
        <p:spPr>
          <a:xfrm>
            <a:off x="6537960" y="3337560"/>
            <a:ext cx="4800600" cy="320040"/>
          </a:xfrm>
          <a:prstGeom prst="rect">
            <a:avLst/>
          </a:prstGeom>
          <a:noFill/>
          <a:ln/>
        </p:spPr>
        <p:txBody>
          <a:bodyPr wrap="square" lIns="0" tIns="0" rIns="0" bIns="0" rtlCol="0" anchor="ctr"/>
          <a:lstStyle/>
          <a:p>
            <a:pPr marL="0" indent="0" algn="ctr">
              <a:buNone/>
            </a:pPr>
            <a:r>
              <a:rPr lang="en-US" sz="1600" b="1" i="1" dirty="0">
                <a:solidFill>
                  <a:srgbClr val="065A82"/>
                </a:solidFill>
                <a:latin typeface="Calibri" pitchFamily="34" charset="0"/>
                <a:ea typeface="Calibri" pitchFamily="34" charset="-122"/>
                <a:cs typeface="Calibri" pitchFamily="34" charset="-120"/>
              </a:rPr>
              <a:t>Benefit: Significantly faster execution</a:t>
            </a:r>
            <a:endParaRPr lang="en-US" sz="1600" dirty="0"/>
          </a:p>
        </p:txBody>
      </p:sp>
      <p:sp>
        <p:nvSpPr>
          <p:cNvPr id="19" name="Shape 17"/>
          <p:cNvSpPr/>
          <p:nvPr/>
        </p:nvSpPr>
        <p:spPr>
          <a:xfrm>
            <a:off x="548640" y="4069080"/>
            <a:ext cx="5349240" cy="1965960"/>
          </a:xfrm>
          <a:prstGeom prst="roundRect">
            <a:avLst>
              <a:gd name="adj" fmla="val 3721"/>
            </a:avLst>
          </a:prstGeom>
          <a:solidFill>
            <a:srgbClr val="F4F8FA"/>
          </a:solidFill>
          <a:ln/>
        </p:spPr>
      </p:sp>
      <p:sp>
        <p:nvSpPr>
          <p:cNvPr id="20" name="Shape 18"/>
          <p:cNvSpPr/>
          <p:nvPr/>
        </p:nvSpPr>
        <p:spPr>
          <a:xfrm>
            <a:off x="822960" y="4325112"/>
            <a:ext cx="502920" cy="502920"/>
          </a:xfrm>
          <a:prstGeom prst="ellipse">
            <a:avLst/>
          </a:prstGeom>
          <a:solidFill>
            <a:srgbClr val="1C7293"/>
          </a:solidFill>
          <a:ln/>
        </p:spPr>
      </p:sp>
      <p:sp>
        <p:nvSpPr>
          <p:cNvPr id="21" name="Text 19"/>
          <p:cNvSpPr/>
          <p:nvPr/>
        </p:nvSpPr>
        <p:spPr>
          <a:xfrm>
            <a:off x="822960" y="432511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Text 20"/>
          <p:cNvSpPr/>
          <p:nvPr/>
        </p:nvSpPr>
        <p:spPr>
          <a:xfrm>
            <a:off x="1508760" y="4325112"/>
            <a:ext cx="411480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Scalability</a:t>
            </a:r>
            <a:endParaRPr lang="en-US" sz="2400" dirty="0"/>
          </a:p>
        </p:txBody>
      </p:sp>
      <p:sp>
        <p:nvSpPr>
          <p:cNvPr id="23" name="Text 21"/>
          <p:cNvSpPr/>
          <p:nvPr/>
        </p:nvSpPr>
        <p:spPr>
          <a:xfrm>
            <a:off x="822960" y="4860036"/>
            <a:ext cx="4800600" cy="685800"/>
          </a:xfrm>
          <a:prstGeom prst="rect">
            <a:avLst/>
          </a:prstGeom>
          <a:noFill/>
          <a:ln/>
        </p:spPr>
        <p:txBody>
          <a:bodyPr wrap="square" lIns="0" tIns="0" rIns="0" bIns="0" rtlCol="0" anchor="ctr"/>
          <a:lstStyle/>
          <a:p>
            <a:pPr marL="0" indent="0">
              <a:lnSpc>
                <a:spcPct val="120000"/>
              </a:lnSpc>
              <a:buNone/>
            </a:pPr>
            <a:r>
              <a:rPr lang="en-US" dirty="0">
                <a:solidFill>
                  <a:srgbClr val="43506B"/>
                </a:solidFill>
                <a:latin typeface="Calibri" pitchFamily="34" charset="0"/>
                <a:ea typeface="Calibri" pitchFamily="34" charset="-122"/>
                <a:cs typeface="Calibri" pitchFamily="34" charset="-120"/>
              </a:rPr>
              <a:t>Additional computers can be added without interrupting the system.</a:t>
            </a:r>
            <a:endParaRPr lang="en-US" dirty="0"/>
          </a:p>
        </p:txBody>
      </p:sp>
      <p:sp>
        <p:nvSpPr>
          <p:cNvPr id="24" name="Shape 22"/>
          <p:cNvSpPr/>
          <p:nvPr/>
        </p:nvSpPr>
        <p:spPr>
          <a:xfrm>
            <a:off x="822960" y="5577840"/>
            <a:ext cx="4800600" cy="320040"/>
          </a:xfrm>
          <a:prstGeom prst="roundRect">
            <a:avLst>
              <a:gd name="adj" fmla="val 48571"/>
            </a:avLst>
          </a:prstGeom>
          <a:solidFill>
            <a:srgbClr val="CFE8EF"/>
          </a:solidFill>
          <a:ln/>
        </p:spPr>
      </p:sp>
      <p:sp>
        <p:nvSpPr>
          <p:cNvPr id="25" name="Text 23"/>
          <p:cNvSpPr/>
          <p:nvPr/>
        </p:nvSpPr>
        <p:spPr>
          <a:xfrm>
            <a:off x="822960" y="5577840"/>
            <a:ext cx="4800600" cy="320040"/>
          </a:xfrm>
          <a:prstGeom prst="rect">
            <a:avLst/>
          </a:prstGeom>
          <a:noFill/>
          <a:ln/>
        </p:spPr>
        <p:txBody>
          <a:bodyPr wrap="square" lIns="0" tIns="0" rIns="0" bIns="0" rtlCol="0" anchor="ctr"/>
          <a:lstStyle/>
          <a:p>
            <a:pPr marL="0" indent="0" algn="ctr">
              <a:buNone/>
            </a:pPr>
            <a:r>
              <a:rPr lang="en-US" sz="1600" b="1" i="1" dirty="0">
                <a:solidFill>
                  <a:srgbClr val="065A82"/>
                </a:solidFill>
                <a:latin typeface="Calibri" pitchFamily="34" charset="0"/>
                <a:ea typeface="Calibri" pitchFamily="34" charset="-122"/>
                <a:cs typeface="Calibri" pitchFamily="34" charset="-120"/>
              </a:rPr>
              <a:t>Benefit: Handles increasing data volumes efficiently</a:t>
            </a:r>
            <a:endParaRPr lang="en-US" sz="1600" dirty="0"/>
          </a:p>
        </p:txBody>
      </p:sp>
      <p:sp>
        <p:nvSpPr>
          <p:cNvPr id="26" name="Shape 24"/>
          <p:cNvSpPr/>
          <p:nvPr/>
        </p:nvSpPr>
        <p:spPr>
          <a:xfrm>
            <a:off x="6263640" y="4069080"/>
            <a:ext cx="5349240" cy="1965960"/>
          </a:xfrm>
          <a:prstGeom prst="roundRect">
            <a:avLst>
              <a:gd name="adj" fmla="val 3721"/>
            </a:avLst>
          </a:prstGeom>
          <a:solidFill>
            <a:srgbClr val="F4F8FA"/>
          </a:solidFill>
          <a:ln/>
        </p:spPr>
      </p:sp>
      <p:sp>
        <p:nvSpPr>
          <p:cNvPr id="27" name="Shape 25"/>
          <p:cNvSpPr/>
          <p:nvPr/>
        </p:nvSpPr>
        <p:spPr>
          <a:xfrm>
            <a:off x="6537960" y="4325112"/>
            <a:ext cx="502920" cy="502920"/>
          </a:xfrm>
          <a:prstGeom prst="ellipse">
            <a:avLst/>
          </a:prstGeom>
          <a:solidFill>
            <a:srgbClr val="1C7293"/>
          </a:solidFill>
          <a:ln/>
        </p:spPr>
      </p:sp>
      <p:sp>
        <p:nvSpPr>
          <p:cNvPr id="28" name="Text 26"/>
          <p:cNvSpPr/>
          <p:nvPr/>
        </p:nvSpPr>
        <p:spPr>
          <a:xfrm>
            <a:off x="6537960" y="4325112"/>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9" name="Text 27"/>
          <p:cNvSpPr/>
          <p:nvPr/>
        </p:nvSpPr>
        <p:spPr>
          <a:xfrm>
            <a:off x="7223760" y="4325112"/>
            <a:ext cx="4114800" cy="45720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Fault Tolerance</a:t>
            </a:r>
            <a:endParaRPr lang="en-US" sz="2400" dirty="0"/>
          </a:p>
        </p:txBody>
      </p:sp>
      <p:sp>
        <p:nvSpPr>
          <p:cNvPr id="30" name="Text 28"/>
          <p:cNvSpPr/>
          <p:nvPr/>
        </p:nvSpPr>
        <p:spPr>
          <a:xfrm>
            <a:off x="6537960" y="4860036"/>
            <a:ext cx="4800600" cy="685800"/>
          </a:xfrm>
          <a:prstGeom prst="rect">
            <a:avLst/>
          </a:prstGeom>
          <a:noFill/>
          <a:ln/>
        </p:spPr>
        <p:txBody>
          <a:bodyPr wrap="square" lIns="0" tIns="0" rIns="0" bIns="0" rtlCol="0" anchor="ctr"/>
          <a:lstStyle/>
          <a:p>
            <a:pPr marL="0" indent="0">
              <a:lnSpc>
                <a:spcPct val="120000"/>
              </a:lnSpc>
              <a:buNone/>
            </a:pPr>
            <a:r>
              <a:rPr lang="en-US" dirty="0">
                <a:solidFill>
                  <a:srgbClr val="43506B"/>
                </a:solidFill>
                <a:latin typeface="Calibri" pitchFamily="34" charset="0"/>
                <a:ea typeface="Calibri" pitchFamily="34" charset="-122"/>
                <a:cs typeface="Calibri" pitchFamily="34" charset="-120"/>
              </a:rPr>
              <a:t>Multiple replicas of data are maintained — if one server fails, another replica is used automatically.</a:t>
            </a:r>
            <a:endParaRPr lang="en-US" dirty="0"/>
          </a:p>
        </p:txBody>
      </p:sp>
      <p:sp>
        <p:nvSpPr>
          <p:cNvPr id="31" name="Shape 29"/>
          <p:cNvSpPr/>
          <p:nvPr/>
        </p:nvSpPr>
        <p:spPr>
          <a:xfrm>
            <a:off x="6537960" y="5577840"/>
            <a:ext cx="4800600" cy="320040"/>
          </a:xfrm>
          <a:prstGeom prst="roundRect">
            <a:avLst>
              <a:gd name="adj" fmla="val 48571"/>
            </a:avLst>
          </a:prstGeom>
          <a:solidFill>
            <a:srgbClr val="CFE8EF"/>
          </a:solidFill>
          <a:ln/>
        </p:spPr>
      </p:sp>
      <p:sp>
        <p:nvSpPr>
          <p:cNvPr id="32" name="Text 30"/>
          <p:cNvSpPr/>
          <p:nvPr/>
        </p:nvSpPr>
        <p:spPr>
          <a:xfrm>
            <a:off x="6537960" y="5577840"/>
            <a:ext cx="4800600" cy="320040"/>
          </a:xfrm>
          <a:prstGeom prst="rect">
            <a:avLst/>
          </a:prstGeom>
          <a:noFill/>
          <a:ln/>
        </p:spPr>
        <p:txBody>
          <a:bodyPr wrap="square" lIns="0" tIns="0" rIns="0" bIns="0" rtlCol="0" anchor="ctr"/>
          <a:lstStyle/>
          <a:p>
            <a:pPr marL="0" indent="0" algn="ctr">
              <a:buNone/>
            </a:pPr>
            <a:r>
              <a:rPr lang="en-US" sz="1600" b="1" i="1" dirty="0">
                <a:solidFill>
                  <a:srgbClr val="065A82"/>
                </a:solidFill>
                <a:latin typeface="Calibri" pitchFamily="34" charset="0"/>
                <a:ea typeface="Calibri" pitchFamily="34" charset="-122"/>
                <a:cs typeface="Calibri" pitchFamily="34" charset="-120"/>
              </a:rPr>
              <a:t>Benefit: Improved reliability and availability</a:t>
            </a:r>
            <a:endParaRPr lang="en-US" sz="1600" dirty="0"/>
          </a:p>
        </p:txBody>
      </p:sp>
    </p:spTree>
    <p:extLst>
      <p:ext uri="{BB962C8B-B14F-4D97-AF65-F5344CB8AC3E}">
        <p14:creationId xmlns:p14="http://schemas.microsoft.com/office/powerpoint/2010/main" val="92488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Features of Hadoop (2/2)</a:t>
            </a:r>
            <a:endParaRPr lang="en-US" sz="2800" dirty="0"/>
          </a:p>
        </p:txBody>
      </p:sp>
      <p:sp>
        <p:nvSpPr>
          <p:cNvPr id="4" name="Shape 2"/>
          <p:cNvSpPr/>
          <p:nvPr/>
        </p:nvSpPr>
        <p:spPr>
          <a:xfrm>
            <a:off x="548640" y="1828800"/>
            <a:ext cx="3520440" cy="2286000"/>
          </a:xfrm>
          <a:prstGeom prst="roundRect">
            <a:avLst>
              <a:gd name="adj" fmla="val 3200"/>
            </a:avLst>
          </a:prstGeom>
          <a:solidFill>
            <a:srgbClr val="F4F8FA"/>
          </a:solidFill>
          <a:ln/>
        </p:spPr>
      </p:sp>
      <p:sp>
        <p:nvSpPr>
          <p:cNvPr id="5" name="Shape 3"/>
          <p:cNvSpPr/>
          <p:nvPr/>
        </p:nvSpPr>
        <p:spPr>
          <a:xfrm>
            <a:off x="822960" y="2084832"/>
            <a:ext cx="502920" cy="502920"/>
          </a:xfrm>
          <a:prstGeom prst="ellipse">
            <a:avLst/>
          </a:prstGeom>
          <a:solidFill>
            <a:srgbClr val="1C7293"/>
          </a:solidFill>
          <a:ln/>
        </p:spPr>
      </p:sp>
      <p:sp>
        <p:nvSpPr>
          <p:cNvPr id="6" name="Text 4"/>
          <p:cNvSpPr/>
          <p:nvPr/>
        </p:nvSpPr>
        <p:spPr>
          <a:xfrm>
            <a:off x="822960" y="208483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7" name="Text 5"/>
          <p:cNvSpPr/>
          <p:nvPr/>
        </p:nvSpPr>
        <p:spPr>
          <a:xfrm>
            <a:off x="822960" y="2724912"/>
            <a:ext cx="2971800" cy="365760"/>
          </a:xfrm>
          <a:prstGeom prst="rect">
            <a:avLst/>
          </a:prstGeom>
          <a:noFill/>
          <a:ln/>
        </p:spPr>
        <p:txBody>
          <a:bodyPr wrap="square" lIns="0" tIns="0" rIns="0" bIns="0" rtlCol="0" anchor="ctr"/>
          <a:lstStyle/>
          <a:p>
            <a:pPr marL="0" indent="0">
              <a:buNone/>
            </a:pPr>
            <a:r>
              <a:rPr lang="en-US" b="1" dirty="0">
                <a:solidFill>
                  <a:srgbClr val="21295C"/>
                </a:solidFill>
                <a:latin typeface="Cambria" pitchFamily="34" charset="0"/>
                <a:ea typeface="Cambria" pitchFamily="34" charset="-122"/>
                <a:cs typeface="Cambria" pitchFamily="34" charset="-120"/>
              </a:rPr>
              <a:t>High Throughput</a:t>
            </a:r>
            <a:endParaRPr lang="en-US" dirty="0"/>
          </a:p>
        </p:txBody>
      </p:sp>
      <p:sp>
        <p:nvSpPr>
          <p:cNvPr id="8" name="Text 6"/>
          <p:cNvSpPr/>
          <p:nvPr/>
        </p:nvSpPr>
        <p:spPr>
          <a:xfrm>
            <a:off x="822960" y="3022092"/>
            <a:ext cx="2971800" cy="777240"/>
          </a:xfrm>
          <a:prstGeom prst="rect">
            <a:avLst/>
          </a:prstGeom>
          <a:noFill/>
          <a:ln/>
        </p:spPr>
        <p:txBody>
          <a:bodyPr wrap="square" lIns="0" tIns="0" rIns="0" bIns="0" rtlCol="0" anchor="ctr"/>
          <a:lstStyle/>
          <a:p>
            <a:pPr marL="0" indent="0">
              <a:lnSpc>
                <a:spcPct val="120000"/>
              </a:lnSpc>
              <a:buNone/>
            </a:pPr>
            <a:r>
              <a:rPr lang="en-US" sz="1600" dirty="0">
                <a:solidFill>
                  <a:srgbClr val="43506B"/>
                </a:solidFill>
                <a:latin typeface="Calibri" pitchFamily="34" charset="0"/>
                <a:ea typeface="Calibri" pitchFamily="34" charset="-122"/>
                <a:cs typeface="Calibri" pitchFamily="34" charset="-120"/>
              </a:rPr>
              <a:t>Optimized for large volumes of data rather than individual transactions.</a:t>
            </a:r>
            <a:endParaRPr lang="en-US" sz="1600" dirty="0"/>
          </a:p>
        </p:txBody>
      </p:sp>
      <p:sp>
        <p:nvSpPr>
          <p:cNvPr id="9" name="Shape 7"/>
          <p:cNvSpPr/>
          <p:nvPr/>
        </p:nvSpPr>
        <p:spPr>
          <a:xfrm>
            <a:off x="822960" y="3730752"/>
            <a:ext cx="2971800" cy="292608"/>
          </a:xfrm>
          <a:prstGeom prst="roundRect">
            <a:avLst>
              <a:gd name="adj" fmla="val 50000"/>
            </a:avLst>
          </a:prstGeom>
          <a:solidFill>
            <a:srgbClr val="CFE8EF"/>
          </a:solidFill>
          <a:ln/>
        </p:spPr>
      </p:sp>
      <p:sp>
        <p:nvSpPr>
          <p:cNvPr id="10" name="Text 8"/>
          <p:cNvSpPr/>
          <p:nvPr/>
        </p:nvSpPr>
        <p:spPr>
          <a:xfrm>
            <a:off x="822960" y="3730752"/>
            <a:ext cx="2971800" cy="292608"/>
          </a:xfrm>
          <a:prstGeom prst="rect">
            <a:avLst/>
          </a:prstGeom>
          <a:noFill/>
          <a:ln/>
        </p:spPr>
        <p:txBody>
          <a:bodyPr wrap="square" lIns="0" tIns="0" rIns="0" bIns="0" rtlCol="0" anchor="ctr"/>
          <a:lstStyle/>
          <a:p>
            <a:pPr marL="0" indent="0" algn="ctr">
              <a:buNone/>
            </a:pPr>
            <a:r>
              <a:rPr lang="en-US" sz="1200" b="1" i="1" dirty="0">
                <a:solidFill>
                  <a:srgbClr val="065A82"/>
                </a:solidFill>
                <a:latin typeface="Calibri" pitchFamily="34" charset="0"/>
                <a:ea typeface="Calibri" pitchFamily="34" charset="-122"/>
                <a:cs typeface="Calibri" pitchFamily="34" charset="-120"/>
              </a:rPr>
              <a:t>Benefit: Efficient batch analytics</a:t>
            </a:r>
            <a:endParaRPr lang="en-US" sz="1200" dirty="0"/>
          </a:p>
        </p:txBody>
      </p:sp>
      <p:sp>
        <p:nvSpPr>
          <p:cNvPr id="11" name="Shape 9"/>
          <p:cNvSpPr/>
          <p:nvPr/>
        </p:nvSpPr>
        <p:spPr>
          <a:xfrm>
            <a:off x="4343400" y="1828800"/>
            <a:ext cx="3520440" cy="2286000"/>
          </a:xfrm>
          <a:prstGeom prst="roundRect">
            <a:avLst>
              <a:gd name="adj" fmla="val 3200"/>
            </a:avLst>
          </a:prstGeom>
          <a:solidFill>
            <a:srgbClr val="F4F8FA"/>
          </a:solidFill>
          <a:ln/>
        </p:spPr>
      </p:sp>
      <p:sp>
        <p:nvSpPr>
          <p:cNvPr id="12" name="Shape 10"/>
          <p:cNvSpPr/>
          <p:nvPr/>
        </p:nvSpPr>
        <p:spPr>
          <a:xfrm>
            <a:off x="4617720" y="2084832"/>
            <a:ext cx="502920" cy="502920"/>
          </a:xfrm>
          <a:prstGeom prst="ellipse">
            <a:avLst/>
          </a:prstGeom>
          <a:solidFill>
            <a:srgbClr val="1C7293"/>
          </a:solidFill>
          <a:ln/>
        </p:spPr>
      </p:sp>
      <p:sp>
        <p:nvSpPr>
          <p:cNvPr id="13" name="Text 11"/>
          <p:cNvSpPr/>
          <p:nvPr/>
        </p:nvSpPr>
        <p:spPr>
          <a:xfrm>
            <a:off x="4617720" y="208483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14" name="Text 12"/>
          <p:cNvSpPr/>
          <p:nvPr/>
        </p:nvSpPr>
        <p:spPr>
          <a:xfrm>
            <a:off x="4617720" y="2724912"/>
            <a:ext cx="2971800" cy="365760"/>
          </a:xfrm>
          <a:prstGeom prst="rect">
            <a:avLst/>
          </a:prstGeom>
          <a:noFill/>
          <a:ln/>
        </p:spPr>
        <p:txBody>
          <a:bodyPr wrap="square" lIns="0" tIns="0" rIns="0" bIns="0" rtlCol="0" anchor="ctr"/>
          <a:lstStyle/>
          <a:p>
            <a:pPr marL="0" indent="0">
              <a:buNone/>
            </a:pPr>
            <a:r>
              <a:rPr lang="en-US" b="1" dirty="0">
                <a:solidFill>
                  <a:srgbClr val="21295C"/>
                </a:solidFill>
                <a:latin typeface="Cambria" pitchFamily="34" charset="0"/>
                <a:ea typeface="Cambria" pitchFamily="34" charset="-122"/>
                <a:cs typeface="Cambria" pitchFamily="34" charset="-120"/>
              </a:rPr>
              <a:t>Cost Effective</a:t>
            </a:r>
            <a:endParaRPr lang="en-US" dirty="0"/>
          </a:p>
        </p:txBody>
      </p:sp>
      <p:sp>
        <p:nvSpPr>
          <p:cNvPr id="15" name="Text 13"/>
          <p:cNvSpPr/>
          <p:nvPr/>
        </p:nvSpPr>
        <p:spPr>
          <a:xfrm>
            <a:off x="4617720" y="3022092"/>
            <a:ext cx="2971800" cy="777240"/>
          </a:xfrm>
          <a:prstGeom prst="rect">
            <a:avLst/>
          </a:prstGeom>
          <a:noFill/>
          <a:ln/>
        </p:spPr>
        <p:txBody>
          <a:bodyPr wrap="square" lIns="0" tIns="0" rIns="0" bIns="0" rtlCol="0" anchor="ctr"/>
          <a:lstStyle/>
          <a:p>
            <a:pPr marL="0" indent="0">
              <a:lnSpc>
                <a:spcPct val="120000"/>
              </a:lnSpc>
              <a:buNone/>
            </a:pPr>
            <a:r>
              <a:rPr lang="en-US" sz="1600" dirty="0">
                <a:solidFill>
                  <a:srgbClr val="43506B"/>
                </a:solidFill>
                <a:latin typeface="Calibri" pitchFamily="34" charset="0"/>
                <a:ea typeface="Calibri" pitchFamily="34" charset="-122"/>
                <a:cs typeface="Calibri" pitchFamily="34" charset="-120"/>
              </a:rPr>
              <a:t>Runs on inexpensive commodity hardware.</a:t>
            </a:r>
            <a:endParaRPr lang="en-US" sz="1600" dirty="0"/>
          </a:p>
        </p:txBody>
      </p:sp>
      <p:sp>
        <p:nvSpPr>
          <p:cNvPr id="16" name="Shape 14"/>
          <p:cNvSpPr/>
          <p:nvPr/>
        </p:nvSpPr>
        <p:spPr>
          <a:xfrm>
            <a:off x="4617720" y="3730752"/>
            <a:ext cx="2971800" cy="292608"/>
          </a:xfrm>
          <a:prstGeom prst="roundRect">
            <a:avLst>
              <a:gd name="adj" fmla="val 50000"/>
            </a:avLst>
          </a:prstGeom>
          <a:solidFill>
            <a:srgbClr val="CFE8EF"/>
          </a:solidFill>
          <a:ln/>
        </p:spPr>
      </p:sp>
      <p:sp>
        <p:nvSpPr>
          <p:cNvPr id="17" name="Text 15"/>
          <p:cNvSpPr/>
          <p:nvPr/>
        </p:nvSpPr>
        <p:spPr>
          <a:xfrm>
            <a:off x="4617720" y="3730752"/>
            <a:ext cx="2971800" cy="292608"/>
          </a:xfrm>
          <a:prstGeom prst="rect">
            <a:avLst/>
          </a:prstGeom>
          <a:noFill/>
          <a:ln/>
        </p:spPr>
        <p:txBody>
          <a:bodyPr wrap="square" lIns="0" tIns="0" rIns="0" bIns="0" rtlCol="0" anchor="ctr"/>
          <a:lstStyle/>
          <a:p>
            <a:pPr marL="0" indent="0" algn="ctr">
              <a:buNone/>
            </a:pPr>
            <a:r>
              <a:rPr lang="en-US" sz="1200" b="1" i="1" dirty="0">
                <a:solidFill>
                  <a:srgbClr val="065A82"/>
                </a:solidFill>
                <a:latin typeface="Calibri" pitchFamily="34" charset="0"/>
                <a:ea typeface="Calibri" pitchFamily="34" charset="-122"/>
                <a:cs typeface="Calibri" pitchFamily="34" charset="-120"/>
              </a:rPr>
              <a:t>Benefit: Lower infrastructure cost</a:t>
            </a:r>
            <a:endParaRPr lang="en-US" sz="1200" dirty="0"/>
          </a:p>
        </p:txBody>
      </p:sp>
      <p:sp>
        <p:nvSpPr>
          <p:cNvPr id="18" name="Shape 16"/>
          <p:cNvSpPr/>
          <p:nvPr/>
        </p:nvSpPr>
        <p:spPr>
          <a:xfrm>
            <a:off x="8138160" y="1828800"/>
            <a:ext cx="3520440" cy="2286000"/>
          </a:xfrm>
          <a:prstGeom prst="roundRect">
            <a:avLst>
              <a:gd name="adj" fmla="val 3200"/>
            </a:avLst>
          </a:prstGeom>
          <a:solidFill>
            <a:srgbClr val="F4F8FA"/>
          </a:solidFill>
          <a:ln/>
        </p:spPr>
      </p:sp>
      <p:sp>
        <p:nvSpPr>
          <p:cNvPr id="19" name="Shape 17"/>
          <p:cNvSpPr/>
          <p:nvPr/>
        </p:nvSpPr>
        <p:spPr>
          <a:xfrm>
            <a:off x="8412480" y="2084832"/>
            <a:ext cx="502920" cy="502920"/>
          </a:xfrm>
          <a:prstGeom prst="ellipse">
            <a:avLst/>
          </a:prstGeom>
          <a:solidFill>
            <a:srgbClr val="1C7293"/>
          </a:solidFill>
          <a:ln/>
        </p:spPr>
      </p:sp>
      <p:sp>
        <p:nvSpPr>
          <p:cNvPr id="20" name="Text 18"/>
          <p:cNvSpPr/>
          <p:nvPr/>
        </p:nvSpPr>
        <p:spPr>
          <a:xfrm>
            <a:off x="8412480" y="208483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21" name="Text 19"/>
          <p:cNvSpPr/>
          <p:nvPr/>
        </p:nvSpPr>
        <p:spPr>
          <a:xfrm>
            <a:off x="8412480" y="2724912"/>
            <a:ext cx="2971800" cy="365760"/>
          </a:xfrm>
          <a:prstGeom prst="rect">
            <a:avLst/>
          </a:prstGeom>
          <a:noFill/>
          <a:ln/>
        </p:spPr>
        <p:txBody>
          <a:bodyPr wrap="square" lIns="0" tIns="0" rIns="0" bIns="0" rtlCol="0" anchor="ctr"/>
          <a:lstStyle/>
          <a:p>
            <a:pPr marL="0" indent="0">
              <a:buNone/>
            </a:pPr>
            <a:r>
              <a:rPr lang="en-US" b="1" dirty="0">
                <a:solidFill>
                  <a:srgbClr val="21295C"/>
                </a:solidFill>
                <a:latin typeface="Cambria" pitchFamily="34" charset="0"/>
                <a:ea typeface="Cambria" pitchFamily="34" charset="-122"/>
                <a:cs typeface="Cambria" pitchFamily="34" charset="-120"/>
              </a:rPr>
              <a:t>Flexibility</a:t>
            </a:r>
            <a:endParaRPr lang="en-US" dirty="0"/>
          </a:p>
        </p:txBody>
      </p:sp>
      <p:sp>
        <p:nvSpPr>
          <p:cNvPr id="22" name="Text 20"/>
          <p:cNvSpPr/>
          <p:nvPr/>
        </p:nvSpPr>
        <p:spPr>
          <a:xfrm>
            <a:off x="8412480" y="3011805"/>
            <a:ext cx="3200400" cy="777240"/>
          </a:xfrm>
          <a:prstGeom prst="rect">
            <a:avLst/>
          </a:prstGeom>
          <a:noFill/>
          <a:ln/>
        </p:spPr>
        <p:txBody>
          <a:bodyPr wrap="square" lIns="0" tIns="0" rIns="0" bIns="0" rtlCol="0" anchor="ctr"/>
          <a:lstStyle/>
          <a:p>
            <a:pPr marL="0" indent="0">
              <a:lnSpc>
                <a:spcPct val="120000"/>
              </a:lnSpc>
              <a:buNone/>
            </a:pPr>
            <a:r>
              <a:rPr lang="en-US" sz="1600" dirty="0">
                <a:solidFill>
                  <a:srgbClr val="43506B"/>
                </a:solidFill>
                <a:latin typeface="Calibri" pitchFamily="34" charset="0"/>
                <a:ea typeface="Calibri" pitchFamily="34" charset="-122"/>
                <a:cs typeface="Calibri" pitchFamily="34" charset="-120"/>
              </a:rPr>
              <a:t>Supports structured, semi-structured, and unstructured </a:t>
            </a:r>
            <a:r>
              <a:rPr lang="en-US" sz="1600" dirty="0" smtClean="0">
                <a:solidFill>
                  <a:srgbClr val="43506B"/>
                </a:solidFill>
                <a:latin typeface="Calibri" pitchFamily="34" charset="0"/>
                <a:ea typeface="Calibri" pitchFamily="34" charset="-122"/>
                <a:cs typeface="Calibri" pitchFamily="34" charset="-120"/>
              </a:rPr>
              <a:t>data</a:t>
            </a:r>
            <a:endParaRPr lang="en-US" sz="1600" dirty="0"/>
          </a:p>
        </p:txBody>
      </p:sp>
      <p:sp>
        <p:nvSpPr>
          <p:cNvPr id="23" name="Shape 21"/>
          <p:cNvSpPr/>
          <p:nvPr/>
        </p:nvSpPr>
        <p:spPr>
          <a:xfrm>
            <a:off x="8412480" y="3730752"/>
            <a:ext cx="2971800" cy="292608"/>
          </a:xfrm>
          <a:prstGeom prst="roundRect">
            <a:avLst>
              <a:gd name="adj" fmla="val 50000"/>
            </a:avLst>
          </a:prstGeom>
          <a:solidFill>
            <a:srgbClr val="CFE8EF"/>
          </a:solidFill>
          <a:ln/>
        </p:spPr>
      </p:sp>
      <p:sp>
        <p:nvSpPr>
          <p:cNvPr id="24" name="Text 22"/>
          <p:cNvSpPr/>
          <p:nvPr/>
        </p:nvSpPr>
        <p:spPr>
          <a:xfrm>
            <a:off x="8412480" y="3730752"/>
            <a:ext cx="2971800" cy="292608"/>
          </a:xfrm>
          <a:prstGeom prst="rect">
            <a:avLst/>
          </a:prstGeom>
          <a:noFill/>
          <a:ln/>
        </p:spPr>
        <p:txBody>
          <a:bodyPr wrap="square" lIns="0" tIns="0" rIns="0" bIns="0" rtlCol="0" anchor="ctr"/>
          <a:lstStyle/>
          <a:p>
            <a:pPr marL="0" indent="0" algn="ctr">
              <a:buNone/>
            </a:pPr>
            <a:r>
              <a:rPr lang="en-US" sz="1200" b="1" i="1" dirty="0">
                <a:solidFill>
                  <a:srgbClr val="065A82"/>
                </a:solidFill>
                <a:latin typeface="Calibri" pitchFamily="34" charset="0"/>
                <a:ea typeface="Calibri" pitchFamily="34" charset="-122"/>
                <a:cs typeface="Calibri" pitchFamily="34" charset="-120"/>
              </a:rPr>
              <a:t>Benefit: Handles any data type</a:t>
            </a:r>
            <a:endParaRPr lang="en-US" sz="1200" dirty="0"/>
          </a:p>
        </p:txBody>
      </p:sp>
      <p:sp>
        <p:nvSpPr>
          <p:cNvPr id="25" name="Shape 23"/>
          <p:cNvSpPr/>
          <p:nvPr/>
        </p:nvSpPr>
        <p:spPr>
          <a:xfrm>
            <a:off x="548640" y="4434840"/>
            <a:ext cx="11064240" cy="1691640"/>
          </a:xfrm>
          <a:prstGeom prst="roundRect">
            <a:avLst>
              <a:gd name="adj" fmla="val 4324"/>
            </a:avLst>
          </a:prstGeom>
          <a:solidFill>
            <a:srgbClr val="21295C"/>
          </a:solidFill>
          <a:ln/>
        </p:spPr>
      </p:sp>
      <p:sp>
        <p:nvSpPr>
          <p:cNvPr id="26" name="Text 24"/>
          <p:cNvSpPr/>
          <p:nvPr/>
        </p:nvSpPr>
        <p:spPr>
          <a:xfrm>
            <a:off x="822960" y="4663440"/>
            <a:ext cx="5486400" cy="320040"/>
          </a:xfrm>
          <a:prstGeom prst="rect">
            <a:avLst/>
          </a:prstGeom>
          <a:noFill/>
          <a:ln/>
        </p:spPr>
        <p:txBody>
          <a:bodyPr wrap="square" lIns="0" tIns="0" rIns="0" bIns="0"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CLASSROOM ACTIVITY</a:t>
            </a:r>
            <a:endParaRPr lang="en-US" sz="1400" dirty="0"/>
          </a:p>
        </p:txBody>
      </p:sp>
      <p:sp>
        <p:nvSpPr>
          <p:cNvPr id="27" name="Text 25"/>
          <p:cNvSpPr/>
          <p:nvPr/>
        </p:nvSpPr>
        <p:spPr>
          <a:xfrm>
            <a:off x="822960" y="4983480"/>
            <a:ext cx="1033272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Which Hadoop feature ensures data remains available even if one DataNode fails?</a:t>
            </a:r>
            <a:endParaRPr lang="en-US" sz="2000" dirty="0"/>
          </a:p>
        </p:txBody>
      </p:sp>
      <p:sp>
        <p:nvSpPr>
          <p:cNvPr id="28" name="Text 26"/>
          <p:cNvSpPr/>
          <p:nvPr/>
        </p:nvSpPr>
        <p:spPr>
          <a:xfrm>
            <a:off x="822960" y="5532120"/>
            <a:ext cx="10332720" cy="365760"/>
          </a:xfrm>
          <a:prstGeom prst="rect">
            <a:avLst/>
          </a:prstGeom>
          <a:noFill/>
          <a:ln/>
        </p:spPr>
        <p:txBody>
          <a:bodyPr wrap="square" lIns="0" tIns="0" rIns="0" bIns="0" rtlCol="0" anchor="ctr"/>
          <a:lstStyle/>
          <a:p>
            <a:pPr marL="0" indent="0">
              <a:buNone/>
            </a:pPr>
            <a:r>
              <a:rPr lang="en-US" sz="1600" i="1" dirty="0">
                <a:solidFill>
                  <a:srgbClr val="CFE8EF"/>
                </a:solidFill>
                <a:latin typeface="Calibri" pitchFamily="34" charset="0"/>
                <a:ea typeface="Calibri" pitchFamily="34" charset="-122"/>
                <a:cs typeface="Calibri" pitchFamily="34" charset="-120"/>
              </a:rPr>
              <a:t>Expected answer: Fault Tolerance through Replication.</a:t>
            </a:r>
            <a:endParaRPr lang="en-US" sz="1600" dirty="0"/>
          </a:p>
        </p:txBody>
      </p:sp>
    </p:spTree>
    <p:extLst>
      <p:ext uri="{BB962C8B-B14F-4D97-AF65-F5344CB8AC3E}">
        <p14:creationId xmlns:p14="http://schemas.microsoft.com/office/powerpoint/2010/main" val="3792657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HDFS (Hadoop Distributed File System)</a:t>
            </a:r>
            <a:endParaRPr lang="en-US" sz="2800" dirty="0"/>
          </a:p>
        </p:txBody>
      </p:sp>
      <p:sp>
        <p:nvSpPr>
          <p:cNvPr id="31" name="Rectangle 30"/>
          <p:cNvSpPr/>
          <p:nvPr/>
        </p:nvSpPr>
        <p:spPr>
          <a:xfrm>
            <a:off x="457200" y="1397139"/>
            <a:ext cx="11372850" cy="4370427"/>
          </a:xfrm>
          <a:prstGeom prst="rect">
            <a:avLst/>
          </a:prstGeom>
        </p:spPr>
        <p:txBody>
          <a:bodyPr wrap="square">
            <a:spAutoFit/>
          </a:bodyPr>
          <a:lstStyle/>
          <a:p>
            <a:pPr marL="342900"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It stores large files by breaking them into blocks (default 128 MB) and distributing them across multiple low-cost machines.</a:t>
            </a:r>
          </a:p>
          <a:p>
            <a:pPr marL="342900"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HDFS ensures fault-tolerance by keeping copies of data blocks on different machines. This makes it reliable, scalable and ideal for handling big data efficiently.</a:t>
            </a:r>
          </a:p>
          <a:p>
            <a:pPr marL="342900" indent="-342900" fontAlgn="base">
              <a:buFont typeface="Arial" panose="020B0604020202020204" pitchFamily="34" charset="0"/>
              <a:buChar char="•"/>
            </a:pPr>
            <a:r>
              <a:rPr lang="en-US" sz="2000" b="1" dirty="0">
                <a:solidFill>
                  <a:srgbClr val="273239"/>
                </a:solidFill>
                <a:latin typeface="Cambria" panose="02040503050406030204" pitchFamily="18" charset="0"/>
                <a:ea typeface="Cambria" panose="02040503050406030204" pitchFamily="18" charset="0"/>
              </a:rPr>
              <a:t>Features of HDFS</a:t>
            </a:r>
          </a:p>
          <a:p>
            <a:pPr marL="800100" lvl="1" indent="-342900" fontAlgn="base">
              <a:buFont typeface="Arial" panose="020B0604020202020204" pitchFamily="34" charset="0"/>
              <a:buChar char="•"/>
            </a:pPr>
            <a:r>
              <a:rPr lang="en-US" sz="2000" dirty="0" smtClean="0">
                <a:solidFill>
                  <a:srgbClr val="273239"/>
                </a:solidFill>
                <a:latin typeface="Cambria" panose="02040503050406030204" pitchFamily="18" charset="0"/>
                <a:ea typeface="Cambria" panose="02040503050406030204" pitchFamily="18" charset="0"/>
              </a:rPr>
              <a:t>Easy </a:t>
            </a:r>
            <a:r>
              <a:rPr lang="en-US" sz="2000" dirty="0">
                <a:solidFill>
                  <a:srgbClr val="273239"/>
                </a:solidFill>
                <a:latin typeface="Cambria" panose="02040503050406030204" pitchFamily="18" charset="0"/>
                <a:ea typeface="Cambria" panose="02040503050406030204" pitchFamily="18" charset="0"/>
              </a:rPr>
              <a:t>to access the files stored in HDFS.</a:t>
            </a:r>
          </a:p>
          <a:p>
            <a:pPr marL="800100" lvl="1" indent="-342900" fontAlgn="base">
              <a:buFont typeface="Arial" panose="020B0604020202020204" pitchFamily="34" charset="0"/>
              <a:buChar char="•"/>
            </a:pPr>
            <a:r>
              <a:rPr lang="en-US" sz="2000" dirty="0" smtClean="0">
                <a:solidFill>
                  <a:srgbClr val="273239"/>
                </a:solidFill>
                <a:latin typeface="Cambria" panose="02040503050406030204" pitchFamily="18" charset="0"/>
                <a:ea typeface="Cambria" panose="02040503050406030204" pitchFamily="18" charset="0"/>
              </a:rPr>
              <a:t>High </a:t>
            </a:r>
            <a:r>
              <a:rPr lang="en-US" sz="2000" dirty="0">
                <a:solidFill>
                  <a:srgbClr val="273239"/>
                </a:solidFill>
                <a:latin typeface="Cambria" panose="02040503050406030204" pitchFamily="18" charset="0"/>
                <a:ea typeface="Cambria" panose="02040503050406030204" pitchFamily="18" charset="0"/>
              </a:rPr>
              <a:t>availability and fault tolerance.</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Provides scalability to </a:t>
            </a:r>
            <a:r>
              <a:rPr lang="en-US" sz="2000" dirty="0" err="1">
                <a:solidFill>
                  <a:srgbClr val="273239"/>
                </a:solidFill>
                <a:latin typeface="Cambria" panose="02040503050406030204" pitchFamily="18" charset="0"/>
                <a:ea typeface="Cambria" panose="02040503050406030204" pitchFamily="18" charset="0"/>
              </a:rPr>
              <a:t>scaleup</a:t>
            </a:r>
            <a:r>
              <a:rPr lang="en-US" sz="2000" dirty="0">
                <a:solidFill>
                  <a:srgbClr val="273239"/>
                </a:solidFill>
                <a:latin typeface="Cambria" panose="02040503050406030204" pitchFamily="18" charset="0"/>
                <a:ea typeface="Cambria" panose="02040503050406030204" pitchFamily="18" charset="0"/>
              </a:rPr>
              <a:t> or </a:t>
            </a:r>
            <a:r>
              <a:rPr lang="en-US" sz="2000" dirty="0" err="1">
                <a:solidFill>
                  <a:srgbClr val="273239"/>
                </a:solidFill>
                <a:latin typeface="Cambria" panose="02040503050406030204" pitchFamily="18" charset="0"/>
                <a:ea typeface="Cambria" panose="02040503050406030204" pitchFamily="18" charset="0"/>
              </a:rPr>
              <a:t>scaledown</a:t>
            </a:r>
            <a:r>
              <a:rPr lang="en-US" sz="2000" dirty="0">
                <a:solidFill>
                  <a:srgbClr val="273239"/>
                </a:solidFill>
                <a:latin typeface="Cambria" panose="02040503050406030204" pitchFamily="18" charset="0"/>
                <a:ea typeface="Cambria" panose="02040503050406030204" pitchFamily="18" charset="0"/>
              </a:rPr>
              <a:t> nodes as per our requirement.</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Data is stored in distributed manner i.e. various </a:t>
            </a:r>
            <a:r>
              <a:rPr lang="en-US" sz="2000" dirty="0" err="1">
                <a:solidFill>
                  <a:srgbClr val="273239"/>
                </a:solidFill>
                <a:latin typeface="Cambria" panose="02040503050406030204" pitchFamily="18" charset="0"/>
                <a:ea typeface="Cambria" panose="02040503050406030204" pitchFamily="18" charset="0"/>
              </a:rPr>
              <a:t>Datanodes</a:t>
            </a:r>
            <a:r>
              <a:rPr lang="en-US" sz="2000" dirty="0">
                <a:solidFill>
                  <a:srgbClr val="273239"/>
                </a:solidFill>
                <a:latin typeface="Cambria" panose="02040503050406030204" pitchFamily="18" charset="0"/>
                <a:ea typeface="Cambria" panose="02040503050406030204" pitchFamily="18" charset="0"/>
              </a:rPr>
              <a:t> are responsible for storing the data.</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HDFS provides Replication because of which no fear of Data Loss.</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HDFS Provides High Reliability as it can store data in a large range of </a:t>
            </a:r>
            <a:r>
              <a:rPr lang="en-US" sz="2000" i="1" dirty="0">
                <a:solidFill>
                  <a:srgbClr val="273239"/>
                </a:solidFill>
                <a:latin typeface="Cambria" panose="02040503050406030204" pitchFamily="18" charset="0"/>
                <a:ea typeface="Cambria" panose="02040503050406030204" pitchFamily="18" charset="0"/>
              </a:rPr>
              <a:t>Petabytes</a:t>
            </a:r>
            <a:r>
              <a:rPr lang="en-US" sz="2000" dirty="0">
                <a:solidFill>
                  <a:srgbClr val="273239"/>
                </a:solidFill>
                <a:latin typeface="Cambria" panose="02040503050406030204" pitchFamily="18" charset="0"/>
                <a:ea typeface="Cambria" panose="02040503050406030204" pitchFamily="18" charset="0"/>
              </a:rPr>
              <a:t>.</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HDFS has in-built servers in Name node and Data Node that helps them to easily retrieve the cluster information.</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Provides high throughput. </a:t>
            </a:r>
            <a:endParaRPr lang="en-US" sz="2000"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12415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6195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HDFS (Hadoop Distributed File System)</a:t>
            </a:r>
            <a:endParaRPr lang="en-US" sz="2800" dirty="0"/>
          </a:p>
        </p:txBody>
      </p:sp>
      <p:pic>
        <p:nvPicPr>
          <p:cNvPr id="2052" name="Picture 4" descr="Namenode-and-Datano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850" y="1447800"/>
            <a:ext cx="8572500" cy="50006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09600" y="1124634"/>
            <a:ext cx="9944100" cy="369332"/>
          </a:xfrm>
          <a:prstGeom prst="rect">
            <a:avLst/>
          </a:prstGeom>
        </p:spPr>
        <p:txBody>
          <a:bodyPr wrap="square">
            <a:spAutoFit/>
          </a:bodyPr>
          <a:lstStyle/>
          <a:p>
            <a:pPr marL="342900" indent="-342900" fontAlgn="base">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Hadoop follows a master-slave architecture using the </a:t>
            </a:r>
            <a:r>
              <a:rPr lang="en-US" dirty="0" err="1">
                <a:solidFill>
                  <a:srgbClr val="273239"/>
                </a:solidFill>
                <a:latin typeface="Cambria" panose="02040503050406030204" pitchFamily="18" charset="0"/>
                <a:ea typeface="Cambria" panose="02040503050406030204" pitchFamily="18" charset="0"/>
              </a:rPr>
              <a:t>MapReduce</a:t>
            </a:r>
            <a:r>
              <a:rPr lang="en-US" dirty="0">
                <a:solidFill>
                  <a:srgbClr val="273239"/>
                </a:solidFill>
                <a:latin typeface="Cambria" panose="02040503050406030204" pitchFamily="18" charset="0"/>
                <a:ea typeface="Cambria" panose="02040503050406030204" pitchFamily="18" charset="0"/>
              </a:rPr>
              <a:t> algorithm. </a:t>
            </a:r>
          </a:p>
        </p:txBody>
      </p:sp>
    </p:spTree>
    <p:extLst>
      <p:ext uri="{BB962C8B-B14F-4D97-AF65-F5344CB8AC3E}">
        <p14:creationId xmlns:p14="http://schemas.microsoft.com/office/powerpoint/2010/main" val="2532595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HDFS (Hadoop Distributed File System)</a:t>
            </a:r>
            <a:endParaRPr lang="en-US" sz="2800" dirty="0"/>
          </a:p>
        </p:txBody>
      </p:sp>
      <p:sp>
        <p:nvSpPr>
          <p:cNvPr id="31" name="Rectangle 30"/>
          <p:cNvSpPr/>
          <p:nvPr/>
        </p:nvSpPr>
        <p:spPr>
          <a:xfrm>
            <a:off x="457199" y="1397139"/>
            <a:ext cx="11363325" cy="4401205"/>
          </a:xfrm>
          <a:prstGeom prst="rect">
            <a:avLst/>
          </a:prstGeom>
        </p:spPr>
        <p:txBody>
          <a:bodyPr wrap="square">
            <a:spAutoFit/>
          </a:bodyPr>
          <a:lstStyle/>
          <a:p>
            <a:pPr fontAlgn="base"/>
            <a:r>
              <a:rPr lang="en-US" sz="2000" b="1" dirty="0" smtClean="0"/>
              <a:t>1</a:t>
            </a:r>
            <a:r>
              <a:rPr lang="en-US" sz="2000" b="1" dirty="0"/>
              <a:t>. </a:t>
            </a:r>
            <a:r>
              <a:rPr lang="en-US" sz="2000" b="1" dirty="0" err="1"/>
              <a:t>NameNode</a:t>
            </a:r>
            <a:r>
              <a:rPr lang="en-US" sz="2000" b="1" dirty="0"/>
              <a:t> (Master</a:t>
            </a:r>
            <a:r>
              <a:rPr lang="en-US" sz="2000" b="1" dirty="0" smtClean="0"/>
              <a:t>):</a:t>
            </a:r>
          </a:p>
          <a:p>
            <a:pPr marL="342900"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The </a:t>
            </a:r>
            <a:r>
              <a:rPr lang="en-US" sz="2000" dirty="0" err="1">
                <a:solidFill>
                  <a:srgbClr val="273239"/>
                </a:solidFill>
                <a:latin typeface="Cambria" panose="02040503050406030204" pitchFamily="18" charset="0"/>
                <a:ea typeface="Cambria" panose="02040503050406030204" pitchFamily="18" charset="0"/>
              </a:rPr>
              <a:t>NameNode</a:t>
            </a:r>
            <a:r>
              <a:rPr lang="en-US" sz="2000" dirty="0">
                <a:solidFill>
                  <a:srgbClr val="273239"/>
                </a:solidFill>
                <a:latin typeface="Cambria" panose="02040503050406030204" pitchFamily="18" charset="0"/>
                <a:ea typeface="Cambria" panose="02040503050406030204" pitchFamily="18" charset="0"/>
              </a:rPr>
              <a:t> acts as the master of the Hadoop cluster. </a:t>
            </a:r>
            <a:endParaRPr lang="en-US" sz="2000" dirty="0" smtClean="0">
              <a:solidFill>
                <a:srgbClr val="273239"/>
              </a:solidFill>
              <a:latin typeface="Cambria" panose="02040503050406030204" pitchFamily="18" charset="0"/>
              <a:ea typeface="Cambria" panose="02040503050406030204" pitchFamily="18" charset="0"/>
            </a:endParaRPr>
          </a:p>
          <a:p>
            <a:pPr marL="342900" indent="-342900" fontAlgn="base">
              <a:buFont typeface="Arial" panose="020B0604020202020204" pitchFamily="34" charset="0"/>
              <a:buChar char="•"/>
            </a:pPr>
            <a:r>
              <a:rPr lang="en-US" sz="2000" dirty="0" smtClean="0">
                <a:solidFill>
                  <a:srgbClr val="273239"/>
                </a:solidFill>
                <a:latin typeface="Cambria" panose="02040503050406030204" pitchFamily="18" charset="0"/>
                <a:ea typeface="Cambria" panose="02040503050406030204" pitchFamily="18" charset="0"/>
              </a:rPr>
              <a:t>It </a:t>
            </a:r>
            <a:r>
              <a:rPr lang="en-US" sz="2000" dirty="0">
                <a:solidFill>
                  <a:srgbClr val="273239"/>
                </a:solidFill>
                <a:latin typeface="Cambria" panose="02040503050406030204" pitchFamily="18" charset="0"/>
                <a:ea typeface="Cambria" panose="02040503050406030204" pitchFamily="18" charset="0"/>
              </a:rPr>
              <a:t>is responsible for storing metadata — data about the actual data. </a:t>
            </a:r>
            <a:endParaRPr lang="en-US" sz="2000" dirty="0" smtClean="0">
              <a:solidFill>
                <a:srgbClr val="273239"/>
              </a:solidFill>
              <a:latin typeface="Cambria" panose="02040503050406030204" pitchFamily="18" charset="0"/>
              <a:ea typeface="Cambria" panose="02040503050406030204" pitchFamily="18" charset="0"/>
            </a:endParaRPr>
          </a:p>
          <a:p>
            <a:pPr marL="342900" indent="-342900" fontAlgn="base">
              <a:buFont typeface="Arial" panose="020B0604020202020204" pitchFamily="34" charset="0"/>
              <a:buChar char="•"/>
            </a:pPr>
            <a:r>
              <a:rPr lang="en-US" sz="2000" dirty="0" smtClean="0">
                <a:solidFill>
                  <a:srgbClr val="273239"/>
                </a:solidFill>
                <a:latin typeface="Cambria" panose="02040503050406030204" pitchFamily="18" charset="0"/>
                <a:ea typeface="Cambria" panose="02040503050406030204" pitchFamily="18" charset="0"/>
              </a:rPr>
              <a:t>This </a:t>
            </a:r>
            <a:r>
              <a:rPr lang="en-US" sz="2000" dirty="0">
                <a:solidFill>
                  <a:srgbClr val="273239"/>
                </a:solidFill>
                <a:latin typeface="Cambria" panose="02040503050406030204" pitchFamily="18" charset="0"/>
                <a:ea typeface="Cambria" panose="02040503050406030204" pitchFamily="18" charset="0"/>
              </a:rPr>
              <a:t>includes information like</a:t>
            </a:r>
            <a:r>
              <a:rPr lang="en-US" sz="2000" dirty="0" smtClean="0">
                <a:solidFill>
                  <a:srgbClr val="273239"/>
                </a:solidFill>
                <a:latin typeface="Cambria" panose="02040503050406030204" pitchFamily="18" charset="0"/>
                <a:ea typeface="Cambria" panose="02040503050406030204" pitchFamily="18" charset="0"/>
              </a:rPr>
              <a:t>:</a:t>
            </a:r>
            <a:endParaRPr lang="en-US" sz="2000" dirty="0">
              <a:solidFill>
                <a:srgbClr val="273239"/>
              </a:solidFill>
              <a:latin typeface="Cambria" panose="02040503050406030204" pitchFamily="18" charset="0"/>
              <a:ea typeface="Cambria" panose="02040503050406030204" pitchFamily="18" charset="0"/>
            </a:endParaRP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File names</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File sizes</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Block numbers and IDs</a:t>
            </a:r>
          </a:p>
          <a:p>
            <a:pPr marL="800100" lvl="1"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Locations of blocks stored in </a:t>
            </a:r>
            <a:r>
              <a:rPr lang="en-US" sz="2000" dirty="0" err="1">
                <a:solidFill>
                  <a:srgbClr val="273239"/>
                </a:solidFill>
                <a:latin typeface="Cambria" panose="02040503050406030204" pitchFamily="18" charset="0"/>
                <a:ea typeface="Cambria" panose="02040503050406030204" pitchFamily="18" charset="0"/>
              </a:rPr>
              <a:t>DataNodes</a:t>
            </a:r>
            <a:endParaRPr lang="en-US" sz="2000" dirty="0">
              <a:solidFill>
                <a:srgbClr val="273239"/>
              </a:solidFill>
              <a:latin typeface="Cambria" panose="02040503050406030204" pitchFamily="18" charset="0"/>
              <a:ea typeface="Cambria" panose="02040503050406030204" pitchFamily="18" charset="0"/>
            </a:endParaRPr>
          </a:p>
          <a:p>
            <a:pPr marL="342900"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The </a:t>
            </a:r>
            <a:r>
              <a:rPr lang="en-US" sz="2000" dirty="0" err="1">
                <a:solidFill>
                  <a:srgbClr val="273239"/>
                </a:solidFill>
                <a:latin typeface="Cambria" panose="02040503050406030204" pitchFamily="18" charset="0"/>
                <a:ea typeface="Cambria" panose="02040503050406030204" pitchFamily="18" charset="0"/>
              </a:rPr>
              <a:t>NameNode</a:t>
            </a:r>
            <a:r>
              <a:rPr lang="en-US" sz="2000" dirty="0">
                <a:solidFill>
                  <a:srgbClr val="273239"/>
                </a:solidFill>
                <a:latin typeface="Cambria" panose="02040503050406030204" pitchFamily="18" charset="0"/>
                <a:ea typeface="Cambria" panose="02040503050406030204" pitchFamily="18" charset="0"/>
              </a:rPr>
              <a:t> manages and monitors the </a:t>
            </a:r>
            <a:r>
              <a:rPr lang="en-US" sz="2000" dirty="0" err="1">
                <a:solidFill>
                  <a:srgbClr val="273239"/>
                </a:solidFill>
                <a:latin typeface="Cambria" panose="02040503050406030204" pitchFamily="18" charset="0"/>
                <a:ea typeface="Cambria" panose="02040503050406030204" pitchFamily="18" charset="0"/>
              </a:rPr>
              <a:t>DataNodes</a:t>
            </a:r>
            <a:r>
              <a:rPr lang="en-US" sz="2000" dirty="0">
                <a:solidFill>
                  <a:srgbClr val="273239"/>
                </a:solidFill>
                <a:latin typeface="Cambria" panose="02040503050406030204" pitchFamily="18" charset="0"/>
                <a:ea typeface="Cambria" panose="02040503050406030204" pitchFamily="18" charset="0"/>
              </a:rPr>
              <a:t> and sends them instructions to create, delete or replicate data blocks. </a:t>
            </a:r>
            <a:endParaRPr lang="en-US" sz="2000" dirty="0" smtClean="0">
              <a:solidFill>
                <a:srgbClr val="273239"/>
              </a:solidFill>
              <a:latin typeface="Cambria" panose="02040503050406030204" pitchFamily="18" charset="0"/>
              <a:ea typeface="Cambria" panose="02040503050406030204" pitchFamily="18" charset="0"/>
            </a:endParaRPr>
          </a:p>
          <a:p>
            <a:pPr marL="342900" indent="-342900" fontAlgn="base">
              <a:buFont typeface="Arial" panose="020B0604020202020204" pitchFamily="34" charset="0"/>
              <a:buChar char="•"/>
            </a:pPr>
            <a:r>
              <a:rPr lang="en-US" sz="2000" dirty="0" smtClean="0">
                <a:solidFill>
                  <a:srgbClr val="273239"/>
                </a:solidFill>
                <a:latin typeface="Cambria" panose="02040503050406030204" pitchFamily="18" charset="0"/>
                <a:ea typeface="Cambria" panose="02040503050406030204" pitchFamily="18" charset="0"/>
              </a:rPr>
              <a:t>It </a:t>
            </a:r>
            <a:r>
              <a:rPr lang="en-US" sz="2000" dirty="0">
                <a:solidFill>
                  <a:srgbClr val="273239"/>
                </a:solidFill>
                <a:latin typeface="Cambria" panose="02040503050406030204" pitchFamily="18" charset="0"/>
                <a:ea typeface="Cambria" panose="02040503050406030204" pitchFamily="18" charset="0"/>
              </a:rPr>
              <a:t>also receives regular heartbeat signals and block reports from the </a:t>
            </a:r>
            <a:r>
              <a:rPr lang="en-US" sz="2000" dirty="0" err="1">
                <a:solidFill>
                  <a:srgbClr val="273239"/>
                </a:solidFill>
                <a:latin typeface="Cambria" panose="02040503050406030204" pitchFamily="18" charset="0"/>
                <a:ea typeface="Cambria" panose="02040503050406030204" pitchFamily="18" charset="0"/>
              </a:rPr>
              <a:t>DataNodes</a:t>
            </a:r>
            <a:r>
              <a:rPr lang="en-US" sz="2000" dirty="0">
                <a:solidFill>
                  <a:srgbClr val="273239"/>
                </a:solidFill>
                <a:latin typeface="Cambria" panose="02040503050406030204" pitchFamily="18" charset="0"/>
                <a:ea typeface="Cambria" panose="02040503050406030204" pitchFamily="18" charset="0"/>
              </a:rPr>
              <a:t> to ensure everything is functioning properly</a:t>
            </a:r>
            <a:r>
              <a:rPr lang="en-US" sz="2000" dirty="0" smtClean="0">
                <a:solidFill>
                  <a:srgbClr val="273239"/>
                </a:solidFill>
                <a:latin typeface="Cambria" panose="02040503050406030204" pitchFamily="18" charset="0"/>
                <a:ea typeface="Cambria" panose="02040503050406030204" pitchFamily="18" charset="0"/>
              </a:rPr>
              <a:t>.</a:t>
            </a:r>
            <a:endParaRPr lang="en-US" sz="2000" dirty="0">
              <a:solidFill>
                <a:srgbClr val="273239"/>
              </a:solidFill>
              <a:latin typeface="Cambria" panose="02040503050406030204" pitchFamily="18" charset="0"/>
              <a:ea typeface="Cambria" panose="02040503050406030204" pitchFamily="18" charset="0"/>
            </a:endParaRPr>
          </a:p>
          <a:p>
            <a:pPr marL="342900" indent="-342900" fontAlgn="base">
              <a:buFont typeface="Arial" panose="020B0604020202020204" pitchFamily="34" charset="0"/>
              <a:buChar char="•"/>
            </a:pPr>
            <a:r>
              <a:rPr lang="en-US" sz="2000" dirty="0">
                <a:solidFill>
                  <a:srgbClr val="273239"/>
                </a:solidFill>
                <a:latin typeface="Cambria" panose="02040503050406030204" pitchFamily="18" charset="0"/>
                <a:ea typeface="Cambria" panose="02040503050406030204" pitchFamily="18" charset="0"/>
              </a:rPr>
              <a:t>Since </a:t>
            </a:r>
            <a:r>
              <a:rPr lang="en-US" sz="2000" dirty="0" err="1">
                <a:solidFill>
                  <a:srgbClr val="273239"/>
                </a:solidFill>
                <a:latin typeface="Cambria" panose="02040503050406030204" pitchFamily="18" charset="0"/>
                <a:ea typeface="Cambria" panose="02040503050406030204" pitchFamily="18" charset="0"/>
              </a:rPr>
              <a:t>NameNode</a:t>
            </a:r>
            <a:r>
              <a:rPr lang="en-US" sz="2000" dirty="0">
                <a:solidFill>
                  <a:srgbClr val="273239"/>
                </a:solidFill>
                <a:latin typeface="Cambria" panose="02040503050406030204" pitchFamily="18" charset="0"/>
                <a:ea typeface="Cambria" panose="02040503050406030204" pitchFamily="18" charset="0"/>
              </a:rPr>
              <a:t> controls entire cluster, it requires high RAM and processing power to manage system efficiently.</a:t>
            </a:r>
            <a:endParaRPr lang="en-US" sz="2000"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33466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HDFS (Hadoop Distributed File System)</a:t>
            </a:r>
            <a:endParaRPr lang="en-US" sz="2800" dirty="0"/>
          </a:p>
        </p:txBody>
      </p:sp>
      <p:sp>
        <p:nvSpPr>
          <p:cNvPr id="31" name="Rectangle 30"/>
          <p:cNvSpPr/>
          <p:nvPr/>
        </p:nvSpPr>
        <p:spPr>
          <a:xfrm>
            <a:off x="457199" y="1397139"/>
            <a:ext cx="11363325" cy="2862322"/>
          </a:xfrm>
          <a:prstGeom prst="rect">
            <a:avLst/>
          </a:prstGeom>
        </p:spPr>
        <p:txBody>
          <a:bodyPr wrap="square">
            <a:spAutoFit/>
          </a:bodyPr>
          <a:lstStyle/>
          <a:p>
            <a:pPr algn="just" fontAlgn="base">
              <a:lnSpc>
                <a:spcPct val="150000"/>
              </a:lnSpc>
            </a:pPr>
            <a:r>
              <a:rPr lang="en-US" sz="2000" b="1" dirty="0">
                <a:latin typeface="Cambria" panose="02040503050406030204" pitchFamily="18" charset="0"/>
                <a:ea typeface="Cambria" panose="02040503050406030204" pitchFamily="18" charset="0"/>
              </a:rPr>
              <a:t>2. </a:t>
            </a:r>
            <a:r>
              <a:rPr lang="en-US" sz="2000" b="1" dirty="0" err="1">
                <a:latin typeface="Cambria" panose="02040503050406030204" pitchFamily="18" charset="0"/>
                <a:ea typeface="Cambria" panose="02040503050406030204" pitchFamily="18" charset="0"/>
              </a:rPr>
              <a:t>DataNode</a:t>
            </a:r>
            <a:r>
              <a:rPr lang="en-US" sz="2000" b="1" dirty="0">
                <a:latin typeface="Cambria" panose="02040503050406030204" pitchFamily="18" charset="0"/>
                <a:ea typeface="Cambria" panose="02040503050406030204" pitchFamily="18" charset="0"/>
              </a:rPr>
              <a:t> (Slave):</a:t>
            </a:r>
            <a:endParaRPr lang="en-US" sz="2000" dirty="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act as slaves and are responsible for storing actual data blocks in Hadoop cluster. </a:t>
            </a:r>
            <a:endParaRPr lang="en-US" sz="2000" dirty="0" smtClean="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Have </a:t>
            </a:r>
            <a:r>
              <a:rPr lang="en-US" sz="2000" dirty="0">
                <a:latin typeface="Cambria" panose="02040503050406030204" pitchFamily="18" charset="0"/>
                <a:ea typeface="Cambria" panose="02040503050406030204" pitchFamily="18" charset="0"/>
              </a:rPr>
              <a:t>dozens or even hundreds of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and more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mean more storage </a:t>
            </a:r>
            <a:r>
              <a:rPr lang="en-US" sz="2000" dirty="0" smtClean="0">
                <a:latin typeface="Cambria" panose="02040503050406030204" pitchFamily="18" charset="0"/>
                <a:ea typeface="Cambria" panose="02040503050406030204" pitchFamily="18" charset="0"/>
              </a:rPr>
              <a:t>capacity.</a:t>
            </a: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Each </a:t>
            </a:r>
            <a:r>
              <a:rPr lang="en-US" sz="2000" dirty="0" err="1">
                <a:latin typeface="Cambria" panose="02040503050406030204" pitchFamily="18" charset="0"/>
                <a:ea typeface="Cambria" panose="02040503050406030204" pitchFamily="18" charset="0"/>
              </a:rPr>
              <a:t>DataNode</a:t>
            </a:r>
            <a:r>
              <a:rPr lang="en-US" sz="2000" dirty="0">
                <a:latin typeface="Cambria" panose="02040503050406030204" pitchFamily="18" charset="0"/>
                <a:ea typeface="Cambria" panose="02040503050406030204" pitchFamily="18" charset="0"/>
              </a:rPr>
              <a:t> performs tasks like creating, deleting or replicating data blocks all based on the instructions received from the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a:t>
            </a:r>
            <a:endParaRPr lang="en-US" sz="2000" dirty="0" smtClean="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To </a:t>
            </a:r>
            <a:r>
              <a:rPr lang="en-US" sz="2000" dirty="0">
                <a:latin typeface="Cambria" panose="02040503050406030204" pitchFamily="18" charset="0"/>
                <a:ea typeface="Cambria" panose="02040503050406030204" pitchFamily="18" charset="0"/>
              </a:rPr>
              <a:t>store large files efficiently,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should have a high storage capacity.</a:t>
            </a:r>
          </a:p>
        </p:txBody>
      </p:sp>
    </p:spTree>
    <p:extLst>
      <p:ext uri="{BB962C8B-B14F-4D97-AF65-F5344CB8AC3E}">
        <p14:creationId xmlns:p14="http://schemas.microsoft.com/office/powerpoint/2010/main" val="1925937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161925"/>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HDFS (Hadoop Distributed File System)</a:t>
            </a:r>
            <a:endParaRPr lang="en-US" sz="2800" dirty="0"/>
          </a:p>
        </p:txBody>
      </p:sp>
      <p:sp>
        <p:nvSpPr>
          <p:cNvPr id="31" name="Rectangle 30"/>
          <p:cNvSpPr/>
          <p:nvPr/>
        </p:nvSpPr>
        <p:spPr>
          <a:xfrm>
            <a:off x="304800" y="802005"/>
            <a:ext cx="11772900" cy="5857950"/>
          </a:xfrm>
          <a:prstGeom prst="rect">
            <a:avLst/>
          </a:prstGeom>
        </p:spPr>
        <p:txBody>
          <a:bodyPr wrap="square">
            <a:spAutoFit/>
          </a:bodyPr>
          <a:lstStyle/>
          <a:p>
            <a:pPr marL="342900" indent="-342900" fontAlgn="base">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Secondary </a:t>
            </a:r>
            <a:r>
              <a:rPr lang="en-US" b="1" dirty="0">
                <a:latin typeface="Cambria" panose="02040503050406030204" pitchFamily="18" charset="0"/>
                <a:ea typeface="Cambria" panose="02040503050406030204" pitchFamily="18" charset="0"/>
              </a:rPr>
              <a:t>Name Node (SNN</a:t>
            </a:r>
            <a:r>
              <a:rPr lang="en-US" b="1" dirty="0" smtClean="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  </a:t>
            </a:r>
            <a:endParaRPr lang="en-US" b="1" dirty="0" smtClean="0">
              <a:latin typeface="Cambria" panose="02040503050406030204" pitchFamily="18" charset="0"/>
              <a:ea typeface="Cambria" panose="02040503050406030204" pitchFamily="18" charset="0"/>
            </a:endParaRPr>
          </a:p>
          <a:p>
            <a:pPr marL="800100" lvl="1" indent="-342900" fontAlgn="base">
              <a:lnSpc>
                <a:spcPct val="150000"/>
              </a:lnSpc>
              <a:buFont typeface="Arial" panose="020B0604020202020204" pitchFamily="34" charset="0"/>
              <a:buChar char="•"/>
            </a:pPr>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acts as a helper </a:t>
            </a:r>
            <a:r>
              <a:rPr lang="en-US" dirty="0" smtClean="0">
                <a:latin typeface="Cambria" panose="02040503050406030204" pitchFamily="18" charset="0"/>
                <a:ea typeface="Cambria" panose="02040503050406030204" pitchFamily="18" charset="0"/>
              </a:rPr>
              <a:t>node that </a:t>
            </a:r>
            <a:r>
              <a:rPr lang="en-US" dirty="0">
                <a:latin typeface="Cambria" panose="02040503050406030204" pitchFamily="18" charset="0"/>
                <a:ea typeface="Cambria" panose="02040503050406030204" pitchFamily="18" charset="0"/>
              </a:rPr>
              <a:t>periodically merges the primary </a:t>
            </a:r>
            <a:r>
              <a:rPr lang="en-US" dirty="0" err="1">
                <a:latin typeface="Cambria" panose="02040503050406030204" pitchFamily="18" charset="0"/>
                <a:ea typeface="Cambria" panose="02040503050406030204" pitchFamily="18" charset="0"/>
              </a:rPr>
              <a:t>NameNode's</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filesystem</a:t>
            </a:r>
            <a:r>
              <a:rPr lang="en-US" dirty="0">
                <a:latin typeface="Cambria" panose="02040503050406030204" pitchFamily="18" charset="0"/>
                <a:ea typeface="Cambria" panose="02040503050406030204" pitchFamily="18" charset="0"/>
              </a:rPr>
              <a:t> image (</a:t>
            </a:r>
            <a:r>
              <a:rPr lang="en-US" dirty="0" err="1">
                <a:latin typeface="Cambria" panose="02040503050406030204" pitchFamily="18" charset="0"/>
                <a:ea typeface="Cambria" panose="02040503050406030204" pitchFamily="18" charset="0"/>
              </a:rPr>
              <a:t>fsimage</a:t>
            </a:r>
            <a:r>
              <a:rPr lang="en-US" dirty="0">
                <a:latin typeface="Cambria" panose="02040503050406030204" pitchFamily="18" charset="0"/>
                <a:ea typeface="Cambria" panose="02040503050406030204" pitchFamily="18" charset="0"/>
              </a:rPr>
              <a:t>) with the transaction log (edit log</a:t>
            </a:r>
            <a:r>
              <a:rPr lang="en-US" dirty="0" smtClean="0">
                <a:latin typeface="Cambria" panose="02040503050406030204" pitchFamily="18" charset="0"/>
                <a:ea typeface="Cambria" panose="02040503050406030204" pitchFamily="18" charset="0"/>
              </a:rPr>
              <a:t>).</a:t>
            </a:r>
          </a:p>
          <a:p>
            <a:pPr marL="800100" lvl="1" indent="-342900" fontAlgn="base">
              <a:lnSpc>
                <a:spcPct val="150000"/>
              </a:lnSpc>
              <a:buFont typeface="Arial" panose="020B0604020202020204" pitchFamily="34" charset="0"/>
              <a:buChar char="•"/>
            </a:pPr>
            <a:r>
              <a:rPr lang="en-US" dirty="0" smtClean="0">
                <a:latin typeface="Cambria" panose="02040503050406030204" pitchFamily="18" charset="0"/>
                <a:ea typeface="Cambria" panose="02040503050406030204" pitchFamily="18" charset="0"/>
              </a:rPr>
              <a:t>It is not </a:t>
            </a:r>
            <a:r>
              <a:rPr lang="en-US" dirty="0">
                <a:latin typeface="Cambria" panose="02040503050406030204" pitchFamily="18" charset="0"/>
                <a:ea typeface="Cambria" panose="02040503050406030204" pitchFamily="18" charset="0"/>
              </a:rPr>
              <a:t>a failover or backup node for the primary </a:t>
            </a:r>
            <a:r>
              <a:rPr lang="en-US" dirty="0" err="1">
                <a:latin typeface="Cambria" panose="02040503050406030204" pitchFamily="18" charset="0"/>
                <a:ea typeface="Cambria" panose="02040503050406030204" pitchFamily="18" charset="0"/>
              </a:rPr>
              <a:t>NameNode</a:t>
            </a:r>
            <a:r>
              <a:rPr lang="en-US" dirty="0">
                <a:latin typeface="Cambria" panose="02040503050406030204" pitchFamily="18" charset="0"/>
                <a:ea typeface="Cambria" panose="02040503050406030204" pitchFamily="18" charset="0"/>
              </a:rPr>
              <a:t> if it crashes. Its main job is to prevent the edit log from growing too large, which reduces the primary </a:t>
            </a:r>
            <a:r>
              <a:rPr lang="en-US" dirty="0" err="1">
                <a:latin typeface="Cambria" panose="02040503050406030204" pitchFamily="18" charset="0"/>
                <a:ea typeface="Cambria" panose="02040503050406030204" pitchFamily="18" charset="0"/>
              </a:rPr>
              <a:t>NameNode's</a:t>
            </a:r>
            <a:r>
              <a:rPr lang="en-US" dirty="0">
                <a:latin typeface="Cambria" panose="02040503050406030204" pitchFamily="18" charset="0"/>
                <a:ea typeface="Cambria" panose="02040503050406030204" pitchFamily="18" charset="0"/>
              </a:rPr>
              <a:t> restart time. </a:t>
            </a:r>
            <a:endParaRPr lang="en-US"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Job Tracker</a:t>
            </a:r>
          </a:p>
          <a:p>
            <a:pPr marL="800100" lvl="1" indent="-342900"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It is the master service for </a:t>
            </a:r>
            <a:r>
              <a:rPr lang="en-US" dirty="0" err="1">
                <a:latin typeface="Cambria" panose="02040503050406030204" pitchFamily="18" charset="0"/>
                <a:ea typeface="Cambria" panose="02040503050406030204" pitchFamily="18" charset="0"/>
              </a:rPr>
              <a:t>MapReduce</a:t>
            </a:r>
            <a:r>
              <a:rPr lang="en-US" dirty="0">
                <a:latin typeface="Cambria" panose="02040503050406030204" pitchFamily="18" charset="0"/>
                <a:ea typeface="Cambria" panose="02040503050406030204" pitchFamily="18" charset="0"/>
              </a:rPr>
              <a:t> execution in a Hadoop cluster</a:t>
            </a:r>
            <a:r>
              <a:rPr lang="en-US" dirty="0" smtClean="0">
                <a:latin typeface="Cambria" panose="02040503050406030204" pitchFamily="18" charset="0"/>
                <a:ea typeface="Cambria" panose="02040503050406030204" pitchFamily="18" charset="0"/>
              </a:rPr>
              <a:t>.</a:t>
            </a:r>
          </a:p>
          <a:p>
            <a:pPr marL="800100" lvl="1" indent="-342900"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It accepts data processing jobs from clients, divides them into individual tasks, and assigns those tasks to slave nodes running Task Trackers, while tracking overall progress and handling faults. </a:t>
            </a:r>
            <a:endParaRPr lang="en-US"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Task Tracker</a:t>
            </a:r>
          </a:p>
          <a:p>
            <a:pPr marL="800100" lvl="1" indent="-342900"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It is the slave daemon that runs on each worker node in the cluster to execute individual Map and Reduce tasks assigned by the Job </a:t>
            </a:r>
            <a:r>
              <a:rPr lang="en-US" dirty="0" smtClean="0">
                <a:latin typeface="Cambria" panose="02040503050406030204" pitchFamily="18" charset="0"/>
                <a:ea typeface="Cambria" panose="02040503050406030204" pitchFamily="18" charset="0"/>
              </a:rPr>
              <a:t>Tracker.</a:t>
            </a:r>
          </a:p>
          <a:p>
            <a:pPr marL="800100" lvl="1" indent="-342900"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It communicates status updates and sends regular heartbeat signals back to the Job Tracker to report available processing slots and task progress</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02811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32385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Hadoop Distributed File System – </a:t>
            </a:r>
            <a:r>
              <a:rPr lang="en-US" sz="2800" b="1" dirty="0" smtClean="0">
                <a:solidFill>
                  <a:srgbClr val="21295C"/>
                </a:solidFill>
                <a:latin typeface="Cambria" pitchFamily="34" charset="0"/>
                <a:ea typeface="Cambria" pitchFamily="34" charset="-122"/>
                <a:cs typeface="Cambria" pitchFamily="34" charset="-120"/>
              </a:rPr>
              <a:t>Write Operations</a:t>
            </a:r>
            <a:endParaRPr lang="en-US" sz="2800" dirty="0"/>
          </a:p>
        </p:txBody>
      </p:sp>
      <p:sp>
        <p:nvSpPr>
          <p:cNvPr id="31" name="Rectangle 30"/>
          <p:cNvSpPr/>
          <p:nvPr/>
        </p:nvSpPr>
        <p:spPr>
          <a:xfrm>
            <a:off x="428624" y="963930"/>
            <a:ext cx="11363325" cy="5632311"/>
          </a:xfrm>
          <a:prstGeom prst="rect">
            <a:avLst/>
          </a:prstGeom>
        </p:spPr>
        <p:txBody>
          <a:bodyPr wrap="square">
            <a:spAutoFit/>
          </a:bodyPr>
          <a:lstStyle/>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The write </a:t>
            </a:r>
            <a:r>
              <a:rPr lang="en-US" sz="2000" dirty="0">
                <a:latin typeface="Cambria" panose="02040503050406030204" pitchFamily="18" charset="0"/>
                <a:ea typeface="Cambria" panose="02040503050406030204" pitchFamily="18" charset="0"/>
              </a:rPr>
              <a:t>path involves breaking data into packets and streaming them through a pipeline of </a:t>
            </a:r>
            <a:r>
              <a:rPr lang="en-US" sz="2000" dirty="0" err="1">
                <a:latin typeface="Cambria" panose="02040503050406030204" pitchFamily="18" charset="0"/>
                <a:ea typeface="Cambria" panose="02040503050406030204" pitchFamily="18" charset="0"/>
              </a:rPr>
              <a:t>DataNodes</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Client </a:t>
            </a:r>
            <a:r>
              <a:rPr lang="en-US" sz="2000" b="1" dirty="0">
                <a:latin typeface="Cambria" panose="02040503050406030204" pitchFamily="18" charset="0"/>
                <a:ea typeface="Cambria" panose="02040503050406030204" pitchFamily="18" charset="0"/>
              </a:rPr>
              <a:t>requests file creation: </a:t>
            </a:r>
            <a:r>
              <a:rPr lang="en-US" sz="2000" dirty="0">
                <a:latin typeface="Cambria" panose="02040503050406030204" pitchFamily="18" charset="0"/>
                <a:ea typeface="Cambria" panose="02040503050406030204" pitchFamily="18" charset="0"/>
              </a:rPr>
              <a:t>The client calls create() on the </a:t>
            </a:r>
            <a:r>
              <a:rPr lang="en-US" sz="2000" dirty="0" err="1">
                <a:latin typeface="Cambria" panose="02040503050406030204" pitchFamily="18" charset="0"/>
                <a:ea typeface="Cambria" panose="02040503050406030204" pitchFamily="18" charset="0"/>
              </a:rPr>
              <a:t>DistributedFileSystem</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err="1" smtClean="0">
                <a:latin typeface="Cambria" panose="02040503050406030204" pitchFamily="18" charset="0"/>
                <a:ea typeface="Cambria" panose="02040503050406030204" pitchFamily="18" charset="0"/>
              </a:rPr>
              <a:t>NameNode</a:t>
            </a:r>
            <a:r>
              <a:rPr lang="en-US" sz="2000" b="1" dirty="0" smtClean="0">
                <a:latin typeface="Cambria" panose="02040503050406030204" pitchFamily="18" charset="0"/>
                <a:ea typeface="Cambria" panose="02040503050406030204" pitchFamily="18" charset="0"/>
              </a:rPr>
              <a:t> Validates </a:t>
            </a:r>
            <a:r>
              <a:rPr lang="en-US" sz="2000" b="1" dirty="0">
                <a:latin typeface="Cambria" panose="02040503050406030204" pitchFamily="18" charset="0"/>
                <a:ea typeface="Cambria" panose="02040503050406030204" pitchFamily="18" charset="0"/>
              </a:rPr>
              <a:t>request: </a:t>
            </a:r>
            <a:r>
              <a:rPr lang="en-US" sz="2000" dirty="0">
                <a:latin typeface="Cambria" panose="02040503050406030204" pitchFamily="18" charset="0"/>
                <a:ea typeface="Cambria" panose="02040503050406030204" pitchFamily="18" charset="0"/>
              </a:rPr>
              <a:t>It checks permissions and verifies the file path</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Stream </a:t>
            </a:r>
            <a:r>
              <a:rPr lang="en-US" sz="2000" b="1" dirty="0">
                <a:latin typeface="Cambria" panose="02040503050406030204" pitchFamily="18" charset="0"/>
                <a:ea typeface="Cambria" panose="02040503050406030204" pitchFamily="18" charset="0"/>
              </a:rPr>
              <a:t>initialization: </a:t>
            </a:r>
            <a:r>
              <a:rPr lang="en-US" sz="2000" dirty="0">
                <a:latin typeface="Cambria" panose="02040503050406030204" pitchFamily="18" charset="0"/>
                <a:ea typeface="Cambria" panose="02040503050406030204" pitchFamily="18" charset="0"/>
              </a:rPr>
              <a:t>The file system returns an </a:t>
            </a:r>
            <a:r>
              <a:rPr lang="en-US" sz="2000" dirty="0" err="1">
                <a:latin typeface="Cambria" panose="02040503050406030204" pitchFamily="18" charset="0"/>
                <a:ea typeface="Cambria" panose="02040503050406030204" pitchFamily="18" charset="0"/>
              </a:rPr>
              <a:t>FSDataOutputStream</a:t>
            </a:r>
            <a:r>
              <a:rPr lang="en-US" sz="2000" dirty="0">
                <a:latin typeface="Cambria" panose="02040503050406030204" pitchFamily="18" charset="0"/>
                <a:ea typeface="Cambria" panose="02040503050406030204" pitchFamily="18" charset="0"/>
              </a:rPr>
              <a:t> to the client</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Data </a:t>
            </a:r>
            <a:r>
              <a:rPr lang="en-US" sz="2000" b="1" dirty="0">
                <a:latin typeface="Cambria" panose="02040503050406030204" pitchFamily="18" charset="0"/>
                <a:ea typeface="Cambria" panose="02040503050406030204" pitchFamily="18" charset="0"/>
              </a:rPr>
              <a:t>buffering: </a:t>
            </a:r>
            <a:r>
              <a:rPr lang="en-US" sz="2000" dirty="0">
                <a:latin typeface="Cambria" panose="02040503050406030204" pitchFamily="18" charset="0"/>
                <a:ea typeface="Cambria" panose="02040503050406030204" pitchFamily="18" charset="0"/>
              </a:rPr>
              <a:t>The client splits data into packets within an internal queue</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Block </a:t>
            </a:r>
            <a:r>
              <a:rPr lang="en-US" sz="2000" b="1" dirty="0">
                <a:latin typeface="Cambria" panose="02040503050406030204" pitchFamily="18" charset="0"/>
                <a:ea typeface="Cambria" panose="02040503050406030204" pitchFamily="18" charset="0"/>
              </a:rPr>
              <a:t>allocation: </a:t>
            </a:r>
            <a:r>
              <a:rPr lang="en-US" sz="2000" dirty="0">
                <a:latin typeface="Cambria" panose="02040503050406030204" pitchFamily="18" charset="0"/>
                <a:ea typeface="Cambria" panose="02040503050406030204" pitchFamily="18" charset="0"/>
              </a:rPr>
              <a:t>The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selects a pipeline of suitable </a:t>
            </a:r>
            <a:r>
              <a:rPr lang="en-US" sz="2000" dirty="0" err="1">
                <a:latin typeface="Cambria" panose="02040503050406030204" pitchFamily="18" charset="0"/>
                <a:ea typeface="Cambria" panose="02040503050406030204" pitchFamily="18" charset="0"/>
              </a:rPr>
              <a:t>DataNodes</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Pipeline </a:t>
            </a:r>
            <a:r>
              <a:rPr lang="en-US" sz="2000" b="1" dirty="0">
                <a:latin typeface="Cambria" panose="02040503050406030204" pitchFamily="18" charset="0"/>
                <a:ea typeface="Cambria" panose="02040503050406030204" pitchFamily="18" charset="0"/>
              </a:rPr>
              <a:t>streaming: </a:t>
            </a:r>
            <a:r>
              <a:rPr lang="en-US" sz="2000" dirty="0">
                <a:latin typeface="Cambria" panose="02040503050406030204" pitchFamily="18" charset="0"/>
                <a:ea typeface="Cambria" panose="02040503050406030204" pitchFamily="18" charset="0"/>
              </a:rPr>
              <a:t>The client streams packets to the first </a:t>
            </a:r>
            <a:r>
              <a:rPr lang="en-US" sz="2000" dirty="0" err="1">
                <a:latin typeface="Cambria" panose="02040503050406030204" pitchFamily="18" charset="0"/>
                <a:ea typeface="Cambria" panose="02040503050406030204" pitchFamily="18" charset="0"/>
              </a:rPr>
              <a:t>DataNode</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Downstream </a:t>
            </a:r>
            <a:r>
              <a:rPr lang="en-US" sz="2000" b="1" dirty="0">
                <a:latin typeface="Cambria" panose="02040503050406030204" pitchFamily="18" charset="0"/>
                <a:ea typeface="Cambria" panose="02040503050406030204" pitchFamily="18" charset="0"/>
              </a:rPr>
              <a:t>replication: </a:t>
            </a:r>
            <a:r>
              <a:rPr lang="en-US" sz="2000" dirty="0">
                <a:latin typeface="Cambria" panose="02040503050406030204" pitchFamily="18" charset="0"/>
                <a:ea typeface="Cambria" panose="02040503050406030204" pitchFamily="18" charset="0"/>
              </a:rPr>
              <a:t>The first </a:t>
            </a:r>
            <a:r>
              <a:rPr lang="en-US" sz="2000" dirty="0" err="1">
                <a:latin typeface="Cambria" panose="02040503050406030204" pitchFamily="18" charset="0"/>
                <a:ea typeface="Cambria" panose="02040503050406030204" pitchFamily="18" charset="0"/>
              </a:rPr>
              <a:t>DataNode</a:t>
            </a:r>
            <a:r>
              <a:rPr lang="en-US" sz="2000" dirty="0">
                <a:latin typeface="Cambria" panose="02040503050406030204" pitchFamily="18" charset="0"/>
                <a:ea typeface="Cambria" panose="02040503050406030204" pitchFamily="18" charset="0"/>
              </a:rPr>
              <a:t> forwards packets to the next</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Acknowledgment </a:t>
            </a:r>
            <a:r>
              <a:rPr lang="en-US" sz="2000" b="1" dirty="0">
                <a:latin typeface="Cambria" panose="02040503050406030204" pitchFamily="18" charset="0"/>
                <a:ea typeface="Cambria" panose="02040503050406030204" pitchFamily="18" charset="0"/>
              </a:rPr>
              <a:t>loop: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send success packets back via an </a:t>
            </a:r>
            <a:r>
              <a:rPr lang="en-US" sz="2000" dirty="0" err="1">
                <a:latin typeface="Cambria" panose="02040503050406030204" pitchFamily="18" charset="0"/>
                <a:ea typeface="Cambria" panose="02040503050406030204" pitchFamily="18" charset="0"/>
              </a:rPr>
              <a:t>ack</a:t>
            </a:r>
            <a:r>
              <a:rPr lang="en-US" sz="2000" dirty="0">
                <a:latin typeface="Cambria" panose="02040503050406030204" pitchFamily="18" charset="0"/>
                <a:ea typeface="Cambria" panose="02040503050406030204" pitchFamily="18" charset="0"/>
              </a:rPr>
              <a:t> queue</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Stream </a:t>
            </a:r>
            <a:r>
              <a:rPr lang="en-US" sz="2000" b="1" dirty="0">
                <a:latin typeface="Cambria" panose="02040503050406030204" pitchFamily="18" charset="0"/>
                <a:ea typeface="Cambria" panose="02040503050406030204" pitchFamily="18" charset="0"/>
              </a:rPr>
              <a:t>closure: </a:t>
            </a:r>
            <a:r>
              <a:rPr lang="en-US" sz="2000" dirty="0">
                <a:latin typeface="Cambria" panose="02040503050406030204" pitchFamily="18" charset="0"/>
                <a:ea typeface="Cambria" panose="02040503050406030204" pitchFamily="18" charset="0"/>
              </a:rPr>
              <a:t>The client invokes close() after finishing all blocks</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Final </a:t>
            </a:r>
            <a:r>
              <a:rPr lang="en-US" sz="2000" b="1" dirty="0">
                <a:latin typeface="Cambria" panose="02040503050406030204" pitchFamily="18" charset="0"/>
                <a:ea typeface="Cambria" panose="02040503050406030204" pitchFamily="18" charset="0"/>
              </a:rPr>
              <a:t>acknowledgment: </a:t>
            </a:r>
            <a:r>
              <a:rPr lang="en-US" sz="2000" dirty="0">
                <a:latin typeface="Cambria" panose="02040503050406030204" pitchFamily="18" charset="0"/>
                <a:ea typeface="Cambria" panose="02040503050406030204" pitchFamily="18" charset="0"/>
              </a:rPr>
              <a:t>The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confirms file completion.</a:t>
            </a:r>
          </a:p>
        </p:txBody>
      </p:sp>
    </p:spTree>
    <p:extLst>
      <p:ext uri="{BB962C8B-B14F-4D97-AF65-F5344CB8AC3E}">
        <p14:creationId xmlns:p14="http://schemas.microsoft.com/office/powerpoint/2010/main" val="3128651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32385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Hadoop Distributed File System – </a:t>
            </a:r>
            <a:r>
              <a:rPr lang="en-US" sz="2800" b="1" dirty="0" smtClean="0">
                <a:solidFill>
                  <a:srgbClr val="21295C"/>
                </a:solidFill>
                <a:latin typeface="Cambria" pitchFamily="34" charset="0"/>
                <a:ea typeface="Cambria" pitchFamily="34" charset="-122"/>
                <a:cs typeface="Cambria" pitchFamily="34" charset="-120"/>
              </a:rPr>
              <a:t>Write Operations</a:t>
            </a:r>
            <a:endParaRPr lang="en-US" sz="2800" dirty="0"/>
          </a:p>
        </p:txBody>
      </p:sp>
      <p:pic>
        <p:nvPicPr>
          <p:cNvPr id="9218" name="Picture 2" descr="HDFS Wr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115" y="873125"/>
            <a:ext cx="10972800" cy="56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8497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32385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Hadoop Distributed File System – </a:t>
            </a:r>
            <a:r>
              <a:rPr lang="en-US" sz="2800" b="1" dirty="0" smtClean="0">
                <a:solidFill>
                  <a:srgbClr val="21295C"/>
                </a:solidFill>
                <a:latin typeface="Cambria" pitchFamily="34" charset="0"/>
                <a:ea typeface="Cambria" pitchFamily="34" charset="-122"/>
                <a:cs typeface="Cambria" pitchFamily="34" charset="-120"/>
              </a:rPr>
              <a:t>Read Operations</a:t>
            </a:r>
            <a:endParaRPr lang="en-US" sz="2800" dirty="0"/>
          </a:p>
        </p:txBody>
      </p:sp>
      <p:sp>
        <p:nvSpPr>
          <p:cNvPr id="31" name="Rectangle 30"/>
          <p:cNvSpPr/>
          <p:nvPr/>
        </p:nvSpPr>
        <p:spPr>
          <a:xfrm>
            <a:off x="428624" y="963930"/>
            <a:ext cx="11363325" cy="4708981"/>
          </a:xfrm>
          <a:prstGeom prst="rect">
            <a:avLst/>
          </a:prstGeom>
        </p:spPr>
        <p:txBody>
          <a:bodyPr wrap="square">
            <a:spAutoFit/>
          </a:bodyPr>
          <a:lstStyle/>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read path prioritizes data proximity by connecting the client directly to the closest available </a:t>
            </a:r>
            <a:r>
              <a:rPr lang="en-US" sz="2000" dirty="0" err="1">
                <a:latin typeface="Cambria" panose="02040503050406030204" pitchFamily="18" charset="0"/>
                <a:ea typeface="Cambria" panose="02040503050406030204" pitchFamily="18" charset="0"/>
              </a:rPr>
              <a:t>DataNode</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Client </a:t>
            </a:r>
            <a:r>
              <a:rPr lang="en-US" sz="2000" b="1" dirty="0">
                <a:latin typeface="Cambria" panose="02040503050406030204" pitchFamily="18" charset="0"/>
                <a:ea typeface="Cambria" panose="02040503050406030204" pitchFamily="18" charset="0"/>
              </a:rPr>
              <a:t>opens file: </a:t>
            </a:r>
            <a:r>
              <a:rPr lang="en-US" sz="2000" dirty="0">
                <a:latin typeface="Cambria" panose="02040503050406030204" pitchFamily="18" charset="0"/>
                <a:ea typeface="Cambria" panose="02040503050406030204" pitchFamily="18" charset="0"/>
              </a:rPr>
              <a:t>The client initiates the call using open</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Metadata </a:t>
            </a:r>
            <a:r>
              <a:rPr lang="en-US" sz="2000" b="1" dirty="0">
                <a:latin typeface="Cambria" panose="02040503050406030204" pitchFamily="18" charset="0"/>
                <a:ea typeface="Cambria" panose="02040503050406030204" pitchFamily="18" charset="0"/>
              </a:rPr>
              <a:t>retrieval: </a:t>
            </a:r>
            <a:r>
              <a:rPr lang="en-US" sz="2000" dirty="0" err="1">
                <a:latin typeface="Cambria" panose="02040503050406030204" pitchFamily="18" charset="0"/>
                <a:ea typeface="Cambria" panose="02040503050406030204" pitchFamily="18" charset="0"/>
              </a:rPr>
              <a:t>DistributedFileSystem</a:t>
            </a:r>
            <a:r>
              <a:rPr lang="en-US" sz="2000" dirty="0">
                <a:latin typeface="Cambria" panose="02040503050406030204" pitchFamily="18" charset="0"/>
                <a:ea typeface="Cambria" panose="02040503050406030204" pitchFamily="18" charset="0"/>
              </a:rPr>
              <a:t> contacts the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for block locations</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err="1" smtClean="0">
                <a:latin typeface="Cambria" panose="02040503050406030204" pitchFamily="18" charset="0"/>
                <a:ea typeface="Cambria" panose="02040503050406030204" pitchFamily="18" charset="0"/>
              </a:rPr>
              <a:t>DataNode</a:t>
            </a:r>
            <a:r>
              <a:rPr lang="en-US" sz="2000" b="1" dirty="0" smtClean="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sorting: </a:t>
            </a:r>
            <a:r>
              <a:rPr lang="en-US" sz="2000" dirty="0">
                <a:latin typeface="Cambria" panose="02040503050406030204" pitchFamily="18" charset="0"/>
                <a:ea typeface="Cambria" panose="02040503050406030204" pitchFamily="18" charset="0"/>
              </a:rPr>
              <a:t>The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ranks target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 by physical proximity</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Stream </a:t>
            </a:r>
            <a:r>
              <a:rPr lang="en-US" sz="2000" b="1" dirty="0">
                <a:latin typeface="Cambria" panose="02040503050406030204" pitchFamily="18" charset="0"/>
                <a:ea typeface="Cambria" panose="02040503050406030204" pitchFamily="18" charset="0"/>
              </a:rPr>
              <a:t>return: </a:t>
            </a:r>
            <a:r>
              <a:rPr lang="en-US" sz="2000" dirty="0">
                <a:latin typeface="Cambria" panose="02040503050406030204" pitchFamily="18" charset="0"/>
                <a:ea typeface="Cambria" panose="02040503050406030204" pitchFamily="18" charset="0"/>
              </a:rPr>
              <a:t>The client receives an input stream called </a:t>
            </a:r>
            <a:r>
              <a:rPr lang="en-US" sz="2000" dirty="0" err="1">
                <a:latin typeface="Cambria" panose="02040503050406030204" pitchFamily="18" charset="0"/>
                <a:ea typeface="Cambria" panose="02040503050406030204" pitchFamily="18" charset="0"/>
              </a:rPr>
              <a:t>FSDataInputStream</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Node </a:t>
            </a:r>
            <a:r>
              <a:rPr lang="en-US" sz="2000" b="1" dirty="0">
                <a:latin typeface="Cambria" panose="02040503050406030204" pitchFamily="18" charset="0"/>
                <a:ea typeface="Cambria" panose="02040503050406030204" pitchFamily="18" charset="0"/>
              </a:rPr>
              <a:t>connection: </a:t>
            </a:r>
            <a:r>
              <a:rPr lang="en-US" sz="2000" dirty="0">
                <a:latin typeface="Cambria" panose="02040503050406030204" pitchFamily="18" charset="0"/>
                <a:ea typeface="Cambria" panose="02040503050406030204" pitchFamily="18" charset="0"/>
              </a:rPr>
              <a:t>The client connects to the closest hosting </a:t>
            </a:r>
            <a:r>
              <a:rPr lang="en-US" sz="2000" dirty="0" err="1">
                <a:latin typeface="Cambria" panose="02040503050406030204" pitchFamily="18" charset="0"/>
                <a:ea typeface="Cambria" panose="02040503050406030204" pitchFamily="18" charset="0"/>
              </a:rPr>
              <a:t>DataNode</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Data </a:t>
            </a:r>
            <a:r>
              <a:rPr lang="en-US" sz="2000" b="1" dirty="0">
                <a:latin typeface="Cambria" panose="02040503050406030204" pitchFamily="18" charset="0"/>
                <a:ea typeface="Cambria" panose="02040503050406030204" pitchFamily="18" charset="0"/>
              </a:rPr>
              <a:t>streaming: </a:t>
            </a:r>
            <a:r>
              <a:rPr lang="en-US" sz="2000" dirty="0">
                <a:latin typeface="Cambria" panose="02040503050406030204" pitchFamily="18" charset="0"/>
                <a:ea typeface="Cambria" panose="02040503050406030204" pitchFamily="18" charset="0"/>
              </a:rPr>
              <a:t>The client invokes read() to stream block data</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Sequential </a:t>
            </a:r>
            <a:r>
              <a:rPr lang="en-US" sz="2000" b="1" dirty="0">
                <a:latin typeface="Cambria" panose="02040503050406030204" pitchFamily="18" charset="0"/>
                <a:ea typeface="Cambria" panose="02040503050406030204" pitchFamily="18" charset="0"/>
              </a:rPr>
              <a:t>transition: </a:t>
            </a:r>
            <a:r>
              <a:rPr lang="en-US" sz="2000" dirty="0">
                <a:latin typeface="Cambria" panose="02040503050406030204" pitchFamily="18" charset="0"/>
                <a:ea typeface="Cambria" panose="02040503050406030204" pitchFamily="18" charset="0"/>
              </a:rPr>
              <a:t>The stream automatically switches to the next block</a:t>
            </a:r>
            <a:r>
              <a:rPr lang="en-US" sz="2000" dirty="0" smtClean="0">
                <a:latin typeface="Cambria" panose="02040503050406030204" pitchFamily="18" charset="0"/>
                <a:ea typeface="Cambria" panose="02040503050406030204" pitchFamily="18" charset="0"/>
              </a:rPr>
              <a:t>.</a:t>
            </a:r>
          </a:p>
          <a:p>
            <a:pPr marL="457200" indent="-457200" fontAlgn="base">
              <a:lnSpc>
                <a:spcPct val="150000"/>
              </a:lnSpc>
              <a:buFont typeface="+mj-lt"/>
              <a:buAutoNum type="arabicPeriod"/>
            </a:pPr>
            <a:r>
              <a:rPr lang="en-US" sz="2000" b="1" dirty="0" smtClean="0">
                <a:latin typeface="Cambria" panose="02040503050406030204" pitchFamily="18" charset="0"/>
                <a:ea typeface="Cambria" panose="02040503050406030204" pitchFamily="18" charset="0"/>
              </a:rPr>
              <a:t>Resource </a:t>
            </a:r>
            <a:r>
              <a:rPr lang="en-US" sz="2000" b="1" dirty="0">
                <a:latin typeface="Cambria" panose="02040503050406030204" pitchFamily="18" charset="0"/>
                <a:ea typeface="Cambria" panose="02040503050406030204" pitchFamily="18" charset="0"/>
              </a:rPr>
              <a:t>cleanup: </a:t>
            </a:r>
            <a:r>
              <a:rPr lang="en-US" sz="2000" dirty="0">
                <a:latin typeface="Cambria" panose="02040503050406030204" pitchFamily="18" charset="0"/>
                <a:ea typeface="Cambria" panose="02040503050406030204" pitchFamily="18" charset="0"/>
              </a:rPr>
              <a:t>The client invokes close() when reading concludes.</a:t>
            </a:r>
          </a:p>
        </p:txBody>
      </p:sp>
    </p:spTree>
    <p:extLst>
      <p:ext uri="{BB962C8B-B14F-4D97-AF65-F5344CB8AC3E}">
        <p14:creationId xmlns:p14="http://schemas.microsoft.com/office/powerpoint/2010/main" val="2788655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32385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Hadoop Distributed File System – </a:t>
            </a:r>
            <a:r>
              <a:rPr lang="en-US" sz="2800" b="1" dirty="0" smtClean="0">
                <a:solidFill>
                  <a:srgbClr val="21295C"/>
                </a:solidFill>
                <a:latin typeface="Cambria" pitchFamily="34" charset="0"/>
                <a:ea typeface="Cambria" pitchFamily="34" charset="-122"/>
                <a:cs typeface="Cambria" pitchFamily="34" charset="-120"/>
              </a:rPr>
              <a:t>Read Operations</a:t>
            </a:r>
            <a:endParaRPr lang="en-US" sz="2800" dirty="0"/>
          </a:p>
        </p:txBody>
      </p:sp>
      <p:pic>
        <p:nvPicPr>
          <p:cNvPr id="10242" name="Picture 2" descr="HDFS Read"/>
          <p:cNvPicPr>
            <a:picLocks noChangeAspect="1" noChangeArrowheads="1"/>
          </p:cNvPicPr>
          <p:nvPr/>
        </p:nvPicPr>
        <p:blipFill rotWithShape="1">
          <a:blip r:embed="rId3">
            <a:extLst>
              <a:ext uri="{28A0092B-C50C-407E-A947-70E740481C1C}">
                <a14:useLocalDpi xmlns:a14="http://schemas.microsoft.com/office/drawing/2010/main" val="0"/>
              </a:ext>
            </a:extLst>
          </a:blip>
          <a:srcRect l="6805" t="6172" r="5087" b="18210"/>
          <a:stretch/>
        </p:blipFill>
        <p:spPr bwMode="auto">
          <a:xfrm>
            <a:off x="1104900" y="1466850"/>
            <a:ext cx="9667875"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941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Block Management and Data Partitioning in HDFS</a:t>
            </a:r>
            <a:endParaRPr lang="en-US" sz="2800" dirty="0"/>
          </a:p>
        </p:txBody>
      </p:sp>
      <p:sp>
        <p:nvSpPr>
          <p:cNvPr id="31" name="Rectangle 30"/>
          <p:cNvSpPr/>
          <p:nvPr/>
        </p:nvSpPr>
        <p:spPr>
          <a:xfrm>
            <a:off x="457199" y="1397139"/>
            <a:ext cx="11363325" cy="4708981"/>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Block management </a:t>
            </a:r>
            <a:r>
              <a:rPr lang="en-US" sz="2000" dirty="0">
                <a:latin typeface="Cambria" panose="02040503050406030204" pitchFamily="18" charset="0"/>
                <a:ea typeface="Cambria" panose="02040503050406030204" pitchFamily="18" charset="0"/>
              </a:rPr>
              <a:t>in HDFS (Hadoop Distributed File System) is the core mechanism by which the Apache Hadoop master node (</a:t>
            </a:r>
            <a:r>
              <a:rPr lang="en-US" sz="2000" dirty="0" err="1">
                <a:latin typeface="Cambria" panose="02040503050406030204" pitchFamily="18" charset="0"/>
                <a:ea typeface="Cambria" panose="02040503050406030204" pitchFamily="18" charset="0"/>
              </a:rPr>
              <a:t>NameNode</a:t>
            </a:r>
            <a:r>
              <a:rPr lang="en-US" sz="2000" dirty="0">
                <a:latin typeface="Cambria" panose="02040503050406030204" pitchFamily="18" charset="0"/>
                <a:ea typeface="Cambria" panose="02040503050406030204" pitchFamily="18" charset="0"/>
              </a:rPr>
              <a:t>) tracks, organizes, and maintains the physical data chunks distributed across worker nodes (</a:t>
            </a:r>
            <a:r>
              <a:rPr lang="en-US" sz="2000" dirty="0" err="1">
                <a:latin typeface="Cambria" panose="02040503050406030204" pitchFamily="18" charset="0"/>
                <a:ea typeface="Cambria" panose="02040503050406030204" pitchFamily="18" charset="0"/>
              </a:rPr>
              <a:t>DataNodes</a:t>
            </a:r>
            <a:r>
              <a:rPr lang="en-US" sz="2000" dirty="0">
                <a:latin typeface="Cambria" panose="02040503050406030204" pitchFamily="18" charset="0"/>
                <a:ea typeface="Cambria" panose="02040503050406030204" pitchFamily="18" charset="0"/>
              </a:rPr>
              <a:t>).</a:t>
            </a: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The </a:t>
            </a:r>
            <a:r>
              <a:rPr lang="en-US" sz="2000" dirty="0">
                <a:latin typeface="Cambria" panose="02040503050406030204" pitchFamily="18" charset="0"/>
                <a:ea typeface="Cambria" panose="02040503050406030204" pitchFamily="18" charset="0"/>
              </a:rPr>
              <a:t>process of splitting a dataset into more manageable, smaller pieces in order to improve efficiency, scalability, and performance is known as </a:t>
            </a:r>
            <a:r>
              <a:rPr lang="en-US" sz="2000" b="1" dirty="0">
                <a:latin typeface="Cambria" panose="02040503050406030204" pitchFamily="18" charset="0"/>
                <a:ea typeface="Cambria" panose="02040503050406030204" pitchFamily="18" charset="0"/>
              </a:rPr>
              <a:t>data partitioning</a:t>
            </a:r>
            <a:r>
              <a:rPr lang="en-US" sz="2000" b="1" dirty="0" smtClean="0">
                <a:latin typeface="Cambria" panose="02040503050406030204" pitchFamily="18" charset="0"/>
                <a:ea typeface="Cambria" panose="02040503050406030204" pitchFamily="18" charset="0"/>
              </a:rPr>
              <a:t>.</a:t>
            </a:r>
            <a:endParaRPr lang="en-US" sz="2000" b="1" dirty="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It can be accomplished by either vertical partitioning, which separates data into columns, or horizontal partitioning, which divides data into rows according to particular criteria.</a:t>
            </a: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This method is especially helpful in databases, big data processing frameworks, and machine learning applications since it enables quicker query execution, simpler management of massive datasets, and better resource use.</a:t>
            </a:r>
          </a:p>
        </p:txBody>
      </p:sp>
    </p:spTree>
    <p:extLst>
      <p:ext uri="{BB962C8B-B14F-4D97-AF65-F5344CB8AC3E}">
        <p14:creationId xmlns:p14="http://schemas.microsoft.com/office/powerpoint/2010/main" val="3160455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Data </a:t>
            </a:r>
            <a:r>
              <a:rPr lang="en-US" sz="2800" b="1" dirty="0" smtClean="0">
                <a:solidFill>
                  <a:srgbClr val="21295C"/>
                </a:solidFill>
                <a:latin typeface="Cambria" pitchFamily="34" charset="0"/>
                <a:ea typeface="Cambria" pitchFamily="34" charset="-122"/>
                <a:cs typeface="Cambria" pitchFamily="34" charset="-120"/>
              </a:rPr>
              <a:t>Partitioning in HDFS</a:t>
            </a:r>
            <a:endParaRPr lang="en-US" sz="2800" dirty="0"/>
          </a:p>
        </p:txBody>
      </p:sp>
      <p:sp>
        <p:nvSpPr>
          <p:cNvPr id="31" name="Rectangle 30"/>
          <p:cNvSpPr/>
          <p:nvPr/>
        </p:nvSpPr>
        <p:spPr>
          <a:xfrm>
            <a:off x="457199" y="1397139"/>
            <a:ext cx="10763251" cy="3785652"/>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Some </a:t>
            </a:r>
            <a:r>
              <a:rPr lang="en-US" sz="2000" dirty="0">
                <a:latin typeface="Cambria" panose="02040503050406030204" pitchFamily="18" charset="0"/>
                <a:ea typeface="Cambria" panose="02040503050406030204" pitchFamily="18" charset="0"/>
              </a:rPr>
              <a:t>real-world examples of data partitioning are:</a:t>
            </a:r>
          </a:p>
          <a:p>
            <a:pPr marL="800100" lvl="1" indent="-342900" algn="just"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E-commerce </a:t>
            </a:r>
            <a:r>
              <a:rPr lang="en-US" sz="2000" b="1" dirty="0">
                <a:latin typeface="Cambria" panose="02040503050406030204" pitchFamily="18" charset="0"/>
                <a:ea typeface="Cambria" panose="02040503050406030204" pitchFamily="18" charset="0"/>
              </a:rPr>
              <a:t>Platforms</a:t>
            </a:r>
            <a:r>
              <a:rPr lang="en-US" sz="2000" dirty="0">
                <a:latin typeface="Cambria" panose="02040503050406030204" pitchFamily="18" charset="0"/>
                <a:ea typeface="Cambria" panose="02040503050406030204" pitchFamily="18" charset="0"/>
              </a:rPr>
              <a:t>: Customer data is partitioned by region (e.g., North America, Europe) to optimize shipping, inventory, and localized marketing, improving performance and user experience.</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Banking and Finance</a:t>
            </a:r>
            <a:r>
              <a:rPr lang="en-US" sz="2000" dirty="0">
                <a:latin typeface="Cambria" panose="02040503050406030204" pitchFamily="18" charset="0"/>
                <a:ea typeface="Cambria" panose="02040503050406030204" pitchFamily="18" charset="0"/>
              </a:rPr>
              <a:t>: Transaction data is partitioned by account type or date (e.g., daily) for faster processing, reporting, and more efficient fraud detection.</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Social Media</a:t>
            </a:r>
            <a:r>
              <a:rPr lang="en-US" sz="2000" dirty="0">
                <a:latin typeface="Cambria" panose="02040503050406030204" pitchFamily="18" charset="0"/>
                <a:ea typeface="Cambria" panose="02040503050406030204" pitchFamily="18" charset="0"/>
              </a:rPr>
              <a:t>: User data is split by demographics or interests to enable targeted ads and content, enhancing relevance and system efficiency.</a:t>
            </a:r>
          </a:p>
        </p:txBody>
      </p:sp>
    </p:spTree>
    <p:extLst>
      <p:ext uri="{BB962C8B-B14F-4D97-AF65-F5344CB8AC3E}">
        <p14:creationId xmlns:p14="http://schemas.microsoft.com/office/powerpoint/2010/main" val="1627481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Data </a:t>
            </a:r>
            <a:r>
              <a:rPr lang="en-US" sz="2800" b="1" dirty="0" smtClean="0">
                <a:solidFill>
                  <a:srgbClr val="21295C"/>
                </a:solidFill>
                <a:latin typeface="Cambria" pitchFamily="34" charset="0"/>
                <a:ea typeface="Cambria" pitchFamily="34" charset="-122"/>
                <a:cs typeface="Cambria" pitchFamily="34" charset="-120"/>
              </a:rPr>
              <a:t>Partitioning in HDFS</a:t>
            </a:r>
            <a:endParaRPr lang="en-US" sz="2800" dirty="0"/>
          </a:p>
        </p:txBody>
      </p:sp>
      <p:sp>
        <p:nvSpPr>
          <p:cNvPr id="31" name="Rectangle 30"/>
          <p:cNvSpPr/>
          <p:nvPr/>
        </p:nvSpPr>
        <p:spPr>
          <a:xfrm>
            <a:off x="457199" y="1397139"/>
            <a:ext cx="11363325" cy="4708981"/>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Importance: </a:t>
            </a:r>
            <a:endParaRPr lang="en-US" sz="2000" dirty="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Data partitioning is essential for several reasons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Performance Improvement</a:t>
            </a:r>
            <a:r>
              <a:rPr lang="en-US" sz="2000" dirty="0">
                <a:latin typeface="Cambria" panose="02040503050406030204" pitchFamily="18" charset="0"/>
                <a:ea typeface="Cambria" panose="02040503050406030204" pitchFamily="18" charset="0"/>
              </a:rPr>
              <a:t>: By breaking data into smaller segments, systems can access only the relevant partitions, leading to faster query execution and reduced load times.</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Scalability</a:t>
            </a:r>
            <a:r>
              <a:rPr lang="en-US" sz="2000" dirty="0">
                <a:latin typeface="Cambria" panose="02040503050406030204" pitchFamily="18" charset="0"/>
                <a:ea typeface="Cambria" panose="02040503050406030204" pitchFamily="18" charset="0"/>
              </a:rPr>
              <a:t>: As datasets grow, partitioning allows for easier management and distribution across multiple servers or storage systems, enabling horizontal scaling.</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Efficient Resource Utilization:</a:t>
            </a:r>
            <a:r>
              <a:rPr lang="en-US" sz="2000" dirty="0">
                <a:latin typeface="Cambria" panose="02040503050406030204" pitchFamily="18" charset="0"/>
                <a:ea typeface="Cambria" panose="02040503050406030204" pitchFamily="18" charset="0"/>
              </a:rPr>
              <a:t> It helps optimize the use of resources by allowing systems to focus processing power on specific partitions rather than the entire dataset.</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Enhanced Manageability</a:t>
            </a:r>
            <a:r>
              <a:rPr lang="en-US" sz="2000" dirty="0">
                <a:latin typeface="Cambria" panose="02040503050406030204" pitchFamily="18" charset="0"/>
                <a:ea typeface="Cambria" panose="02040503050406030204" pitchFamily="18" charset="0"/>
              </a:rPr>
              <a:t>: Smaller partitions are easier to back up, restore, and maintain, facilitating better data governance and maintenance practices.</a:t>
            </a:r>
          </a:p>
        </p:txBody>
      </p:sp>
    </p:spTree>
    <p:extLst>
      <p:ext uri="{BB962C8B-B14F-4D97-AF65-F5344CB8AC3E}">
        <p14:creationId xmlns:p14="http://schemas.microsoft.com/office/powerpoint/2010/main" val="823675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858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Methods of Data Partitioning</a:t>
            </a:r>
            <a:endParaRPr lang="en-US" sz="2800" dirty="0"/>
          </a:p>
        </p:txBody>
      </p:sp>
      <p:sp>
        <p:nvSpPr>
          <p:cNvPr id="31" name="Rectangle 30"/>
          <p:cNvSpPr/>
          <p:nvPr/>
        </p:nvSpPr>
        <p:spPr>
          <a:xfrm>
            <a:off x="457199" y="1520964"/>
            <a:ext cx="9772651" cy="2400657"/>
          </a:xfrm>
          <a:prstGeom prst="rect">
            <a:avLst/>
          </a:prstGeom>
        </p:spPr>
        <p:txBody>
          <a:bodyPr wrap="square">
            <a:spAutoFit/>
          </a:bodyPr>
          <a:lstStyle/>
          <a:p>
            <a:pPr marL="457200" indent="-457200" fontAlgn="base">
              <a:lnSpc>
                <a:spcPct val="150000"/>
              </a:lnSpc>
              <a:buAutoNum type="arabicPeriod"/>
            </a:pPr>
            <a:r>
              <a:rPr lang="en-US" sz="2000" dirty="0" smtClean="0">
                <a:latin typeface="Cambria" panose="02040503050406030204" pitchFamily="18" charset="0"/>
                <a:ea typeface="Cambria" panose="02040503050406030204" pitchFamily="18" charset="0"/>
              </a:rPr>
              <a:t>Horizontal Partitioning/</a:t>
            </a:r>
            <a:r>
              <a:rPr lang="en-US" sz="2000" dirty="0" err="1" smtClean="0">
                <a:latin typeface="Cambria" panose="02040503050406030204" pitchFamily="18" charset="0"/>
                <a:ea typeface="Cambria" panose="02040503050406030204" pitchFamily="18" charset="0"/>
              </a:rPr>
              <a:t>Sharding</a:t>
            </a:r>
            <a:endParaRPr lang="en-US" sz="2000" dirty="0" smtClean="0">
              <a:latin typeface="Cambria" panose="02040503050406030204" pitchFamily="18" charset="0"/>
              <a:ea typeface="Cambria" panose="02040503050406030204" pitchFamily="18" charset="0"/>
            </a:endParaRPr>
          </a:p>
          <a:p>
            <a:pPr marL="457200" indent="-457200" fontAlgn="base">
              <a:lnSpc>
                <a:spcPct val="150000"/>
              </a:lnSpc>
              <a:buAutoNum type="arabicPeriod"/>
            </a:pPr>
            <a:r>
              <a:rPr lang="en-US" sz="2000" dirty="0">
                <a:latin typeface="Cambria" panose="02040503050406030204" pitchFamily="18" charset="0"/>
                <a:ea typeface="Cambria" panose="02040503050406030204" pitchFamily="18" charset="0"/>
              </a:rPr>
              <a:t>Vertical </a:t>
            </a:r>
            <a:r>
              <a:rPr lang="en-US" sz="2000" dirty="0" smtClean="0">
                <a:latin typeface="Cambria" panose="02040503050406030204" pitchFamily="18" charset="0"/>
                <a:ea typeface="Cambria" panose="02040503050406030204" pitchFamily="18" charset="0"/>
              </a:rPr>
              <a:t>Partitioning</a:t>
            </a:r>
          </a:p>
          <a:p>
            <a:pPr marL="457200" indent="-457200" fontAlgn="base">
              <a:lnSpc>
                <a:spcPct val="150000"/>
              </a:lnSpc>
              <a:buAutoNum type="arabicPeriod"/>
            </a:pPr>
            <a:r>
              <a:rPr lang="en-US" sz="2000" dirty="0">
                <a:latin typeface="Cambria" panose="02040503050406030204" pitchFamily="18" charset="0"/>
                <a:ea typeface="Cambria" panose="02040503050406030204" pitchFamily="18" charset="0"/>
              </a:rPr>
              <a:t>Key-based </a:t>
            </a:r>
            <a:r>
              <a:rPr lang="en-US" sz="2000" dirty="0" smtClean="0">
                <a:latin typeface="Cambria" panose="02040503050406030204" pitchFamily="18" charset="0"/>
                <a:ea typeface="Cambria" panose="02040503050406030204" pitchFamily="18" charset="0"/>
              </a:rPr>
              <a:t>Partitioning</a:t>
            </a:r>
          </a:p>
          <a:p>
            <a:pPr marL="457200" indent="-457200" fontAlgn="base">
              <a:lnSpc>
                <a:spcPct val="150000"/>
              </a:lnSpc>
              <a:buAutoNum type="arabicPeriod"/>
            </a:pPr>
            <a:r>
              <a:rPr lang="en-US" sz="2000" dirty="0">
                <a:latin typeface="Cambria" panose="02040503050406030204" pitchFamily="18" charset="0"/>
                <a:ea typeface="Cambria" panose="02040503050406030204" pitchFamily="18" charset="0"/>
              </a:rPr>
              <a:t>Range </a:t>
            </a:r>
            <a:r>
              <a:rPr lang="en-US" sz="2000" dirty="0" smtClean="0">
                <a:latin typeface="Cambria" panose="02040503050406030204" pitchFamily="18" charset="0"/>
                <a:ea typeface="Cambria" panose="02040503050406030204" pitchFamily="18" charset="0"/>
              </a:rPr>
              <a:t>Partitioning</a:t>
            </a:r>
          </a:p>
          <a:p>
            <a:pPr marL="457200" indent="-457200" fontAlgn="base">
              <a:lnSpc>
                <a:spcPct val="150000"/>
              </a:lnSpc>
              <a:buAutoNum type="arabicPeriod"/>
            </a:pPr>
            <a:r>
              <a:rPr lang="en-US" sz="2000" dirty="0" smtClean="0">
                <a:latin typeface="Cambria" panose="02040503050406030204" pitchFamily="18" charset="0"/>
                <a:ea typeface="Cambria" panose="02040503050406030204" pitchFamily="18" charset="0"/>
              </a:rPr>
              <a:t>Hash-based Partitioning</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22698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58165" y="411733"/>
            <a:ext cx="10515600" cy="640080"/>
          </a:xfrm>
          <a:prstGeom prst="rect">
            <a:avLst/>
          </a:prstGeom>
          <a:noFill/>
          <a:ln/>
        </p:spPr>
        <p:txBody>
          <a:bodyPr wrap="square" lIns="0" tIns="0" rIns="0" bIns="0" rtlCol="0" anchor="ctr"/>
          <a:lstStyle/>
          <a:p>
            <a:pPr fontAlgn="base">
              <a:lnSpc>
                <a:spcPct val="150000"/>
              </a:lnSpc>
            </a:pPr>
            <a:r>
              <a:rPr lang="en-US" sz="2800" b="1" dirty="0">
                <a:latin typeface="Cambria" panose="02040503050406030204" pitchFamily="18" charset="0"/>
                <a:ea typeface="Cambria" panose="02040503050406030204" pitchFamily="18" charset="0"/>
              </a:rPr>
              <a:t>Horizontal Partitioning/</a:t>
            </a:r>
            <a:r>
              <a:rPr lang="en-US" sz="2800" b="1" dirty="0" err="1">
                <a:latin typeface="Cambria" panose="02040503050406030204" pitchFamily="18" charset="0"/>
                <a:ea typeface="Cambria" panose="02040503050406030204" pitchFamily="18" charset="0"/>
              </a:rPr>
              <a:t>Sharding</a:t>
            </a:r>
            <a:endParaRPr lang="en-US" sz="2800" b="1" dirty="0">
              <a:latin typeface="Cambria" panose="02040503050406030204" pitchFamily="18" charset="0"/>
              <a:ea typeface="Cambria" panose="02040503050406030204" pitchFamily="18" charset="0"/>
            </a:endParaRPr>
          </a:p>
        </p:txBody>
      </p:sp>
      <p:sp>
        <p:nvSpPr>
          <p:cNvPr id="31" name="Rectangle 30"/>
          <p:cNvSpPr/>
          <p:nvPr/>
        </p:nvSpPr>
        <p:spPr>
          <a:xfrm>
            <a:off x="457199" y="1397139"/>
            <a:ext cx="6305551" cy="3785652"/>
          </a:xfrm>
          <a:prstGeom prst="rect">
            <a:avLst/>
          </a:prstGeom>
        </p:spPr>
        <p:txBody>
          <a:bodyPr wrap="square">
            <a:spAutoFit/>
          </a:bodyPr>
          <a:lstStyle/>
          <a:p>
            <a:pPr fontAlgn="base">
              <a:lnSpc>
                <a:spcPct val="150000"/>
              </a:lnSpc>
            </a:pPr>
            <a:r>
              <a:rPr lang="en-US" sz="2000" dirty="0" smtClean="0">
                <a:latin typeface="Cambria" panose="02040503050406030204" pitchFamily="18" charset="0"/>
                <a:ea typeface="Cambria" panose="02040503050406030204" pitchFamily="18" charset="0"/>
              </a:rPr>
              <a:t>Horizontal </a:t>
            </a:r>
            <a:r>
              <a:rPr lang="en-US" sz="2000" dirty="0">
                <a:latin typeface="Cambria" panose="02040503050406030204" pitchFamily="18" charset="0"/>
                <a:ea typeface="Cambria" panose="02040503050406030204" pitchFamily="18" charset="0"/>
              </a:rPr>
              <a:t>Partitioning divides data by rows, but all partitions may still exist on the same server. </a:t>
            </a:r>
            <a:endParaRPr lang="en-US" sz="2000"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When </a:t>
            </a:r>
            <a:r>
              <a:rPr lang="en-US" sz="2000" dirty="0">
                <a:latin typeface="Cambria" panose="02040503050406030204" pitchFamily="18" charset="0"/>
                <a:ea typeface="Cambria" panose="02040503050406030204" pitchFamily="18" charset="0"/>
              </a:rPr>
              <a:t>these horizontal partitions are placed across multiple servers, the approach is called </a:t>
            </a:r>
            <a:r>
              <a:rPr lang="en-US" sz="2000" b="1" dirty="0" err="1">
                <a:latin typeface="Cambria" panose="02040503050406030204" pitchFamily="18" charset="0"/>
                <a:ea typeface="Cambria" panose="02040503050406030204" pitchFamily="18" charset="0"/>
              </a:rPr>
              <a:t>Sharding</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b="1" dirty="0" err="1">
                <a:latin typeface="Cambria" panose="02040503050406030204" pitchFamily="18" charset="0"/>
                <a:ea typeface="Cambria" panose="02040503050406030204" pitchFamily="18" charset="0"/>
              </a:rPr>
              <a:t>Sharding</a:t>
            </a:r>
            <a:r>
              <a:rPr lang="en-US" sz="2000" dirty="0">
                <a:latin typeface="Cambria" panose="02040503050406030204" pitchFamily="18" charset="0"/>
                <a:ea typeface="Cambria" panose="02040503050406030204" pitchFamily="18" charset="0"/>
              </a:rPr>
              <a:t> is a special case of horizontal partitioning that provides true horizontal scalability and high availability by distributing partitions across multiple machines.</a:t>
            </a:r>
          </a:p>
        </p:txBody>
      </p:sp>
      <p:pic>
        <p:nvPicPr>
          <p:cNvPr id="4" name="Picture 3"/>
          <p:cNvPicPr>
            <a:picLocks noChangeAspect="1"/>
          </p:cNvPicPr>
          <p:nvPr/>
        </p:nvPicPr>
        <p:blipFill>
          <a:blip r:embed="rId3"/>
          <a:stretch>
            <a:fillRect/>
          </a:stretch>
        </p:blipFill>
        <p:spPr>
          <a:xfrm>
            <a:off x="6762750" y="1346566"/>
            <a:ext cx="4941570" cy="4997084"/>
          </a:xfrm>
          <a:prstGeom prst="rect">
            <a:avLst/>
          </a:prstGeom>
        </p:spPr>
      </p:pic>
    </p:spTree>
    <p:extLst>
      <p:ext uri="{BB962C8B-B14F-4D97-AF65-F5344CB8AC3E}">
        <p14:creationId xmlns:p14="http://schemas.microsoft.com/office/powerpoint/2010/main" val="10037001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34365" y="428625"/>
            <a:ext cx="10515600" cy="640080"/>
          </a:xfrm>
          <a:prstGeom prst="rect">
            <a:avLst/>
          </a:prstGeom>
          <a:noFill/>
          <a:ln/>
        </p:spPr>
        <p:txBody>
          <a:bodyPr wrap="square" lIns="0" tIns="0" rIns="0" bIns="0" rtlCol="0" anchor="ctr"/>
          <a:lstStyle/>
          <a:p>
            <a:pPr fontAlgn="base">
              <a:lnSpc>
                <a:spcPct val="150000"/>
              </a:lnSpc>
            </a:pPr>
            <a:r>
              <a:rPr lang="en-US" sz="2800" b="1" dirty="0">
                <a:latin typeface="Cambria" panose="02040503050406030204" pitchFamily="18" charset="0"/>
                <a:ea typeface="Cambria" panose="02040503050406030204" pitchFamily="18" charset="0"/>
              </a:rPr>
              <a:t>Horizontal Partitioning/</a:t>
            </a:r>
            <a:r>
              <a:rPr lang="en-US" sz="2800" b="1" dirty="0" err="1">
                <a:latin typeface="Cambria" panose="02040503050406030204" pitchFamily="18" charset="0"/>
                <a:ea typeface="Cambria" panose="02040503050406030204" pitchFamily="18" charset="0"/>
              </a:rPr>
              <a:t>Sharding</a:t>
            </a:r>
            <a:endParaRPr lang="en-US" sz="2800" b="1" dirty="0">
              <a:latin typeface="Cambria" panose="02040503050406030204" pitchFamily="18" charset="0"/>
              <a:ea typeface="Cambria" panose="02040503050406030204" pitchFamily="18" charset="0"/>
            </a:endParaRPr>
          </a:p>
        </p:txBody>
      </p:sp>
      <p:sp>
        <p:nvSpPr>
          <p:cNvPr id="31" name="Rectangle 30"/>
          <p:cNvSpPr/>
          <p:nvPr/>
        </p:nvSpPr>
        <p:spPr>
          <a:xfrm>
            <a:off x="457200" y="1225689"/>
            <a:ext cx="11344276" cy="5170646"/>
          </a:xfrm>
          <a:prstGeom prst="rect">
            <a:avLst/>
          </a:prstGeom>
        </p:spPr>
        <p:txBody>
          <a:bodyPr wrap="square">
            <a:spAutoFit/>
          </a:bodyPr>
          <a:lstStyle/>
          <a:p>
            <a:pPr fontAlgn="base">
              <a:lnSpc>
                <a:spcPct val="150000"/>
              </a:lnSpc>
            </a:pPr>
            <a:r>
              <a:rPr lang="en-US" sz="2000" b="1" dirty="0" smtClean="0">
                <a:latin typeface="Cambria" panose="02040503050406030204" pitchFamily="18" charset="0"/>
                <a:ea typeface="Cambria" panose="02040503050406030204" pitchFamily="18" charset="0"/>
              </a:rPr>
              <a:t>Advantages</a:t>
            </a:r>
            <a:endParaRPr lang="en-US" sz="2000" b="1"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Horizontal partitioning divides a table into multiple parts by distributing rows across different partitions or </a:t>
            </a:r>
            <a:r>
              <a:rPr lang="en-US" sz="2000" dirty="0" smtClean="0">
                <a:latin typeface="Cambria" panose="02040503050406030204" pitchFamily="18" charset="0"/>
                <a:ea typeface="Cambria" panose="02040503050406030204" pitchFamily="18" charset="0"/>
              </a:rPr>
              <a:t>servers.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Scalability</a:t>
            </a:r>
            <a:r>
              <a:rPr lang="en-US"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Allows parallel processing of large datasets across multiple </a:t>
            </a:r>
            <a:r>
              <a:rPr lang="en-US" sz="2000" dirty="0" smtClean="0">
                <a:latin typeface="Cambria" panose="02040503050406030204" pitchFamily="18" charset="0"/>
                <a:ea typeface="Cambria" panose="02040503050406030204" pitchFamily="18" charset="0"/>
              </a:rPr>
              <a:t>nodes.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Load </a:t>
            </a:r>
            <a:r>
              <a:rPr lang="en-US" sz="2000" b="1" dirty="0">
                <a:latin typeface="Cambria" panose="02040503050406030204" pitchFamily="18" charset="0"/>
                <a:ea typeface="Cambria" panose="02040503050406030204" pitchFamily="18" charset="0"/>
              </a:rPr>
              <a:t>Balancing</a:t>
            </a:r>
            <a:r>
              <a:rPr lang="en-US" sz="2000" dirty="0">
                <a:latin typeface="Cambria" panose="02040503050406030204" pitchFamily="18" charset="0"/>
                <a:ea typeface="Cambria" panose="02040503050406030204" pitchFamily="18" charset="0"/>
              </a:rPr>
              <a:t>: Distributes workload evenly, reducing system </a:t>
            </a:r>
            <a:r>
              <a:rPr lang="en-US" sz="2000" dirty="0" smtClean="0">
                <a:latin typeface="Cambria" panose="02040503050406030204" pitchFamily="18" charset="0"/>
                <a:ea typeface="Cambria" panose="02040503050406030204" pitchFamily="18" charset="0"/>
              </a:rPr>
              <a:t>bottlenecks.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Fault Tolerance</a:t>
            </a:r>
            <a:r>
              <a:rPr lang="en-US" sz="2000" dirty="0" smtClean="0">
                <a:latin typeface="Cambria" panose="02040503050406030204" pitchFamily="18" charset="0"/>
                <a:ea typeface="Cambria" panose="02040503050406030204" pitchFamily="18" charset="0"/>
              </a:rPr>
              <a:t>: Each partition works independently, improving reliability during failures.</a:t>
            </a:r>
          </a:p>
          <a:p>
            <a:pPr fontAlgn="base">
              <a:lnSpc>
                <a:spcPct val="150000"/>
              </a:lnSpc>
            </a:pPr>
            <a:r>
              <a:rPr lang="en-US" sz="2000" b="1" dirty="0" smtClean="0">
                <a:latin typeface="Cambria" panose="02040503050406030204" pitchFamily="18" charset="0"/>
                <a:ea typeface="Cambria" panose="02040503050406030204" pitchFamily="18" charset="0"/>
              </a:rPr>
              <a:t>Disadvantages</a:t>
            </a:r>
            <a:endParaRPr lang="en-US" sz="2000" b="1"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Despite its scalability benefits, it introduces some complexity in database operations.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Complex </a:t>
            </a:r>
            <a:r>
              <a:rPr lang="en-US" sz="2000" b="1" dirty="0">
                <a:latin typeface="Cambria" panose="02040503050406030204" pitchFamily="18" charset="0"/>
                <a:ea typeface="Cambria" panose="02040503050406030204" pitchFamily="18" charset="0"/>
              </a:rPr>
              <a:t>Joins</a:t>
            </a:r>
            <a:r>
              <a:rPr lang="en-US" sz="2000" dirty="0">
                <a:latin typeface="Cambria" panose="02040503050406030204" pitchFamily="18" charset="0"/>
                <a:ea typeface="Cambria" panose="02040503050406030204" pitchFamily="18" charset="0"/>
              </a:rPr>
              <a:t>: Joins across multiple partitions can be slower and harder to manage.</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Data Skew</a:t>
            </a:r>
            <a:r>
              <a:rPr lang="en-US" sz="2000" dirty="0">
                <a:latin typeface="Cambria" panose="02040503050406030204" pitchFamily="18" charset="0"/>
                <a:ea typeface="Cambria" panose="02040503050406030204" pitchFamily="18" charset="0"/>
              </a:rPr>
              <a:t>: Uneven data distribution may cause certain partitions to handle more load than others.</a:t>
            </a:r>
          </a:p>
        </p:txBody>
      </p:sp>
    </p:spTree>
    <p:extLst>
      <p:ext uri="{BB962C8B-B14F-4D97-AF65-F5344CB8AC3E}">
        <p14:creationId xmlns:p14="http://schemas.microsoft.com/office/powerpoint/2010/main" val="3192888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58165" y="36576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Vertical Partitioning</a:t>
            </a:r>
          </a:p>
        </p:txBody>
      </p:sp>
      <p:sp>
        <p:nvSpPr>
          <p:cNvPr id="31" name="Rectangle 30"/>
          <p:cNvSpPr/>
          <p:nvPr/>
        </p:nvSpPr>
        <p:spPr>
          <a:xfrm>
            <a:off x="457200" y="1225689"/>
            <a:ext cx="5838825" cy="3323987"/>
          </a:xfrm>
          <a:prstGeom prst="rect">
            <a:avLst/>
          </a:prstGeom>
        </p:spPr>
        <p:txBody>
          <a:bodyPr wrap="square">
            <a:spAutoFit/>
          </a:bodyPr>
          <a:lstStyle/>
          <a:p>
            <a:pPr fontAlgn="base">
              <a:lnSpc>
                <a:spcPct val="150000"/>
              </a:lnSpc>
            </a:pPr>
            <a:r>
              <a:rPr lang="en-US" sz="2000" dirty="0" smtClean="0">
                <a:latin typeface="Cambria" panose="02040503050406030204" pitchFamily="18" charset="0"/>
                <a:ea typeface="Cambria" panose="02040503050406030204" pitchFamily="18" charset="0"/>
              </a:rPr>
              <a:t>Vertical </a:t>
            </a:r>
            <a:r>
              <a:rPr lang="en-US" sz="2000" dirty="0">
                <a:latin typeface="Cambria" panose="02040503050406030204" pitchFamily="18" charset="0"/>
                <a:ea typeface="Cambria" panose="02040503050406030204" pitchFamily="18" charset="0"/>
              </a:rPr>
              <a:t>partitioning divides a dataset based on columns (attributes) instead of rows. </a:t>
            </a:r>
            <a:endParaRPr lang="en-US" sz="2000"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Each </a:t>
            </a:r>
            <a:r>
              <a:rPr lang="en-US" sz="2000" dirty="0">
                <a:latin typeface="Cambria" panose="02040503050406030204" pitchFamily="18" charset="0"/>
                <a:ea typeface="Cambria" panose="02040503050406030204" pitchFamily="18" charset="0"/>
              </a:rPr>
              <a:t>partition contains only a subset of columns for all rows, depending on access patterns. </a:t>
            </a:r>
            <a:endParaRPr lang="en-US" sz="2000"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It </a:t>
            </a:r>
            <a:r>
              <a:rPr lang="en-US" sz="2000" dirty="0">
                <a:latin typeface="Cambria" panose="02040503050406030204" pitchFamily="18" charset="0"/>
                <a:ea typeface="Cambria" panose="02040503050406030204" pitchFamily="18" charset="0"/>
              </a:rPr>
              <a:t>is useful when different columns are accessed more frequently or independently.</a:t>
            </a:r>
          </a:p>
          <a:p>
            <a:pPr marL="457200" indent="-457200" fontAlgn="base">
              <a:lnSpc>
                <a:spcPct val="150000"/>
              </a:lnSpc>
              <a:buAutoNum type="arabicPeriod"/>
            </a:pPr>
            <a:endParaRPr lang="en-US" sz="20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3"/>
          <a:stretch>
            <a:fillRect/>
          </a:stretch>
        </p:blipFill>
        <p:spPr>
          <a:xfrm>
            <a:off x="6629400" y="1005840"/>
            <a:ext cx="5353050" cy="5400675"/>
          </a:xfrm>
          <a:prstGeom prst="rect">
            <a:avLst/>
          </a:prstGeom>
        </p:spPr>
      </p:pic>
    </p:spTree>
    <p:extLst>
      <p:ext uri="{BB962C8B-B14F-4D97-AF65-F5344CB8AC3E}">
        <p14:creationId xmlns:p14="http://schemas.microsoft.com/office/powerpoint/2010/main" val="1255959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115" y="45720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Vertical Partitioning</a:t>
            </a:r>
          </a:p>
        </p:txBody>
      </p:sp>
      <p:sp>
        <p:nvSpPr>
          <p:cNvPr id="31" name="Rectangle 30"/>
          <p:cNvSpPr/>
          <p:nvPr/>
        </p:nvSpPr>
        <p:spPr>
          <a:xfrm>
            <a:off x="457200" y="1225689"/>
            <a:ext cx="11372850" cy="5170646"/>
          </a:xfrm>
          <a:prstGeom prst="rect">
            <a:avLst/>
          </a:prstGeom>
        </p:spPr>
        <p:txBody>
          <a:bodyPr wrap="square">
            <a:spAutoFit/>
          </a:bodyPr>
          <a:lstStyle/>
          <a:p>
            <a:pPr fontAlgn="base">
              <a:lnSpc>
                <a:spcPct val="150000"/>
              </a:lnSpc>
            </a:pPr>
            <a:r>
              <a:rPr lang="en-US" sz="2000" b="1" dirty="0" smtClean="0">
                <a:latin typeface="Cambria" panose="02040503050406030204" pitchFamily="18" charset="0"/>
                <a:ea typeface="Cambria" panose="02040503050406030204" pitchFamily="18" charset="0"/>
              </a:rPr>
              <a:t>Advantages</a:t>
            </a:r>
            <a:endParaRPr lang="en-US" sz="2000" b="1"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Vertical partitioning divides a table by separating columns into different partitions based on usage or functionality.</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Better </a:t>
            </a:r>
            <a:r>
              <a:rPr lang="en-US" sz="2000" b="1" dirty="0">
                <a:latin typeface="Cambria" panose="02040503050406030204" pitchFamily="18" charset="0"/>
                <a:ea typeface="Cambria" panose="02040503050406030204" pitchFamily="18" charset="0"/>
              </a:rPr>
              <a:t>Query Performance</a:t>
            </a:r>
            <a:r>
              <a:rPr lang="en-US" sz="2000" dirty="0">
                <a:latin typeface="Cambria" panose="02040503050406030204" pitchFamily="18" charset="0"/>
                <a:ea typeface="Cambria" panose="02040503050406030204" pitchFamily="18" charset="0"/>
              </a:rPr>
              <a:t>: Reduces data read by isolating frequently accessed columns.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Efficient Retrieval</a:t>
            </a:r>
            <a:r>
              <a:rPr lang="en-US" sz="2000" dirty="0">
                <a:latin typeface="Cambria" panose="02040503050406030204" pitchFamily="18" charset="0"/>
                <a:ea typeface="Cambria" panose="02040503050406030204" pitchFamily="18" charset="0"/>
              </a:rPr>
              <a:t>: Fetches only needed columns, saving I/O and storage.</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Easier Schema Changes</a:t>
            </a:r>
            <a:r>
              <a:rPr lang="en-US" sz="2000" dirty="0">
                <a:latin typeface="Cambria" panose="02040503050406030204" pitchFamily="18" charset="0"/>
                <a:ea typeface="Cambria" panose="02040503050406030204" pitchFamily="18" charset="0"/>
              </a:rPr>
              <a:t>: Simplifies adding or removing columns.</a:t>
            </a:r>
          </a:p>
          <a:p>
            <a:pPr marL="342900"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Disadvantages</a:t>
            </a: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Although useful for column-level optimization, it can introduce additional query complexity</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Query Complexity</a:t>
            </a:r>
            <a:r>
              <a:rPr lang="en-US" sz="2000" dirty="0">
                <a:latin typeface="Cambria" panose="02040503050406030204" pitchFamily="18" charset="0"/>
                <a:ea typeface="Cambria" panose="02040503050406030204" pitchFamily="18" charset="0"/>
              </a:rPr>
              <a:t>: Queries may need to access multiple partitions.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Slower Joins</a:t>
            </a:r>
            <a:r>
              <a:rPr lang="en-US" sz="2000" dirty="0">
                <a:latin typeface="Cambria" panose="02040503050406030204" pitchFamily="18" charset="0"/>
                <a:ea typeface="Cambria" panose="02040503050406030204" pitchFamily="18" charset="0"/>
              </a:rPr>
              <a:t>: Combining data from different partitions adds overhead.</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Limited Scalability</a:t>
            </a:r>
            <a:r>
              <a:rPr lang="en-US" sz="2000" dirty="0">
                <a:latin typeface="Cambria" panose="02040503050406030204" pitchFamily="18" charset="0"/>
                <a:ea typeface="Cambria" panose="02040503050406030204" pitchFamily="18" charset="0"/>
              </a:rPr>
              <a:t>: Not ideal for datasets with rapidly growing columns.</a:t>
            </a:r>
          </a:p>
        </p:txBody>
      </p:sp>
    </p:spTree>
    <p:extLst>
      <p:ext uri="{BB962C8B-B14F-4D97-AF65-F5344CB8AC3E}">
        <p14:creationId xmlns:p14="http://schemas.microsoft.com/office/powerpoint/2010/main" val="1115346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15315" y="386918"/>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Key-based Partitioning</a:t>
            </a:r>
            <a:endParaRPr lang="en-US" sz="2800" dirty="0"/>
          </a:p>
        </p:txBody>
      </p:sp>
      <p:sp>
        <p:nvSpPr>
          <p:cNvPr id="31" name="Rectangle 30"/>
          <p:cNvSpPr/>
          <p:nvPr/>
        </p:nvSpPr>
        <p:spPr>
          <a:xfrm>
            <a:off x="457200" y="1225689"/>
            <a:ext cx="11372850" cy="958596"/>
          </a:xfrm>
          <a:prstGeom prst="rect">
            <a:avLst/>
          </a:prstGeom>
        </p:spPr>
        <p:txBody>
          <a:bodyPr wrap="square">
            <a:spAutoFit/>
          </a:bodyPr>
          <a:lstStyle/>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Divides </a:t>
            </a:r>
            <a:r>
              <a:rPr lang="en-US" sz="2000" dirty="0">
                <a:latin typeface="Cambria" panose="02040503050406030204" pitchFamily="18" charset="0"/>
                <a:ea typeface="Cambria" panose="02040503050406030204" pitchFamily="18" charset="0"/>
              </a:rPr>
              <a:t>data based on a specific key or attribute, with each partition holding all data related to that key. Common in distributed systems for uniform data distribution and efficient key-based lookups.</a:t>
            </a:r>
          </a:p>
        </p:txBody>
      </p:sp>
      <p:pic>
        <p:nvPicPr>
          <p:cNvPr id="4" name="Picture 3"/>
          <p:cNvPicPr>
            <a:picLocks noChangeAspect="1"/>
          </p:cNvPicPr>
          <p:nvPr/>
        </p:nvPicPr>
        <p:blipFill>
          <a:blip r:embed="rId3"/>
          <a:stretch>
            <a:fillRect/>
          </a:stretch>
        </p:blipFill>
        <p:spPr>
          <a:xfrm>
            <a:off x="2719387" y="2382976"/>
            <a:ext cx="6638925" cy="3945433"/>
          </a:xfrm>
          <a:prstGeom prst="rect">
            <a:avLst/>
          </a:prstGeom>
        </p:spPr>
      </p:pic>
    </p:spTree>
    <p:extLst>
      <p:ext uri="{BB962C8B-B14F-4D97-AF65-F5344CB8AC3E}">
        <p14:creationId xmlns:p14="http://schemas.microsoft.com/office/powerpoint/2010/main" val="3146479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67690" y="5856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Key-based Partitioning</a:t>
            </a:r>
            <a:endParaRPr lang="en-US" sz="2800" dirty="0"/>
          </a:p>
        </p:txBody>
      </p:sp>
      <p:sp>
        <p:nvSpPr>
          <p:cNvPr id="31" name="Rectangle 30"/>
          <p:cNvSpPr/>
          <p:nvPr/>
        </p:nvSpPr>
        <p:spPr>
          <a:xfrm>
            <a:off x="457200" y="1225689"/>
            <a:ext cx="11372850" cy="5170646"/>
          </a:xfrm>
          <a:prstGeom prst="rect">
            <a:avLst/>
          </a:prstGeom>
        </p:spPr>
        <p:txBody>
          <a:bodyPr wrap="square">
            <a:spAutoFit/>
          </a:bodyPr>
          <a:lstStyle/>
          <a:p>
            <a:pPr fontAlgn="base">
              <a:lnSpc>
                <a:spcPct val="150000"/>
              </a:lnSpc>
            </a:pPr>
            <a:r>
              <a:rPr lang="en-US" sz="2000" b="1" dirty="0" smtClean="0">
                <a:latin typeface="Cambria" panose="02040503050406030204" pitchFamily="18" charset="0"/>
                <a:ea typeface="Cambria" panose="02040503050406030204" pitchFamily="18" charset="0"/>
              </a:rPr>
              <a:t>Advantages : </a:t>
            </a:r>
            <a:endParaRPr lang="en-US" sz="2000" b="1"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Key-based partitioning distributes data across partitions using a specific key, usually through a hashing </a:t>
            </a:r>
            <a:r>
              <a:rPr lang="en-US" sz="2000" dirty="0" smtClean="0">
                <a:latin typeface="Cambria" panose="02040503050406030204" pitchFamily="18" charset="0"/>
                <a:ea typeface="Cambria" panose="02040503050406030204" pitchFamily="18" charset="0"/>
              </a:rPr>
              <a:t>mechanism.</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Even </a:t>
            </a:r>
            <a:r>
              <a:rPr lang="en-US" sz="2000" b="1" dirty="0">
                <a:latin typeface="Cambria" panose="02040503050406030204" pitchFamily="18" charset="0"/>
                <a:ea typeface="Cambria" panose="02040503050406030204" pitchFamily="18" charset="0"/>
              </a:rPr>
              <a:t>Distribution</a:t>
            </a:r>
            <a:r>
              <a:rPr lang="en-US" sz="2000" dirty="0">
                <a:latin typeface="Cambria" panose="02040503050406030204" pitchFamily="18" charset="0"/>
                <a:ea typeface="Cambria" panose="02040503050406030204" pitchFamily="18" charset="0"/>
              </a:rPr>
              <a:t>: Stores data with the same key together for efficient lookups.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Scalability</a:t>
            </a:r>
            <a:r>
              <a:rPr lang="en-US" sz="2000" dirty="0">
                <a:latin typeface="Cambria" panose="02040503050406030204" pitchFamily="18" charset="0"/>
                <a:ea typeface="Cambria" panose="02040503050406030204" pitchFamily="18" charset="0"/>
              </a:rPr>
              <a:t>: Enables parallel processing across </a:t>
            </a:r>
            <a:r>
              <a:rPr lang="en-US" sz="2000" dirty="0" smtClean="0">
                <a:latin typeface="Cambria" panose="02040503050406030204" pitchFamily="18" charset="0"/>
                <a:ea typeface="Cambria" panose="02040503050406030204" pitchFamily="18" charset="0"/>
              </a:rPr>
              <a:t>partitions.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Load </a:t>
            </a:r>
            <a:r>
              <a:rPr lang="en-US" sz="2000" b="1" dirty="0">
                <a:latin typeface="Cambria" panose="02040503050406030204" pitchFamily="18" charset="0"/>
                <a:ea typeface="Cambria" panose="02040503050406030204" pitchFamily="18" charset="0"/>
              </a:rPr>
              <a:t>Balancing: </a:t>
            </a:r>
            <a:r>
              <a:rPr lang="en-US" sz="2000" dirty="0">
                <a:latin typeface="Cambria" panose="02040503050406030204" pitchFamily="18" charset="0"/>
                <a:ea typeface="Cambria" panose="02040503050406030204" pitchFamily="18" charset="0"/>
              </a:rPr>
              <a:t>Distributes workload to avoid performance bottlenecks.</a:t>
            </a:r>
          </a:p>
          <a:p>
            <a:pPr fontAlgn="base">
              <a:lnSpc>
                <a:spcPct val="150000"/>
              </a:lnSpc>
            </a:pPr>
            <a:r>
              <a:rPr lang="en-US" sz="2000" b="1" dirty="0" smtClean="0">
                <a:latin typeface="Cambria" panose="02040503050406030204" pitchFamily="18" charset="0"/>
                <a:ea typeface="Cambria" panose="02040503050406030204" pitchFamily="18" charset="0"/>
              </a:rPr>
              <a:t>Disadvantages :</a:t>
            </a:r>
            <a:endParaRPr lang="en-US" sz="2000" b="1" dirty="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Improper key selection can lead to uneven workloads and performance issues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Data Skew</a:t>
            </a:r>
            <a:r>
              <a:rPr lang="en-US" sz="2000" dirty="0">
                <a:latin typeface="Cambria" panose="02040503050406030204" pitchFamily="18" charset="0"/>
                <a:ea typeface="Cambria" panose="02040503050406030204" pitchFamily="18" charset="0"/>
              </a:rPr>
              <a:t>: Uneven key access can create hotspots.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Limited Flexibility</a:t>
            </a:r>
            <a:r>
              <a:rPr lang="en-US" sz="2000" dirty="0">
                <a:latin typeface="Cambria" panose="02040503050406030204" pitchFamily="18" charset="0"/>
                <a:ea typeface="Cambria" panose="02040503050406030204" pitchFamily="18" charset="0"/>
              </a:rPr>
              <a:t>: Less efficient for range or multi-key queries.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Partition Overhead</a:t>
            </a:r>
            <a:r>
              <a:rPr lang="en-US" sz="2000" dirty="0">
                <a:latin typeface="Cambria" panose="02040503050406030204" pitchFamily="18" charset="0"/>
                <a:ea typeface="Cambria" panose="02040503050406030204" pitchFamily="18" charset="0"/>
              </a:rPr>
              <a:t>: Requires careful management as data or key patterns evolve.</a:t>
            </a:r>
          </a:p>
        </p:txBody>
      </p:sp>
    </p:spTree>
    <p:extLst>
      <p:ext uri="{BB962C8B-B14F-4D97-AF65-F5344CB8AC3E}">
        <p14:creationId xmlns:p14="http://schemas.microsoft.com/office/powerpoint/2010/main" val="2240397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Range Partitioning</a:t>
            </a:r>
            <a:endParaRPr lang="en-US" sz="2800" dirty="0"/>
          </a:p>
        </p:txBody>
      </p:sp>
      <p:sp>
        <p:nvSpPr>
          <p:cNvPr id="31" name="Rectangle 30"/>
          <p:cNvSpPr/>
          <p:nvPr/>
        </p:nvSpPr>
        <p:spPr>
          <a:xfrm>
            <a:off x="485775" y="997089"/>
            <a:ext cx="11372850" cy="1881925"/>
          </a:xfrm>
          <a:prstGeom prst="rect">
            <a:avLst/>
          </a:prstGeom>
        </p:spPr>
        <p:txBody>
          <a:bodyPr wrap="square">
            <a:spAutoFit/>
          </a:bodyPr>
          <a:lstStyle/>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dataset is divided using range partitioning based on a preset range of values. </a:t>
            </a:r>
            <a:endParaRPr lang="en-US" sz="2000"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For </a:t>
            </a:r>
            <a:r>
              <a:rPr lang="en-US" sz="2000" dirty="0">
                <a:latin typeface="Cambria" panose="02040503050406030204" pitchFamily="18" charset="0"/>
                <a:ea typeface="Cambria" panose="02040503050406030204" pitchFamily="18" charset="0"/>
              </a:rPr>
              <a:t>example, if your dataset has timestamps, you can divide it according to a specific time range. </a:t>
            </a:r>
            <a:endParaRPr lang="en-US" sz="2000" dirty="0" smtClean="0">
              <a:latin typeface="Cambria" panose="02040503050406030204" pitchFamily="18" charset="0"/>
              <a:ea typeface="Cambria" panose="02040503050406030204" pitchFamily="18" charset="0"/>
            </a:endParaRPr>
          </a:p>
          <a:p>
            <a:pPr marL="342900" indent="-342900"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Range </a:t>
            </a:r>
            <a:r>
              <a:rPr lang="en-US" sz="2000" dirty="0">
                <a:latin typeface="Cambria" panose="02040503050406030204" pitchFamily="18" charset="0"/>
                <a:ea typeface="Cambria" panose="02040503050406030204" pitchFamily="18" charset="0"/>
              </a:rPr>
              <a:t>partitioning might be useful when you have data with natural ordering and wish to distribute it evenly based on the range of values.</a:t>
            </a:r>
          </a:p>
        </p:txBody>
      </p:sp>
      <p:pic>
        <p:nvPicPr>
          <p:cNvPr id="4" name="Picture 3"/>
          <p:cNvPicPr>
            <a:picLocks noChangeAspect="1"/>
          </p:cNvPicPr>
          <p:nvPr/>
        </p:nvPicPr>
        <p:blipFill>
          <a:blip r:embed="rId3"/>
          <a:stretch>
            <a:fillRect/>
          </a:stretch>
        </p:blipFill>
        <p:spPr>
          <a:xfrm>
            <a:off x="2624137" y="2879014"/>
            <a:ext cx="6772275" cy="3771900"/>
          </a:xfrm>
          <a:prstGeom prst="rect">
            <a:avLst/>
          </a:prstGeom>
        </p:spPr>
      </p:pic>
    </p:spTree>
    <p:extLst>
      <p:ext uri="{BB962C8B-B14F-4D97-AF65-F5344CB8AC3E}">
        <p14:creationId xmlns:p14="http://schemas.microsoft.com/office/powerpoint/2010/main" val="2067488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Range Partitioning</a:t>
            </a:r>
            <a:endParaRPr lang="en-US" sz="2800" dirty="0"/>
          </a:p>
        </p:txBody>
      </p:sp>
      <p:sp>
        <p:nvSpPr>
          <p:cNvPr id="31" name="Rectangle 30"/>
          <p:cNvSpPr/>
          <p:nvPr/>
        </p:nvSpPr>
        <p:spPr>
          <a:xfrm>
            <a:off x="485775" y="997089"/>
            <a:ext cx="11372850" cy="5170646"/>
          </a:xfrm>
          <a:prstGeom prst="rect">
            <a:avLst/>
          </a:prstGeom>
        </p:spPr>
        <p:txBody>
          <a:bodyPr wrap="square">
            <a:spAutoFit/>
          </a:bodyPr>
          <a:lstStyle/>
          <a:p>
            <a:pPr fontAlgn="base">
              <a:lnSpc>
                <a:spcPct val="150000"/>
              </a:lnSpc>
            </a:pPr>
            <a:r>
              <a:rPr lang="en-US" sz="2000" b="1" dirty="0">
                <a:latin typeface="Cambria" panose="02040503050406030204" pitchFamily="18" charset="0"/>
                <a:ea typeface="Cambria" panose="02040503050406030204" pitchFamily="18" charset="0"/>
              </a:rPr>
              <a:t>Advantages</a:t>
            </a: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Range partitioning divides data into partitions based on specific value ranges such as dates, IDs, or numbers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Natural Ordering</a:t>
            </a:r>
            <a:r>
              <a:rPr lang="en-US" sz="2000" dirty="0">
                <a:latin typeface="Cambria" panose="02040503050406030204" pitchFamily="18" charset="0"/>
                <a:ea typeface="Cambria" panose="02040503050406030204" pitchFamily="18" charset="0"/>
              </a:rPr>
              <a:t>: Ideal for data with an inherent range-based structure.</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Efficient Range Queries</a:t>
            </a:r>
            <a:r>
              <a:rPr lang="en-US" sz="2000" dirty="0">
                <a:latin typeface="Cambria" panose="02040503050406030204" pitchFamily="18" charset="0"/>
                <a:ea typeface="Cambria" panose="02040503050406030204" pitchFamily="18" charset="0"/>
              </a:rPr>
              <a:t>: Quickly locates data within specified value ranges.</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Simplified Query Planning</a:t>
            </a:r>
            <a:r>
              <a:rPr lang="en-US" sz="2000" dirty="0">
                <a:latin typeface="Cambria" panose="02040503050406030204" pitchFamily="18" charset="0"/>
                <a:ea typeface="Cambria" panose="02040503050406030204" pitchFamily="18" charset="0"/>
              </a:rPr>
              <a:t>: System easily identifies relevant partitions for range conditions.</a:t>
            </a:r>
          </a:p>
          <a:p>
            <a:pPr fontAlgn="base">
              <a:lnSpc>
                <a:spcPct val="150000"/>
              </a:lnSpc>
            </a:pPr>
            <a:r>
              <a:rPr lang="en-US" sz="2000" b="1" dirty="0">
                <a:latin typeface="Cambria" panose="02040503050406030204" pitchFamily="18" charset="0"/>
                <a:ea typeface="Cambria" panose="02040503050406030204" pitchFamily="18" charset="0"/>
              </a:rPr>
              <a:t>Disadvantages</a:t>
            </a:r>
          </a:p>
          <a:p>
            <a:pPr marL="342900" indent="-342900"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Improper range design can lead to uneven data distribution and management challenges.</a:t>
            </a:r>
          </a:p>
          <a:p>
            <a:pPr marL="800100" lvl="1" indent="-342900" fontAlgn="base">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Data </a:t>
            </a:r>
            <a:r>
              <a:rPr lang="en-US" sz="2000" b="1" dirty="0">
                <a:latin typeface="Cambria" panose="02040503050406030204" pitchFamily="18" charset="0"/>
                <a:ea typeface="Cambria" panose="02040503050406030204" pitchFamily="18" charset="0"/>
              </a:rPr>
              <a:t>Skew</a:t>
            </a:r>
            <a:r>
              <a:rPr lang="en-US" sz="2000" dirty="0">
                <a:latin typeface="Cambria" panose="02040503050406030204" pitchFamily="18" charset="0"/>
                <a:ea typeface="Cambria" panose="02040503050406030204" pitchFamily="18" charset="0"/>
              </a:rPr>
              <a:t>: Uneven data across ranges can affect performance.</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Growth Management</a:t>
            </a:r>
            <a:r>
              <a:rPr lang="en-US" sz="2000" dirty="0">
                <a:latin typeface="Cambria" panose="02040503050406030204" pitchFamily="18" charset="0"/>
                <a:ea typeface="Cambria" panose="02040503050406030204" pitchFamily="18" charset="0"/>
              </a:rPr>
              <a:t>: Adding or adjusting ranges requires ongoing maintenance.</a:t>
            </a:r>
          </a:p>
          <a:p>
            <a:pPr marL="800100" lvl="1" indent="-342900"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Complex Joins</a:t>
            </a:r>
            <a:r>
              <a:rPr lang="en-US" sz="2000" dirty="0">
                <a:latin typeface="Cambria" panose="02040503050406030204" pitchFamily="18" charset="0"/>
                <a:ea typeface="Cambria" panose="02040503050406030204" pitchFamily="18" charset="0"/>
              </a:rPr>
              <a:t>: Joins and non-contiguous range queries can be slower and harder to manage.</a:t>
            </a:r>
          </a:p>
        </p:txBody>
      </p:sp>
    </p:spTree>
    <p:extLst>
      <p:ext uri="{BB962C8B-B14F-4D97-AF65-F5344CB8AC3E}">
        <p14:creationId xmlns:p14="http://schemas.microsoft.com/office/powerpoint/2010/main" val="3253941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Hash-based Partitioning</a:t>
            </a:r>
            <a:endParaRPr lang="en-US" sz="2800" dirty="0"/>
          </a:p>
        </p:txBody>
      </p:sp>
      <p:sp>
        <p:nvSpPr>
          <p:cNvPr id="31" name="Rectangle 30"/>
          <p:cNvSpPr/>
          <p:nvPr/>
        </p:nvSpPr>
        <p:spPr>
          <a:xfrm>
            <a:off x="485775" y="997089"/>
            <a:ext cx="7105650" cy="5632311"/>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Hash partitioning uses a hash function to map data into different partitions. </a:t>
            </a:r>
            <a:endParaRPr lang="en-US" sz="2000" dirty="0" smtClean="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The </a:t>
            </a:r>
            <a:r>
              <a:rPr lang="en-US" sz="2000" dirty="0">
                <a:latin typeface="Cambria" panose="02040503050406030204" pitchFamily="18" charset="0"/>
                <a:ea typeface="Cambria" panose="02040503050406030204" pitchFamily="18" charset="0"/>
              </a:rPr>
              <a:t>hash value determines which partition the data belongs to, enabling even distribution and faster lookup. </a:t>
            </a:r>
            <a:endParaRPr lang="en-US" sz="2000" dirty="0" smtClean="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It </a:t>
            </a:r>
            <a:r>
              <a:rPr lang="en-US" sz="2000" dirty="0">
                <a:latin typeface="Cambria" panose="02040503050406030204" pitchFamily="18" charset="0"/>
                <a:ea typeface="Cambria" panose="02040503050406030204" pitchFamily="18" charset="0"/>
              </a:rPr>
              <a:t>helps with load balancing by spreading data randomly across partitions and improves data retrieval performance by reducing hotspots</a:t>
            </a:r>
            <a:r>
              <a:rPr lang="en-US" sz="2000" dirty="0" smtClean="0">
                <a:latin typeface="Cambria" panose="02040503050406030204" pitchFamily="18" charset="0"/>
                <a:ea typeface="Cambria" panose="02040503050406030204" pitchFamily="18" charset="0"/>
              </a:rPr>
              <a:t>.</a:t>
            </a: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CREATE TABLE employees </a:t>
            </a:r>
            <a:r>
              <a:rPr lang="en-US" sz="2000" dirty="0" smtClean="0">
                <a:latin typeface="Cambria" panose="02040503050406030204" pitchFamily="18" charset="0"/>
                <a:ea typeface="Cambria" panose="02040503050406030204" pitchFamily="18" charset="0"/>
              </a:rPr>
              <a:t>(id </a:t>
            </a:r>
            <a:r>
              <a:rPr lang="en-US" sz="2000" dirty="0">
                <a:latin typeface="Cambria" panose="02040503050406030204" pitchFamily="18" charset="0"/>
                <a:ea typeface="Cambria" panose="02040503050406030204" pitchFamily="18" charset="0"/>
              </a:rPr>
              <a:t>INT NOT </a:t>
            </a:r>
            <a:r>
              <a:rPr lang="en-US" sz="2000" dirty="0" smtClean="0">
                <a:latin typeface="Cambria" panose="02040503050406030204" pitchFamily="18" charset="0"/>
                <a:ea typeface="Cambria" panose="02040503050406030204" pitchFamily="18" charset="0"/>
              </a:rPr>
              <a:t>NULL, </a:t>
            </a:r>
            <a:r>
              <a:rPr lang="en-US" sz="2000" dirty="0" err="1" smtClean="0">
                <a:latin typeface="Cambria" panose="02040503050406030204" pitchFamily="18" charset="0"/>
                <a:ea typeface="Cambria" panose="02040503050406030204" pitchFamily="18" charset="0"/>
              </a:rPr>
              <a:t>fname</a:t>
            </a:r>
            <a:r>
              <a:rPr lang="en-US" sz="2000" dirty="0" smtClean="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VARCHAR(30</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lname</a:t>
            </a:r>
            <a:r>
              <a:rPr lang="en-US" sz="2000" dirty="0" smtClean="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VARCHAR(30</a:t>
            </a:r>
            <a:r>
              <a:rPr lang="en-US" sz="2000" dirty="0" smtClean="0">
                <a:latin typeface="Cambria" panose="02040503050406030204" pitchFamily="18" charset="0"/>
                <a:ea typeface="Cambria" panose="02040503050406030204" pitchFamily="18" charset="0"/>
              </a:rPr>
              <a:t>), hired </a:t>
            </a:r>
            <a:r>
              <a:rPr lang="en-US" sz="2000" dirty="0">
                <a:latin typeface="Cambria" panose="02040503050406030204" pitchFamily="18" charset="0"/>
                <a:ea typeface="Cambria" panose="02040503050406030204" pitchFamily="18" charset="0"/>
              </a:rPr>
              <a:t>DATE NOT NULL DEFAULT '1970-01-01</a:t>
            </a:r>
            <a:r>
              <a:rPr lang="en-US" sz="2000" dirty="0" smtClean="0">
                <a:latin typeface="Cambria" panose="02040503050406030204" pitchFamily="18" charset="0"/>
                <a:ea typeface="Cambria" panose="02040503050406030204" pitchFamily="18" charset="0"/>
              </a:rPr>
              <a:t>', separated </a:t>
            </a:r>
            <a:r>
              <a:rPr lang="en-US" sz="2000" dirty="0">
                <a:latin typeface="Cambria" panose="02040503050406030204" pitchFamily="18" charset="0"/>
                <a:ea typeface="Cambria" panose="02040503050406030204" pitchFamily="18" charset="0"/>
              </a:rPr>
              <a:t>DATE NOT NULL DEFAULT '9999-12-31</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job_code</a:t>
            </a:r>
            <a:r>
              <a:rPr lang="en-US" sz="2000" dirty="0" smtClean="0">
                <a:latin typeface="Cambria" panose="02040503050406030204" pitchFamily="18" charset="0"/>
                <a:ea typeface="Cambria" panose="02040503050406030204" pitchFamily="18" charset="0"/>
              </a:rPr>
              <a:t> INT, </a:t>
            </a:r>
            <a:r>
              <a:rPr lang="en-US" sz="2000" dirty="0" err="1" smtClean="0">
                <a:latin typeface="Cambria" panose="02040503050406030204" pitchFamily="18" charset="0"/>
                <a:ea typeface="Cambria" panose="02040503050406030204" pitchFamily="18" charset="0"/>
              </a:rPr>
              <a:t>store_id</a:t>
            </a:r>
            <a:r>
              <a:rPr lang="en-US" sz="2000" dirty="0" smtClean="0">
                <a:latin typeface="Cambria" panose="02040503050406030204" pitchFamily="18" charset="0"/>
                <a:ea typeface="Cambria" panose="02040503050406030204" pitchFamily="18" charset="0"/>
              </a:rPr>
              <a:t> INT) PARTITION </a:t>
            </a:r>
            <a:r>
              <a:rPr lang="en-US" sz="2000" dirty="0">
                <a:latin typeface="Cambria" panose="02040503050406030204" pitchFamily="18" charset="0"/>
                <a:ea typeface="Cambria" panose="02040503050406030204" pitchFamily="18" charset="0"/>
              </a:rPr>
              <a:t>BY </a:t>
            </a:r>
            <a:r>
              <a:rPr lang="en-US" sz="2000" dirty="0" smtClean="0">
                <a:latin typeface="Cambria" panose="02040503050406030204" pitchFamily="18" charset="0"/>
                <a:ea typeface="Cambria" panose="02040503050406030204" pitchFamily="18" charset="0"/>
              </a:rPr>
              <a:t>HASH(</a:t>
            </a:r>
            <a:r>
              <a:rPr lang="en-US" sz="2000" dirty="0" err="1" smtClean="0">
                <a:latin typeface="Cambria" panose="02040503050406030204" pitchFamily="18" charset="0"/>
                <a:ea typeface="Cambria" panose="02040503050406030204" pitchFamily="18" charset="0"/>
              </a:rPr>
              <a:t>store_id</a:t>
            </a:r>
            <a:r>
              <a:rPr lang="en-US" sz="2000" dirty="0" smtClean="0">
                <a:latin typeface="Cambria" panose="02040503050406030204" pitchFamily="18" charset="0"/>
                <a:ea typeface="Cambria" panose="02040503050406030204" pitchFamily="18" charset="0"/>
              </a:rPr>
              <a:t>) PARTITIONS </a:t>
            </a:r>
            <a:r>
              <a:rPr lang="en-US" sz="2000" dirty="0">
                <a:latin typeface="Cambria" panose="02040503050406030204" pitchFamily="18" charset="0"/>
                <a:ea typeface="Cambria" panose="02040503050406030204" pitchFamily="18" charset="0"/>
              </a:rPr>
              <a:t>4;</a:t>
            </a:r>
          </a:p>
        </p:txBody>
      </p:sp>
      <p:pic>
        <p:nvPicPr>
          <p:cNvPr id="4" name="Picture 3"/>
          <p:cNvPicPr>
            <a:picLocks noChangeAspect="1"/>
          </p:cNvPicPr>
          <p:nvPr/>
        </p:nvPicPr>
        <p:blipFill>
          <a:blip r:embed="rId3"/>
          <a:stretch>
            <a:fillRect/>
          </a:stretch>
        </p:blipFill>
        <p:spPr>
          <a:xfrm>
            <a:off x="7749540" y="997088"/>
            <a:ext cx="4280536" cy="5365611"/>
          </a:xfrm>
          <a:prstGeom prst="rect">
            <a:avLst/>
          </a:prstGeom>
        </p:spPr>
      </p:pic>
    </p:spTree>
    <p:extLst>
      <p:ext uri="{BB962C8B-B14F-4D97-AF65-F5344CB8AC3E}">
        <p14:creationId xmlns:p14="http://schemas.microsoft.com/office/powerpoint/2010/main" val="1647094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Hash-based Partitioning</a:t>
            </a:r>
            <a:endParaRPr lang="en-US" sz="2800" dirty="0"/>
          </a:p>
        </p:txBody>
      </p:sp>
      <p:sp>
        <p:nvSpPr>
          <p:cNvPr id="31" name="Rectangle 30"/>
          <p:cNvSpPr/>
          <p:nvPr/>
        </p:nvSpPr>
        <p:spPr>
          <a:xfrm>
            <a:off x="485775" y="997089"/>
            <a:ext cx="11134725" cy="5170646"/>
          </a:xfrm>
          <a:prstGeom prst="rect">
            <a:avLst/>
          </a:prstGeom>
        </p:spPr>
        <p:txBody>
          <a:bodyPr wrap="square">
            <a:spAutoFit/>
          </a:bodyPr>
          <a:lstStyle/>
          <a:p>
            <a:pPr algn="just" fontAlgn="base">
              <a:lnSpc>
                <a:spcPct val="150000"/>
              </a:lnSpc>
            </a:pPr>
            <a:r>
              <a:rPr lang="en-US" sz="2000" b="1" dirty="0">
                <a:latin typeface="Cambria" panose="02040503050406030204" pitchFamily="18" charset="0"/>
                <a:ea typeface="Cambria" panose="02040503050406030204" pitchFamily="18" charset="0"/>
              </a:rPr>
              <a:t>Advantages</a:t>
            </a: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Hash-based partitioning distributes data across partitions using a hash function applied to a specific key</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Even Distribution</a:t>
            </a:r>
            <a:r>
              <a:rPr lang="en-US" sz="2000" dirty="0">
                <a:latin typeface="Cambria" panose="02040503050406030204" pitchFamily="18" charset="0"/>
                <a:ea typeface="Cambria" panose="02040503050406030204" pitchFamily="18" charset="0"/>
              </a:rPr>
              <a:t>: Randomized hashing spreads data uniformly across partitions.</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Scalability</a:t>
            </a:r>
            <a:r>
              <a:rPr lang="en-US" sz="2000" dirty="0">
                <a:latin typeface="Cambria" panose="02040503050406030204" pitchFamily="18" charset="0"/>
                <a:ea typeface="Cambria" panose="02040503050406030204" pitchFamily="18" charset="0"/>
              </a:rPr>
              <a:t>: Supports parallel processing across multiple nodes.</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Simplicity</a:t>
            </a:r>
            <a:r>
              <a:rPr lang="en-US" sz="2000" dirty="0">
                <a:latin typeface="Cambria" panose="02040503050406030204" pitchFamily="18" charset="0"/>
                <a:ea typeface="Cambria" panose="02040503050406030204" pitchFamily="18" charset="0"/>
              </a:rPr>
              <a:t>: Easy to implement and doesn’t rely on data order.</a:t>
            </a:r>
          </a:p>
          <a:p>
            <a:pPr algn="just" fontAlgn="base">
              <a:lnSpc>
                <a:spcPct val="150000"/>
              </a:lnSpc>
            </a:pPr>
            <a:r>
              <a:rPr lang="en-US" sz="2000" b="1" dirty="0">
                <a:latin typeface="Cambria" panose="02040503050406030204" pitchFamily="18" charset="0"/>
                <a:ea typeface="Cambria" panose="02040503050406030204" pitchFamily="18" charset="0"/>
              </a:rPr>
              <a:t>Disadvantages</a:t>
            </a: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Although effective for distribution, it can introduce limitations in query flexibility</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Inefficient Lookups</a:t>
            </a:r>
            <a:r>
              <a:rPr lang="en-US" sz="2000" dirty="0">
                <a:latin typeface="Cambria" panose="02040503050406030204" pitchFamily="18" charset="0"/>
                <a:ea typeface="Cambria" panose="02040503050406030204" pitchFamily="18" charset="0"/>
              </a:rPr>
              <a:t>: Poor performance for key-based or range queries.</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Possible Imbalances</a:t>
            </a:r>
            <a:r>
              <a:rPr lang="en-US" sz="2000" dirty="0">
                <a:latin typeface="Cambria" panose="02040503050406030204" pitchFamily="18" charset="0"/>
                <a:ea typeface="Cambria" panose="02040503050406030204" pitchFamily="18" charset="0"/>
              </a:rPr>
              <a:t>: Hashing may not always ensure perfect load distribution.</a:t>
            </a:r>
          </a:p>
          <a:p>
            <a:pPr marL="800100" lvl="1" indent="-342900" algn="just" fontAlgn="base">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Maintenance Overhead</a:t>
            </a:r>
            <a:r>
              <a:rPr lang="en-US" sz="2000" dirty="0">
                <a:latin typeface="Cambria" panose="02040503050406030204" pitchFamily="18" charset="0"/>
                <a:ea typeface="Cambria" panose="02040503050406030204" pitchFamily="18" charset="0"/>
              </a:rPr>
              <a:t>: Scaling may require repartitioning and rehashing data.</a:t>
            </a:r>
          </a:p>
        </p:txBody>
      </p:sp>
    </p:spTree>
    <p:extLst>
      <p:ext uri="{BB962C8B-B14F-4D97-AF65-F5344CB8AC3E}">
        <p14:creationId xmlns:p14="http://schemas.microsoft.com/office/powerpoint/2010/main" val="1180990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err="1">
                <a:solidFill>
                  <a:srgbClr val="21295C"/>
                </a:solidFill>
                <a:latin typeface="Cambria" pitchFamily="34" charset="0"/>
                <a:ea typeface="Cambria" pitchFamily="34" charset="-122"/>
                <a:cs typeface="Cambria" pitchFamily="34" charset="-120"/>
              </a:rPr>
              <a:t>NoSQL</a:t>
            </a:r>
            <a:r>
              <a:rPr lang="en-US" sz="2800" b="1" dirty="0">
                <a:solidFill>
                  <a:srgbClr val="21295C"/>
                </a:solidFill>
                <a:latin typeface="Cambria" pitchFamily="34" charset="0"/>
                <a:ea typeface="Cambria" pitchFamily="34" charset="-122"/>
                <a:cs typeface="Cambria" pitchFamily="34" charset="-120"/>
              </a:rPr>
              <a:t> </a:t>
            </a:r>
            <a:r>
              <a:rPr lang="en-US" sz="2800" b="1" dirty="0" smtClean="0">
                <a:solidFill>
                  <a:srgbClr val="21295C"/>
                </a:solidFill>
                <a:latin typeface="Cambria" pitchFamily="34" charset="0"/>
                <a:ea typeface="Cambria" pitchFamily="34" charset="-122"/>
                <a:cs typeface="Cambria" pitchFamily="34" charset="-120"/>
              </a:rPr>
              <a:t>Models</a:t>
            </a:r>
            <a:endParaRPr lang="en-US" sz="2800" dirty="0"/>
          </a:p>
        </p:txBody>
      </p:sp>
      <p:sp>
        <p:nvSpPr>
          <p:cNvPr id="31" name="Rectangle 30"/>
          <p:cNvSpPr/>
          <p:nvPr/>
        </p:nvSpPr>
        <p:spPr>
          <a:xfrm>
            <a:off x="485775" y="997089"/>
            <a:ext cx="11134725" cy="4247317"/>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dirty="0" err="1">
                <a:latin typeface="Cambria" panose="02040503050406030204" pitchFamily="18" charset="0"/>
                <a:ea typeface="Cambria" panose="02040503050406030204" pitchFamily="18" charset="0"/>
              </a:rPr>
              <a:t>NoSQL</a:t>
            </a:r>
            <a:r>
              <a:rPr lang="en-US" sz="2000" dirty="0">
                <a:latin typeface="Cambria" panose="02040503050406030204" pitchFamily="18" charset="0"/>
                <a:ea typeface="Cambria" panose="02040503050406030204" pitchFamily="18" charset="0"/>
              </a:rPr>
              <a:t> databases are classified into different types based on the way they store and organize data</a:t>
            </a:r>
            <a:r>
              <a:rPr lang="en-US" sz="2000" dirty="0" smtClean="0">
                <a:latin typeface="Cambria" panose="02040503050406030204" pitchFamily="18" charset="0"/>
                <a:ea typeface="Cambria" panose="02040503050406030204" pitchFamily="18" charset="0"/>
              </a:rPr>
              <a:t>.</a:t>
            </a:r>
          </a:p>
          <a:p>
            <a:pPr marL="342900" indent="-342900" algn="just" fontAlgn="base">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Each </a:t>
            </a:r>
            <a:r>
              <a:rPr lang="en-US" sz="2000" dirty="0">
                <a:latin typeface="Cambria" panose="02040503050406030204" pitchFamily="18" charset="0"/>
                <a:ea typeface="Cambria" panose="02040503050406030204" pitchFamily="18" charset="0"/>
              </a:rPr>
              <a:t>type is designed to handle specific data structures and application requirements, offering different advantages in terms of scalability, performance and data access.</a:t>
            </a:r>
          </a:p>
          <a:p>
            <a:pPr marL="342900" indent="-342900" algn="just" fontAlgn="base">
              <a:lnSpc>
                <a:spcPct val="150000"/>
              </a:lnSpc>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342900" indent="-342900" algn="just" fontAlgn="base">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There are four main types of </a:t>
            </a:r>
            <a:r>
              <a:rPr lang="en-US" sz="2000" dirty="0" err="1">
                <a:latin typeface="Cambria" panose="02040503050406030204" pitchFamily="18" charset="0"/>
                <a:ea typeface="Cambria" panose="02040503050406030204" pitchFamily="18" charset="0"/>
              </a:rPr>
              <a:t>NoSQL</a:t>
            </a:r>
            <a:r>
              <a:rPr lang="en-US" sz="2000" dirty="0">
                <a:latin typeface="Cambria" panose="02040503050406030204" pitchFamily="18" charset="0"/>
                <a:ea typeface="Cambria" panose="02040503050406030204" pitchFamily="18" charset="0"/>
              </a:rPr>
              <a:t> databases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914400" lvl="1" indent="-457200" algn="just" fontAlgn="base">
              <a:lnSpc>
                <a:spcPct val="150000"/>
              </a:lnSpc>
              <a:buFont typeface="+mj-lt"/>
              <a:buAutoNum type="arabicPeriod"/>
            </a:pPr>
            <a:r>
              <a:rPr lang="en-US" sz="2000" dirty="0">
                <a:latin typeface="Cambria" panose="02040503050406030204" pitchFamily="18" charset="0"/>
                <a:ea typeface="Cambria" panose="02040503050406030204" pitchFamily="18" charset="0"/>
              </a:rPr>
              <a:t>Key-Value Database</a:t>
            </a:r>
          </a:p>
          <a:p>
            <a:pPr marL="914400" lvl="1" indent="-457200" algn="just" fontAlgn="base">
              <a:lnSpc>
                <a:spcPct val="150000"/>
              </a:lnSpc>
              <a:buFont typeface="+mj-lt"/>
              <a:buAutoNum type="arabicPeriod"/>
            </a:pPr>
            <a:r>
              <a:rPr lang="en-US" sz="2000" dirty="0">
                <a:latin typeface="Cambria" panose="02040503050406030204" pitchFamily="18" charset="0"/>
                <a:ea typeface="Cambria" panose="02040503050406030204" pitchFamily="18" charset="0"/>
              </a:rPr>
              <a:t>Document Database</a:t>
            </a:r>
          </a:p>
          <a:p>
            <a:pPr marL="914400" lvl="1" indent="-457200" algn="just" fontAlgn="base">
              <a:lnSpc>
                <a:spcPct val="150000"/>
              </a:lnSpc>
              <a:buFont typeface="+mj-lt"/>
              <a:buAutoNum type="arabicPeriod"/>
            </a:pPr>
            <a:r>
              <a:rPr lang="en-US" sz="2000" dirty="0">
                <a:latin typeface="Cambria" panose="02040503050406030204" pitchFamily="18" charset="0"/>
                <a:ea typeface="Cambria" panose="02040503050406030204" pitchFamily="18" charset="0"/>
              </a:rPr>
              <a:t>Column-Family Database</a:t>
            </a:r>
          </a:p>
          <a:p>
            <a:pPr marL="914400" lvl="1" indent="-457200" algn="just" fontAlgn="base">
              <a:lnSpc>
                <a:spcPct val="150000"/>
              </a:lnSpc>
              <a:buFont typeface="+mj-lt"/>
              <a:buAutoNum type="arabicPeriod"/>
            </a:pPr>
            <a:r>
              <a:rPr lang="en-US" sz="2000" dirty="0">
                <a:latin typeface="Cambria" panose="02040503050406030204" pitchFamily="18" charset="0"/>
                <a:ea typeface="Cambria" panose="02040503050406030204" pitchFamily="18" charset="0"/>
              </a:rPr>
              <a:t>Graph Database</a:t>
            </a:r>
          </a:p>
        </p:txBody>
      </p:sp>
    </p:spTree>
    <p:extLst>
      <p:ext uri="{BB962C8B-B14F-4D97-AF65-F5344CB8AC3E}">
        <p14:creationId xmlns:p14="http://schemas.microsoft.com/office/powerpoint/2010/main" val="2369060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err="1">
                <a:solidFill>
                  <a:srgbClr val="21295C"/>
                </a:solidFill>
                <a:latin typeface="Cambria" pitchFamily="34" charset="0"/>
                <a:ea typeface="Cambria" pitchFamily="34" charset="-122"/>
                <a:cs typeface="Cambria" pitchFamily="34" charset="-120"/>
              </a:rPr>
              <a:t>NoSQL</a:t>
            </a:r>
            <a:r>
              <a:rPr lang="en-US" sz="2800" b="1" dirty="0">
                <a:solidFill>
                  <a:srgbClr val="21295C"/>
                </a:solidFill>
                <a:latin typeface="Cambria" pitchFamily="34" charset="0"/>
                <a:ea typeface="Cambria" pitchFamily="34" charset="-122"/>
                <a:cs typeface="Cambria" pitchFamily="34" charset="-120"/>
              </a:rPr>
              <a:t> </a:t>
            </a:r>
            <a:r>
              <a:rPr lang="en-US" sz="2800" b="1" dirty="0" smtClean="0">
                <a:solidFill>
                  <a:srgbClr val="21295C"/>
                </a:solidFill>
                <a:latin typeface="Cambria" pitchFamily="34" charset="0"/>
                <a:ea typeface="Cambria" pitchFamily="34" charset="-122"/>
                <a:cs typeface="Cambria" pitchFamily="34" charset="-120"/>
              </a:rPr>
              <a:t>Models</a:t>
            </a:r>
            <a:endParaRPr lang="en-US" sz="2800" dirty="0"/>
          </a:p>
        </p:txBody>
      </p:sp>
      <p:pic>
        <p:nvPicPr>
          <p:cNvPr id="4" name="Picture 3"/>
          <p:cNvPicPr>
            <a:picLocks noChangeAspect="1"/>
          </p:cNvPicPr>
          <p:nvPr/>
        </p:nvPicPr>
        <p:blipFill>
          <a:blip r:embed="rId3"/>
          <a:stretch>
            <a:fillRect/>
          </a:stretch>
        </p:blipFill>
        <p:spPr>
          <a:xfrm>
            <a:off x="1393698" y="1365504"/>
            <a:ext cx="9765792" cy="4876800"/>
          </a:xfrm>
          <a:prstGeom prst="rect">
            <a:avLst/>
          </a:prstGeom>
        </p:spPr>
      </p:pic>
    </p:spTree>
    <p:extLst>
      <p:ext uri="{BB962C8B-B14F-4D97-AF65-F5344CB8AC3E}">
        <p14:creationId xmlns:p14="http://schemas.microsoft.com/office/powerpoint/2010/main" val="2419157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Document Databases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2" name="Rectangle 1"/>
          <p:cNvSpPr/>
          <p:nvPr/>
        </p:nvSpPr>
        <p:spPr>
          <a:xfrm>
            <a:off x="643890" y="1120015"/>
            <a:ext cx="11097006" cy="517064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It stores </a:t>
            </a:r>
            <a:r>
              <a:rPr lang="en-US" sz="2000" dirty="0">
                <a:latin typeface="Cambria" panose="02040503050406030204" pitchFamily="18" charset="0"/>
                <a:ea typeface="Cambria" panose="02040503050406030204" pitchFamily="18" charset="0"/>
              </a:rPr>
              <a:t>data in the form of documents instead of rows and columns. </a:t>
            </a:r>
            <a:endParaRPr lang="en-US" sz="2000" dirty="0" smtClean="0">
              <a:latin typeface="Cambria" panose="02040503050406030204" pitchFamily="18" charset="0"/>
              <a:ea typeface="Cambria" panose="02040503050406030204" pitchFamily="18" charset="0"/>
            </a:endParaRPr>
          </a:p>
          <a:p>
            <a:pPr marL="342900" indent="-342900" algn="just">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Documents </a:t>
            </a:r>
            <a:r>
              <a:rPr lang="en-US" sz="2000" dirty="0">
                <a:latin typeface="Cambria" panose="02040503050406030204" pitchFamily="18" charset="0"/>
                <a:ea typeface="Cambria" panose="02040503050406030204" pitchFamily="18" charset="0"/>
              </a:rPr>
              <a:t>are usually stored in formats such as JSON, BSON or XML, making them flexible and easy to manage</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342900" indent="-342900" algn="just">
              <a:lnSpc>
                <a:spcPct val="150000"/>
              </a:lnSpc>
              <a:buFont typeface="Arial" panose="020B0604020202020204" pitchFamily="34" charset="0"/>
              <a:buChar char="•"/>
            </a:pPr>
            <a:r>
              <a:rPr lang="en-US" sz="2000" dirty="0" smtClean="0">
                <a:latin typeface="Cambria" panose="02040503050406030204" pitchFamily="18" charset="0"/>
                <a:ea typeface="Cambria" panose="02040503050406030204" pitchFamily="18" charset="0"/>
              </a:rPr>
              <a:t>Supports </a:t>
            </a:r>
            <a:r>
              <a:rPr lang="en-US" sz="2000" dirty="0">
                <a:latin typeface="Cambria" panose="02040503050406030204" pitchFamily="18" charset="0"/>
                <a:ea typeface="Cambria" panose="02040503050406030204" pitchFamily="18" charset="0"/>
              </a:rPr>
              <a:t>flexible and dynamic schemas.</a:t>
            </a:r>
          </a:p>
          <a:p>
            <a:pPr marL="342900"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Documents can contain nested data and complex structures.</a:t>
            </a:r>
          </a:p>
          <a:p>
            <a:pPr marL="342900"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Designed for high scalability and fast data retrieval</a:t>
            </a:r>
            <a:r>
              <a:rPr lang="en-US" sz="2000" dirty="0" smtClean="0">
                <a:latin typeface="Cambria" panose="02040503050406030204" pitchFamily="18" charset="0"/>
                <a:ea typeface="Cambria" panose="02040503050406030204" pitchFamily="18" charset="0"/>
              </a:rPr>
              <a:t>.</a:t>
            </a:r>
          </a:p>
          <a:p>
            <a:pPr marL="342900" indent="-342900" algn="just">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Popular Document Databases</a:t>
            </a:r>
          </a:p>
          <a:p>
            <a:pPr marL="800100" lvl="1" indent="-342900" algn="just">
              <a:lnSpc>
                <a:spcPct val="150000"/>
              </a:lnSpc>
              <a:buFont typeface="Arial" panose="020B0604020202020204" pitchFamily="34" charset="0"/>
              <a:buChar char="•"/>
            </a:pPr>
            <a:r>
              <a:rPr lang="en-US" sz="2000" dirty="0" err="1">
                <a:latin typeface="Cambria" panose="02040503050406030204" pitchFamily="18" charset="0"/>
                <a:ea typeface="Cambria" panose="02040503050406030204" pitchFamily="18" charset="0"/>
              </a:rPr>
              <a:t>MongoDB</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err="1">
                <a:latin typeface="Cambria" panose="02040503050406030204" pitchFamily="18" charset="0"/>
                <a:ea typeface="Cambria" panose="02040503050406030204" pitchFamily="18" charset="0"/>
              </a:rPr>
              <a:t>CouchDB</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Amazon </a:t>
            </a:r>
            <a:r>
              <a:rPr lang="en-US" sz="2000" dirty="0" err="1">
                <a:latin typeface="Cambria" panose="02040503050406030204" pitchFamily="18" charset="0"/>
                <a:ea typeface="Cambria" panose="02040503050406030204" pitchFamily="18" charset="0"/>
              </a:rPr>
              <a:t>DocumentDB</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Azure Cosmos DB</a:t>
            </a:r>
          </a:p>
        </p:txBody>
      </p:sp>
    </p:spTree>
    <p:extLst>
      <p:ext uri="{BB962C8B-B14F-4D97-AF65-F5344CB8AC3E}">
        <p14:creationId xmlns:p14="http://schemas.microsoft.com/office/powerpoint/2010/main" val="3301108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Components of a Document Data Model</a:t>
            </a:r>
            <a:endParaRPr lang="en-US" sz="2800" dirty="0"/>
          </a:p>
        </p:txBody>
      </p:sp>
      <p:sp>
        <p:nvSpPr>
          <p:cNvPr id="2" name="Rectangle 1"/>
          <p:cNvSpPr/>
          <p:nvPr/>
        </p:nvSpPr>
        <p:spPr>
          <a:xfrm>
            <a:off x="643890" y="1120015"/>
            <a:ext cx="11097006"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Document :</a:t>
            </a:r>
            <a:endParaRPr lang="en-US" sz="2000" b="1"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 document is the basic unit of data storage. It contains related information organized as key-value pairs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Example</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lvl="3" algn="just">
              <a:lnSpc>
                <a:spcPct val="150000"/>
              </a:lnSpc>
            </a:pPr>
            <a:r>
              <a:rPr lang="en-US" sz="2000" dirty="0">
                <a:latin typeface="Cambria" panose="02040503050406030204" pitchFamily="18" charset="0"/>
                <a:ea typeface="Cambria" panose="02040503050406030204" pitchFamily="18" charset="0"/>
              </a:rPr>
              <a:t>{</a:t>
            </a:r>
          </a:p>
          <a:p>
            <a:pPr lvl="3" algn="just">
              <a:lnSpc>
                <a:spcPct val="150000"/>
              </a:lnSpc>
            </a:pPr>
            <a:r>
              <a:rPr lang="en-US" sz="2000" dirty="0">
                <a:latin typeface="Cambria" panose="02040503050406030204" pitchFamily="18" charset="0"/>
                <a:ea typeface="Cambria" panose="02040503050406030204" pitchFamily="18" charset="0"/>
              </a:rPr>
              <a:t>  "_id": 101,</a:t>
            </a:r>
          </a:p>
          <a:p>
            <a:pPr lvl="3" algn="just">
              <a:lnSpc>
                <a:spcPct val="150000"/>
              </a:lnSpc>
            </a:pPr>
            <a:r>
              <a:rPr lang="en-US" sz="2000" dirty="0">
                <a:latin typeface="Cambria" panose="02040503050406030204" pitchFamily="18" charset="0"/>
                <a:ea typeface="Cambria" panose="02040503050406030204" pitchFamily="18" charset="0"/>
              </a:rPr>
              <a:t>  "name": "John",</a:t>
            </a:r>
          </a:p>
          <a:p>
            <a:pPr lvl="3" algn="just">
              <a:lnSpc>
                <a:spcPct val="150000"/>
              </a:lnSpc>
            </a:pPr>
            <a:r>
              <a:rPr lang="en-US" sz="2000" dirty="0">
                <a:latin typeface="Cambria" panose="02040503050406030204" pitchFamily="18" charset="0"/>
                <a:ea typeface="Cambria" panose="02040503050406030204" pitchFamily="18" charset="0"/>
              </a:rPr>
              <a:t>  "age": 25,</a:t>
            </a:r>
          </a:p>
          <a:p>
            <a:pPr lvl="3" algn="just">
              <a:lnSpc>
                <a:spcPct val="150000"/>
              </a:lnSpc>
            </a:pPr>
            <a:r>
              <a:rPr lang="en-US" sz="2000" dirty="0">
                <a:latin typeface="Cambria" panose="02040503050406030204" pitchFamily="18" charset="0"/>
                <a:ea typeface="Cambria" panose="02040503050406030204" pitchFamily="18" charset="0"/>
              </a:rPr>
              <a:t>  "city": "Delhi"</a:t>
            </a:r>
          </a:p>
          <a:p>
            <a:pPr lvl="3" algn="just">
              <a:lnSpc>
                <a:spcPct val="150000"/>
              </a:lnSpc>
            </a:pPr>
            <a:r>
              <a:rPr lang="en-US" sz="20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7460467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Components of a Document Data Model</a:t>
            </a:r>
            <a:endParaRPr lang="en-US" sz="2800" dirty="0"/>
          </a:p>
        </p:txBody>
      </p:sp>
      <p:sp>
        <p:nvSpPr>
          <p:cNvPr id="2" name="Rectangle 1"/>
          <p:cNvSpPr/>
          <p:nvPr/>
        </p:nvSpPr>
        <p:spPr>
          <a:xfrm>
            <a:off x="643890" y="1120015"/>
            <a:ext cx="11097006" cy="188192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Fields :</a:t>
            </a:r>
            <a:endParaRPr lang="en-US" sz="2000" b="1"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Fields are individual attributes within a document. Each field consists of a field name and a corresponding value</a:t>
            </a:r>
            <a:r>
              <a:rPr lang="en-US" sz="2000" dirty="0" smtClean="0">
                <a:latin typeface="Cambria" panose="02040503050406030204" pitchFamily="18" charset="0"/>
                <a:ea typeface="Cambria" panose="02040503050406030204" pitchFamily="18" charset="0"/>
              </a:rPr>
              <a:t>.</a:t>
            </a:r>
          </a:p>
          <a:p>
            <a:pPr marL="800100" lvl="1" indent="-342900" algn="just">
              <a:lnSpc>
                <a:spcPct val="150000"/>
              </a:lnSpc>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sp>
        <p:nvSpPr>
          <p:cNvPr id="6" name="Rectangle 5"/>
          <p:cNvSpPr/>
          <p:nvPr/>
        </p:nvSpPr>
        <p:spPr>
          <a:xfrm>
            <a:off x="1499616" y="2673757"/>
            <a:ext cx="1670304" cy="1754326"/>
          </a:xfrm>
          <a:prstGeom prst="rect">
            <a:avLst/>
          </a:prstGeom>
        </p:spPr>
        <p:txBody>
          <a:bodyPr wrap="square">
            <a:spAutoFit/>
          </a:bodyPr>
          <a:lstStyle/>
          <a:p>
            <a:r>
              <a:rPr lang="en-US" dirty="0">
                <a:latin typeface="Cambria" panose="02040503050406030204" pitchFamily="18" charset="0"/>
                <a:ea typeface="Cambria" panose="02040503050406030204" pitchFamily="18" charset="0"/>
              </a:rPr>
              <a:t>Example:</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Field	Value</a:t>
            </a:r>
          </a:p>
          <a:p>
            <a:r>
              <a:rPr lang="en-US" dirty="0">
                <a:latin typeface="Cambria" panose="02040503050406030204" pitchFamily="18" charset="0"/>
                <a:ea typeface="Cambria" panose="02040503050406030204" pitchFamily="18" charset="0"/>
              </a:rPr>
              <a:t>name	John</a:t>
            </a:r>
          </a:p>
          <a:p>
            <a:r>
              <a:rPr lang="en-US" dirty="0">
                <a:latin typeface="Cambria" panose="02040503050406030204" pitchFamily="18" charset="0"/>
                <a:ea typeface="Cambria" panose="02040503050406030204" pitchFamily="18" charset="0"/>
              </a:rPr>
              <a:t>age	25</a:t>
            </a:r>
          </a:p>
          <a:p>
            <a:r>
              <a:rPr lang="en-US" dirty="0">
                <a:latin typeface="Cambria" panose="02040503050406030204" pitchFamily="18" charset="0"/>
                <a:ea typeface="Cambria" panose="02040503050406030204" pitchFamily="18" charset="0"/>
              </a:rPr>
              <a:t>city	Delhi</a:t>
            </a:r>
          </a:p>
        </p:txBody>
      </p:sp>
      <p:cxnSp>
        <p:nvCxnSpPr>
          <p:cNvPr id="8" name="Straight Arrow Connector 7"/>
          <p:cNvCxnSpPr/>
          <p:nvPr/>
        </p:nvCxnSpPr>
        <p:spPr>
          <a:xfrm flipV="1">
            <a:off x="2133600" y="3401568"/>
            <a:ext cx="377952" cy="121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 name="Straight Arrow Connector 8"/>
          <p:cNvCxnSpPr/>
          <p:nvPr/>
        </p:nvCxnSpPr>
        <p:spPr>
          <a:xfrm flipV="1">
            <a:off x="2151888" y="3708915"/>
            <a:ext cx="359664" cy="121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p:nvPr/>
        </p:nvCxnSpPr>
        <p:spPr>
          <a:xfrm flipV="1">
            <a:off x="1993392" y="3968767"/>
            <a:ext cx="377952" cy="121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p:cNvCxnSpPr/>
          <p:nvPr/>
        </p:nvCxnSpPr>
        <p:spPr>
          <a:xfrm flipV="1">
            <a:off x="2054352" y="4248613"/>
            <a:ext cx="377952" cy="121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1395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Components of a Document Data Model</a:t>
            </a:r>
            <a:endParaRPr lang="en-US" sz="2800" dirty="0"/>
          </a:p>
        </p:txBody>
      </p:sp>
      <p:sp>
        <p:nvSpPr>
          <p:cNvPr id="2" name="Rectangle 1"/>
          <p:cNvSpPr/>
          <p:nvPr/>
        </p:nvSpPr>
        <p:spPr>
          <a:xfrm>
            <a:off x="643890" y="997089"/>
            <a:ext cx="11097006" cy="57246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Collection</a:t>
            </a: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 collection is a group of related documents. It is similar to a table in a relational database but does not require a fixed schema</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Example</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1257300" lvl="2"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Users </a:t>
            </a:r>
            <a:r>
              <a:rPr lang="en-US" sz="2000" dirty="0" smtClean="0">
                <a:latin typeface="Cambria" panose="02040503050406030204" pitchFamily="18" charset="0"/>
                <a:ea typeface="Cambria" panose="02040503050406030204" pitchFamily="18" charset="0"/>
              </a:rPr>
              <a:t>Collection</a:t>
            </a:r>
            <a:endParaRPr lang="en-US" sz="2000" dirty="0">
              <a:latin typeface="Cambria" panose="02040503050406030204" pitchFamily="18" charset="0"/>
              <a:ea typeface="Cambria" panose="02040503050406030204" pitchFamily="18" charset="0"/>
            </a:endParaRPr>
          </a:p>
          <a:p>
            <a:pPr lvl="4" algn="just"/>
            <a:r>
              <a:rPr lang="en-US" dirty="0">
                <a:latin typeface="Cambria" panose="02040503050406030204" pitchFamily="18" charset="0"/>
                <a:ea typeface="Cambria" panose="02040503050406030204" pitchFamily="18" charset="0"/>
              </a:rPr>
              <a:t>[</a:t>
            </a:r>
          </a:p>
          <a:p>
            <a:pPr lvl="4" algn="just"/>
            <a:r>
              <a:rPr lang="en-US" dirty="0">
                <a:latin typeface="Cambria" panose="02040503050406030204" pitchFamily="18" charset="0"/>
                <a:ea typeface="Cambria" panose="02040503050406030204" pitchFamily="18" charset="0"/>
              </a:rPr>
              <a:t>  {</a:t>
            </a:r>
          </a:p>
          <a:p>
            <a:pPr lvl="4" algn="just"/>
            <a:r>
              <a:rPr lang="en-US" dirty="0">
                <a:latin typeface="Cambria" panose="02040503050406030204" pitchFamily="18" charset="0"/>
                <a:ea typeface="Cambria" panose="02040503050406030204" pitchFamily="18" charset="0"/>
              </a:rPr>
              <a:t>    "_id": 101,</a:t>
            </a:r>
          </a:p>
          <a:p>
            <a:pPr lvl="4" algn="just"/>
            <a:r>
              <a:rPr lang="en-US" dirty="0">
                <a:latin typeface="Cambria" panose="02040503050406030204" pitchFamily="18" charset="0"/>
                <a:ea typeface="Cambria" panose="02040503050406030204" pitchFamily="18" charset="0"/>
              </a:rPr>
              <a:t>    "name": "John",</a:t>
            </a:r>
          </a:p>
          <a:p>
            <a:pPr lvl="4" algn="just"/>
            <a:r>
              <a:rPr lang="en-US" dirty="0">
                <a:latin typeface="Cambria" panose="02040503050406030204" pitchFamily="18" charset="0"/>
                <a:ea typeface="Cambria" panose="02040503050406030204" pitchFamily="18" charset="0"/>
              </a:rPr>
              <a:t>    "age": 25</a:t>
            </a:r>
          </a:p>
          <a:p>
            <a:pPr lvl="4" algn="just"/>
            <a:r>
              <a:rPr lang="en-US" dirty="0">
                <a:latin typeface="Cambria" panose="02040503050406030204" pitchFamily="18" charset="0"/>
                <a:ea typeface="Cambria" panose="02040503050406030204" pitchFamily="18" charset="0"/>
              </a:rPr>
              <a:t>  },</a:t>
            </a:r>
          </a:p>
          <a:p>
            <a:pPr lvl="4" algn="just"/>
            <a:r>
              <a:rPr lang="en-US" dirty="0">
                <a:latin typeface="Cambria" panose="02040503050406030204" pitchFamily="18" charset="0"/>
                <a:ea typeface="Cambria" panose="02040503050406030204" pitchFamily="18" charset="0"/>
              </a:rPr>
              <a:t>  {</a:t>
            </a:r>
          </a:p>
          <a:p>
            <a:pPr lvl="4" algn="just"/>
            <a:r>
              <a:rPr lang="en-US" dirty="0">
                <a:latin typeface="Cambria" panose="02040503050406030204" pitchFamily="18" charset="0"/>
                <a:ea typeface="Cambria" panose="02040503050406030204" pitchFamily="18" charset="0"/>
              </a:rPr>
              <a:t>    "_id": 102,</a:t>
            </a:r>
          </a:p>
          <a:p>
            <a:pPr lvl="4" algn="just"/>
            <a:r>
              <a:rPr lang="en-US" dirty="0">
                <a:latin typeface="Cambria" panose="02040503050406030204" pitchFamily="18" charset="0"/>
                <a:ea typeface="Cambria" panose="02040503050406030204" pitchFamily="18" charset="0"/>
              </a:rPr>
              <a:t>    "name": "Alice",</a:t>
            </a:r>
          </a:p>
          <a:p>
            <a:pPr lvl="4" algn="just"/>
            <a:r>
              <a:rPr lang="en-US" dirty="0">
                <a:latin typeface="Cambria" panose="02040503050406030204" pitchFamily="18" charset="0"/>
                <a:ea typeface="Cambria" panose="02040503050406030204" pitchFamily="18" charset="0"/>
              </a:rPr>
              <a:t>    "age": 30</a:t>
            </a:r>
          </a:p>
          <a:p>
            <a:pPr lvl="4" algn="just"/>
            <a:r>
              <a:rPr lang="en-US" dirty="0">
                <a:latin typeface="Cambria" panose="02040503050406030204" pitchFamily="18" charset="0"/>
                <a:ea typeface="Cambria" panose="02040503050406030204" pitchFamily="18" charset="0"/>
              </a:rPr>
              <a:t>  }</a:t>
            </a:r>
          </a:p>
          <a:p>
            <a:pPr lvl="4" algn="just"/>
            <a:r>
              <a:rPr lang="en-US" dirty="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04922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Components of a Document Data Model</a:t>
            </a:r>
            <a:endParaRPr lang="en-US" sz="2800" dirty="0"/>
          </a:p>
        </p:txBody>
      </p:sp>
      <p:sp>
        <p:nvSpPr>
          <p:cNvPr id="2" name="Rectangle 1"/>
          <p:cNvSpPr/>
          <p:nvPr/>
        </p:nvSpPr>
        <p:spPr>
          <a:xfrm>
            <a:off x="643890" y="997089"/>
            <a:ext cx="11097006" cy="56323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Embedded Documents</a:t>
            </a: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 document can contain another document within it, allowing related data to be stored together</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800100" lvl="1"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Example</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lvl="2" algn="just">
              <a:lnSpc>
                <a:spcPct val="150000"/>
              </a:lnSpc>
            </a:pPr>
            <a:r>
              <a:rPr lang="en-US" sz="2000" dirty="0">
                <a:latin typeface="Cambria" panose="02040503050406030204" pitchFamily="18" charset="0"/>
                <a:ea typeface="Cambria" panose="02040503050406030204" pitchFamily="18" charset="0"/>
              </a:rPr>
              <a:t>{</a:t>
            </a:r>
          </a:p>
          <a:p>
            <a:pPr lvl="2" algn="just">
              <a:lnSpc>
                <a:spcPct val="150000"/>
              </a:lnSpc>
            </a:pPr>
            <a:r>
              <a:rPr lang="en-US" sz="2000" dirty="0">
                <a:latin typeface="Cambria" panose="02040503050406030204" pitchFamily="18" charset="0"/>
                <a:ea typeface="Cambria" panose="02040503050406030204" pitchFamily="18" charset="0"/>
              </a:rPr>
              <a:t>  "_id": 101,</a:t>
            </a:r>
          </a:p>
          <a:p>
            <a:pPr lvl="2" algn="just">
              <a:lnSpc>
                <a:spcPct val="150000"/>
              </a:lnSpc>
            </a:pPr>
            <a:r>
              <a:rPr lang="en-US" sz="2000" dirty="0">
                <a:latin typeface="Cambria" panose="02040503050406030204" pitchFamily="18" charset="0"/>
                <a:ea typeface="Cambria" panose="02040503050406030204" pitchFamily="18" charset="0"/>
              </a:rPr>
              <a:t>  "name": "John",</a:t>
            </a:r>
          </a:p>
          <a:p>
            <a:pPr lvl="2" algn="just">
              <a:lnSpc>
                <a:spcPct val="150000"/>
              </a:lnSpc>
            </a:pPr>
            <a:r>
              <a:rPr lang="en-US" sz="2000" dirty="0">
                <a:latin typeface="Cambria" panose="02040503050406030204" pitchFamily="18" charset="0"/>
                <a:ea typeface="Cambria" panose="02040503050406030204" pitchFamily="18" charset="0"/>
              </a:rPr>
              <a:t>  "address": {</a:t>
            </a:r>
          </a:p>
          <a:p>
            <a:pPr lvl="2" algn="just">
              <a:lnSpc>
                <a:spcPct val="150000"/>
              </a:lnSpc>
            </a:pPr>
            <a:r>
              <a:rPr lang="en-US" sz="2000" dirty="0">
                <a:latin typeface="Cambria" panose="02040503050406030204" pitchFamily="18" charset="0"/>
                <a:ea typeface="Cambria" panose="02040503050406030204" pitchFamily="18" charset="0"/>
              </a:rPr>
              <a:t>    "city": "Delhi",</a:t>
            </a:r>
          </a:p>
          <a:p>
            <a:pPr lvl="2" algn="just">
              <a:lnSpc>
                <a:spcPct val="150000"/>
              </a:lnSpc>
            </a:pP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pincode</a:t>
            </a:r>
            <a:r>
              <a:rPr lang="en-US" sz="2000" dirty="0">
                <a:latin typeface="Cambria" panose="02040503050406030204" pitchFamily="18" charset="0"/>
                <a:ea typeface="Cambria" panose="02040503050406030204" pitchFamily="18" charset="0"/>
              </a:rPr>
              <a:t>": 110001</a:t>
            </a:r>
          </a:p>
          <a:p>
            <a:pPr lvl="2" algn="just">
              <a:lnSpc>
                <a:spcPct val="150000"/>
              </a:lnSpc>
            </a:pPr>
            <a:r>
              <a:rPr lang="en-US" sz="2000" dirty="0">
                <a:latin typeface="Cambria" panose="02040503050406030204" pitchFamily="18" charset="0"/>
                <a:ea typeface="Cambria" panose="02040503050406030204" pitchFamily="18" charset="0"/>
              </a:rPr>
              <a:t>  }</a:t>
            </a:r>
          </a:p>
          <a:p>
            <a:pPr lvl="2" algn="just">
              <a:lnSpc>
                <a:spcPct val="150000"/>
              </a:lnSpc>
            </a:pPr>
            <a:r>
              <a:rPr lang="en-US" sz="20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4215080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Example of a Document Database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4" name="Rectangle 3"/>
          <p:cNvSpPr/>
          <p:nvPr/>
        </p:nvSpPr>
        <p:spPr>
          <a:xfrm>
            <a:off x="643890" y="997089"/>
            <a:ext cx="5025390" cy="4247317"/>
          </a:xfrm>
          <a:prstGeom prst="rect">
            <a:avLst/>
          </a:prstGeom>
          <a:ln>
            <a:solidFill>
              <a:schemeClr val="accent1"/>
            </a:solidFill>
          </a:ln>
        </p:spPr>
        <p:txBody>
          <a:bodyPr wrap="square">
            <a:spAutoFit/>
          </a:bodyPr>
          <a:lstStyle/>
          <a:p>
            <a:pPr algn="just">
              <a:lnSpc>
                <a:spcPct val="150000"/>
              </a:lnSpc>
            </a:pPr>
            <a:r>
              <a:rPr lang="en-US" dirty="0">
                <a:latin typeface="Cambria" panose="02040503050406030204" pitchFamily="18" charset="0"/>
                <a:ea typeface="Cambria" panose="02040503050406030204" pitchFamily="18" charset="0"/>
              </a:rPr>
              <a:t>Employee Document (JSON Format</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algn="just">
              <a:lnSpc>
                <a:spcPct val="150000"/>
              </a:lnSpc>
            </a:pP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employee_id</a:t>
            </a:r>
            <a:r>
              <a:rPr lang="en-US" dirty="0">
                <a:latin typeface="Cambria" panose="02040503050406030204" pitchFamily="18" charset="0"/>
                <a:ea typeface="Cambria" panose="02040503050406030204" pitchFamily="18" charset="0"/>
              </a:rPr>
              <a:t>": 101,</a:t>
            </a:r>
          </a:p>
          <a:p>
            <a:pPr algn="just">
              <a:lnSpc>
                <a:spcPct val="150000"/>
              </a:lnSpc>
            </a:pPr>
            <a:r>
              <a:rPr lang="en-US" dirty="0">
                <a:latin typeface="Cambria" panose="02040503050406030204" pitchFamily="18" charset="0"/>
                <a:ea typeface="Cambria" panose="02040503050406030204" pitchFamily="18" charset="0"/>
              </a:rPr>
              <a:t>  "name": "John Smith",</a:t>
            </a:r>
          </a:p>
          <a:p>
            <a:pPr algn="just">
              <a:lnSpc>
                <a:spcPct val="150000"/>
              </a:lnSpc>
            </a:pPr>
            <a:r>
              <a:rPr lang="en-US" dirty="0">
                <a:latin typeface="Cambria" panose="02040503050406030204" pitchFamily="18" charset="0"/>
                <a:ea typeface="Cambria" panose="02040503050406030204" pitchFamily="18" charset="0"/>
              </a:rPr>
              <a:t>  "department": "IT",</a:t>
            </a:r>
          </a:p>
          <a:p>
            <a:pPr algn="just">
              <a:lnSpc>
                <a:spcPct val="150000"/>
              </a:lnSpc>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address": {</a:t>
            </a:r>
          </a:p>
          <a:p>
            <a:pPr algn="just">
              <a:lnSpc>
                <a:spcPct val="150000"/>
              </a:lnSpc>
            </a:pPr>
            <a:r>
              <a:rPr lang="en-US" dirty="0">
                <a:latin typeface="Cambria" panose="02040503050406030204" pitchFamily="18" charset="0"/>
                <a:ea typeface="Cambria" panose="02040503050406030204" pitchFamily="18" charset="0"/>
              </a:rPr>
              <a:t>    "city": "New York",</a:t>
            </a:r>
          </a:p>
          <a:p>
            <a:pPr algn="just">
              <a:lnSpc>
                <a:spcPct val="150000"/>
              </a:lnSpc>
            </a:pPr>
            <a:r>
              <a:rPr lang="en-US" dirty="0">
                <a:latin typeface="Cambria" panose="02040503050406030204" pitchFamily="18" charset="0"/>
                <a:ea typeface="Cambria" panose="02040503050406030204" pitchFamily="18" charset="0"/>
              </a:rPr>
              <a:t>    "country": "USA"</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  </a:t>
            </a:r>
          </a:p>
        </p:txBody>
      </p:sp>
      <p:sp>
        <p:nvSpPr>
          <p:cNvPr id="5" name="Rectangle 4"/>
          <p:cNvSpPr/>
          <p:nvPr/>
        </p:nvSpPr>
        <p:spPr>
          <a:xfrm>
            <a:off x="5754624" y="987713"/>
            <a:ext cx="5669280" cy="4662815"/>
          </a:xfrm>
          <a:prstGeom prst="rect">
            <a:avLst/>
          </a:prstGeom>
          <a:ln>
            <a:solidFill>
              <a:schemeClr val="accent1"/>
            </a:solidFill>
          </a:ln>
        </p:spPr>
        <p:txBody>
          <a:bodyPr wrap="square">
            <a:spAutoFit/>
          </a:bodyPr>
          <a:lstStyle/>
          <a:p>
            <a:pPr algn="just">
              <a:lnSpc>
                <a:spcPct val="150000"/>
              </a:lnSpc>
            </a:pPr>
            <a:r>
              <a:rPr lang="en-US" dirty="0">
                <a:latin typeface="Cambria" panose="02040503050406030204" pitchFamily="18" charset="0"/>
                <a:ea typeface="Cambria" panose="02040503050406030204" pitchFamily="18" charset="0"/>
              </a:rPr>
              <a:t>"projects": [</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project_id</a:t>
            </a:r>
            <a:r>
              <a:rPr lang="en-US" dirty="0">
                <a:latin typeface="Cambria" panose="02040503050406030204" pitchFamily="18" charset="0"/>
                <a:ea typeface="Cambria" panose="02040503050406030204" pitchFamily="18" charset="0"/>
              </a:rPr>
              <a:t>": 1,</a:t>
            </a:r>
          </a:p>
          <a:p>
            <a:pPr algn="just">
              <a:lnSpc>
                <a:spcPct val="150000"/>
              </a:lnSpc>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project_name</a:t>
            </a:r>
            <a:r>
              <a:rPr lang="en-US" dirty="0">
                <a:latin typeface="Cambria" panose="02040503050406030204" pitchFamily="18" charset="0"/>
                <a:ea typeface="Cambria" panose="02040503050406030204" pitchFamily="18" charset="0"/>
              </a:rPr>
              <a:t>": "Website Development"</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project_id</a:t>
            </a:r>
            <a:r>
              <a:rPr lang="en-US" dirty="0">
                <a:latin typeface="Cambria" panose="02040503050406030204" pitchFamily="18" charset="0"/>
                <a:ea typeface="Cambria" panose="02040503050406030204" pitchFamily="18" charset="0"/>
              </a:rPr>
              <a:t>": 2,</a:t>
            </a:r>
          </a:p>
          <a:p>
            <a:pPr algn="just">
              <a:lnSpc>
                <a:spcPct val="150000"/>
              </a:lnSpc>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project_name</a:t>
            </a:r>
            <a:r>
              <a:rPr lang="en-US" dirty="0">
                <a:latin typeface="Cambria" panose="02040503050406030204" pitchFamily="18" charset="0"/>
                <a:ea typeface="Cambria" panose="02040503050406030204" pitchFamily="18" charset="0"/>
              </a:rPr>
              <a:t>": "Mobile App"</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  ]</a:t>
            </a:r>
          </a:p>
          <a:p>
            <a:pPr algn="just">
              <a:lnSpc>
                <a:spcPct val="150000"/>
              </a:lnSpc>
            </a:pPr>
            <a:r>
              <a:rPr lang="en-US" dirty="0">
                <a:latin typeface="Cambria" panose="02040503050406030204" pitchFamily="18" charset="0"/>
                <a:ea typeface="Cambria" panose="02040503050406030204" pitchFamily="18" charset="0"/>
              </a:rPr>
              <a:t>}</a:t>
            </a:r>
            <a:endParaRPr lang="en-US" dirty="0"/>
          </a:p>
        </p:txBody>
      </p:sp>
    </p:spTree>
    <p:extLst>
      <p:ext uri="{BB962C8B-B14F-4D97-AF65-F5344CB8AC3E}">
        <p14:creationId xmlns:p14="http://schemas.microsoft.com/office/powerpoint/2010/main" val="34899106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Document </a:t>
            </a:r>
            <a:r>
              <a:rPr lang="en-US" sz="2800" b="1" dirty="0">
                <a:solidFill>
                  <a:srgbClr val="21295C"/>
                </a:solidFill>
                <a:latin typeface="Cambria" pitchFamily="34" charset="0"/>
                <a:ea typeface="Cambria" pitchFamily="34" charset="-122"/>
                <a:cs typeface="Cambria" pitchFamily="34" charset="-120"/>
              </a:rPr>
              <a:t>Database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4" name="Rectangle 3"/>
          <p:cNvSpPr/>
          <p:nvPr/>
        </p:nvSpPr>
        <p:spPr>
          <a:xfrm>
            <a:off x="643890" y="997089"/>
            <a:ext cx="11033760" cy="5909310"/>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Advantages of Document Database Model</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Flexible Schema:</a:t>
            </a:r>
            <a:r>
              <a:rPr lang="en-US" dirty="0">
                <a:latin typeface="Cambria" panose="02040503050406030204" pitchFamily="18" charset="0"/>
                <a:ea typeface="Cambria" panose="02040503050406030204" pitchFamily="18" charset="0"/>
              </a:rPr>
              <a:t> Documents can have different fields and structures without affecting other documents.</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Easy Data Representation:</a:t>
            </a:r>
            <a:r>
              <a:rPr lang="en-US" dirty="0">
                <a:latin typeface="Cambria" panose="02040503050406030204" pitchFamily="18" charset="0"/>
                <a:ea typeface="Cambria" panose="02040503050406030204" pitchFamily="18" charset="0"/>
              </a:rPr>
              <a:t> Complex and nested data can be stored naturally within a single document.</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High Scalability:</a:t>
            </a:r>
            <a:r>
              <a:rPr lang="en-US" dirty="0">
                <a:latin typeface="Cambria" panose="02040503050406030204" pitchFamily="18" charset="0"/>
                <a:ea typeface="Cambria" panose="02040503050406030204" pitchFamily="18" charset="0"/>
              </a:rPr>
              <a:t> Data can be distributed across multiple servers to support large-scale applications.</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Fast Data Access:</a:t>
            </a:r>
            <a:r>
              <a:rPr lang="en-US" dirty="0">
                <a:latin typeface="Cambria" panose="02040503050406030204" pitchFamily="18" charset="0"/>
                <a:ea typeface="Cambria" panose="02040503050406030204" pitchFamily="18" charset="0"/>
              </a:rPr>
              <a:t> Documents can be retrieved quickly without requiring complex joins.</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Developer Friendly:</a:t>
            </a:r>
            <a:r>
              <a:rPr lang="en-US" dirty="0">
                <a:latin typeface="Cambria" panose="02040503050406030204" pitchFamily="18" charset="0"/>
                <a:ea typeface="Cambria" panose="02040503050406030204" pitchFamily="18" charset="0"/>
              </a:rPr>
              <a:t> JSON-like document formats are easy to understand and work with in modern applications.</a:t>
            </a:r>
          </a:p>
          <a:p>
            <a:pPr marL="285750"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Limitations of Document Database Model</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Data Redundancy:</a:t>
            </a:r>
            <a:r>
              <a:rPr lang="en-US" dirty="0">
                <a:latin typeface="Cambria" panose="02040503050406030204" pitchFamily="18" charset="0"/>
                <a:ea typeface="Cambria" panose="02040503050406030204" pitchFamily="18" charset="0"/>
              </a:rPr>
              <a:t> Similar information may be repeated across multiple documents, increasing storage usage.</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Complex Relationships:</a:t>
            </a:r>
            <a:r>
              <a:rPr lang="en-US" dirty="0">
                <a:latin typeface="Cambria" panose="02040503050406030204" pitchFamily="18" charset="0"/>
                <a:ea typeface="Cambria" panose="02040503050406030204" pitchFamily="18" charset="0"/>
              </a:rPr>
              <a:t> Managing relationships between documents can be more difficult than in relational databases.</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Limited Join Support:</a:t>
            </a:r>
            <a:r>
              <a:rPr lang="en-US" dirty="0">
                <a:latin typeface="Cambria" panose="02040503050406030204" pitchFamily="18" charset="0"/>
                <a:ea typeface="Cambria" panose="02040503050406030204" pitchFamily="18" charset="0"/>
              </a:rPr>
              <a:t> Most document databases provide limited or less efficient join operations</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629552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Key-Value Data Model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4" name="Rectangle 3"/>
          <p:cNvSpPr/>
          <p:nvPr/>
        </p:nvSpPr>
        <p:spPr>
          <a:xfrm>
            <a:off x="643890" y="997089"/>
            <a:ext cx="11292078" cy="549381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A key-value database is a type of </a:t>
            </a:r>
            <a:r>
              <a:rPr lang="en-US" dirty="0" err="1">
                <a:latin typeface="Cambria" panose="02040503050406030204" pitchFamily="18" charset="0"/>
                <a:ea typeface="Cambria" panose="02040503050406030204" pitchFamily="18" charset="0"/>
              </a:rPr>
              <a:t>NoSQL</a:t>
            </a:r>
            <a:r>
              <a:rPr lang="en-US" dirty="0">
                <a:latin typeface="Cambria" panose="02040503050406030204" pitchFamily="18" charset="0"/>
                <a:ea typeface="Cambria" panose="02040503050406030204" pitchFamily="18" charset="0"/>
              </a:rPr>
              <a:t> database that stores data as key-value pairs. Each key acts as a unique identifier and is associated with a single value</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Uses simple data storage architecture.</a:t>
            </a:r>
          </a:p>
          <a:p>
            <a:pPr marL="742950" lvl="1"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Handles large volumes of distributed data efficiently.</a:t>
            </a:r>
          </a:p>
          <a:p>
            <a:pPr marL="742950" lvl="1"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Commonly used in high-performance applications</a:t>
            </a:r>
            <a:r>
              <a:rPr lang="en-US" dirty="0" smtClean="0">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Components of a Key-Value Data </a:t>
            </a:r>
            <a:r>
              <a:rPr lang="en-US" b="1" dirty="0" smtClean="0">
                <a:latin typeface="Cambria" panose="02040503050406030204" pitchFamily="18" charset="0"/>
                <a:ea typeface="Cambria" panose="02040503050406030204" pitchFamily="18" charset="0"/>
              </a:rPr>
              <a:t>Model:</a:t>
            </a:r>
            <a:endParaRPr lang="en-US" b="1" dirty="0">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Key :</a:t>
            </a:r>
            <a:endParaRPr lang="en-US" b="1" dirty="0">
              <a:latin typeface="Cambria" panose="02040503050406030204" pitchFamily="18" charset="0"/>
              <a:ea typeface="Cambria" panose="02040503050406030204" pitchFamily="18" charset="0"/>
            </a:endParaRPr>
          </a:p>
          <a:p>
            <a:pPr marL="1200150" lvl="2"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A unique identifier used to access a specific piece of data. The database uses the key to quickly find the associated value without scanning all records</a:t>
            </a:r>
            <a:r>
              <a:rPr lang="en-US" dirty="0" smtClean="0">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Value</a:t>
            </a:r>
          </a:p>
          <a:p>
            <a:pPr marL="1200150" lvl="2"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The data associated with the key, which can be a string, number, JSON object, image or any other data type. The structure of the value is flexible, allowing applications to store data in various formats based on their requirements</a:t>
            </a:r>
            <a:r>
              <a:rPr lang="en-US" dirty="0" smtClean="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3294910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Key-Value Data Model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4" name="Rectangle 3"/>
          <p:cNvSpPr/>
          <p:nvPr/>
        </p:nvSpPr>
        <p:spPr>
          <a:xfrm>
            <a:off x="643890" y="997089"/>
            <a:ext cx="11292078" cy="2169825"/>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Key-Value Pair</a:t>
            </a:r>
          </a:p>
          <a:p>
            <a:pPr marL="742950" lvl="1"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The combination of a key and its corresponding value. Data is inserted, updated and retrieved using these key-value pairs</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Example</a:t>
            </a:r>
            <a:r>
              <a:rPr lang="en-US" dirty="0" smtClean="0">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Lst>
          </a:blip>
          <a:stretch>
            <a:fillRect/>
          </a:stretch>
        </p:blipFill>
        <p:spPr>
          <a:xfrm>
            <a:off x="3838007" y="2014111"/>
            <a:ext cx="4320914" cy="1653683"/>
          </a:xfrm>
          <a:prstGeom prst="rect">
            <a:avLst/>
          </a:prstGeom>
        </p:spPr>
      </p:pic>
      <p:sp>
        <p:nvSpPr>
          <p:cNvPr id="5" name="Rectangle 4"/>
          <p:cNvSpPr/>
          <p:nvPr/>
        </p:nvSpPr>
        <p:spPr>
          <a:xfrm>
            <a:off x="643890" y="3928563"/>
            <a:ext cx="11292077" cy="2585323"/>
          </a:xfrm>
          <a:prstGeom prst="rect">
            <a:avLst/>
          </a:prstGeom>
        </p:spPr>
        <p:txBody>
          <a:bodyPr wrap="square">
            <a:spAutoFit/>
          </a:bodyPr>
          <a:lstStyle/>
          <a:p>
            <a:pPr>
              <a:lnSpc>
                <a:spcPct val="150000"/>
              </a:lnSpc>
            </a:pPr>
            <a:r>
              <a:rPr lang="en-US" b="1" dirty="0">
                <a:latin typeface="Cambria" panose="02040503050406030204" pitchFamily="18" charset="0"/>
                <a:ea typeface="Cambria" panose="02040503050406030204" pitchFamily="18" charset="0"/>
              </a:rPr>
              <a:t>Databases</a:t>
            </a:r>
          </a:p>
          <a:p>
            <a:pPr marL="285750" indent="-285750">
              <a:lnSpc>
                <a:spcPct val="150000"/>
              </a:lnSpc>
              <a:buFont typeface="Arial" panose="020B0604020202020204" pitchFamily="34" charset="0"/>
              <a:buChar char="•"/>
            </a:pPr>
            <a:r>
              <a:rPr lang="en-US" b="1" dirty="0" err="1">
                <a:latin typeface="Cambria" panose="02040503050406030204" pitchFamily="18" charset="0"/>
                <a:ea typeface="Cambria" panose="02040503050406030204" pitchFamily="18" charset="0"/>
              </a:rPr>
              <a:t>Couchbase</a:t>
            </a:r>
            <a:r>
              <a:rPr lang="en-US" dirty="0">
                <a:latin typeface="Cambria" panose="02040503050406030204" pitchFamily="18" charset="0"/>
                <a:ea typeface="Cambria" panose="02040503050406030204" pitchFamily="18" charset="0"/>
              </a:rPr>
              <a:t>: Supports SQL-like querying and text search.</a:t>
            </a:r>
          </a:p>
          <a:p>
            <a:pPr marL="285750" indent="-285750">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Amazon </a:t>
            </a:r>
            <a:r>
              <a:rPr lang="en-US" b="1" dirty="0" err="1">
                <a:latin typeface="Cambria" panose="02040503050406030204" pitchFamily="18" charset="0"/>
                <a:ea typeface="Cambria" panose="02040503050406030204" pitchFamily="18" charset="0"/>
              </a:rPr>
              <a:t>DynamoDB</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Highly scalable and widely used cloud-based key-value database.</a:t>
            </a:r>
          </a:p>
          <a:p>
            <a:pPr marL="285750" indent="-285750">
              <a:lnSpc>
                <a:spcPct val="150000"/>
              </a:lnSpc>
              <a:buFont typeface="Arial" panose="020B0604020202020204" pitchFamily="34" charset="0"/>
              <a:buChar char="•"/>
            </a:pPr>
            <a:r>
              <a:rPr lang="en-US" b="1" dirty="0" err="1">
                <a:latin typeface="Cambria" panose="02040503050406030204" pitchFamily="18" charset="0"/>
                <a:ea typeface="Cambria" panose="02040503050406030204" pitchFamily="18" charset="0"/>
              </a:rPr>
              <a:t>Riak</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Designed for building distributed applications.</a:t>
            </a:r>
          </a:p>
          <a:p>
            <a:pPr marL="285750" indent="-285750">
              <a:lnSpc>
                <a:spcPct val="150000"/>
              </a:lnSpc>
              <a:buFont typeface="Arial" panose="020B0604020202020204" pitchFamily="34" charset="0"/>
              <a:buChar char="•"/>
            </a:pPr>
            <a:r>
              <a:rPr lang="en-US" b="1" dirty="0" err="1">
                <a:latin typeface="Cambria" panose="02040503050406030204" pitchFamily="18" charset="0"/>
                <a:ea typeface="Cambria" panose="02040503050406030204" pitchFamily="18" charset="0"/>
              </a:rPr>
              <a:t>Aerospike</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Open-source database optimized for real-time applications.</a:t>
            </a:r>
          </a:p>
          <a:p>
            <a:pPr marL="285750" indent="-285750">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Berkeley DB: </a:t>
            </a:r>
            <a:r>
              <a:rPr lang="en-US" dirty="0">
                <a:latin typeface="Cambria" panose="02040503050406030204" pitchFamily="18" charset="0"/>
                <a:ea typeface="Cambria" panose="02040503050406030204" pitchFamily="18" charset="0"/>
              </a:rPr>
              <a:t>High-performance database with scalability support.</a:t>
            </a:r>
          </a:p>
        </p:txBody>
      </p:sp>
    </p:spTree>
    <p:extLst>
      <p:ext uri="{BB962C8B-B14F-4D97-AF65-F5344CB8AC3E}">
        <p14:creationId xmlns:p14="http://schemas.microsoft.com/office/powerpoint/2010/main" val="31075550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Working of a Key-Value Database</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5" name="Rectangle 4"/>
          <p:cNvSpPr/>
          <p:nvPr/>
        </p:nvSpPr>
        <p:spPr>
          <a:xfrm>
            <a:off x="402336" y="997089"/>
            <a:ext cx="11533632" cy="3000821"/>
          </a:xfrm>
          <a:prstGeom prst="rect">
            <a:avLst/>
          </a:prstGeom>
        </p:spPr>
        <p:txBody>
          <a:bodyPr wrap="square">
            <a:spAutoFit/>
          </a:bodyPr>
          <a:lstStyle/>
          <a:p>
            <a:pPr algn="just">
              <a:lnSpc>
                <a:spcPct val="150000"/>
              </a:lnSpc>
            </a:pPr>
            <a:r>
              <a:rPr lang="en-US" dirty="0">
                <a:latin typeface="Cambria" panose="02040503050406030204" pitchFamily="18" charset="0"/>
                <a:ea typeface="Cambria" panose="02040503050406030204" pitchFamily="18" charset="0"/>
              </a:rPr>
              <a:t>The working of a key-value database is based on storing and retrieving data using unique keys. Each key is associated with a specific value, allowing fast and efficient data access.</a:t>
            </a:r>
          </a:p>
          <a:p>
            <a:pPr marL="285750" indent="-285750" algn="just">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Step </a:t>
            </a:r>
            <a:r>
              <a:rPr lang="en-US" b="1" dirty="0">
                <a:latin typeface="Cambria" panose="02040503050406030204" pitchFamily="18" charset="0"/>
                <a:ea typeface="Cambria" panose="02040503050406030204" pitchFamily="18" charset="0"/>
              </a:rPr>
              <a:t>1: </a:t>
            </a:r>
            <a:r>
              <a:rPr lang="en-US" dirty="0">
                <a:latin typeface="Cambria" panose="02040503050406030204" pitchFamily="18" charset="0"/>
                <a:ea typeface="Cambria" panose="02040503050406030204" pitchFamily="18" charset="0"/>
              </a:rPr>
              <a:t>Store Data as Key-Value </a:t>
            </a:r>
            <a:r>
              <a:rPr lang="en-US" dirty="0" smtClean="0">
                <a:latin typeface="Cambria" panose="02040503050406030204" pitchFamily="18" charset="0"/>
                <a:ea typeface="Cambria" panose="02040503050406030204" pitchFamily="18" charset="0"/>
              </a:rPr>
              <a:t>Pairs</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Step 2: </a:t>
            </a:r>
            <a:r>
              <a:rPr lang="en-US" dirty="0">
                <a:latin typeface="Cambria" panose="02040503050406030204" pitchFamily="18" charset="0"/>
                <a:ea typeface="Cambria" panose="02040503050406030204" pitchFamily="18" charset="0"/>
              </a:rPr>
              <a:t>Request Data Using a </a:t>
            </a:r>
            <a:r>
              <a:rPr lang="en-US" dirty="0" smtClean="0">
                <a:latin typeface="Cambria" panose="02040503050406030204" pitchFamily="18" charset="0"/>
                <a:ea typeface="Cambria" panose="02040503050406030204" pitchFamily="18" charset="0"/>
              </a:rPr>
              <a:t>Key</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Step 3: </a:t>
            </a:r>
            <a:r>
              <a:rPr lang="en-US" dirty="0">
                <a:latin typeface="Cambria" panose="02040503050406030204" pitchFamily="18" charset="0"/>
                <a:ea typeface="Cambria" panose="02040503050406030204" pitchFamily="18" charset="0"/>
              </a:rPr>
              <a:t>Locate the </a:t>
            </a:r>
            <a:r>
              <a:rPr lang="en-US" dirty="0" smtClean="0">
                <a:latin typeface="Cambria" panose="02040503050406030204" pitchFamily="18" charset="0"/>
                <a:ea typeface="Cambria" panose="02040503050406030204" pitchFamily="18" charset="0"/>
              </a:rPr>
              <a:t>Key</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Step 4: </a:t>
            </a:r>
            <a:r>
              <a:rPr lang="en-US" dirty="0">
                <a:latin typeface="Cambria" panose="02040503050406030204" pitchFamily="18" charset="0"/>
                <a:ea typeface="Cambria" panose="02040503050406030204" pitchFamily="18" charset="0"/>
              </a:rPr>
              <a:t>Return the Associated </a:t>
            </a:r>
            <a:r>
              <a:rPr lang="en-US" dirty="0" smtClean="0">
                <a:latin typeface="Cambria" panose="02040503050406030204" pitchFamily="18" charset="0"/>
                <a:ea typeface="Cambria" panose="02040503050406030204" pitchFamily="18" charset="0"/>
              </a:rPr>
              <a:t>Value</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Step 5: </a:t>
            </a:r>
            <a:r>
              <a:rPr lang="en-US" dirty="0">
                <a:latin typeface="Cambria" panose="02040503050406030204" pitchFamily="18" charset="0"/>
                <a:ea typeface="Cambria" panose="02040503050406030204" pitchFamily="18" charset="0"/>
              </a:rPr>
              <a:t>Update or Delete Data</a:t>
            </a:r>
          </a:p>
        </p:txBody>
      </p:sp>
      <p:sp>
        <p:nvSpPr>
          <p:cNvPr id="6" name="Rectangle 5"/>
          <p:cNvSpPr/>
          <p:nvPr/>
        </p:nvSpPr>
        <p:spPr>
          <a:xfrm>
            <a:off x="402336" y="4471809"/>
            <a:ext cx="11533632" cy="2118465"/>
          </a:xfrm>
          <a:prstGeom prst="rect">
            <a:avLst/>
          </a:prstGeom>
        </p:spPr>
        <p:txBody>
          <a:bodyPr wrap="square">
            <a:spAutoFit/>
          </a:bodyPr>
          <a:lstStyle/>
          <a:p>
            <a:pPr algn="just">
              <a:lnSpc>
                <a:spcPct val="150000"/>
              </a:lnSpc>
            </a:pP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  "User101": </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"Name": "John</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Age": 25</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City": "Delhi</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algn="just">
              <a:lnSpc>
                <a:spcPct val="150000"/>
              </a:lnSpc>
            </a:pPr>
            <a:r>
              <a:rPr lang="en-US" dirty="0">
                <a:latin typeface="Cambria" panose="02040503050406030204" pitchFamily="18" charset="0"/>
                <a:ea typeface="Cambria" panose="02040503050406030204" pitchFamily="18" charset="0"/>
              </a:rPr>
              <a:t>  "User102": </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"Name": "Alice</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Age": 30</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City": "Mumbai</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algn="just">
              <a:lnSpc>
                <a:spcPct val="150000"/>
              </a:lnSpc>
            </a:pPr>
            <a:r>
              <a:rPr lang="en-US" dirty="0">
                <a:latin typeface="Cambria" panose="02040503050406030204" pitchFamily="18" charset="0"/>
                <a:ea typeface="Cambria" panose="02040503050406030204" pitchFamily="18" charset="0"/>
              </a:rPr>
              <a:t>  "User103": </a:t>
            </a:r>
            <a:r>
              <a:rPr lang="en-US" dirty="0" smtClean="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Name": "Bob</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Age": 28</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City": "Bangalore</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algn="just">
              <a:lnSpc>
                <a:spcPct val="150000"/>
              </a:lnSpc>
            </a:pPr>
            <a:r>
              <a:rPr lang="en-US" dirty="0">
                <a:latin typeface="Cambria" panose="02040503050406030204" pitchFamily="18" charset="0"/>
                <a:ea typeface="Cambria" panose="02040503050406030204" pitchFamily="18" charset="0"/>
              </a:rPr>
              <a:t>}</a:t>
            </a:r>
          </a:p>
        </p:txBody>
      </p:sp>
      <p:sp>
        <p:nvSpPr>
          <p:cNvPr id="7" name="Text 1"/>
          <p:cNvSpPr/>
          <p:nvPr/>
        </p:nvSpPr>
        <p:spPr>
          <a:xfrm>
            <a:off x="402336" y="3914820"/>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Example of Key-Value Data Model</a:t>
            </a:r>
            <a:endParaRPr lang="en-US" sz="2800" dirty="0"/>
          </a:p>
        </p:txBody>
      </p:sp>
    </p:spTree>
    <p:extLst>
      <p:ext uri="{BB962C8B-B14F-4D97-AF65-F5344CB8AC3E}">
        <p14:creationId xmlns:p14="http://schemas.microsoft.com/office/powerpoint/2010/main" val="17306387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Uses </a:t>
            </a:r>
            <a:r>
              <a:rPr lang="en-US" sz="2800" b="1" dirty="0" smtClean="0">
                <a:solidFill>
                  <a:srgbClr val="21295C"/>
                </a:solidFill>
                <a:latin typeface="Cambria" pitchFamily="34" charset="0"/>
                <a:ea typeface="Cambria" pitchFamily="34" charset="-122"/>
                <a:cs typeface="Cambria" pitchFamily="34" charset="-120"/>
              </a:rPr>
              <a:t>of a </a:t>
            </a:r>
            <a:r>
              <a:rPr lang="en-US" sz="2800" b="1" dirty="0">
                <a:solidFill>
                  <a:srgbClr val="21295C"/>
                </a:solidFill>
                <a:latin typeface="Cambria" pitchFamily="34" charset="0"/>
                <a:ea typeface="Cambria" pitchFamily="34" charset="-122"/>
                <a:cs typeface="Cambria" pitchFamily="34" charset="-120"/>
              </a:rPr>
              <a:t>Key-Value Database</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5" name="Rectangle 4"/>
          <p:cNvSpPr/>
          <p:nvPr/>
        </p:nvSpPr>
        <p:spPr>
          <a:xfrm>
            <a:off x="402336" y="997089"/>
            <a:ext cx="11533632" cy="590931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smtClean="0">
                <a:latin typeface="Cambria" panose="02040503050406030204" pitchFamily="18" charset="0"/>
                <a:ea typeface="Cambria" panose="02040503050406030204" pitchFamily="18" charset="0"/>
              </a:rPr>
              <a:t>Caching</a:t>
            </a:r>
            <a:endParaRPr lang="en-US" b="1" dirty="0">
              <a:latin typeface="Cambria" panose="02040503050406030204" pitchFamily="18" charset="0"/>
              <a:ea typeface="Cambria" panose="02040503050406030204" pitchFamily="18" charset="0"/>
            </a:endParaRP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Key-value databases are used to store frequently accessed data in memory, reducing the need to repeatedly query the main database</a:t>
            </a:r>
            <a:r>
              <a:rPr lang="en-US" dirty="0" smtClean="0">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Session Management</a:t>
            </a: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Web applications store user session information as key-value pairs to maintain login states and user preferences</a:t>
            </a:r>
            <a:r>
              <a:rPr lang="en-US" dirty="0" smtClean="0">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User Profiles</a:t>
            </a: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User information can be stored and retrieved using a unique user ID as the key</a:t>
            </a:r>
            <a:r>
              <a:rPr lang="en-US" dirty="0" smtClean="0">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Shopping Carts</a:t>
            </a: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E-commerce websites use key-value databases to store products added to a user's shopping cart</a:t>
            </a:r>
            <a:r>
              <a:rPr lang="en-US" dirty="0" smtClean="0">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Configuration Management</a:t>
            </a: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Application settings and configuration data are often stored as key-value pairs</a:t>
            </a:r>
            <a:r>
              <a:rPr lang="en-US" dirty="0" smtClean="0">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b="1" dirty="0">
                <a:latin typeface="Cambria" panose="02040503050406030204" pitchFamily="18" charset="0"/>
                <a:ea typeface="Cambria" panose="02040503050406030204" pitchFamily="18" charset="0"/>
              </a:rPr>
              <a:t>IoT Applications</a:t>
            </a:r>
          </a:p>
          <a:p>
            <a:pPr marL="742950" lvl="1" indent="-285750" algn="just">
              <a:lnSpc>
                <a:spcPct val="150000"/>
              </a:lnSpc>
              <a:buFont typeface="Arial" panose="020B0604020202020204" pitchFamily="34" charset="0"/>
              <a:buChar char="•"/>
            </a:pPr>
            <a:r>
              <a:rPr lang="en-US" dirty="0">
                <a:latin typeface="Cambria" panose="02040503050406030204" pitchFamily="18" charset="0"/>
                <a:ea typeface="Cambria" panose="02040503050406030204" pitchFamily="18" charset="0"/>
              </a:rPr>
              <a:t>IoT systems store device information and sensor readings using unique device IDs.</a:t>
            </a:r>
          </a:p>
        </p:txBody>
      </p:sp>
    </p:spTree>
    <p:extLst>
      <p:ext uri="{BB962C8B-B14F-4D97-AF65-F5344CB8AC3E}">
        <p14:creationId xmlns:p14="http://schemas.microsoft.com/office/powerpoint/2010/main" val="24272085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Key-Value </a:t>
            </a:r>
            <a:r>
              <a:rPr lang="en-US" sz="2800" b="1" dirty="0">
                <a:solidFill>
                  <a:srgbClr val="21295C"/>
                </a:solidFill>
                <a:latin typeface="Cambria" pitchFamily="34" charset="0"/>
                <a:ea typeface="Cambria" pitchFamily="34" charset="-122"/>
                <a:cs typeface="Cambria" pitchFamily="34" charset="-120"/>
              </a:rPr>
              <a:t>Data Model</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6" y="997089"/>
            <a:ext cx="11472672" cy="4195957"/>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Advantages of Key Value Model</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Efficient Key-Based Access: </a:t>
            </a:r>
            <a:r>
              <a:rPr lang="en-US" dirty="0">
                <a:solidFill>
                  <a:srgbClr val="273239"/>
                </a:solidFill>
                <a:latin typeface="Cambria" panose="02040503050406030204" pitchFamily="18" charset="0"/>
                <a:ea typeface="Cambria" panose="02040503050406030204" pitchFamily="18" charset="0"/>
              </a:rPr>
              <a:t>Enables rapid data retrieval through unique keys.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Low-Latency Operations: </a:t>
            </a:r>
            <a:r>
              <a:rPr lang="en-US" dirty="0">
                <a:solidFill>
                  <a:srgbClr val="273239"/>
                </a:solidFill>
                <a:latin typeface="Cambria" panose="02040503050406030204" pitchFamily="18" charset="0"/>
                <a:ea typeface="Cambria" panose="02040503050406030204" pitchFamily="18" charset="0"/>
              </a:rPr>
              <a:t>Provides high-performance read and write operations.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Horizontal Scalability</a:t>
            </a:r>
            <a:r>
              <a:rPr lang="en-US" dirty="0">
                <a:solidFill>
                  <a:srgbClr val="273239"/>
                </a:solidFill>
                <a:latin typeface="Cambria" panose="02040503050406030204" pitchFamily="18" charset="0"/>
                <a:ea typeface="Cambria" panose="02040503050406030204" pitchFamily="18" charset="0"/>
              </a:rPr>
              <a:t>: Supports data distribution across multiple nodes.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Schema Flexibility: </a:t>
            </a:r>
            <a:r>
              <a:rPr lang="en-US" dirty="0">
                <a:solidFill>
                  <a:srgbClr val="273239"/>
                </a:solidFill>
                <a:latin typeface="Cambria" panose="02040503050406030204" pitchFamily="18" charset="0"/>
                <a:ea typeface="Cambria" panose="02040503050406030204" pitchFamily="18" charset="0"/>
              </a:rPr>
              <a:t>Allows storage of diverse data types without a predefined schema.</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High Availability: </a:t>
            </a:r>
            <a:r>
              <a:rPr lang="en-US" dirty="0">
                <a:solidFill>
                  <a:srgbClr val="273239"/>
                </a:solidFill>
                <a:latin typeface="Cambria" panose="02040503050406030204" pitchFamily="18" charset="0"/>
                <a:ea typeface="Cambria" panose="02040503050406030204" pitchFamily="18" charset="0"/>
              </a:rPr>
              <a:t>Ensures continuous access to data in distributed environments.</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Limitations of Key Value Model</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Limited Query Capabilities: </a:t>
            </a:r>
            <a:r>
              <a:rPr lang="en-US" dirty="0">
                <a:solidFill>
                  <a:srgbClr val="273239"/>
                </a:solidFill>
                <a:latin typeface="Cambria" panose="02040503050406030204" pitchFamily="18" charset="0"/>
                <a:ea typeface="Cambria" panose="02040503050406030204" pitchFamily="18" charset="0"/>
              </a:rPr>
              <a:t>Efficiently supports only key-based lookups, making complex queries difficult.</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No Relationship Support: </a:t>
            </a:r>
            <a:r>
              <a:rPr lang="en-US" dirty="0">
                <a:solidFill>
                  <a:srgbClr val="273239"/>
                </a:solidFill>
                <a:latin typeface="Cambria" panose="02040503050406030204" pitchFamily="18" charset="0"/>
                <a:ea typeface="Cambria" panose="02040503050406030204" pitchFamily="18" charset="0"/>
              </a:rPr>
              <a:t>Does not provide native support for relationships between data entities.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Data Redundancy: </a:t>
            </a:r>
            <a:r>
              <a:rPr lang="en-US" dirty="0">
                <a:solidFill>
                  <a:srgbClr val="273239"/>
                </a:solidFill>
                <a:latin typeface="Cambria" panose="02040503050406030204" pitchFamily="18" charset="0"/>
                <a:ea typeface="Cambria" panose="02040503050406030204" pitchFamily="18" charset="0"/>
              </a:rPr>
              <a:t>May require duplication of related data across multiple key-value pairs.</a:t>
            </a:r>
            <a:endParaRPr lang="en-US"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176155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Columnar </a:t>
            </a:r>
            <a:r>
              <a:rPr lang="en-US" sz="2800" b="1" dirty="0" smtClean="0">
                <a:solidFill>
                  <a:srgbClr val="21295C"/>
                </a:solidFill>
                <a:latin typeface="Cambria" pitchFamily="34" charset="0"/>
                <a:ea typeface="Cambria" pitchFamily="34" charset="-122"/>
                <a:cs typeface="Cambria" pitchFamily="34" charset="-120"/>
              </a:rPr>
              <a:t>(Column-Family</a:t>
            </a:r>
            <a:r>
              <a:rPr lang="en-US" sz="2800" b="1" dirty="0">
                <a:solidFill>
                  <a:srgbClr val="21295C"/>
                </a:solidFill>
                <a:latin typeface="Cambria" pitchFamily="34" charset="0"/>
                <a:ea typeface="Cambria" pitchFamily="34" charset="-122"/>
                <a:cs typeface="Cambria" pitchFamily="34" charset="-120"/>
              </a:rPr>
              <a:t>) Data Model</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6" y="997089"/>
            <a:ext cx="11472672" cy="3416320"/>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Columnar databases are those where the data is stored in columns instead of rows as is done in the traditional row-based databases as they offer impressive benefits in certain types of queries and data manipulation operations.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Therefore</a:t>
            </a:r>
            <a:r>
              <a:rPr lang="en-US" dirty="0">
                <a:solidFill>
                  <a:srgbClr val="273239"/>
                </a:solidFill>
                <a:latin typeface="Cambria" panose="02040503050406030204" pitchFamily="18" charset="0"/>
                <a:ea typeface="Cambria" panose="02040503050406030204" pitchFamily="18" charset="0"/>
              </a:rPr>
              <a:t>, databases that are organized in columns provide better performances for operations that require applications to read data such as data analytics and data warehousing.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This </a:t>
            </a:r>
            <a:r>
              <a:rPr lang="en-US" dirty="0">
                <a:solidFill>
                  <a:srgbClr val="273239"/>
                </a:solidFill>
                <a:latin typeface="Cambria" panose="02040503050406030204" pitchFamily="18" charset="0"/>
                <a:ea typeface="Cambria" panose="02040503050406030204" pitchFamily="18" charset="0"/>
              </a:rPr>
              <a:t>approach enhances the rate of query processing and reduces disk I/O making it suitable for cases that involve a large number of queries that are processed on large amounts of data</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r>
              <a:rPr lang="en-US" b="1" dirty="0"/>
              <a:t>Popular Column-Oriented Databases &amp; Use Cases</a:t>
            </a:r>
            <a:endParaRPr lang="en-US" b="0" i="0" dirty="0">
              <a:solidFill>
                <a:srgbClr val="273239"/>
              </a:solidFill>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stretch>
            <a:fillRect/>
          </a:stretch>
        </p:blipFill>
        <p:spPr>
          <a:xfrm>
            <a:off x="3068010" y="4310471"/>
            <a:ext cx="5287113" cy="2238687"/>
          </a:xfrm>
          <a:prstGeom prst="rect">
            <a:avLst/>
          </a:prstGeom>
        </p:spPr>
      </p:pic>
    </p:spTree>
    <p:extLst>
      <p:ext uri="{BB962C8B-B14F-4D97-AF65-F5344CB8AC3E}">
        <p14:creationId xmlns:p14="http://schemas.microsoft.com/office/powerpoint/2010/main" val="8279947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Columnar </a:t>
            </a:r>
            <a:r>
              <a:rPr lang="en-US" sz="2800" b="1" dirty="0" smtClean="0">
                <a:solidFill>
                  <a:srgbClr val="21295C"/>
                </a:solidFill>
                <a:latin typeface="Cambria" pitchFamily="34" charset="0"/>
                <a:ea typeface="Cambria" pitchFamily="34" charset="-122"/>
                <a:cs typeface="Cambria" pitchFamily="34" charset="-120"/>
              </a:rPr>
              <a:t>Data </a:t>
            </a:r>
            <a:r>
              <a:rPr lang="en-US" sz="2800" b="1" dirty="0">
                <a:solidFill>
                  <a:srgbClr val="21295C"/>
                </a:solidFill>
                <a:latin typeface="Cambria" pitchFamily="34" charset="0"/>
                <a:ea typeface="Cambria" pitchFamily="34" charset="-122"/>
                <a:cs typeface="Cambria" pitchFamily="34" charset="-120"/>
              </a:rPr>
              <a:t>Model</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6" y="997089"/>
            <a:ext cx="11472672" cy="5442452"/>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Advantages of Columnar Database</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Columnar databases can be used for different tasks such as when the applications that are related to big data comes into play then the column-oriented databases have greater attention in such case.</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The data in the columnar database has a highly compressible nature and has different operations like (AVG), (MIN, MAX), which are permitted by the compression.</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Efficiency and Speed: The speed of Analytical queries that are performed is faster in columnar databases.</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Self-indexing: Another benefit of a column-based DBMS is self-indexing, which uses less disk space than a relational database management system containing the same data.</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Limitation of Columnar Database</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For loading incremental data, traditional databases are more relevant as compared to column-oriented databases.</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For Online transaction processing (OLTP) applications, Row oriented databases are more appropriate than columnar databases.</a:t>
            </a:r>
            <a:endParaRPr lang="en-US"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58099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Graph Based Data Model in </a:t>
            </a:r>
            <a:r>
              <a:rPr lang="en-US" sz="2800" b="1" dirty="0" err="1">
                <a:solidFill>
                  <a:srgbClr val="21295C"/>
                </a:solidFill>
                <a:latin typeface="Cambria" pitchFamily="34" charset="0"/>
                <a:ea typeface="Cambria" pitchFamily="34" charset="-122"/>
                <a:cs typeface="Cambria" pitchFamily="34" charset="-120"/>
              </a:rPr>
              <a:t>NoSQL</a:t>
            </a:r>
            <a:endParaRPr lang="en-US" sz="2800" dirty="0"/>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6" y="997089"/>
            <a:ext cx="8173710" cy="5078313"/>
          </a:xfrm>
          <a:prstGeom prst="rect">
            <a:avLst/>
          </a:prstGeom>
          <a:ln>
            <a:solidFill>
              <a:schemeClr val="accent1"/>
            </a:solidFill>
          </a:ln>
        </p:spPr>
        <p:txBody>
          <a:bodyPr wrap="square">
            <a:spAutoFit/>
          </a:bodyPr>
          <a:lstStyle/>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It tries </a:t>
            </a:r>
            <a:r>
              <a:rPr lang="en-US" dirty="0">
                <a:solidFill>
                  <a:srgbClr val="273239"/>
                </a:solidFill>
                <a:latin typeface="Cambria" panose="02040503050406030204" pitchFamily="18" charset="0"/>
                <a:ea typeface="Cambria" panose="02040503050406030204" pitchFamily="18" charset="0"/>
              </a:rPr>
              <a:t>to focus on building the relationship between data elements.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As </a:t>
            </a:r>
            <a:r>
              <a:rPr lang="en-US" dirty="0">
                <a:solidFill>
                  <a:srgbClr val="273239"/>
                </a:solidFill>
                <a:latin typeface="Cambria" panose="02040503050406030204" pitchFamily="18" charset="0"/>
                <a:ea typeface="Cambria" panose="02040503050406030204" pitchFamily="18" charset="0"/>
              </a:rPr>
              <a:t>the name suggests Graph-Based Data Model, each element here is stored as a </a:t>
            </a:r>
            <a:r>
              <a:rPr lang="en-US" b="1" dirty="0">
                <a:solidFill>
                  <a:srgbClr val="273239"/>
                </a:solidFill>
                <a:latin typeface="Cambria" panose="02040503050406030204" pitchFamily="18" charset="0"/>
                <a:ea typeface="Cambria" panose="02040503050406030204" pitchFamily="18" charset="0"/>
              </a:rPr>
              <a:t>node</a:t>
            </a:r>
            <a:r>
              <a:rPr lang="en-US" dirty="0">
                <a:solidFill>
                  <a:srgbClr val="273239"/>
                </a:solidFill>
                <a:latin typeface="Cambria" panose="02040503050406030204" pitchFamily="18" charset="0"/>
                <a:ea typeface="Cambria" panose="02040503050406030204" pitchFamily="18" charset="0"/>
              </a:rPr>
              <a:t>, and the association between these elements is often known as </a:t>
            </a:r>
            <a:r>
              <a:rPr lang="en-US" b="1" dirty="0">
                <a:solidFill>
                  <a:srgbClr val="273239"/>
                </a:solidFill>
                <a:latin typeface="Cambria" panose="02040503050406030204" pitchFamily="18" charset="0"/>
                <a:ea typeface="Cambria" panose="02040503050406030204" pitchFamily="18" charset="0"/>
              </a:rPr>
              <a:t>Links</a:t>
            </a:r>
            <a:r>
              <a:rPr lang="en-US" dirty="0">
                <a:solidFill>
                  <a:srgbClr val="273239"/>
                </a:solidFill>
                <a:latin typeface="Cambria" panose="02040503050406030204" pitchFamily="18" charset="0"/>
                <a:ea typeface="Cambria" panose="02040503050406030204" pitchFamily="18" charset="0"/>
              </a:rPr>
              <a:t>.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Association </a:t>
            </a:r>
            <a:r>
              <a:rPr lang="en-US" dirty="0">
                <a:solidFill>
                  <a:srgbClr val="273239"/>
                </a:solidFill>
                <a:latin typeface="Cambria" panose="02040503050406030204" pitchFamily="18" charset="0"/>
                <a:ea typeface="Cambria" panose="02040503050406030204" pitchFamily="18" charset="0"/>
              </a:rPr>
              <a:t>is stored directly as these are the first-class elements of the data model.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These </a:t>
            </a:r>
            <a:r>
              <a:rPr lang="en-US" dirty="0">
                <a:solidFill>
                  <a:srgbClr val="273239"/>
                </a:solidFill>
                <a:latin typeface="Cambria" panose="02040503050406030204" pitchFamily="18" charset="0"/>
                <a:ea typeface="Cambria" panose="02040503050406030204" pitchFamily="18" charset="0"/>
              </a:rPr>
              <a:t>data models give us a conceptual view of the data.</a:t>
            </a: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These </a:t>
            </a:r>
            <a:r>
              <a:rPr lang="en-US" dirty="0">
                <a:solidFill>
                  <a:srgbClr val="273239"/>
                </a:solidFill>
                <a:latin typeface="Cambria" panose="02040503050406030204" pitchFamily="18" charset="0"/>
                <a:ea typeface="Cambria" panose="02040503050406030204" pitchFamily="18" charset="0"/>
              </a:rPr>
              <a:t>are the data models which are based on topographical network structure. </a:t>
            </a:r>
            <a:endParaRPr lang="en-US" dirty="0" smtClean="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Nodes</a:t>
            </a:r>
            <a:r>
              <a:rPr lang="en-US" b="1" dirty="0">
                <a:solidFill>
                  <a:srgbClr val="273239"/>
                </a:solidFill>
                <a:latin typeface="Cambria" panose="02040503050406030204" pitchFamily="18" charset="0"/>
                <a:ea typeface="Cambria" panose="02040503050406030204" pitchFamily="18" charset="0"/>
              </a:rPr>
              <a:t>:</a:t>
            </a:r>
            <a:r>
              <a:rPr lang="en-US" dirty="0">
                <a:solidFill>
                  <a:srgbClr val="273239"/>
                </a:solidFill>
                <a:latin typeface="Cambria" panose="02040503050406030204" pitchFamily="18" charset="0"/>
                <a:ea typeface="Cambria" panose="02040503050406030204" pitchFamily="18" charset="0"/>
              </a:rPr>
              <a:t> These are the instances of data that represent objects which is to be tracked.</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Edges: </a:t>
            </a:r>
            <a:r>
              <a:rPr lang="en-US" dirty="0" smtClean="0">
                <a:solidFill>
                  <a:srgbClr val="273239"/>
                </a:solidFill>
                <a:latin typeface="Cambria" panose="02040503050406030204" pitchFamily="18" charset="0"/>
                <a:ea typeface="Cambria" panose="02040503050406030204" pitchFamily="18" charset="0"/>
              </a:rPr>
              <a:t>it represent </a:t>
            </a:r>
            <a:r>
              <a:rPr lang="en-US" dirty="0">
                <a:solidFill>
                  <a:srgbClr val="273239"/>
                </a:solidFill>
                <a:latin typeface="Cambria" panose="02040503050406030204" pitchFamily="18" charset="0"/>
                <a:ea typeface="Cambria" panose="02040503050406030204" pitchFamily="18" charset="0"/>
              </a:rPr>
              <a:t>relationships between nodes.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Properties: </a:t>
            </a:r>
            <a:r>
              <a:rPr lang="en-US" dirty="0">
                <a:solidFill>
                  <a:srgbClr val="273239"/>
                </a:solidFill>
                <a:latin typeface="Cambria" panose="02040503050406030204" pitchFamily="18" charset="0"/>
                <a:ea typeface="Cambria" panose="02040503050406030204" pitchFamily="18" charset="0"/>
              </a:rPr>
              <a:t>It represents information associated with nodes.</a:t>
            </a:r>
            <a:endParaRPr lang="en-US" b="0" i="0" dirty="0">
              <a:solidFill>
                <a:srgbClr val="273239"/>
              </a:solidFill>
              <a:effectLst/>
              <a:latin typeface="Cambria" panose="02040503050406030204" pitchFamily="18" charset="0"/>
              <a:ea typeface="Cambria" panose="02040503050406030204" pitchFamily="18" charset="0"/>
            </a:endParaRPr>
          </a:p>
        </p:txBody>
      </p:sp>
      <p:pic>
        <p:nvPicPr>
          <p:cNvPr id="1026" name="Picture 2" descr="Graph Based Data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0915" y="1626482"/>
            <a:ext cx="3277354" cy="381952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8762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Examples of Graph Data Models </a:t>
            </a:r>
            <a:r>
              <a:rPr lang="en-US" sz="2800" b="1" dirty="0" smtClean="0">
                <a:solidFill>
                  <a:srgbClr val="21295C"/>
                </a:solidFill>
                <a:latin typeface="Cambria" pitchFamily="34" charset="0"/>
                <a:ea typeface="Cambria" pitchFamily="34" charset="-122"/>
                <a:cs typeface="Cambria" pitchFamily="34" charset="-120"/>
              </a:rPr>
              <a:t>:</a:t>
            </a:r>
            <a:endParaRPr lang="en-US" sz="2800" b="1" dirty="0">
              <a:solidFill>
                <a:srgbClr val="21295C"/>
              </a:solidFill>
              <a:latin typeface="Cambria" pitchFamily="34" charset="0"/>
              <a:ea typeface="Cambria" pitchFamily="34" charset="-122"/>
              <a:cs typeface="Cambria" pitchFamily="34" charset="-120"/>
            </a:endParaRP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5909310"/>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err="1" smtClean="0">
                <a:solidFill>
                  <a:srgbClr val="273239"/>
                </a:solidFill>
                <a:latin typeface="Cambria" panose="02040503050406030204" pitchFamily="18" charset="0"/>
                <a:ea typeface="Cambria" panose="02040503050406030204" pitchFamily="18" charset="0"/>
              </a:rPr>
              <a:t>JanusGraph</a:t>
            </a:r>
            <a:r>
              <a:rPr lang="en-US" b="1" dirty="0" smtClean="0">
                <a:solidFill>
                  <a:srgbClr val="273239"/>
                </a:solidFill>
                <a:latin typeface="Cambria" panose="02040503050406030204" pitchFamily="18" charset="0"/>
                <a:ea typeface="Cambria" panose="02040503050406030204" pitchFamily="18" charset="0"/>
              </a:rPr>
              <a:t>: </a:t>
            </a:r>
            <a:r>
              <a:rPr lang="en-US" dirty="0" smtClean="0">
                <a:solidFill>
                  <a:srgbClr val="273239"/>
                </a:solidFill>
                <a:latin typeface="Cambria" panose="02040503050406030204" pitchFamily="18" charset="0"/>
                <a:ea typeface="Cambria" panose="02040503050406030204" pitchFamily="18" charset="0"/>
              </a:rPr>
              <a:t>It </a:t>
            </a:r>
            <a:r>
              <a:rPr lang="en-US" dirty="0">
                <a:solidFill>
                  <a:srgbClr val="273239"/>
                </a:solidFill>
                <a:latin typeface="Cambria" panose="02040503050406030204" pitchFamily="18" charset="0"/>
                <a:ea typeface="Cambria" panose="02040503050406030204" pitchFamily="18" charset="0"/>
              </a:rPr>
              <a:t>is a scalable graph database system open source too. </a:t>
            </a:r>
            <a:r>
              <a:rPr lang="en-US" dirty="0" err="1">
                <a:solidFill>
                  <a:srgbClr val="273239"/>
                </a:solidFill>
                <a:latin typeface="Cambria" panose="02040503050406030204" pitchFamily="18" charset="0"/>
                <a:ea typeface="Cambria" panose="02040503050406030204" pitchFamily="18" charset="0"/>
              </a:rPr>
              <a:t>JanusGraph</a:t>
            </a:r>
            <a:r>
              <a:rPr lang="en-US" dirty="0">
                <a:solidFill>
                  <a:srgbClr val="273239"/>
                </a:solidFill>
                <a:latin typeface="Cambria" panose="02040503050406030204" pitchFamily="18" charset="0"/>
                <a:ea typeface="Cambria" panose="02040503050406030204" pitchFamily="18" charset="0"/>
              </a:rPr>
              <a:t> has different features like:</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Storage: </a:t>
            </a:r>
            <a:r>
              <a:rPr lang="en-US" dirty="0">
                <a:solidFill>
                  <a:srgbClr val="273239"/>
                </a:solidFill>
                <a:latin typeface="Cambria" panose="02040503050406030204" pitchFamily="18" charset="0"/>
                <a:ea typeface="Cambria" panose="02040503050406030204" pitchFamily="18" charset="0"/>
              </a:rPr>
              <a:t>Many options are available for storing graph data like Cassandra.  </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Support for transactions</a:t>
            </a:r>
            <a:r>
              <a:rPr lang="en-US" dirty="0">
                <a:solidFill>
                  <a:srgbClr val="273239"/>
                </a:solidFill>
                <a:latin typeface="Cambria" panose="02040503050406030204" pitchFamily="18" charset="0"/>
                <a:ea typeface="Cambria" panose="02040503050406030204" pitchFamily="18" charset="0"/>
              </a:rPr>
              <a:t>: There are many supports available like ACID (Atomicity, Consistency, Isolation, and Durability) which can hold thousands of concurrent users.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Searching options</a:t>
            </a:r>
            <a:r>
              <a:rPr lang="en-US" dirty="0">
                <a:solidFill>
                  <a:srgbClr val="273239"/>
                </a:solidFill>
                <a:latin typeface="Cambria" panose="02040503050406030204" pitchFamily="18" charset="0"/>
                <a:ea typeface="Cambria" panose="02040503050406030204" pitchFamily="18" charset="0"/>
              </a:rPr>
              <a:t>: Complex searching options are available and optional support too.</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Neo4j: </a:t>
            </a:r>
            <a:r>
              <a:rPr lang="en-US" dirty="0">
                <a:solidFill>
                  <a:srgbClr val="273239"/>
                </a:solidFill>
                <a:latin typeface="Cambria" panose="02040503050406030204" pitchFamily="18" charset="0"/>
                <a:ea typeface="Cambria" panose="02040503050406030204" pitchFamily="18" charset="0"/>
              </a:rPr>
              <a:t>It stands for Network Exploration and Optimization 4 Java. As the name suggests this graph database is written in Java with native graph storage and processing. Neo4j has different features like:</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Scalable</a:t>
            </a:r>
            <a:r>
              <a:rPr lang="en-US" dirty="0">
                <a:solidFill>
                  <a:srgbClr val="273239"/>
                </a:solidFill>
                <a:latin typeface="Cambria" panose="02040503050406030204" pitchFamily="18" charset="0"/>
                <a:ea typeface="Cambria" panose="02040503050406030204" pitchFamily="18" charset="0"/>
              </a:rPr>
              <a:t>: Scalable through data partitioning into pieces known as shards.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Higher Availability</a:t>
            </a:r>
            <a:r>
              <a:rPr lang="en-US" dirty="0">
                <a:solidFill>
                  <a:srgbClr val="273239"/>
                </a:solidFill>
                <a:latin typeface="Cambria" panose="02040503050406030204" pitchFamily="18" charset="0"/>
                <a:ea typeface="Cambria" panose="02040503050406030204" pitchFamily="18" charset="0"/>
              </a:rPr>
              <a:t>: Availability is very much high due to continuous backups and rolling upgrades.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Query Language</a:t>
            </a:r>
            <a:r>
              <a:rPr lang="en-US" dirty="0">
                <a:solidFill>
                  <a:srgbClr val="273239"/>
                </a:solidFill>
                <a:latin typeface="Cambria" panose="02040503050406030204" pitchFamily="18" charset="0"/>
                <a:ea typeface="Cambria" panose="02040503050406030204" pitchFamily="18" charset="0"/>
              </a:rPr>
              <a:t>: Uses programmer-friendly query language Cypher graph query language</a:t>
            </a:r>
            <a:r>
              <a:rPr lang="en-US" dirty="0" smtClean="0">
                <a:solidFill>
                  <a:srgbClr val="273239"/>
                </a:solidFill>
                <a:latin typeface="Cambria" panose="02040503050406030204" pitchFamily="18" charset="0"/>
                <a:ea typeface="Cambria" panose="02040503050406030204" pitchFamily="18" charset="0"/>
              </a:rPr>
              <a:t>. </a:t>
            </a:r>
            <a:endParaRPr lang="en-US" dirty="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b="1" dirty="0" err="1">
                <a:solidFill>
                  <a:srgbClr val="273239"/>
                </a:solidFill>
                <a:latin typeface="Cambria" panose="02040503050406030204" pitchFamily="18" charset="0"/>
                <a:ea typeface="Cambria" panose="02040503050406030204" pitchFamily="18" charset="0"/>
              </a:rPr>
              <a:t>DGraph</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It is an open-source distributed graph database system designed with scalability</a:t>
            </a:r>
            <a:r>
              <a:rPr lang="en-US" dirty="0" smtClean="0">
                <a:solidFill>
                  <a:srgbClr val="273239"/>
                </a:solidFill>
                <a:latin typeface="Cambria" panose="02040503050406030204" pitchFamily="18" charset="0"/>
                <a:ea typeface="Cambria" panose="02040503050406030204" pitchFamily="18" charset="0"/>
              </a:rPr>
              <a:t>. </a:t>
            </a:r>
            <a:r>
              <a:rPr lang="en-US" dirty="0" err="1">
                <a:solidFill>
                  <a:srgbClr val="273239"/>
                </a:solidFill>
                <a:latin typeface="Cambria" panose="02040503050406030204" pitchFamily="18" charset="0"/>
                <a:ea typeface="Cambria" panose="02040503050406030204" pitchFamily="18" charset="0"/>
              </a:rPr>
              <a:t>DGraph</a:t>
            </a:r>
            <a:r>
              <a:rPr lang="en-US" dirty="0">
                <a:solidFill>
                  <a:srgbClr val="273239"/>
                </a:solidFill>
                <a:latin typeface="Cambria" panose="02040503050406030204" pitchFamily="18" charset="0"/>
                <a:ea typeface="Cambria" panose="02040503050406030204" pitchFamily="18" charset="0"/>
              </a:rPr>
              <a:t> main features are:</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Query Language</a:t>
            </a:r>
            <a:r>
              <a:rPr lang="en-US" dirty="0">
                <a:solidFill>
                  <a:srgbClr val="273239"/>
                </a:solidFill>
                <a:latin typeface="Cambria" panose="02040503050406030204" pitchFamily="18" charset="0"/>
                <a:ea typeface="Cambria" panose="02040503050406030204" pitchFamily="18" charset="0"/>
              </a:rPr>
              <a:t>: It uses </a:t>
            </a:r>
            <a:r>
              <a:rPr lang="en-US" dirty="0" err="1" smtClean="0">
                <a:solidFill>
                  <a:srgbClr val="273239"/>
                </a:solidFill>
                <a:latin typeface="Cambria" panose="02040503050406030204" pitchFamily="18" charset="0"/>
                <a:ea typeface="Cambria" panose="02040503050406030204" pitchFamily="18" charset="0"/>
              </a:rPr>
              <a:t>GraphQL</a:t>
            </a:r>
            <a:r>
              <a:rPr lang="en-US" dirty="0">
                <a:solidFill>
                  <a:srgbClr val="273239"/>
                </a:solidFill>
                <a:latin typeface="Cambria" panose="02040503050406030204" pitchFamily="18" charset="0"/>
                <a:ea typeface="Cambria" panose="02040503050406030204" pitchFamily="18" charset="0"/>
              </a:rPr>
              <a:t>, which is solely made for </a:t>
            </a:r>
            <a:r>
              <a:rPr lang="en-US" dirty="0" smtClean="0">
                <a:solidFill>
                  <a:srgbClr val="273239"/>
                </a:solidFill>
                <a:latin typeface="Cambria" panose="02040503050406030204" pitchFamily="18" charset="0"/>
                <a:ea typeface="Cambria" panose="02040503050406030204" pitchFamily="18" charset="0"/>
              </a:rPr>
              <a:t>APIs</a:t>
            </a:r>
            <a:r>
              <a:rPr lang="en-US" dirty="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Open-source </a:t>
            </a:r>
            <a:r>
              <a:rPr lang="en-US" b="1" dirty="0">
                <a:solidFill>
                  <a:srgbClr val="273239"/>
                </a:solidFill>
                <a:latin typeface="Cambria" panose="02040503050406030204" pitchFamily="18" charset="0"/>
                <a:ea typeface="Cambria" panose="02040503050406030204" pitchFamily="18" charset="0"/>
              </a:rPr>
              <a:t>system</a:t>
            </a:r>
            <a:r>
              <a:rPr lang="en-US" dirty="0">
                <a:solidFill>
                  <a:srgbClr val="273239"/>
                </a:solidFill>
                <a:latin typeface="Cambria" panose="02040503050406030204" pitchFamily="18" charset="0"/>
                <a:ea typeface="Cambria" panose="02040503050406030204" pitchFamily="18" charset="0"/>
              </a:rPr>
              <a:t>: support for many open standards.</a:t>
            </a:r>
            <a:endParaRPr lang="en-US"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989351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Graph </a:t>
            </a:r>
            <a:r>
              <a:rPr lang="en-US" sz="2800" b="1" dirty="0">
                <a:solidFill>
                  <a:srgbClr val="21295C"/>
                </a:solidFill>
                <a:latin typeface="Cambria" pitchFamily="34" charset="0"/>
                <a:ea typeface="Cambria" pitchFamily="34" charset="-122"/>
                <a:cs typeface="Cambria" pitchFamily="34" charset="-120"/>
              </a:rPr>
              <a:t>Data Models </a:t>
            </a:r>
            <a:r>
              <a:rPr lang="en-US" sz="2800" b="1" dirty="0" smtClean="0">
                <a:solidFill>
                  <a:srgbClr val="21295C"/>
                </a:solidFill>
                <a:latin typeface="Cambria" pitchFamily="34" charset="0"/>
                <a:ea typeface="Cambria" pitchFamily="34" charset="-122"/>
                <a:cs typeface="Cambria" pitchFamily="34" charset="-120"/>
              </a:rPr>
              <a:t>:</a:t>
            </a:r>
            <a:endParaRPr lang="en-US" sz="2800" b="1" dirty="0">
              <a:solidFill>
                <a:srgbClr val="21295C"/>
              </a:solidFill>
              <a:latin typeface="Cambria" pitchFamily="34" charset="0"/>
              <a:ea typeface="Cambria" pitchFamily="34" charset="-122"/>
              <a:cs typeface="Cambria" pitchFamily="34" charset="-120"/>
            </a:endParaRP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4195957"/>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Advantages of Graph Data Model :</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Structure: </a:t>
            </a:r>
            <a:r>
              <a:rPr lang="en-US" dirty="0">
                <a:solidFill>
                  <a:srgbClr val="273239"/>
                </a:solidFill>
                <a:latin typeface="Cambria" panose="02040503050406030204" pitchFamily="18" charset="0"/>
                <a:ea typeface="Cambria" panose="02040503050406030204" pitchFamily="18" charset="0"/>
              </a:rPr>
              <a:t>The structures are very agile and workable too</a:t>
            </a:r>
            <a:r>
              <a:rPr lang="en-US" b="1" dirty="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Explicit Representation: </a:t>
            </a:r>
            <a:r>
              <a:rPr lang="en-US" dirty="0">
                <a:solidFill>
                  <a:srgbClr val="273239"/>
                </a:solidFill>
                <a:latin typeface="Cambria" panose="02040503050406030204" pitchFamily="18" charset="0"/>
                <a:ea typeface="Cambria" panose="02040503050406030204" pitchFamily="18" charset="0"/>
              </a:rPr>
              <a:t>The portrayal of relationships between entities is explicit</a:t>
            </a:r>
            <a:r>
              <a:rPr lang="en-US" b="1" dirty="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Real-time O/P Results: </a:t>
            </a:r>
            <a:r>
              <a:rPr lang="en-US" dirty="0">
                <a:solidFill>
                  <a:srgbClr val="273239"/>
                </a:solidFill>
                <a:latin typeface="Cambria" panose="02040503050406030204" pitchFamily="18" charset="0"/>
                <a:ea typeface="Cambria" panose="02040503050406030204" pitchFamily="18" charset="0"/>
              </a:rPr>
              <a:t>Query gives us real-time output results. </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Disadvantages of Graph Data Model :</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No standard query language: </a:t>
            </a:r>
            <a:r>
              <a:rPr lang="en-US" dirty="0">
                <a:solidFill>
                  <a:srgbClr val="273239"/>
                </a:solidFill>
                <a:latin typeface="Cambria" panose="02040503050406030204" pitchFamily="18" charset="0"/>
                <a:ea typeface="Cambria" panose="02040503050406030204" pitchFamily="18" charset="0"/>
              </a:rPr>
              <a:t>Since the language depends on the platform that is used so there is no certain standard query language.</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Unprofessional Graphs: </a:t>
            </a:r>
            <a:r>
              <a:rPr lang="en-US" dirty="0">
                <a:solidFill>
                  <a:srgbClr val="273239"/>
                </a:solidFill>
                <a:latin typeface="Cambria" panose="02040503050406030204" pitchFamily="18" charset="0"/>
                <a:ea typeface="Cambria" panose="02040503050406030204" pitchFamily="18" charset="0"/>
              </a:rPr>
              <a:t>Graphs are very unprofessional for transactional-based systems.</a:t>
            </a:r>
          </a:p>
          <a:p>
            <a:pPr marL="742950" lvl="1"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Small User Base: </a:t>
            </a:r>
            <a:r>
              <a:rPr lang="en-US" dirty="0">
                <a:solidFill>
                  <a:srgbClr val="273239"/>
                </a:solidFill>
                <a:latin typeface="Cambria" panose="02040503050406030204" pitchFamily="18" charset="0"/>
                <a:ea typeface="Cambria" panose="02040503050406030204" pitchFamily="18" charset="0"/>
              </a:rPr>
              <a:t>The user base is small which makes it very difficult to get support when running into a system.</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53440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Indexing 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2169825"/>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Indexing in databases is a data structure technique used to speed up data retrieval operations by minimizing the number of disk accesses required to locate records</a:t>
            </a:r>
            <a:r>
              <a:rPr lang="en-US" dirty="0" smtClean="0">
                <a:solidFill>
                  <a:srgbClr val="273239"/>
                </a:solidFill>
                <a:latin typeface="Cambria" panose="02040503050406030204" pitchFamily="18" charset="0"/>
                <a:ea typeface="Cambria" panose="02040503050406030204" pitchFamily="18" charset="0"/>
              </a:rPr>
              <a:t>.</a:t>
            </a:r>
            <a:endParaRPr lang="en-US" dirty="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Stores copies of selected column (search key) values</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Maintains pointers to the actual data rows in the main table</a:t>
            </a:r>
          </a:p>
          <a:p>
            <a:pPr marL="742950" lvl="1"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Allows faster searching without scanning the entire table</a:t>
            </a:r>
            <a:endParaRPr lang="en-US" i="0" dirty="0">
              <a:solidFill>
                <a:srgbClr val="273239"/>
              </a:solidFill>
              <a:effectLst/>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3"/>
          <a:stretch>
            <a:fillRect/>
          </a:stretch>
        </p:blipFill>
        <p:spPr>
          <a:xfrm>
            <a:off x="2714625" y="3400425"/>
            <a:ext cx="6781800" cy="2628900"/>
          </a:xfrm>
          <a:prstGeom prst="rect">
            <a:avLst/>
          </a:prstGeom>
        </p:spPr>
      </p:pic>
    </p:spTree>
    <p:extLst>
      <p:ext uri="{BB962C8B-B14F-4D97-AF65-F5344CB8AC3E}">
        <p14:creationId xmlns:p14="http://schemas.microsoft.com/office/powerpoint/2010/main" val="10794474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Common Indexing Techniques </a:t>
            </a:r>
            <a:r>
              <a:rPr lang="en-US" sz="2800" b="1" dirty="0">
                <a:solidFill>
                  <a:srgbClr val="21295C"/>
                </a:solidFill>
                <a:latin typeface="Cambria" pitchFamily="34" charset="0"/>
                <a:ea typeface="Cambria" pitchFamily="34" charset="-122"/>
                <a:cs typeface="Cambria" pitchFamily="34" charset="-120"/>
              </a:rPr>
              <a:t>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549381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Single-Column Indexing: </a:t>
            </a:r>
            <a:r>
              <a:rPr lang="en-US" dirty="0">
                <a:solidFill>
                  <a:srgbClr val="273239"/>
                </a:solidFill>
                <a:latin typeface="Cambria" panose="02040503050406030204" pitchFamily="18" charset="0"/>
                <a:ea typeface="Cambria" panose="02040503050406030204" pitchFamily="18" charset="0"/>
              </a:rPr>
              <a:t>This works best for improving query speed when filtering or sorting by a single column. Creating an index on a particular column helps the database quickly find and fetch rows that match the values in that column. This method notably boosts the search speed for individual column values</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endParaRPr lang="en-US" i="0" dirty="0">
              <a:solidFill>
                <a:srgbClr val="273239"/>
              </a:solidFill>
              <a:effectLst/>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Composite Indexing: </a:t>
            </a:r>
            <a:r>
              <a:rPr lang="en-US" dirty="0">
                <a:solidFill>
                  <a:srgbClr val="273239"/>
                </a:solidFill>
                <a:latin typeface="Cambria" panose="02040503050406030204" pitchFamily="18" charset="0"/>
                <a:ea typeface="Cambria" panose="02040503050406030204" pitchFamily="18" charset="0"/>
              </a:rPr>
              <a:t>Composite indexing involves creating indexes on multiple columns. It proves particularly advantageous for queries that involve conditions referencing multiple columns simultaneously. By encompassing multiple columns within a single index, composite indexing enhances query efficiency, especially for complex queries requiring filtering or sorting based on multiple criteria</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endParaRPr lang="en-US" i="0" dirty="0">
              <a:solidFill>
                <a:srgbClr val="273239"/>
              </a:solidFill>
              <a:effectLst/>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Covering Indexes: </a:t>
            </a:r>
            <a:r>
              <a:rPr lang="en-US" dirty="0">
                <a:solidFill>
                  <a:srgbClr val="273239"/>
                </a:solidFill>
                <a:latin typeface="Cambria" panose="02040503050406030204" pitchFamily="18" charset="0"/>
                <a:ea typeface="Cambria" panose="02040503050406030204" pitchFamily="18" charset="0"/>
              </a:rPr>
              <a:t>Covering indexes are designed to fulfil query requirements without accessing table data. By including all the columns necessary to satisfy a query within the index itself, covering indexes expedite query execution. This technique eliminates the need for the database system to access the underlying table data, resulting in faster query processing.</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373856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smtClean="0">
                <a:solidFill>
                  <a:srgbClr val="21295C"/>
                </a:solidFill>
                <a:latin typeface="Cambria" pitchFamily="34" charset="0"/>
                <a:ea typeface="Cambria" pitchFamily="34" charset="-122"/>
                <a:cs typeface="Cambria" pitchFamily="34" charset="-120"/>
              </a:rPr>
              <a:t>Common Indexing Techniques </a:t>
            </a:r>
            <a:r>
              <a:rPr lang="en-US" sz="2800" b="1" dirty="0">
                <a:solidFill>
                  <a:srgbClr val="21295C"/>
                </a:solidFill>
                <a:latin typeface="Cambria" pitchFamily="34" charset="0"/>
                <a:ea typeface="Cambria" pitchFamily="34" charset="-122"/>
                <a:cs typeface="Cambria" pitchFamily="34" charset="-120"/>
              </a:rPr>
              <a:t>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5078313"/>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Clustered vs. Non-clustered Indexes: </a:t>
            </a:r>
            <a:r>
              <a:rPr lang="en-US" dirty="0">
                <a:solidFill>
                  <a:srgbClr val="273239"/>
                </a:solidFill>
                <a:latin typeface="Cambria" panose="02040503050406030204" pitchFamily="18" charset="0"/>
                <a:ea typeface="Cambria" panose="02040503050406030204" pitchFamily="18" charset="0"/>
              </a:rPr>
              <a:t>Clustered indexes determine the physical order of data within a table, affecting the arrangement of records. The actual data rows are ordered based on the clustered index key.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In </a:t>
            </a:r>
            <a:r>
              <a:rPr lang="en-US" dirty="0">
                <a:solidFill>
                  <a:srgbClr val="273239"/>
                </a:solidFill>
                <a:latin typeface="Cambria" panose="02040503050406030204" pitchFamily="18" charset="0"/>
                <a:ea typeface="Cambria" panose="02040503050406030204" pitchFamily="18" charset="0"/>
              </a:rPr>
              <a:t>contrast, non-clustered indexes are separate structures that reference the table data but do not dictate the physical order of the data. Non-clustered indexes contain pointers to the actual table rows, making them ideal for optimizing specific query types without altering the physical data arrangement</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endParaRPr lang="en-US" i="0" dirty="0">
              <a:solidFill>
                <a:srgbClr val="273239"/>
              </a:solidFill>
              <a:effectLst/>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Indexing Large Datasets (Partitioning and </a:t>
            </a:r>
            <a:r>
              <a:rPr lang="en-US" b="1" dirty="0" err="1">
                <a:solidFill>
                  <a:srgbClr val="273239"/>
                </a:solidFill>
                <a:latin typeface="Cambria" panose="02040503050406030204" pitchFamily="18" charset="0"/>
                <a:ea typeface="Cambria" panose="02040503050406030204" pitchFamily="18" charset="0"/>
              </a:rPr>
              <a:t>Sharding</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When dealing with extensive datasets, partitioning and </a:t>
            </a:r>
            <a:r>
              <a:rPr lang="en-US" dirty="0" err="1">
                <a:solidFill>
                  <a:srgbClr val="273239"/>
                </a:solidFill>
                <a:latin typeface="Cambria" panose="02040503050406030204" pitchFamily="18" charset="0"/>
                <a:ea typeface="Cambria" panose="02040503050406030204" pitchFamily="18" charset="0"/>
              </a:rPr>
              <a:t>sharding</a:t>
            </a:r>
            <a:r>
              <a:rPr lang="en-US" dirty="0">
                <a:solidFill>
                  <a:srgbClr val="273239"/>
                </a:solidFill>
                <a:latin typeface="Cambria" panose="02040503050406030204" pitchFamily="18" charset="0"/>
                <a:ea typeface="Cambria" panose="02040503050406030204" pitchFamily="18" charset="0"/>
              </a:rPr>
              <a:t> come into play to spread data across various storage locations or servers. Partitioning breaks down a large table into smaller, more manageable parts based on criteria like range, list, or hash functions. </a:t>
            </a:r>
            <a:endParaRPr lang="en-US" dirty="0" smtClean="0">
              <a:solidFill>
                <a:srgbClr val="273239"/>
              </a:solidFill>
              <a:latin typeface="Cambria" panose="02040503050406030204" pitchFamily="18" charset="0"/>
              <a:ea typeface="Cambria" panose="02040503050406030204" pitchFamily="18" charset="0"/>
            </a:endParaRPr>
          </a:p>
          <a:p>
            <a:pPr marL="285750"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On </a:t>
            </a:r>
            <a:r>
              <a:rPr lang="en-US" dirty="0">
                <a:solidFill>
                  <a:srgbClr val="273239"/>
                </a:solidFill>
                <a:latin typeface="Cambria" panose="02040503050406030204" pitchFamily="18" charset="0"/>
                <a:ea typeface="Cambria" panose="02040503050406030204" pitchFamily="18" charset="0"/>
              </a:rPr>
              <a:t>the other hand, </a:t>
            </a:r>
            <a:r>
              <a:rPr lang="en-US" dirty="0" err="1">
                <a:solidFill>
                  <a:srgbClr val="273239"/>
                </a:solidFill>
                <a:latin typeface="Cambria" panose="02040503050406030204" pitchFamily="18" charset="0"/>
                <a:ea typeface="Cambria" panose="02040503050406030204" pitchFamily="18" charset="0"/>
              </a:rPr>
              <a:t>sharding</a:t>
            </a:r>
            <a:r>
              <a:rPr lang="en-US" dirty="0">
                <a:solidFill>
                  <a:srgbClr val="273239"/>
                </a:solidFill>
                <a:latin typeface="Cambria" panose="02040503050406030204" pitchFamily="18" charset="0"/>
                <a:ea typeface="Cambria" panose="02040503050406030204" pitchFamily="18" charset="0"/>
              </a:rPr>
              <a:t> scatters data across multiple separate databases or servers. Both techniques enhance the efficiency of indexing and query speed by enabling queries to be processed simultaneously across distributed resources. This approach improves scalability and lessens the burden on individual database instances.</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58331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Advanced Indexing Techniques 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3416320"/>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Indexing for Joins and Aggregations: </a:t>
            </a:r>
            <a:endParaRPr lang="en-US" b="1" dirty="0" smtClean="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Optimizing </a:t>
            </a:r>
            <a:r>
              <a:rPr lang="en-US" dirty="0">
                <a:solidFill>
                  <a:srgbClr val="273239"/>
                </a:solidFill>
                <a:latin typeface="Cambria" panose="02040503050406030204" pitchFamily="18" charset="0"/>
                <a:ea typeface="Cambria" panose="02040503050406030204" pitchFamily="18" charset="0"/>
              </a:rPr>
              <a:t>index performance for join and aggregation operations involves utilizing various techniques</a:t>
            </a:r>
            <a:r>
              <a:rPr lang="en-US" dirty="0" smtClean="0">
                <a:solidFill>
                  <a:srgbClr val="273239"/>
                </a:solidFill>
                <a:latin typeface="Cambria" panose="02040503050406030204" pitchFamily="18" charset="0"/>
                <a:ea typeface="Cambria" panose="02040503050406030204" pitchFamily="18" charset="0"/>
              </a:rPr>
              <a:t>:</a:t>
            </a:r>
            <a:endParaRPr lang="en-US" dirty="0">
              <a:solidFill>
                <a:srgbClr val="273239"/>
              </a:solidFill>
              <a:latin typeface="Cambria" panose="02040503050406030204" pitchFamily="18" charset="0"/>
              <a:ea typeface="Cambria" panose="02040503050406030204" pitchFamily="18" charset="0"/>
            </a:endParaRPr>
          </a:p>
          <a:p>
            <a:pPr marL="1200150" lvl="2"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Covering Indexes: </a:t>
            </a:r>
            <a:r>
              <a:rPr lang="en-US" dirty="0">
                <a:solidFill>
                  <a:srgbClr val="273239"/>
                </a:solidFill>
                <a:latin typeface="Cambria" panose="02040503050406030204" pitchFamily="18" charset="0"/>
                <a:ea typeface="Cambria" panose="02040503050406030204" pitchFamily="18" charset="0"/>
              </a:rPr>
              <a:t>Creating indexes that cover all the columns needed for join and aggregation queries to eliminate the need for accessing the base table data.</a:t>
            </a:r>
          </a:p>
          <a:p>
            <a:pPr marL="1200150" lvl="2"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Materialized Views: </a:t>
            </a:r>
            <a:r>
              <a:rPr lang="en-US" dirty="0" err="1">
                <a:solidFill>
                  <a:srgbClr val="273239"/>
                </a:solidFill>
                <a:latin typeface="Cambria" panose="02040503050406030204" pitchFamily="18" charset="0"/>
                <a:ea typeface="Cambria" panose="02040503050406030204" pitchFamily="18" charset="0"/>
              </a:rPr>
              <a:t>Precomputing</a:t>
            </a:r>
            <a:r>
              <a:rPr lang="en-US" dirty="0">
                <a:solidFill>
                  <a:srgbClr val="273239"/>
                </a:solidFill>
                <a:latin typeface="Cambria" panose="02040503050406030204" pitchFamily="18" charset="0"/>
                <a:ea typeface="Cambria" panose="02040503050406030204" pitchFamily="18" charset="0"/>
              </a:rPr>
              <a:t> and storing the results of complex join or aggregation operations as materialized views to expedite query execution.</a:t>
            </a:r>
          </a:p>
          <a:p>
            <a:pPr marL="1200150" lvl="2" indent="-285750" algn="just" fontAlgn="base">
              <a:lnSpc>
                <a:spcPct val="150000"/>
              </a:lnSpc>
              <a:buFont typeface="Arial" panose="020B0604020202020204" pitchFamily="34" charset="0"/>
              <a:buChar char="•"/>
            </a:pPr>
            <a:r>
              <a:rPr lang="en-US" b="1" dirty="0" err="1">
                <a:solidFill>
                  <a:srgbClr val="273239"/>
                </a:solidFill>
                <a:latin typeface="Cambria" panose="02040503050406030204" pitchFamily="18" charset="0"/>
                <a:ea typeface="Cambria" panose="02040503050406030204" pitchFamily="18" charset="0"/>
              </a:rPr>
              <a:t>Denormalization</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Storing redundant data or aggregations within the database to reduce the need for joins or complex calculations during query execution, enhancing performance for specific use cases.</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818041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Advanced Indexing Techniques 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4247317"/>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Indexing in </a:t>
            </a:r>
            <a:r>
              <a:rPr lang="en-US" b="1" dirty="0" err="1">
                <a:solidFill>
                  <a:srgbClr val="273239"/>
                </a:solidFill>
                <a:latin typeface="Cambria" panose="02040503050406030204" pitchFamily="18" charset="0"/>
                <a:ea typeface="Cambria" panose="02040503050406030204" pitchFamily="18" charset="0"/>
              </a:rPr>
              <a:t>NoSQL</a:t>
            </a:r>
            <a:r>
              <a:rPr lang="en-US" b="1" dirty="0">
                <a:solidFill>
                  <a:srgbClr val="273239"/>
                </a:solidFill>
                <a:latin typeface="Cambria" panose="02040503050406030204" pitchFamily="18" charset="0"/>
                <a:ea typeface="Cambria" panose="02040503050406030204" pitchFamily="18" charset="0"/>
              </a:rPr>
              <a:t> and </a:t>
            </a:r>
            <a:r>
              <a:rPr lang="en-US" b="1" dirty="0" err="1">
                <a:solidFill>
                  <a:srgbClr val="273239"/>
                </a:solidFill>
                <a:latin typeface="Cambria" panose="02040503050406030204" pitchFamily="18" charset="0"/>
                <a:ea typeface="Cambria" panose="02040503050406030204" pitchFamily="18" charset="0"/>
              </a:rPr>
              <a:t>NewSQL</a:t>
            </a:r>
            <a:r>
              <a:rPr lang="en-US" b="1" dirty="0">
                <a:solidFill>
                  <a:srgbClr val="273239"/>
                </a:solidFill>
                <a:latin typeface="Cambria" panose="02040503050406030204" pitchFamily="18" charset="0"/>
                <a:ea typeface="Cambria" panose="02040503050406030204" pitchFamily="18" charset="0"/>
              </a:rPr>
              <a:t> Databases: </a:t>
            </a:r>
            <a:endParaRPr lang="en-US" b="1" dirty="0" smtClean="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In </a:t>
            </a:r>
            <a:r>
              <a:rPr lang="en-US" dirty="0" err="1">
                <a:solidFill>
                  <a:srgbClr val="273239"/>
                </a:solidFill>
                <a:latin typeface="Cambria" panose="02040503050406030204" pitchFamily="18" charset="0"/>
                <a:ea typeface="Cambria" panose="02040503050406030204" pitchFamily="18" charset="0"/>
              </a:rPr>
              <a:t>NoSQL</a:t>
            </a:r>
            <a:r>
              <a:rPr lang="en-US" dirty="0">
                <a:solidFill>
                  <a:srgbClr val="273239"/>
                </a:solidFill>
                <a:latin typeface="Cambria" panose="02040503050406030204" pitchFamily="18" charset="0"/>
                <a:ea typeface="Cambria" panose="02040503050406030204" pitchFamily="18" charset="0"/>
              </a:rPr>
              <a:t> and </a:t>
            </a:r>
            <a:r>
              <a:rPr lang="en-US" dirty="0" err="1">
                <a:solidFill>
                  <a:srgbClr val="273239"/>
                </a:solidFill>
                <a:latin typeface="Cambria" panose="02040503050406030204" pitchFamily="18" charset="0"/>
                <a:ea typeface="Cambria" panose="02040503050406030204" pitchFamily="18" charset="0"/>
              </a:rPr>
              <a:t>NewSQL</a:t>
            </a:r>
            <a:r>
              <a:rPr lang="en-US" dirty="0">
                <a:solidFill>
                  <a:srgbClr val="273239"/>
                </a:solidFill>
                <a:latin typeface="Cambria" panose="02040503050406030204" pitchFamily="18" charset="0"/>
                <a:ea typeface="Cambria" panose="02040503050406030204" pitchFamily="18" charset="0"/>
              </a:rPr>
              <a:t> databases, indexing strategies are tailored to the specific data models and query requirements</a:t>
            </a:r>
            <a:r>
              <a:rPr lang="en-US" dirty="0" smtClean="0">
                <a:solidFill>
                  <a:srgbClr val="273239"/>
                </a:solidFill>
                <a:latin typeface="Cambria" panose="02040503050406030204" pitchFamily="18" charset="0"/>
                <a:ea typeface="Cambria" panose="02040503050406030204" pitchFamily="18" charset="0"/>
              </a:rPr>
              <a:t>:</a:t>
            </a:r>
            <a:endParaRPr lang="en-US" dirty="0">
              <a:solidFill>
                <a:srgbClr val="273239"/>
              </a:solidFill>
              <a:latin typeface="Cambria" panose="02040503050406030204" pitchFamily="18" charset="0"/>
              <a:ea typeface="Cambria" panose="02040503050406030204" pitchFamily="18" charset="0"/>
            </a:endParaRPr>
          </a:p>
          <a:p>
            <a:pPr marL="1200150" lvl="2" indent="-285750" algn="just" fontAlgn="base">
              <a:lnSpc>
                <a:spcPct val="150000"/>
              </a:lnSpc>
              <a:buFont typeface="Arial" panose="020B0604020202020204" pitchFamily="34" charset="0"/>
              <a:buChar char="•"/>
            </a:pPr>
            <a:r>
              <a:rPr lang="en-US" b="1" dirty="0" err="1">
                <a:solidFill>
                  <a:srgbClr val="273239"/>
                </a:solidFill>
                <a:latin typeface="Cambria" panose="02040503050406030204" pitchFamily="18" charset="0"/>
                <a:ea typeface="Cambria" panose="02040503050406030204" pitchFamily="18" charset="0"/>
              </a:rPr>
              <a:t>NoSQL</a:t>
            </a:r>
            <a:r>
              <a:rPr lang="en-US" b="1" dirty="0">
                <a:solidFill>
                  <a:srgbClr val="273239"/>
                </a:solidFill>
                <a:latin typeface="Cambria" panose="02040503050406030204" pitchFamily="18" charset="0"/>
                <a:ea typeface="Cambria" panose="02040503050406030204" pitchFamily="18" charset="0"/>
              </a:rPr>
              <a:t> Databases: </a:t>
            </a:r>
            <a:r>
              <a:rPr lang="en-US" dirty="0">
                <a:solidFill>
                  <a:srgbClr val="273239"/>
                </a:solidFill>
                <a:latin typeface="Cambria" panose="02040503050406030204" pitchFamily="18" charset="0"/>
                <a:ea typeface="Cambria" panose="02040503050406030204" pitchFamily="18" charset="0"/>
              </a:rPr>
              <a:t>Indexes in </a:t>
            </a:r>
            <a:r>
              <a:rPr lang="en-US" dirty="0" err="1">
                <a:solidFill>
                  <a:srgbClr val="273239"/>
                </a:solidFill>
                <a:latin typeface="Cambria" panose="02040503050406030204" pitchFamily="18" charset="0"/>
                <a:ea typeface="Cambria" panose="02040503050406030204" pitchFamily="18" charset="0"/>
              </a:rPr>
              <a:t>NoSQL</a:t>
            </a:r>
            <a:r>
              <a:rPr lang="en-US" dirty="0">
                <a:solidFill>
                  <a:srgbClr val="273239"/>
                </a:solidFill>
                <a:latin typeface="Cambria" panose="02040503050406030204" pitchFamily="18" charset="0"/>
                <a:ea typeface="Cambria" panose="02040503050406030204" pitchFamily="18" charset="0"/>
              </a:rPr>
              <a:t> databases are designed to cater to flexible data structures, distributed architectures, and varied query patterns prevalent in these databases. Custom indexing techniques are employed to enhance flexibility, scalability, and performance.</a:t>
            </a:r>
          </a:p>
          <a:p>
            <a:pPr marL="1200150" lvl="2" indent="-285750" algn="just" fontAlgn="base">
              <a:lnSpc>
                <a:spcPct val="150000"/>
              </a:lnSpc>
              <a:buFont typeface="Arial" panose="020B0604020202020204" pitchFamily="34" charset="0"/>
              <a:buChar char="•"/>
            </a:pPr>
            <a:r>
              <a:rPr lang="en-US" b="1" dirty="0" err="1">
                <a:solidFill>
                  <a:srgbClr val="273239"/>
                </a:solidFill>
                <a:latin typeface="Cambria" panose="02040503050406030204" pitchFamily="18" charset="0"/>
                <a:ea typeface="Cambria" panose="02040503050406030204" pitchFamily="18" charset="0"/>
              </a:rPr>
              <a:t>NewSQL</a:t>
            </a:r>
            <a:r>
              <a:rPr lang="en-US" b="1" dirty="0">
                <a:solidFill>
                  <a:srgbClr val="273239"/>
                </a:solidFill>
                <a:latin typeface="Cambria" panose="02040503050406030204" pitchFamily="18" charset="0"/>
                <a:ea typeface="Cambria" panose="02040503050406030204" pitchFamily="18" charset="0"/>
              </a:rPr>
              <a:t> Databases (</a:t>
            </a:r>
            <a:r>
              <a:rPr lang="en-US" b="1" dirty="0" err="1">
                <a:solidFill>
                  <a:srgbClr val="273239"/>
                </a:solidFill>
                <a:latin typeface="Cambria" panose="02040503050406030204" pitchFamily="18" charset="0"/>
                <a:ea typeface="Cambria" panose="02040503050406030204" pitchFamily="18" charset="0"/>
              </a:rPr>
              <a:t>eg</a:t>
            </a:r>
            <a:r>
              <a:rPr lang="en-US" b="1" dirty="0">
                <a:solidFill>
                  <a:srgbClr val="273239"/>
                </a:solidFill>
                <a:latin typeface="Cambria" panose="02040503050406030204" pitchFamily="18" charset="0"/>
                <a:ea typeface="Cambria" panose="02040503050406030204" pitchFamily="18" charset="0"/>
              </a:rPr>
              <a:t>. </a:t>
            </a:r>
            <a:r>
              <a:rPr lang="en-US" b="1" dirty="0" err="1">
                <a:solidFill>
                  <a:srgbClr val="273239"/>
                </a:solidFill>
                <a:latin typeface="Cambria" panose="02040503050406030204" pitchFamily="18" charset="0"/>
                <a:ea typeface="Cambria" panose="02040503050406030204" pitchFamily="18" charset="0"/>
              </a:rPr>
              <a:t>CockroachDB</a:t>
            </a:r>
            <a:r>
              <a:rPr lang="en-US" b="1" dirty="0">
                <a:solidFill>
                  <a:srgbClr val="273239"/>
                </a:solidFill>
                <a:latin typeface="Cambria" panose="02040503050406030204" pitchFamily="18" charset="0"/>
                <a:ea typeface="Cambria" panose="02040503050406030204" pitchFamily="18" charset="0"/>
              </a:rPr>
              <a:t>, Google Spanner, </a:t>
            </a:r>
            <a:r>
              <a:rPr lang="en-US" b="1" dirty="0" err="1">
                <a:solidFill>
                  <a:srgbClr val="273239"/>
                </a:solidFill>
                <a:latin typeface="Cambria" panose="02040503050406030204" pitchFamily="18" charset="0"/>
                <a:ea typeface="Cambria" panose="02040503050406030204" pitchFamily="18" charset="0"/>
              </a:rPr>
              <a:t>VoltDB</a:t>
            </a:r>
            <a:r>
              <a:rPr lang="en-US" b="1" dirty="0">
                <a:solidFill>
                  <a:srgbClr val="273239"/>
                </a:solidFill>
                <a:latin typeface="Cambria" panose="02040503050406030204" pitchFamily="18" charset="0"/>
                <a:ea typeface="Cambria" panose="02040503050406030204" pitchFamily="18" charset="0"/>
              </a:rPr>
              <a:t>, etc.): </a:t>
            </a:r>
            <a:r>
              <a:rPr lang="en-US" dirty="0">
                <a:solidFill>
                  <a:srgbClr val="273239"/>
                </a:solidFill>
                <a:latin typeface="Cambria" panose="02040503050406030204" pitchFamily="18" charset="0"/>
                <a:ea typeface="Cambria" panose="02040503050406030204" pitchFamily="18" charset="0"/>
              </a:rPr>
              <a:t>These databases combine elements of traditional SQL databases with scalability features. Indexing strategies in </a:t>
            </a:r>
            <a:r>
              <a:rPr lang="en-US" dirty="0" err="1">
                <a:solidFill>
                  <a:srgbClr val="273239"/>
                </a:solidFill>
                <a:latin typeface="Cambria" panose="02040503050406030204" pitchFamily="18" charset="0"/>
                <a:ea typeface="Cambria" panose="02040503050406030204" pitchFamily="18" charset="0"/>
              </a:rPr>
              <a:t>NewSQL</a:t>
            </a:r>
            <a:r>
              <a:rPr lang="en-US" dirty="0">
                <a:solidFill>
                  <a:srgbClr val="273239"/>
                </a:solidFill>
                <a:latin typeface="Cambria" panose="02040503050406030204" pitchFamily="18" charset="0"/>
                <a:ea typeface="Cambria" panose="02040503050406030204" pitchFamily="18" charset="0"/>
              </a:rPr>
              <a:t> databases focus on maintaining ACID compliance while optimizing query performance for distributed environments.</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573840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Advanced Indexing Techniques in Databases</a:t>
            </a: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549381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Spatial Indexing for Geographic Data: </a:t>
            </a:r>
            <a:endParaRPr lang="en-US" b="1" dirty="0" smtClean="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Spatial </a:t>
            </a:r>
            <a:r>
              <a:rPr lang="en-US" dirty="0">
                <a:solidFill>
                  <a:srgbClr val="273239"/>
                </a:solidFill>
                <a:latin typeface="Cambria" panose="02040503050406030204" pitchFamily="18" charset="0"/>
                <a:ea typeface="Cambria" panose="02040503050406030204" pitchFamily="18" charset="0"/>
              </a:rPr>
              <a:t>indexing techniques cater specifically to geographic data, enabling efficient retrieval based on spatial relationships like proximity, containment, intersection, etc. Such techniques include</a:t>
            </a:r>
            <a:r>
              <a:rPr lang="en-US" dirty="0" smtClean="0">
                <a:solidFill>
                  <a:srgbClr val="273239"/>
                </a:solidFill>
                <a:latin typeface="Cambria" panose="02040503050406030204" pitchFamily="18" charset="0"/>
                <a:ea typeface="Cambria" panose="02040503050406030204" pitchFamily="18" charset="0"/>
              </a:rPr>
              <a:t>:</a:t>
            </a:r>
            <a:endParaRPr lang="en-US" dirty="0">
              <a:solidFill>
                <a:srgbClr val="273239"/>
              </a:solidFill>
              <a:latin typeface="Cambria" panose="02040503050406030204" pitchFamily="18" charset="0"/>
              <a:ea typeface="Cambria" panose="02040503050406030204" pitchFamily="18" charset="0"/>
            </a:endParaRPr>
          </a:p>
          <a:p>
            <a:pPr marL="1200150" lvl="2"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R-tree Indexes: </a:t>
            </a:r>
            <a:r>
              <a:rPr lang="en-US" dirty="0">
                <a:solidFill>
                  <a:srgbClr val="273239"/>
                </a:solidFill>
                <a:latin typeface="Cambria" panose="02040503050406030204" pitchFamily="18" charset="0"/>
                <a:ea typeface="Cambria" panose="02040503050406030204" pitchFamily="18" charset="0"/>
              </a:rPr>
              <a:t>Used for indexing multidimensional data, particularly useful for spatial data indexing.</a:t>
            </a:r>
          </a:p>
          <a:p>
            <a:pPr marL="1200150" lvl="2" indent="-285750" algn="just" fontAlgn="base">
              <a:lnSpc>
                <a:spcPct val="150000"/>
              </a:lnSpc>
              <a:buFont typeface="Arial" panose="020B0604020202020204" pitchFamily="34" charset="0"/>
              <a:buChar char="•"/>
            </a:pPr>
            <a:r>
              <a:rPr lang="en-US" b="1" dirty="0" err="1">
                <a:solidFill>
                  <a:srgbClr val="273239"/>
                </a:solidFill>
                <a:latin typeface="Cambria" panose="02040503050406030204" pitchFamily="18" charset="0"/>
                <a:ea typeface="Cambria" panose="02040503050406030204" pitchFamily="18" charset="0"/>
              </a:rPr>
              <a:t>Geohash</a:t>
            </a:r>
            <a:r>
              <a:rPr lang="en-US" b="1" dirty="0">
                <a:solidFill>
                  <a:srgbClr val="273239"/>
                </a:solidFill>
                <a:latin typeface="Cambria" panose="02040503050406030204" pitchFamily="18" charset="0"/>
                <a:ea typeface="Cambria" panose="02040503050406030204" pitchFamily="18" charset="0"/>
              </a:rPr>
              <a:t> Indexing: </a:t>
            </a:r>
            <a:r>
              <a:rPr lang="en-US" dirty="0">
                <a:solidFill>
                  <a:srgbClr val="273239"/>
                </a:solidFill>
                <a:latin typeface="Cambria" panose="02040503050406030204" pitchFamily="18" charset="0"/>
                <a:ea typeface="Cambria" panose="02040503050406030204" pitchFamily="18" charset="0"/>
              </a:rPr>
              <a:t>Encoding geographic coordinates into a string representation to generate indexes that facilitate proximity-based searches.</a:t>
            </a:r>
          </a:p>
          <a:p>
            <a:pPr marL="285750"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In-Memory </a:t>
            </a:r>
            <a:r>
              <a:rPr lang="en-US" b="1" dirty="0">
                <a:solidFill>
                  <a:srgbClr val="273239"/>
                </a:solidFill>
                <a:latin typeface="Cambria" panose="02040503050406030204" pitchFamily="18" charset="0"/>
                <a:ea typeface="Cambria" panose="02040503050406030204" pitchFamily="18" charset="0"/>
              </a:rPr>
              <a:t>Indexing: </a:t>
            </a:r>
            <a:endParaRPr lang="en-US" b="1" dirty="0" smtClean="0">
              <a:solidFill>
                <a:srgbClr val="273239"/>
              </a:solidFill>
              <a:latin typeface="Cambria" panose="02040503050406030204" pitchFamily="18" charset="0"/>
              <a:ea typeface="Cambria" panose="02040503050406030204" pitchFamily="18" charset="0"/>
            </a:endParaRPr>
          </a:p>
          <a:p>
            <a:pPr marL="742950" lvl="1" indent="-285750" algn="just" fontAlgn="base">
              <a:lnSpc>
                <a:spcPct val="150000"/>
              </a:lnSpc>
              <a:buFont typeface="Arial" panose="020B0604020202020204" pitchFamily="34" charset="0"/>
              <a:buChar char="•"/>
            </a:pPr>
            <a:r>
              <a:rPr lang="en-US" dirty="0" smtClean="0">
                <a:solidFill>
                  <a:srgbClr val="273239"/>
                </a:solidFill>
                <a:latin typeface="Cambria" panose="02040503050406030204" pitchFamily="18" charset="0"/>
                <a:ea typeface="Cambria" panose="02040503050406030204" pitchFamily="18" charset="0"/>
              </a:rPr>
              <a:t>In-memory </a:t>
            </a:r>
            <a:r>
              <a:rPr lang="en-US" dirty="0">
                <a:solidFill>
                  <a:srgbClr val="273239"/>
                </a:solidFill>
                <a:latin typeface="Cambria" panose="02040503050406030204" pitchFamily="18" charset="0"/>
                <a:ea typeface="Cambria" panose="02040503050406030204" pitchFamily="18" charset="0"/>
              </a:rPr>
              <a:t>databases store data primarily in RAM, necessitating specialized indexing techniques for optimal performance</a:t>
            </a:r>
            <a:r>
              <a:rPr lang="en-US" dirty="0" smtClean="0">
                <a:solidFill>
                  <a:srgbClr val="273239"/>
                </a:solidFill>
                <a:latin typeface="Cambria" panose="02040503050406030204" pitchFamily="18" charset="0"/>
                <a:ea typeface="Cambria" panose="02040503050406030204" pitchFamily="18" charset="0"/>
              </a:rPr>
              <a:t>:</a:t>
            </a:r>
            <a:endParaRPr lang="en-US" dirty="0">
              <a:solidFill>
                <a:srgbClr val="273239"/>
              </a:solidFill>
              <a:latin typeface="Cambria" panose="02040503050406030204" pitchFamily="18" charset="0"/>
              <a:ea typeface="Cambria" panose="02040503050406030204" pitchFamily="18" charset="0"/>
            </a:endParaRPr>
          </a:p>
          <a:p>
            <a:pPr marL="1200150" lvl="2"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Memory-Optimized Structures</a:t>
            </a:r>
            <a:r>
              <a:rPr lang="en-US" dirty="0">
                <a:solidFill>
                  <a:srgbClr val="273239"/>
                </a:solidFill>
                <a:latin typeface="Cambria" panose="02040503050406030204" pitchFamily="18" charset="0"/>
                <a:ea typeface="Cambria" panose="02040503050406030204" pitchFamily="18" charset="0"/>
              </a:rPr>
              <a:t>: Index structures designed to reside in memory rather than on disk to exploit the speed advantages of memory-resident data.</a:t>
            </a:r>
          </a:p>
          <a:p>
            <a:pPr marL="1200150" lvl="2"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Columnar Storage</a:t>
            </a:r>
            <a:r>
              <a:rPr lang="en-US" dirty="0">
                <a:solidFill>
                  <a:srgbClr val="273239"/>
                </a:solidFill>
                <a:latin typeface="Cambria" panose="02040503050406030204" pitchFamily="18" charset="0"/>
                <a:ea typeface="Cambria" panose="02040503050406030204" pitchFamily="18" charset="0"/>
              </a:rPr>
              <a:t>: Storing data in columns instead of rows to improve compression and access efficiency when dealing with in-memory databases.</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723184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Distributed </a:t>
            </a:r>
            <a:r>
              <a:rPr lang="en-US" sz="2800" b="1" dirty="0" smtClean="0">
                <a:solidFill>
                  <a:srgbClr val="21295C"/>
                </a:solidFill>
                <a:latin typeface="Cambria" pitchFamily="34" charset="0"/>
                <a:ea typeface="Cambria" pitchFamily="34" charset="-122"/>
                <a:cs typeface="Cambria" pitchFamily="34" charset="-120"/>
              </a:rPr>
              <a:t>Query Execution</a:t>
            </a:r>
            <a:endParaRPr lang="en-US" sz="2800" b="1" dirty="0">
              <a:solidFill>
                <a:srgbClr val="21295C"/>
              </a:solidFill>
              <a:latin typeface="Cambria" pitchFamily="34" charset="0"/>
              <a:ea typeface="Cambria" pitchFamily="34" charset="-122"/>
              <a:cs typeface="Cambria" pitchFamily="34" charset="-120"/>
            </a:endParaRP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3831818"/>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Distributed query execution breaks a single data request into smaller tasks. It runs these tasks across multiple computers at the same time. A coordinator node plans the work, sends sub-tasks to worker nodes, and joins the final results to speed up large data operations</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Key Steps in </a:t>
            </a:r>
            <a:r>
              <a:rPr lang="en-US" b="1" dirty="0" smtClean="0">
                <a:solidFill>
                  <a:srgbClr val="273239"/>
                </a:solidFill>
                <a:latin typeface="Cambria" panose="02040503050406030204" pitchFamily="18" charset="0"/>
                <a:ea typeface="Cambria" panose="02040503050406030204" pitchFamily="18" charset="0"/>
              </a:rPr>
              <a:t>Execution</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Parsing</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The system reads your query and checks it for errors</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Planning</a:t>
            </a:r>
            <a:r>
              <a:rPr lang="en-US" b="1" dirty="0">
                <a:solidFill>
                  <a:srgbClr val="273239"/>
                </a:solidFill>
                <a:latin typeface="Cambria" panose="02040503050406030204" pitchFamily="18" charset="0"/>
                <a:ea typeface="Cambria" panose="02040503050406030204" pitchFamily="18" charset="0"/>
              </a:rPr>
              <a:t>:</a:t>
            </a:r>
            <a:r>
              <a:rPr lang="en-US" dirty="0">
                <a:solidFill>
                  <a:srgbClr val="273239"/>
                </a:solidFill>
                <a:latin typeface="Cambria" panose="02040503050406030204" pitchFamily="18" charset="0"/>
                <a:ea typeface="Cambria" panose="02040503050406030204" pitchFamily="18" charset="0"/>
              </a:rPr>
              <a:t> An optimizer creates a map to find where data lives</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Splitting</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The plan breaks into small parts for different workers</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Running</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Each worker handles its local data slice at the same time</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Merging</a:t>
            </a:r>
            <a:r>
              <a:rPr lang="en-US" b="1" dirty="0">
                <a:solidFill>
                  <a:srgbClr val="273239"/>
                </a:solidFill>
                <a:latin typeface="Cambria" panose="02040503050406030204" pitchFamily="18" charset="0"/>
                <a:ea typeface="Cambria" panose="02040503050406030204" pitchFamily="18" charset="0"/>
              </a:rPr>
              <a:t>: </a:t>
            </a:r>
            <a:r>
              <a:rPr lang="en-US" dirty="0">
                <a:solidFill>
                  <a:srgbClr val="273239"/>
                </a:solidFill>
                <a:latin typeface="Cambria" panose="02040503050406030204" pitchFamily="18" charset="0"/>
                <a:ea typeface="Cambria" panose="02040503050406030204" pitchFamily="18" charset="0"/>
              </a:rPr>
              <a:t>The main node gathers partial outputs and builds the final result.</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239609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3890" y="357009"/>
            <a:ext cx="10515600" cy="640080"/>
          </a:xfrm>
          <a:prstGeom prst="rect">
            <a:avLst/>
          </a:prstGeom>
          <a:noFill/>
          <a:ln/>
        </p:spPr>
        <p:txBody>
          <a:bodyPr wrap="square" lIns="0" tIns="0" rIns="0" bIns="0" rtlCol="0" anchor="ctr"/>
          <a:lstStyle/>
          <a:p>
            <a:r>
              <a:rPr lang="en-US" sz="2800" b="1" dirty="0">
                <a:solidFill>
                  <a:srgbClr val="21295C"/>
                </a:solidFill>
                <a:latin typeface="Cambria" pitchFamily="34" charset="0"/>
                <a:ea typeface="Cambria" pitchFamily="34" charset="-122"/>
                <a:cs typeface="Cambria" pitchFamily="34" charset="-120"/>
              </a:rPr>
              <a:t>Storage Performance Optimization</a:t>
            </a:r>
            <a:endParaRPr lang="en-US" sz="2800" b="1" dirty="0">
              <a:solidFill>
                <a:srgbClr val="21295C"/>
              </a:solidFill>
              <a:latin typeface="Cambria" pitchFamily="34" charset="0"/>
              <a:ea typeface="Cambria" pitchFamily="34" charset="-122"/>
              <a:cs typeface="Cambria" pitchFamily="34" charset="-120"/>
            </a:endParaRPr>
          </a:p>
        </p:txBody>
      </p:sp>
      <p:sp>
        <p:nvSpPr>
          <p:cNvPr id="4" name="Rectangle 3"/>
          <p:cNvSpPr/>
          <p:nvPr/>
        </p:nvSpPr>
        <p:spPr>
          <a:xfrm>
            <a:off x="643890" y="997089"/>
            <a:ext cx="11292078" cy="456472"/>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p:txBody>
      </p:sp>
      <p:sp>
        <p:nvSpPr>
          <p:cNvPr id="7" name="Rectangle 6"/>
          <p:cNvSpPr/>
          <p:nvPr/>
        </p:nvSpPr>
        <p:spPr>
          <a:xfrm>
            <a:off x="463295" y="997089"/>
            <a:ext cx="11541599" cy="3831818"/>
          </a:xfrm>
          <a:prstGeom prst="rect">
            <a:avLst/>
          </a:prstGeom>
          <a:ln>
            <a:solidFill>
              <a:schemeClr val="bg1"/>
            </a:solidFill>
          </a:ln>
        </p:spPr>
        <p:txBody>
          <a:bodyPr wrap="square">
            <a:spAutoFit/>
          </a:bodyPr>
          <a:lstStyle/>
          <a:p>
            <a:pPr marL="285750" indent="-285750" algn="just" fontAlgn="base">
              <a:lnSpc>
                <a:spcPct val="150000"/>
              </a:lnSpc>
              <a:buFont typeface="Arial" panose="020B0604020202020204" pitchFamily="34" charset="0"/>
              <a:buChar char="•"/>
            </a:pPr>
            <a:r>
              <a:rPr lang="en-US" dirty="0">
                <a:solidFill>
                  <a:srgbClr val="273239"/>
                </a:solidFill>
                <a:latin typeface="Cambria" panose="02040503050406030204" pitchFamily="18" charset="0"/>
                <a:ea typeface="Cambria" panose="02040503050406030204" pitchFamily="18" charset="0"/>
              </a:rPr>
              <a:t>Storage performance optimization improves data access speed, reduces latency, and maximizes input/output operations per second (IOPS) through hardware upgrades, configuration tuning, and efficient data management strategies like compression and tiered storage</a:t>
            </a:r>
            <a:r>
              <a:rPr lang="en-US" dirty="0" smtClean="0">
                <a:solidFill>
                  <a:srgbClr val="273239"/>
                </a:solidFill>
                <a:latin typeface="Cambria" panose="02040503050406030204" pitchFamily="18" charset="0"/>
                <a:ea typeface="Cambria" panose="02040503050406030204" pitchFamily="18" charset="0"/>
              </a:rPr>
              <a:t>.</a:t>
            </a:r>
          </a:p>
          <a:p>
            <a:pPr marL="285750" indent="-285750" algn="just" fontAlgn="base">
              <a:lnSpc>
                <a:spcPct val="150000"/>
              </a:lnSpc>
              <a:buFont typeface="Arial" panose="020B0604020202020204" pitchFamily="34" charset="0"/>
              <a:buChar char="•"/>
            </a:pPr>
            <a:r>
              <a:rPr lang="en-US" b="1" dirty="0">
                <a:solidFill>
                  <a:srgbClr val="273239"/>
                </a:solidFill>
                <a:latin typeface="Cambria" panose="02040503050406030204" pitchFamily="18" charset="0"/>
                <a:ea typeface="Cambria" panose="02040503050406030204" pitchFamily="18" charset="0"/>
              </a:rPr>
              <a:t>Core Performance </a:t>
            </a:r>
            <a:r>
              <a:rPr lang="en-US" b="1" dirty="0" smtClean="0">
                <a:solidFill>
                  <a:srgbClr val="273239"/>
                </a:solidFill>
                <a:latin typeface="Cambria" panose="02040503050406030204" pitchFamily="18" charset="0"/>
                <a:ea typeface="Cambria" panose="02040503050406030204" pitchFamily="18" charset="0"/>
              </a:rPr>
              <a:t>Metrics</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IOPS</a:t>
            </a:r>
            <a:r>
              <a:rPr lang="en-US" dirty="0">
                <a:solidFill>
                  <a:srgbClr val="273239"/>
                </a:solidFill>
                <a:latin typeface="Cambria" panose="02040503050406030204" pitchFamily="18" charset="0"/>
                <a:ea typeface="Cambria" panose="02040503050406030204" pitchFamily="18" charset="0"/>
              </a:rPr>
              <a:t>: Measures input/output operations handled per second; vital for quick transactional data processing</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Throughput</a:t>
            </a:r>
            <a:r>
              <a:rPr lang="en-US" b="1" dirty="0">
                <a:solidFill>
                  <a:srgbClr val="273239"/>
                </a:solidFill>
                <a:latin typeface="Cambria" panose="02040503050406030204" pitchFamily="18" charset="0"/>
                <a:ea typeface="Cambria" panose="02040503050406030204" pitchFamily="18" charset="0"/>
              </a:rPr>
              <a:t>:</a:t>
            </a:r>
            <a:r>
              <a:rPr lang="en-US" dirty="0">
                <a:solidFill>
                  <a:srgbClr val="273239"/>
                </a:solidFill>
                <a:latin typeface="Cambria" panose="02040503050406030204" pitchFamily="18" charset="0"/>
                <a:ea typeface="Cambria" panose="02040503050406030204" pitchFamily="18" charset="0"/>
              </a:rPr>
              <a:t> Evaluates the volume of data transferred over a specific timeframe (often calculated via block size and IOPS</a:t>
            </a:r>
            <a:r>
              <a:rPr lang="en-US" dirty="0" smtClean="0">
                <a:solidFill>
                  <a:srgbClr val="273239"/>
                </a:solidFill>
                <a:latin typeface="Cambria" panose="02040503050406030204" pitchFamily="18" charset="0"/>
                <a:ea typeface="Cambria" panose="02040503050406030204" pitchFamily="18" charset="0"/>
              </a:rPr>
              <a:t>).</a:t>
            </a:r>
          </a:p>
          <a:p>
            <a:pPr marL="742950" lvl="1" indent="-285750" algn="just" fontAlgn="base">
              <a:lnSpc>
                <a:spcPct val="150000"/>
              </a:lnSpc>
              <a:buFont typeface="Arial" panose="020B0604020202020204" pitchFamily="34" charset="0"/>
              <a:buChar char="•"/>
            </a:pPr>
            <a:r>
              <a:rPr lang="en-US" b="1" dirty="0" smtClean="0">
                <a:solidFill>
                  <a:srgbClr val="273239"/>
                </a:solidFill>
                <a:latin typeface="Cambria" panose="02040503050406030204" pitchFamily="18" charset="0"/>
                <a:ea typeface="Cambria" panose="02040503050406030204" pitchFamily="18" charset="0"/>
              </a:rPr>
              <a:t>Latency</a:t>
            </a:r>
            <a:r>
              <a:rPr lang="en-US" b="1" dirty="0">
                <a:solidFill>
                  <a:srgbClr val="273239"/>
                </a:solidFill>
                <a:latin typeface="Cambria" panose="02040503050406030204" pitchFamily="18" charset="0"/>
                <a:ea typeface="Cambria" panose="02040503050406030204" pitchFamily="18" charset="0"/>
              </a:rPr>
              <a:t>:</a:t>
            </a:r>
            <a:r>
              <a:rPr lang="en-US" dirty="0">
                <a:solidFill>
                  <a:srgbClr val="273239"/>
                </a:solidFill>
                <a:latin typeface="Cambria" panose="02040503050406030204" pitchFamily="18" charset="0"/>
                <a:ea typeface="Cambria" panose="02040503050406030204" pitchFamily="18" charset="0"/>
              </a:rPr>
              <a:t> Quantifies the delay before a data transfer request executes; lower values mean faster application response.</a:t>
            </a:r>
            <a:endParaRPr lang="en-US"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10791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TotalTime>
  <Words>6753</Words>
  <Application>Microsoft Office PowerPoint</Application>
  <PresentationFormat>Widescreen</PresentationFormat>
  <Paragraphs>856</Paragraphs>
  <Slides>79</Slides>
  <Notes>78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79</vt:i4>
      </vt:variant>
    </vt:vector>
  </HeadingPairs>
  <TitlesOfParts>
    <vt:vector size="85" baseType="lpstr">
      <vt:lpstr>Arial</vt:lpstr>
      <vt:lpstr>Calibri</vt:lpstr>
      <vt:lpstr>Calibri Light</vt:lpstr>
      <vt:lpstr>Cambria</vt:lpstr>
      <vt:lpstr>Office Theme</vt:lpstr>
      <vt:lpstr>1_Office Theme</vt:lpstr>
      <vt:lpstr>Unit 2  Distributed Storage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Distributed Storage Systems</dc:title>
  <dc:creator>CHARUSAT</dc:creator>
  <cp:lastModifiedBy>CHARUSAT</cp:lastModifiedBy>
  <cp:revision>45</cp:revision>
  <dcterms:created xsi:type="dcterms:W3CDTF">2026-08-04T05:02:12Z</dcterms:created>
  <dcterms:modified xsi:type="dcterms:W3CDTF">2026-08-18T10:26:22Z</dcterms:modified>
</cp:coreProperties>
</file>