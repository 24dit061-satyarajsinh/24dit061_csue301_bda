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2.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embeddedFontLst>
    <p:embeddedFont>
      <p:font typeface="Calibri" panose="020F0502020204030204" pitchFamily="34" charset="0"/>
      <p:regular r:id="rId34"/>
      <p:bold r:id="rId35"/>
      <p:italic r:id="rId36"/>
      <p:boldItalic r:id="rId37"/>
    </p:embeddedFont>
    <p:embeddedFont>
      <p:font typeface="Google Sans" panose="020B060402020202020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KVbVF7Kqbag6/r1rZIJlpCxaE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200" b="0" i="0" u="none" strike="noStrike">
                <a:solidFill>
                  <a:srgbClr val="12294B"/>
                </a:solidFill>
                <a:latin typeface="Arial"/>
              </a:defRPr>
            </a:pPr>
            <a:r>
              <a:rPr lang="en-US" sz="1200" b="0" i="0" u="none" strike="noStrike">
                <a:solidFill>
                  <a:srgbClr val="12294B"/>
                </a:solidFill>
                <a:latin typeface="Arial"/>
              </a:rPr>
              <a:t>Theoretical Speed-Up vs Cluster Size</a:t>
            </a:r>
          </a:p>
        </c:rich>
      </c:tx>
      <c:layout/>
      <c:overlay val="0"/>
    </c:title>
    <c:autoTitleDeleted val="0"/>
    <c:plotArea>
      <c:layout/>
      <c:lineChart>
        <c:grouping val="standard"/>
        <c:varyColors val="0"/>
        <c:ser>
          <c:idx val="0"/>
          <c:order val="0"/>
          <c:tx>
            <c:strRef>
              <c:f>Sheet1!$B$1</c:f>
              <c:strCache>
                <c:ptCount val="1"/>
                <c:pt idx="0">
                  <c:v>P = 0.95 (95% parallelizable)</c:v>
                </c:pt>
              </c:strCache>
            </c:strRef>
          </c:tx>
          <c:spPr>
            <a:ln w="31750" cap="flat">
              <a:solidFill>
                <a:srgbClr val="D9A441"/>
              </a:solidFill>
              <a:prstDash val="solid"/>
              <a:round/>
            </a:ln>
            <a:effectLst/>
          </c:spPr>
          <c:marker>
            <c:symbol val="circle"/>
            <c:size val="5"/>
            <c:spPr>
              <a:solidFill>
                <a:srgbClr val="D9A441"/>
              </a:solidFill>
              <a:ln w="9525" cap="flat">
                <a:solidFill>
                  <a:srgbClr val="D9A441"/>
                </a:solidFill>
                <a:prstDash val="solid"/>
                <a:round/>
              </a:ln>
              <a:effectLst/>
            </c:spPr>
          </c:marker>
          <c:cat>
            <c:strRef>
              <c:f>Sheet1!$A$2:$A$10</c:f>
              <c:strCache>
                <c:ptCount val="9"/>
                <c:pt idx="0">
                  <c:v>1</c:v>
                </c:pt>
                <c:pt idx="1">
                  <c:v>2</c:v>
                </c:pt>
                <c:pt idx="2">
                  <c:v>4</c:v>
                </c:pt>
                <c:pt idx="3">
                  <c:v>8</c:v>
                </c:pt>
                <c:pt idx="4">
                  <c:v>16</c:v>
                </c:pt>
                <c:pt idx="5">
                  <c:v>32</c:v>
                </c:pt>
                <c:pt idx="6">
                  <c:v>64</c:v>
                </c:pt>
                <c:pt idx="7">
                  <c:v>128</c:v>
                </c:pt>
                <c:pt idx="8">
                  <c:v>256</c:v>
                </c:pt>
              </c:strCache>
            </c:strRef>
          </c:cat>
          <c:val>
            <c:numRef>
              <c:f>Sheet1!$B$2:$B$10</c:f>
              <c:numCache>
                <c:formatCode>General</c:formatCode>
                <c:ptCount val="9"/>
                <c:pt idx="0">
                  <c:v>1</c:v>
                </c:pt>
                <c:pt idx="1">
                  <c:v>1.9</c:v>
                </c:pt>
                <c:pt idx="2">
                  <c:v>3.48</c:v>
                </c:pt>
                <c:pt idx="3">
                  <c:v>5.93</c:v>
                </c:pt>
                <c:pt idx="4">
                  <c:v>9.14</c:v>
                </c:pt>
                <c:pt idx="5">
                  <c:v>12.55</c:v>
                </c:pt>
                <c:pt idx="6">
                  <c:v>15.42</c:v>
                </c:pt>
                <c:pt idx="7">
                  <c:v>17.41</c:v>
                </c:pt>
                <c:pt idx="8">
                  <c:v>18.62</c:v>
                </c:pt>
              </c:numCache>
            </c:numRef>
          </c:val>
          <c:smooth val="0"/>
          <c:extLst xmlns:c16r2="http://schemas.microsoft.com/office/drawing/2015/06/chart">
            <c:ext xmlns:c16="http://schemas.microsoft.com/office/drawing/2014/chart" uri="{C3380CC4-5D6E-409C-BE32-E72D297353CC}">
              <c16:uniqueId val="{00000000-3774-45D4-9BBC-4D0B166071DD}"/>
            </c:ext>
          </c:extLst>
        </c:ser>
        <c:ser>
          <c:idx val="1"/>
          <c:order val="1"/>
          <c:tx>
            <c:strRef>
              <c:f>Sheet1!$C$1</c:f>
              <c:strCache>
                <c:ptCount val="1"/>
                <c:pt idx="0">
                  <c:v>P = 0.75 (75% parallelizable)</c:v>
                </c:pt>
              </c:strCache>
            </c:strRef>
          </c:tx>
          <c:spPr>
            <a:ln w="31750" cap="flat">
              <a:solidFill>
                <a:srgbClr val="1B7A78"/>
              </a:solidFill>
              <a:prstDash val="solid"/>
              <a:round/>
            </a:ln>
            <a:effectLst/>
          </c:spPr>
          <c:marker>
            <c:symbol val="circle"/>
            <c:size val="5"/>
            <c:spPr>
              <a:solidFill>
                <a:srgbClr val="1B7A78"/>
              </a:solidFill>
              <a:ln w="9525" cap="flat">
                <a:solidFill>
                  <a:srgbClr val="1B7A78"/>
                </a:solidFill>
                <a:prstDash val="solid"/>
                <a:round/>
              </a:ln>
              <a:effectLst/>
            </c:spPr>
          </c:marker>
          <c:cat>
            <c:strRef>
              <c:f>Sheet1!$A$2:$A$10</c:f>
              <c:strCache>
                <c:ptCount val="9"/>
                <c:pt idx="0">
                  <c:v>1</c:v>
                </c:pt>
                <c:pt idx="1">
                  <c:v>2</c:v>
                </c:pt>
                <c:pt idx="2">
                  <c:v>4</c:v>
                </c:pt>
                <c:pt idx="3">
                  <c:v>8</c:v>
                </c:pt>
                <c:pt idx="4">
                  <c:v>16</c:v>
                </c:pt>
                <c:pt idx="5">
                  <c:v>32</c:v>
                </c:pt>
                <c:pt idx="6">
                  <c:v>64</c:v>
                </c:pt>
                <c:pt idx="7">
                  <c:v>128</c:v>
                </c:pt>
                <c:pt idx="8">
                  <c:v>256</c:v>
                </c:pt>
              </c:strCache>
            </c:strRef>
          </c:cat>
          <c:val>
            <c:numRef>
              <c:f>Sheet1!$C$2:$C$10</c:f>
              <c:numCache>
                <c:formatCode>General</c:formatCode>
                <c:ptCount val="9"/>
                <c:pt idx="0">
                  <c:v>1</c:v>
                </c:pt>
                <c:pt idx="1">
                  <c:v>1.6</c:v>
                </c:pt>
                <c:pt idx="2">
                  <c:v>2.29</c:v>
                </c:pt>
                <c:pt idx="3">
                  <c:v>2.91</c:v>
                </c:pt>
                <c:pt idx="4">
                  <c:v>3.37</c:v>
                </c:pt>
                <c:pt idx="5">
                  <c:v>3.66</c:v>
                </c:pt>
                <c:pt idx="6">
                  <c:v>3.82</c:v>
                </c:pt>
                <c:pt idx="7">
                  <c:v>3.91</c:v>
                </c:pt>
                <c:pt idx="8">
                  <c:v>3.95</c:v>
                </c:pt>
              </c:numCache>
            </c:numRef>
          </c:val>
          <c:smooth val="0"/>
          <c:extLst xmlns:c16r2="http://schemas.microsoft.com/office/drawing/2015/06/chart">
            <c:ext xmlns:c16="http://schemas.microsoft.com/office/drawing/2014/chart" uri="{C3380CC4-5D6E-409C-BE32-E72D297353CC}">
              <c16:uniqueId val="{00000001-3774-45D4-9BBC-4D0B166071DD}"/>
            </c:ext>
          </c:extLst>
        </c:ser>
        <c:dLbls>
          <c:showLegendKey val="0"/>
          <c:showVal val="0"/>
          <c:showCatName val="0"/>
          <c:showSerName val="0"/>
          <c:showPercent val="0"/>
          <c:showBubbleSize val="0"/>
        </c:dLbls>
        <c:marker val="1"/>
        <c:smooth val="0"/>
        <c:axId val="291140960"/>
        <c:axId val="291141352"/>
      </c:lineChart>
      <c:catAx>
        <c:axId val="29114096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A93A3"/>
                </a:solidFill>
                <a:latin typeface="Arial"/>
              </a:defRPr>
            </a:pPr>
            <a:endParaRPr lang="en-US"/>
          </a:p>
        </c:txPr>
        <c:crossAx val="291141352"/>
        <c:crosses val="autoZero"/>
        <c:auto val="1"/>
        <c:lblAlgn val="ctr"/>
        <c:lblOffset val="100"/>
        <c:noMultiLvlLbl val="1"/>
      </c:catAx>
      <c:valAx>
        <c:axId val="291141352"/>
        <c:scaling>
          <c:orientation val="minMax"/>
        </c:scaling>
        <c:delete val="0"/>
        <c:axPos val="l"/>
        <c:majorGridlines>
          <c:spPr>
            <a:ln w="12700" cap="flat">
              <a:solidFill>
                <a:srgbClr val="E5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3A3"/>
                </a:solidFill>
                <a:latin typeface="Arial"/>
              </a:defRPr>
            </a:pPr>
            <a:endParaRPr lang="en-US"/>
          </a:p>
        </c:txPr>
        <c:crossAx val="291140960"/>
        <c:crosses val="autoZero"/>
        <c:crossBetween val="between"/>
      </c:valAx>
      <c:spPr>
        <a:noFill/>
        <a:ln>
          <a:noFill/>
        </a:ln>
        <a:effectLst/>
      </c:spPr>
    </c:plotArea>
    <c:legend>
      <c:legendPos val="b"/>
      <c:layout/>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000" b="0" i="0" u="none" strike="noStrike">
                <a:solidFill>
                  <a:srgbClr val="12294B"/>
                </a:solidFill>
                <a:latin typeface="Arial"/>
              </a:defRPr>
            </a:pPr>
            <a:r>
              <a:rPr lang="en-IN" sz="1000" b="0" i="0" u="none" strike="noStrike">
                <a:solidFill>
                  <a:srgbClr val="12294B"/>
                </a:solidFill>
                <a:latin typeface="Arial"/>
              </a:rPr>
              <a:t>Market Size ($B)</a:t>
            </a:r>
          </a:p>
        </c:rich>
      </c:tx>
      <c:overlay val="0"/>
    </c:title>
    <c:autoTitleDeleted val="0"/>
    <c:plotArea>
      <c:layout/>
      <c:barChart>
        <c:barDir val="col"/>
        <c:grouping val="clustered"/>
        <c:varyColors val="0"/>
        <c:ser>
          <c:idx val="0"/>
          <c:order val="0"/>
          <c:tx>
            <c:strRef>
              <c:f>Sheet1!$B$1</c:f>
              <c:strCache>
                <c:ptCount val="1"/>
                <c:pt idx="0">
                  <c:v>Big-data analytics market ($B)</c:v>
                </c:pt>
              </c:strCache>
            </c:strRef>
          </c:tx>
          <c:spPr>
            <a:solidFill>
              <a:srgbClr val="1B7A78"/>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Sheet1!$A$2:$A$3</c:f>
              <c:strCache>
                <c:ptCount val="2"/>
                <c:pt idx="0">
                  <c:v>2025</c:v>
                </c:pt>
                <c:pt idx="1">
                  <c:v>2026</c:v>
                </c:pt>
              </c:strCache>
            </c:strRef>
          </c:cat>
          <c:val>
            <c:numRef>
              <c:f>Sheet1!$B$2:$B$3</c:f>
              <c:numCache>
                <c:formatCode>General</c:formatCode>
                <c:ptCount val="2"/>
                <c:pt idx="0">
                  <c:v>394.7</c:v>
                </c:pt>
                <c:pt idx="1">
                  <c:v>447.7</c:v>
                </c:pt>
              </c:numCache>
            </c:numRef>
          </c:val>
          <c:extLst xmlns:c16r2="http://schemas.microsoft.com/office/drawing/2015/06/chart">
            <c:ext xmlns:c16="http://schemas.microsoft.com/office/drawing/2014/chart" uri="{C3380CC4-5D6E-409C-BE32-E72D297353CC}">
              <c16:uniqueId val="{00000000-6373-4D57-854A-9DB9877205E6}"/>
            </c:ext>
          </c:extLst>
        </c:ser>
        <c:dLbls>
          <c:showLegendKey val="0"/>
          <c:showVal val="1"/>
          <c:showCatName val="0"/>
          <c:showSerName val="0"/>
          <c:showPercent val="0"/>
          <c:showBubbleSize val="0"/>
        </c:dLbls>
        <c:gapWidth val="150"/>
        <c:axId val="383672624"/>
        <c:axId val="383674192"/>
      </c:barChart>
      <c:catAx>
        <c:axId val="38367262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383674192"/>
        <c:crosses val="autoZero"/>
        <c:auto val="1"/>
        <c:lblAlgn val="ctr"/>
        <c:lblOffset val="100"/>
        <c:noMultiLvlLbl val="1"/>
      </c:catAx>
      <c:valAx>
        <c:axId val="383674192"/>
        <c:scaling>
          <c:orientation val="minMax"/>
        </c:scaling>
        <c:delete val="0"/>
        <c:axPos val="l"/>
        <c:majorGridlines>
          <c:spPr>
            <a:ln w="12700" cap="flat">
              <a:solidFill>
                <a:srgbClr val="E5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38367262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936595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
        <p:cNvGrpSpPr/>
        <p:nvPr/>
      </p:nvGrpSpPr>
      <p:grpSpPr>
        <a:xfrm>
          <a:off x="0" y="0"/>
          <a:ext cx="0" cy="0"/>
          <a:chOff x="0" y="0"/>
          <a:chExt cx="0" cy="0"/>
        </a:xfrm>
      </p:grpSpPr>
      <p:sp>
        <p:nvSpPr>
          <p:cNvPr id="10" name="Google Shape;10;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 name="Google Shape;11;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 name="Google Shape;12;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08828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4" name="Google Shape;54;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87932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5" name="Google Shape;85;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50864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41" name="Google Shape;141;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1678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2" name="Google Shape;172;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3" name="Google Shape;173;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99923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5" name="Google Shape;205;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86569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7" name="Google Shape;237;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8" name="Google Shape;238;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17832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0" name="Google Shape;270;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1" name="Google Shape;271;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63488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4" name="Google Shape;30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5" name="Google Shape;305;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43741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7" name="Google Shape;337;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8" name="Google Shape;338;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34414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72" name="Google Shape;372;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56417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0" name="Google Shape;420;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21" name="Google Shape;421;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4353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8" name="Google Shape;458;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9" name="Google Shape;459;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13</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148365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7" name="Google Shape;507;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08" name="Google Shape;508;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48382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0" name="Google Shape;54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41" name="Google Shape;541;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15</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923955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8" name="Google Shape;588;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89" name="Google Shape;589;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16</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806188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4" name="Google Shape;624;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5" name="Google Shape;625;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17</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8215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0" name="Google Shape;660;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61" name="Google Shape;661;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18</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46271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6" name="Google Shape;696;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97" name="Google Shape;697;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19</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38783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1" name="Google Shape;741;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42" name="Google Shape;742;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20</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07719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5" name="Google Shape;795;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96" name="Google Shape;796;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21</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45375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4" name="Google Shape;834;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35" name="Google Shape;835;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22</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13407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6" name="Google Shape;876;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77" name="Google Shape;877;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23</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850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2" name="Google Shape;932;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33" name="Google Shape;933;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24</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93225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1" name="Google Shape;981;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82" name="Google Shape;982;p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25</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59490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7" name="Google Shape;1017;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18" name="Google Shape;1018;p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26</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424983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3" name="Google Shape;1063;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64" name="Google Shape;1064;p2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27</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590487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5" name="Google Shape;1115;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16" name="Google Shape;1116;p2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28</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784445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1" name="Google Shape;1161;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62" name="Google Shape;1162;p2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29</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872593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p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3" name="Google Shape;1203;p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04" name="Google Shape;1204;p3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30</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407740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p3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2" name="Google Shape;1272;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73" name="Google Shape;1273;p3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31</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74653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32"/>
          <p:cNvPicPr preferRelativeResize="0"/>
          <p:nvPr/>
        </p:nvPicPr>
        <p:blipFill rotWithShape="1">
          <a:blip r:embed="rId3">
            <a:alphaModFix/>
          </a:blip>
          <a:srcRect/>
          <a:stretch/>
        </p:blipFill>
        <p:spPr>
          <a:xfrm>
            <a:off x="9802368" y="78346"/>
            <a:ext cx="2292096" cy="424574"/>
          </a:xfrm>
          <a:prstGeom prst="rect">
            <a:avLst/>
          </a:prstGeom>
          <a:noFill/>
          <a:ln>
            <a:noFill/>
          </a:ln>
        </p:spPr>
      </p:pic>
      <p:sp>
        <p:nvSpPr>
          <p:cNvPr id="7" name="Google Shape;7;p32"/>
          <p:cNvSpPr txBox="1"/>
          <p:nvPr/>
        </p:nvSpPr>
        <p:spPr>
          <a:xfrm>
            <a:off x="9039578" y="6503988"/>
            <a:ext cx="3817676" cy="3540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70C0"/>
              </a:buClr>
              <a:buSzPts val="1600"/>
              <a:buFont typeface="Arial"/>
              <a:buNone/>
            </a:pPr>
            <a:r>
              <a:rPr lang="en-US" sz="1600" b="1" i="0" u="none" strike="noStrike" cap="none">
                <a:solidFill>
                  <a:srgbClr val="0070C0"/>
                </a:solidFill>
                <a:latin typeface="Calibri"/>
                <a:ea typeface="Calibri"/>
                <a:cs typeface="Calibri"/>
                <a:sym typeface="Calibri"/>
              </a:rPr>
              <a:t>Prepared by:- Course Coordinators</a:t>
            </a:r>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
        <p:cNvGrpSpPr/>
        <p:nvPr/>
      </p:nvGrpSpPr>
      <p:grpSpPr>
        <a:xfrm>
          <a:off x="0" y="0"/>
          <a:ext cx="0" cy="0"/>
          <a:chOff x="0" y="0"/>
          <a:chExt cx="0" cy="0"/>
        </a:xfrm>
      </p:grpSpPr>
      <p:sp>
        <p:nvSpPr>
          <p:cNvPr id="14" name="Google Shape;14;p1"/>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200"/>
              <a:buFont typeface="Calibri"/>
              <a:buNone/>
            </a:pPr>
            <a:r>
              <a:rPr lang="en-US" sz="1200" b="1" i="0" u="none" strike="noStrike" cap="none">
                <a:solidFill>
                  <a:schemeClr val="dk1"/>
                </a:solidFill>
                <a:latin typeface="Calibri"/>
                <a:ea typeface="Calibri"/>
                <a:cs typeface="Calibri"/>
                <a:sym typeface="Calibri"/>
              </a:rPr>
              <a:t>UNIT 3</a:t>
            </a:r>
            <a:endParaRPr sz="1200" b="0" i="0" u="none" strike="noStrike" cap="none">
              <a:solidFill>
                <a:schemeClr val="dk1"/>
              </a:solidFill>
              <a:latin typeface="Calibri"/>
              <a:ea typeface="Calibri"/>
              <a:cs typeface="Calibri"/>
              <a:sym typeface="Calibri"/>
            </a:endParaRPr>
          </a:p>
        </p:txBody>
      </p:sp>
      <p:sp>
        <p:nvSpPr>
          <p:cNvPr id="15" name="Google Shape;15;p1"/>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chemeClr val="dk1"/>
              </a:buClr>
              <a:buSzPts val="1250"/>
              <a:buFont typeface="Calibri"/>
              <a:buNone/>
            </a:pPr>
            <a:r>
              <a:rPr lang="en-US" sz="1250" b="1" i="0" u="none" strike="noStrike" cap="none">
                <a:solidFill>
                  <a:schemeClr val="dk1"/>
                </a:solidFill>
                <a:latin typeface="Calibri"/>
                <a:ea typeface="Calibri"/>
                <a:cs typeface="Calibri"/>
                <a:sym typeface="Calibri"/>
              </a:rPr>
              <a:t>Parallel &amp; Distributed</a:t>
            </a:r>
            <a:endParaRPr sz="125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chemeClr val="dk1"/>
              </a:buClr>
              <a:buSzPts val="1250"/>
              <a:buFont typeface="Calibri"/>
              <a:buNone/>
            </a:pPr>
            <a:r>
              <a:rPr lang="en-US" sz="1250" b="1" i="0" u="none" strike="noStrike" cap="none">
                <a:solidFill>
                  <a:schemeClr val="dk1"/>
                </a:solidFill>
                <a:latin typeface="Calibri"/>
                <a:ea typeface="Calibri"/>
                <a:cs typeface="Calibri"/>
                <a:sym typeface="Calibri"/>
              </a:rPr>
              <a:t>Data Processing</a:t>
            </a:r>
            <a:endParaRPr sz="1250" b="0" i="0" u="none" strike="noStrike" cap="none">
              <a:solidFill>
                <a:schemeClr val="dk1"/>
              </a:solidFill>
              <a:latin typeface="Calibri"/>
              <a:ea typeface="Calibri"/>
              <a:cs typeface="Calibri"/>
              <a:sym typeface="Calibri"/>
            </a:endParaRPr>
          </a:p>
        </p:txBody>
      </p:sp>
      <p:cxnSp>
        <p:nvCxnSpPr>
          <p:cNvPr id="16" name="Google Shape;16;p1"/>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17" name="Google Shape;17;p1"/>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3.1</a:t>
            </a:r>
            <a:endParaRPr sz="1600" b="1" i="0" u="none" strike="noStrike" cap="none">
              <a:solidFill>
                <a:schemeClr val="dk1"/>
              </a:solidFill>
              <a:latin typeface="Calibri"/>
              <a:ea typeface="Calibri"/>
              <a:cs typeface="Calibri"/>
              <a:sym typeface="Calibri"/>
            </a:endParaRPr>
          </a:p>
        </p:txBody>
      </p:sp>
      <p:sp>
        <p:nvSpPr>
          <p:cNvPr id="18" name="Google Shape;18;p1"/>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Parallelism &amp; its Types</a:t>
            </a:r>
            <a:endParaRPr sz="1400" b="1" i="0" u="none" strike="noStrike" cap="none">
              <a:solidFill>
                <a:schemeClr val="dk1"/>
              </a:solidFill>
              <a:latin typeface="Calibri"/>
              <a:ea typeface="Calibri"/>
              <a:cs typeface="Calibri"/>
              <a:sym typeface="Calibri"/>
            </a:endParaRPr>
          </a:p>
        </p:txBody>
      </p:sp>
      <p:sp>
        <p:nvSpPr>
          <p:cNvPr id="19" name="Google Shape;19;p1"/>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3.2</a:t>
            </a:r>
            <a:endParaRPr sz="1600" b="1" i="0" u="none" strike="noStrike" cap="none">
              <a:solidFill>
                <a:schemeClr val="dk1"/>
              </a:solidFill>
              <a:latin typeface="Calibri"/>
              <a:ea typeface="Calibri"/>
              <a:cs typeface="Calibri"/>
              <a:sym typeface="Calibri"/>
            </a:endParaRPr>
          </a:p>
        </p:txBody>
      </p:sp>
      <p:sp>
        <p:nvSpPr>
          <p:cNvPr id="20" name="Google Shape;20;p1"/>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Data Partitioning</a:t>
            </a:r>
            <a:endParaRPr sz="1400" b="1" i="0" u="none" strike="noStrike" cap="none">
              <a:solidFill>
                <a:schemeClr val="dk1"/>
              </a:solidFill>
              <a:latin typeface="Calibri"/>
              <a:ea typeface="Calibri"/>
              <a:cs typeface="Calibri"/>
              <a:sym typeface="Calibri"/>
            </a:endParaRPr>
          </a:p>
        </p:txBody>
      </p:sp>
      <p:sp>
        <p:nvSpPr>
          <p:cNvPr id="21" name="Google Shape;21;p1"/>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3.3</a:t>
            </a:r>
            <a:endParaRPr sz="1600" b="1" i="0" u="none" strike="noStrike" cap="none">
              <a:solidFill>
                <a:schemeClr val="dk1"/>
              </a:solidFill>
              <a:latin typeface="Calibri"/>
              <a:ea typeface="Calibri"/>
              <a:cs typeface="Calibri"/>
              <a:sym typeface="Calibri"/>
            </a:endParaRPr>
          </a:p>
        </p:txBody>
      </p:sp>
      <p:sp>
        <p:nvSpPr>
          <p:cNvPr id="22" name="Google Shape;22;p1"/>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Data Processing Ops</a:t>
            </a:r>
            <a:endParaRPr sz="1400" b="1" i="0" u="none" strike="noStrike" cap="none">
              <a:solidFill>
                <a:schemeClr val="dk1"/>
              </a:solidFill>
              <a:latin typeface="Calibri"/>
              <a:ea typeface="Calibri"/>
              <a:cs typeface="Calibri"/>
              <a:sym typeface="Calibri"/>
            </a:endParaRPr>
          </a:p>
        </p:txBody>
      </p:sp>
      <p:sp>
        <p:nvSpPr>
          <p:cNvPr id="23" name="Google Shape;23;p1"/>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3.4</a:t>
            </a:r>
            <a:endParaRPr sz="1600" b="1" i="0" u="none" strike="noStrike" cap="none">
              <a:solidFill>
                <a:schemeClr val="dk1"/>
              </a:solidFill>
              <a:latin typeface="Calibri"/>
              <a:ea typeface="Calibri"/>
              <a:cs typeface="Calibri"/>
              <a:sym typeface="Calibri"/>
            </a:endParaRPr>
          </a:p>
        </p:txBody>
      </p:sp>
      <p:sp>
        <p:nvSpPr>
          <p:cNvPr id="24" name="Google Shape;24;p1"/>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Query Optimization</a:t>
            </a:r>
            <a:endParaRPr sz="1400" b="1" i="0" u="none" strike="noStrike" cap="none">
              <a:solidFill>
                <a:schemeClr val="dk1"/>
              </a:solidFill>
              <a:latin typeface="Calibri"/>
              <a:ea typeface="Calibri"/>
              <a:cs typeface="Calibri"/>
              <a:sym typeface="Calibri"/>
            </a:endParaRPr>
          </a:p>
        </p:txBody>
      </p:sp>
      <p:sp>
        <p:nvSpPr>
          <p:cNvPr id="25" name="Google Shape;25;p1"/>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3.5</a:t>
            </a:r>
            <a:endParaRPr sz="1600" b="1" i="0" u="none" strike="noStrike" cap="none">
              <a:solidFill>
                <a:schemeClr val="dk1"/>
              </a:solidFill>
              <a:latin typeface="Calibri"/>
              <a:ea typeface="Calibri"/>
              <a:cs typeface="Calibri"/>
              <a:sym typeface="Calibri"/>
            </a:endParaRPr>
          </a:p>
        </p:txBody>
      </p:sp>
      <p:sp>
        <p:nvSpPr>
          <p:cNvPr id="26" name="Google Shape;26;p1"/>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Cluster Resource Mgmt</a:t>
            </a:r>
            <a:endParaRPr sz="1400" b="1" i="0" u="none" strike="noStrike" cap="none">
              <a:solidFill>
                <a:schemeClr val="dk1"/>
              </a:solidFill>
              <a:latin typeface="Calibri"/>
              <a:ea typeface="Calibri"/>
              <a:cs typeface="Calibri"/>
              <a:sym typeface="Calibri"/>
            </a:endParaRPr>
          </a:p>
        </p:txBody>
      </p:sp>
      <p:sp>
        <p:nvSpPr>
          <p:cNvPr id="27" name="Google Shape;27;p1"/>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3.6</a:t>
            </a:r>
            <a:endParaRPr sz="1600" b="1" i="0" u="none" strike="noStrike" cap="none">
              <a:solidFill>
                <a:schemeClr val="dk1"/>
              </a:solidFill>
              <a:latin typeface="Calibri"/>
              <a:ea typeface="Calibri"/>
              <a:cs typeface="Calibri"/>
              <a:sym typeface="Calibri"/>
            </a:endParaRPr>
          </a:p>
        </p:txBody>
      </p:sp>
      <p:sp>
        <p:nvSpPr>
          <p:cNvPr id="28" name="Google Shape;28;p1"/>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Load Balancing</a:t>
            </a:r>
            <a:endParaRPr sz="1400" b="1" i="0" u="none" strike="noStrike" cap="none">
              <a:solidFill>
                <a:schemeClr val="dk1"/>
              </a:solidFill>
              <a:latin typeface="Calibri"/>
              <a:ea typeface="Calibri"/>
              <a:cs typeface="Calibri"/>
              <a:sym typeface="Calibri"/>
            </a:endParaRPr>
          </a:p>
        </p:txBody>
      </p:sp>
      <p:sp>
        <p:nvSpPr>
          <p:cNvPr id="29" name="Google Shape;29;p1"/>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3.7</a:t>
            </a:r>
            <a:endParaRPr sz="1600" b="1" i="0" u="none" strike="noStrike" cap="none">
              <a:solidFill>
                <a:schemeClr val="dk1"/>
              </a:solidFill>
              <a:latin typeface="Calibri"/>
              <a:ea typeface="Calibri"/>
              <a:cs typeface="Calibri"/>
              <a:sym typeface="Calibri"/>
            </a:endParaRPr>
          </a:p>
        </p:txBody>
      </p:sp>
      <p:sp>
        <p:nvSpPr>
          <p:cNvPr id="30" name="Google Shape;30;p1"/>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Fault Tolerance</a:t>
            </a:r>
            <a:endParaRPr sz="1400" b="1" i="0" u="none" strike="noStrike" cap="none">
              <a:solidFill>
                <a:schemeClr val="dk1"/>
              </a:solidFill>
              <a:latin typeface="Calibri"/>
              <a:ea typeface="Calibri"/>
              <a:cs typeface="Calibri"/>
              <a:sym typeface="Calibri"/>
            </a:endParaRPr>
          </a:p>
        </p:txBody>
      </p:sp>
      <p:sp>
        <p:nvSpPr>
          <p:cNvPr id="31" name="Google Shape;31;p1"/>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3.8</a:t>
            </a:r>
            <a:endParaRPr sz="1600" b="1" i="0" u="none" strike="noStrike" cap="none">
              <a:solidFill>
                <a:schemeClr val="dk1"/>
              </a:solidFill>
              <a:latin typeface="Calibri"/>
              <a:ea typeface="Calibri"/>
              <a:cs typeface="Calibri"/>
              <a:sym typeface="Calibri"/>
            </a:endParaRPr>
          </a:p>
        </p:txBody>
      </p:sp>
      <p:sp>
        <p:nvSpPr>
          <p:cNvPr id="32" name="Google Shape;32;p1"/>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Case Studies</a:t>
            </a:r>
            <a:endParaRPr sz="1400" b="1" i="0" u="none" strike="noStrike" cap="none">
              <a:solidFill>
                <a:schemeClr val="dk1"/>
              </a:solidFill>
              <a:latin typeface="Calibri"/>
              <a:ea typeface="Calibri"/>
              <a:cs typeface="Calibri"/>
              <a:sym typeface="Calibri"/>
            </a:endParaRPr>
          </a:p>
        </p:txBody>
      </p:sp>
      <p:sp>
        <p:nvSpPr>
          <p:cNvPr id="33" name="Google Shape;33;p1"/>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3.9</a:t>
            </a:r>
            <a:endParaRPr sz="1600" b="1" i="0" u="none" strike="noStrike" cap="none">
              <a:solidFill>
                <a:schemeClr val="dk1"/>
              </a:solidFill>
              <a:latin typeface="Calibri"/>
              <a:ea typeface="Calibri"/>
              <a:cs typeface="Calibri"/>
              <a:sym typeface="Calibri"/>
            </a:endParaRPr>
          </a:p>
        </p:txBody>
      </p:sp>
      <p:sp>
        <p:nvSpPr>
          <p:cNvPr id="34" name="Google Shape;34;p1"/>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Summary &amp; Review</a:t>
            </a:r>
            <a:endParaRPr sz="1400" b="1" i="0" u="none" strike="noStrike" cap="none">
              <a:solidFill>
                <a:schemeClr val="dk1"/>
              </a:solidFill>
              <a:latin typeface="Calibri"/>
              <a:ea typeface="Calibri"/>
              <a:cs typeface="Calibri"/>
              <a:sym typeface="Calibri"/>
            </a:endParaRPr>
          </a:p>
        </p:txBody>
      </p:sp>
      <p:sp>
        <p:nvSpPr>
          <p:cNvPr id="35" name="Google Shape;35;p1"/>
          <p:cNvSpPr/>
          <p:nvPr/>
        </p:nvSpPr>
        <p:spPr>
          <a:xfrm>
            <a:off x="2763118" y="182880"/>
            <a:ext cx="8991295"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CSUE301  ·  BIG DATA ANALYTICS</a:t>
            </a:r>
            <a:endParaRPr sz="1800" b="0" i="0" u="none" strike="noStrike" cap="none">
              <a:solidFill>
                <a:schemeClr val="dk1"/>
              </a:solidFill>
              <a:latin typeface="Calibri"/>
              <a:ea typeface="Calibri"/>
              <a:cs typeface="Calibri"/>
              <a:sym typeface="Calibri"/>
            </a:endParaRPr>
          </a:p>
        </p:txBody>
      </p:sp>
      <p:sp>
        <p:nvSpPr>
          <p:cNvPr id="36" name="Google Shape;36;p1"/>
          <p:cNvSpPr/>
          <p:nvPr/>
        </p:nvSpPr>
        <p:spPr>
          <a:xfrm>
            <a:off x="2784887" y="949290"/>
            <a:ext cx="9238183"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chemeClr val="dk1"/>
              </a:buClr>
              <a:buSzPts val="4000"/>
              <a:buFont typeface="Calibri"/>
              <a:buNone/>
            </a:pPr>
            <a:r>
              <a:rPr lang="en-US" sz="4000" b="1" i="0" u="none" strike="noStrike" cap="none">
                <a:solidFill>
                  <a:schemeClr val="dk1"/>
                </a:solidFill>
                <a:latin typeface="Calibri"/>
                <a:ea typeface="Calibri"/>
                <a:cs typeface="Calibri"/>
                <a:sym typeface="Calibri"/>
              </a:rPr>
              <a:t>Parallel and Distributed Data Processing</a:t>
            </a:r>
            <a:endParaRPr sz="4000" b="0" i="0" u="none" strike="noStrike" cap="none">
              <a:solidFill>
                <a:schemeClr val="dk1"/>
              </a:solidFill>
              <a:latin typeface="Calibri"/>
              <a:ea typeface="Calibri"/>
              <a:cs typeface="Calibri"/>
              <a:sym typeface="Calibri"/>
            </a:endParaRPr>
          </a:p>
        </p:txBody>
      </p:sp>
      <p:sp>
        <p:nvSpPr>
          <p:cNvPr id="37" name="Google Shape;37;p1"/>
          <p:cNvSpPr/>
          <p:nvPr/>
        </p:nvSpPr>
        <p:spPr>
          <a:xfrm>
            <a:off x="4313307" y="2368896"/>
            <a:ext cx="1408176" cy="365760"/>
          </a:xfrm>
          <a:prstGeom prst="roundRect">
            <a:avLst>
              <a:gd name="adj" fmla="val 50000"/>
            </a:avLst>
          </a:prstGeom>
          <a:solidFill>
            <a:srgbClr val="1D3A66"/>
          </a:solidFill>
          <a:ln w="9525" cap="flat" cmpd="sng">
            <a:solidFill>
              <a:srgbClr val="1B7A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
          <p:cNvSpPr/>
          <p:nvPr/>
        </p:nvSpPr>
        <p:spPr>
          <a:xfrm>
            <a:off x="4313307" y="2368896"/>
            <a:ext cx="1408176"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alibri"/>
              <a:buNone/>
            </a:pPr>
            <a:r>
              <a:rPr lang="en-US" sz="1600" b="0" i="0" u="none" strike="noStrike" cap="none">
                <a:solidFill>
                  <a:srgbClr val="FFFFFF"/>
                </a:solidFill>
                <a:latin typeface="Calibri"/>
                <a:ea typeface="Calibri"/>
                <a:cs typeface="Calibri"/>
                <a:sym typeface="Calibri"/>
              </a:rPr>
              <a:t>Partitioning</a:t>
            </a:r>
            <a:endParaRPr sz="1600" b="0" i="0" u="none" strike="noStrike" cap="none">
              <a:solidFill>
                <a:schemeClr val="dk1"/>
              </a:solidFill>
              <a:latin typeface="Calibri"/>
              <a:ea typeface="Calibri"/>
              <a:cs typeface="Calibri"/>
              <a:sym typeface="Calibri"/>
            </a:endParaRPr>
          </a:p>
        </p:txBody>
      </p:sp>
      <p:sp>
        <p:nvSpPr>
          <p:cNvPr id="39" name="Google Shape;39;p1"/>
          <p:cNvSpPr/>
          <p:nvPr/>
        </p:nvSpPr>
        <p:spPr>
          <a:xfrm>
            <a:off x="5858643" y="2368896"/>
            <a:ext cx="2048256" cy="365760"/>
          </a:xfrm>
          <a:prstGeom prst="roundRect">
            <a:avLst>
              <a:gd name="adj" fmla="val 50000"/>
            </a:avLst>
          </a:prstGeom>
          <a:solidFill>
            <a:srgbClr val="1D3A66"/>
          </a:solidFill>
          <a:ln w="9525" cap="flat" cmpd="sng">
            <a:solidFill>
              <a:srgbClr val="1B7A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1"/>
          <p:cNvSpPr/>
          <p:nvPr/>
        </p:nvSpPr>
        <p:spPr>
          <a:xfrm>
            <a:off x="5858643" y="2368896"/>
            <a:ext cx="2048256"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alibri"/>
              <a:buNone/>
            </a:pPr>
            <a:r>
              <a:rPr lang="en-US" sz="1600" b="0" i="0" u="none" strike="noStrike" cap="none">
                <a:solidFill>
                  <a:srgbClr val="FFFFFF"/>
                </a:solidFill>
                <a:latin typeface="Calibri"/>
                <a:ea typeface="Calibri"/>
                <a:cs typeface="Calibri"/>
                <a:sym typeface="Calibri"/>
              </a:rPr>
              <a:t>Joins &amp; Aggregation</a:t>
            </a:r>
            <a:endParaRPr sz="1600" b="0" i="0" u="none" strike="noStrike" cap="none">
              <a:solidFill>
                <a:schemeClr val="dk1"/>
              </a:solidFill>
              <a:latin typeface="Calibri"/>
              <a:ea typeface="Calibri"/>
              <a:cs typeface="Calibri"/>
              <a:sym typeface="Calibri"/>
            </a:endParaRPr>
          </a:p>
        </p:txBody>
      </p:sp>
      <p:sp>
        <p:nvSpPr>
          <p:cNvPr id="41" name="Google Shape;41;p1"/>
          <p:cNvSpPr/>
          <p:nvPr/>
        </p:nvSpPr>
        <p:spPr>
          <a:xfrm>
            <a:off x="8044059" y="2368896"/>
            <a:ext cx="1956816" cy="365760"/>
          </a:xfrm>
          <a:prstGeom prst="roundRect">
            <a:avLst>
              <a:gd name="adj" fmla="val 50000"/>
            </a:avLst>
          </a:prstGeom>
          <a:solidFill>
            <a:srgbClr val="1D3A66"/>
          </a:solidFill>
          <a:ln w="9525" cap="flat" cmpd="sng">
            <a:solidFill>
              <a:srgbClr val="1B7A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1"/>
          <p:cNvSpPr/>
          <p:nvPr/>
        </p:nvSpPr>
        <p:spPr>
          <a:xfrm>
            <a:off x="8044059" y="2368896"/>
            <a:ext cx="1956816"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alibri"/>
              <a:buNone/>
            </a:pPr>
            <a:r>
              <a:rPr lang="en-US" sz="1600" b="0" i="0" u="none" strike="noStrike" cap="none">
                <a:solidFill>
                  <a:srgbClr val="FFFFFF"/>
                </a:solidFill>
                <a:latin typeface="Calibri"/>
                <a:ea typeface="Calibri"/>
                <a:cs typeface="Calibri"/>
                <a:sym typeface="Calibri"/>
              </a:rPr>
              <a:t>Query Optimization</a:t>
            </a:r>
            <a:endParaRPr sz="1600" b="0" i="0" u="none" strike="noStrike" cap="none">
              <a:solidFill>
                <a:schemeClr val="dk1"/>
              </a:solidFill>
              <a:latin typeface="Calibri"/>
              <a:ea typeface="Calibri"/>
              <a:cs typeface="Calibri"/>
              <a:sym typeface="Calibri"/>
            </a:endParaRPr>
          </a:p>
        </p:txBody>
      </p:sp>
      <p:sp>
        <p:nvSpPr>
          <p:cNvPr id="43" name="Google Shape;43;p1"/>
          <p:cNvSpPr/>
          <p:nvPr/>
        </p:nvSpPr>
        <p:spPr>
          <a:xfrm>
            <a:off x="4641299" y="3146136"/>
            <a:ext cx="1225296" cy="365760"/>
          </a:xfrm>
          <a:prstGeom prst="roundRect">
            <a:avLst>
              <a:gd name="adj" fmla="val 50000"/>
            </a:avLst>
          </a:prstGeom>
          <a:solidFill>
            <a:srgbClr val="1D3A66"/>
          </a:solidFill>
          <a:ln w="9525" cap="flat" cmpd="sng">
            <a:solidFill>
              <a:srgbClr val="1B7A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1"/>
          <p:cNvSpPr/>
          <p:nvPr/>
        </p:nvSpPr>
        <p:spPr>
          <a:xfrm>
            <a:off x="4641299" y="3146136"/>
            <a:ext cx="1225296"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alibri"/>
              <a:buNone/>
            </a:pPr>
            <a:r>
              <a:rPr lang="en-US" sz="1600" b="0" i="0" u="none" strike="noStrike" cap="none">
                <a:solidFill>
                  <a:srgbClr val="FFFFFF"/>
                </a:solidFill>
                <a:latin typeface="Calibri"/>
                <a:ea typeface="Calibri"/>
                <a:cs typeface="Calibri"/>
                <a:sym typeface="Calibri"/>
              </a:rPr>
              <a:t>Scheduling</a:t>
            </a:r>
            <a:endParaRPr sz="1600" b="0" i="0" u="none" strike="noStrike" cap="none">
              <a:solidFill>
                <a:schemeClr val="dk1"/>
              </a:solidFill>
              <a:latin typeface="Calibri"/>
              <a:ea typeface="Calibri"/>
              <a:cs typeface="Calibri"/>
              <a:sym typeface="Calibri"/>
            </a:endParaRPr>
          </a:p>
        </p:txBody>
      </p:sp>
      <p:sp>
        <p:nvSpPr>
          <p:cNvPr id="45" name="Google Shape;45;p1"/>
          <p:cNvSpPr/>
          <p:nvPr/>
        </p:nvSpPr>
        <p:spPr>
          <a:xfrm>
            <a:off x="6003755" y="3146136"/>
            <a:ext cx="1591056" cy="365760"/>
          </a:xfrm>
          <a:prstGeom prst="roundRect">
            <a:avLst>
              <a:gd name="adj" fmla="val 50000"/>
            </a:avLst>
          </a:prstGeom>
          <a:solidFill>
            <a:srgbClr val="1D3A66"/>
          </a:solidFill>
          <a:ln w="9525" cap="flat" cmpd="sng">
            <a:solidFill>
              <a:srgbClr val="1B7A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1"/>
          <p:cNvSpPr/>
          <p:nvPr/>
        </p:nvSpPr>
        <p:spPr>
          <a:xfrm>
            <a:off x="6003755" y="3146136"/>
            <a:ext cx="1591056"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alibri"/>
              <a:buNone/>
            </a:pPr>
            <a:r>
              <a:rPr lang="en-US" sz="1600" b="0" i="0" u="none" strike="noStrike" cap="none">
                <a:solidFill>
                  <a:srgbClr val="FFFFFF"/>
                </a:solidFill>
                <a:latin typeface="Calibri"/>
                <a:ea typeface="Calibri"/>
                <a:cs typeface="Calibri"/>
                <a:sym typeface="Calibri"/>
              </a:rPr>
              <a:t>Load Balancing</a:t>
            </a:r>
            <a:endParaRPr sz="1600" b="0" i="0" u="none" strike="noStrike" cap="none">
              <a:solidFill>
                <a:schemeClr val="dk1"/>
              </a:solidFill>
              <a:latin typeface="Calibri"/>
              <a:ea typeface="Calibri"/>
              <a:cs typeface="Calibri"/>
              <a:sym typeface="Calibri"/>
            </a:endParaRPr>
          </a:p>
        </p:txBody>
      </p:sp>
      <p:sp>
        <p:nvSpPr>
          <p:cNvPr id="47" name="Google Shape;47;p1"/>
          <p:cNvSpPr/>
          <p:nvPr/>
        </p:nvSpPr>
        <p:spPr>
          <a:xfrm>
            <a:off x="7731971" y="3146136"/>
            <a:ext cx="1682496" cy="365760"/>
          </a:xfrm>
          <a:prstGeom prst="roundRect">
            <a:avLst>
              <a:gd name="adj" fmla="val 50000"/>
            </a:avLst>
          </a:prstGeom>
          <a:solidFill>
            <a:srgbClr val="1D3A66"/>
          </a:solidFill>
          <a:ln w="9525" cap="flat" cmpd="sng">
            <a:solidFill>
              <a:srgbClr val="1B7A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
          <p:cNvSpPr/>
          <p:nvPr/>
        </p:nvSpPr>
        <p:spPr>
          <a:xfrm>
            <a:off x="7731971" y="3146136"/>
            <a:ext cx="1682496"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alibri"/>
              <a:buNone/>
            </a:pPr>
            <a:r>
              <a:rPr lang="en-US" sz="1600" b="0" i="0" u="none" strike="noStrike" cap="none">
                <a:solidFill>
                  <a:srgbClr val="FFFFFF"/>
                </a:solidFill>
                <a:latin typeface="Calibri"/>
                <a:ea typeface="Calibri"/>
                <a:cs typeface="Calibri"/>
                <a:sym typeface="Calibri"/>
              </a:rPr>
              <a:t>Fault Tolerance</a:t>
            </a:r>
            <a:endParaRPr sz="1600" b="0" i="0" u="none" strike="noStrike" cap="none">
              <a:solidFill>
                <a:schemeClr val="dk1"/>
              </a:solidFill>
              <a:latin typeface="Calibri"/>
              <a:ea typeface="Calibri"/>
              <a:cs typeface="Calibri"/>
              <a:sym typeface="Calibri"/>
            </a:endParaRPr>
          </a:p>
        </p:txBody>
      </p:sp>
      <p:sp>
        <p:nvSpPr>
          <p:cNvPr id="49" name="Google Shape;49;p1"/>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b="0" i="0" u="none" strike="noStrike" cap="none">
                <a:solidFill>
                  <a:srgbClr val="8A93A3"/>
                </a:solidFill>
                <a:latin typeface="Calibri"/>
                <a:ea typeface="Calibri"/>
                <a:cs typeface="Calibri"/>
                <a:sym typeface="Calibri"/>
              </a:rPr>
              <a:t>1</a:t>
            </a:r>
            <a:endParaRPr sz="850" b="0" i="0" u="none" strike="noStrike" cap="none">
              <a:solidFill>
                <a:schemeClr val="dk1"/>
              </a:solidFill>
              <a:latin typeface="Calibri"/>
              <a:ea typeface="Calibri"/>
              <a:cs typeface="Calibri"/>
              <a:sym typeface="Calibri"/>
            </a:endParaRPr>
          </a:p>
        </p:txBody>
      </p:sp>
      <p:sp>
        <p:nvSpPr>
          <p:cNvPr id="50" name="Google Shape;50;p1"/>
          <p:cNvSpPr/>
          <p:nvPr/>
        </p:nvSpPr>
        <p:spPr>
          <a:xfrm>
            <a:off x="0" y="0"/>
            <a:ext cx="2514600" cy="6858000"/>
          </a:xfrm>
          <a:prstGeom prst="rect">
            <a:avLst/>
          </a:prstGeom>
          <a:solidFill>
            <a:srgbClr val="FFE499">
              <a:alpha val="2313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
        <p:cNvGrpSpPr/>
        <p:nvPr/>
      </p:nvGrpSpPr>
      <p:grpSpPr>
        <a:xfrm>
          <a:off x="0" y="0"/>
          <a:ext cx="0" cy="0"/>
          <a:chOff x="0" y="0"/>
          <a:chExt cx="0" cy="0"/>
        </a:xfrm>
      </p:grpSpPr>
      <p:sp>
        <p:nvSpPr>
          <p:cNvPr id="56" name="Google Shape;56;p2"/>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58" name="Google Shape;58;p2"/>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59" name="Google Shape;59;p2"/>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60" name="Google Shape;60;p2"/>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61" name="Google Shape;61;p2"/>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62" name="Google Shape;62;p2"/>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63" name="Google Shape;63;p2"/>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64" name="Google Shape;64;p2"/>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65" name="Google Shape;65;p2"/>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66" name="Google Shape;66;p2"/>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67" name="Google Shape;67;p2"/>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68" name="Google Shape;68;p2"/>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69" name="Google Shape;69;p2"/>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70" name="Google Shape;70;p2"/>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71" name="Google Shape;71;p2"/>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72" name="Google Shape;72;p2"/>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73" name="Google Shape;73;p2"/>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74" name="Google Shape;74;p2"/>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75" name="Google Shape;75;p2"/>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76" name="Google Shape;76;p2"/>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77" name="Google Shape;77;p2"/>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78" name="Google Shape;78;p2"/>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55A11"/>
              </a:buClr>
              <a:buSzPts val="4000"/>
              <a:buFont typeface="Calibri"/>
              <a:buNone/>
            </a:pPr>
            <a:r>
              <a:rPr lang="en-US" sz="4000" b="1" u="sng">
                <a:solidFill>
                  <a:srgbClr val="C55A11"/>
                </a:solidFill>
                <a:latin typeface="Calibri"/>
                <a:ea typeface="Calibri"/>
                <a:cs typeface="Calibri"/>
                <a:sym typeface="Calibri"/>
              </a:rPr>
              <a:t>Why</a:t>
            </a:r>
            <a:r>
              <a:rPr lang="en-US" sz="2700" b="1">
                <a:solidFill>
                  <a:srgbClr val="12294B"/>
                </a:solidFill>
                <a:latin typeface="Calibri"/>
                <a:ea typeface="Calibri"/>
                <a:cs typeface="Calibri"/>
                <a:sym typeface="Calibri"/>
              </a:rPr>
              <a:t> Parallel &amp; Distributed Processing Matters</a:t>
            </a:r>
            <a:endParaRPr sz="2700">
              <a:solidFill>
                <a:schemeClr val="dk1"/>
              </a:solidFill>
              <a:latin typeface="Calibri"/>
              <a:ea typeface="Calibri"/>
              <a:cs typeface="Calibri"/>
              <a:sym typeface="Calibri"/>
            </a:endParaRPr>
          </a:p>
        </p:txBody>
      </p:sp>
      <p:sp>
        <p:nvSpPr>
          <p:cNvPr id="79" name="Google Shape;79;p2"/>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2</a:t>
            </a:r>
            <a:endParaRPr sz="850">
              <a:solidFill>
                <a:schemeClr val="dk1"/>
              </a:solidFill>
              <a:latin typeface="Calibri"/>
              <a:ea typeface="Calibri"/>
              <a:cs typeface="Calibri"/>
              <a:sym typeface="Calibri"/>
            </a:endParaRPr>
          </a:p>
        </p:txBody>
      </p:sp>
      <p:sp>
        <p:nvSpPr>
          <p:cNvPr id="80" name="Google Shape;80;p2"/>
          <p:cNvSpPr/>
          <p:nvPr/>
        </p:nvSpPr>
        <p:spPr>
          <a:xfrm>
            <a:off x="2761488" y="4761672"/>
            <a:ext cx="8991295" cy="59436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C55A11"/>
              </a:buClr>
              <a:buSzPts val="2000"/>
              <a:buFont typeface="Calibri"/>
              <a:buNone/>
            </a:pPr>
            <a:r>
              <a:rPr lang="en-US" sz="2000" b="1" i="1">
                <a:solidFill>
                  <a:srgbClr val="C55A11"/>
                </a:solidFill>
                <a:latin typeface="Calibri"/>
                <a:ea typeface="Calibri"/>
                <a:cs typeface="Calibri"/>
                <a:sym typeface="Calibri"/>
              </a:rPr>
              <a:t>A single machine cannot store or process modern data volumes. This unit builds the mental model — from CPU-level parallelism to cluster-wide fault tolerance — used inside Hadoop, Spark, and every major cloud data platform.</a:t>
            </a:r>
            <a:endParaRPr sz="2000" b="1">
              <a:solidFill>
                <a:srgbClr val="C55A11"/>
              </a:solidFill>
              <a:latin typeface="Calibri"/>
              <a:ea typeface="Calibri"/>
              <a:cs typeface="Calibri"/>
              <a:sym typeface="Calibri"/>
            </a:endParaRPr>
          </a:p>
        </p:txBody>
      </p:sp>
      <p:pic>
        <p:nvPicPr>
          <p:cNvPr id="81" name="Google Shape;81;p2" descr="8,187 Burden Cartoon Royalty-Free Images, Stock Photos &amp; Pictures |  Shutterstock"/>
          <p:cNvPicPr preferRelativeResize="0"/>
          <p:nvPr/>
        </p:nvPicPr>
        <p:blipFill rotWithShape="1">
          <a:blip r:embed="rId3">
            <a:alphaModFix/>
          </a:blip>
          <a:srcRect b="7349"/>
          <a:stretch/>
        </p:blipFill>
        <p:spPr>
          <a:xfrm>
            <a:off x="4816846" y="1389855"/>
            <a:ext cx="3125090" cy="3118170"/>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
        <p:cNvGrpSpPr/>
        <p:nvPr/>
      </p:nvGrpSpPr>
      <p:grpSpPr>
        <a:xfrm>
          <a:off x="0" y="0"/>
          <a:ext cx="0" cy="0"/>
          <a:chOff x="0" y="0"/>
          <a:chExt cx="0" cy="0"/>
        </a:xfrm>
      </p:grpSpPr>
      <p:sp>
        <p:nvSpPr>
          <p:cNvPr id="87" name="Google Shape;87;p3"/>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89" name="Google Shape;89;p3"/>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90" name="Google Shape;90;p3"/>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91" name="Google Shape;91;p3"/>
          <p:cNvSpPr/>
          <p:nvPr/>
        </p:nvSpPr>
        <p:spPr>
          <a:xfrm>
            <a:off x="109728" y="1325880"/>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93" name="Google Shape;93;p3"/>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94" name="Google Shape;94;p3"/>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95" name="Google Shape;95;p3"/>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96" name="Google Shape;96;p3"/>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97" name="Google Shape;97;p3"/>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98" name="Google Shape;98;p3"/>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99" name="Google Shape;99;p3"/>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100" name="Google Shape;100;p3"/>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101" name="Google Shape;101;p3"/>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102" name="Google Shape;102;p3"/>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103" name="Google Shape;103;p3"/>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104" name="Google Shape;104;p3"/>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105" name="Google Shape;105;p3"/>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106" name="Google Shape;106;p3"/>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107" name="Google Shape;107;p3"/>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108" name="Google Shape;108;p3"/>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109" name="Google Shape;109;p3"/>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110" name="Google Shape;110;p3"/>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3.1 PARALLELISM</a:t>
            </a:r>
            <a:endParaRPr sz="1200">
              <a:solidFill>
                <a:schemeClr val="dk1"/>
              </a:solidFill>
              <a:latin typeface="Calibri"/>
              <a:ea typeface="Calibri"/>
              <a:cs typeface="Calibri"/>
              <a:sym typeface="Calibri"/>
            </a:endParaRPr>
          </a:p>
        </p:txBody>
      </p:sp>
      <p:sp>
        <p:nvSpPr>
          <p:cNvPr id="111" name="Google Shape;111;p3"/>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What Is Parallelism — and Flynn's Taxonomy</a:t>
            </a:r>
            <a:endParaRPr sz="2700">
              <a:solidFill>
                <a:schemeClr val="dk1"/>
              </a:solidFill>
              <a:latin typeface="Calibri"/>
              <a:ea typeface="Calibri"/>
              <a:cs typeface="Calibri"/>
              <a:sym typeface="Calibri"/>
            </a:endParaRPr>
          </a:p>
        </p:txBody>
      </p:sp>
      <p:sp>
        <p:nvSpPr>
          <p:cNvPr id="112" name="Google Shape;112;p3"/>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3</a:t>
            </a:r>
            <a:endParaRPr sz="850">
              <a:solidFill>
                <a:schemeClr val="dk1"/>
              </a:solidFill>
              <a:latin typeface="Calibri"/>
              <a:ea typeface="Calibri"/>
              <a:cs typeface="Calibri"/>
              <a:sym typeface="Calibri"/>
            </a:endParaRPr>
          </a:p>
        </p:txBody>
      </p:sp>
      <p:sp>
        <p:nvSpPr>
          <p:cNvPr id="113" name="Google Shape;113;p3"/>
          <p:cNvSpPr/>
          <p:nvPr/>
        </p:nvSpPr>
        <p:spPr>
          <a:xfrm>
            <a:off x="2834640" y="1226256"/>
            <a:ext cx="8991295" cy="837112"/>
          </a:xfrm>
          <a:prstGeom prst="rect">
            <a:avLst/>
          </a:prstGeom>
          <a:noFill/>
          <a:ln>
            <a:noFill/>
          </a:ln>
        </p:spPr>
        <p:txBody>
          <a:bodyPr spcFirstLastPara="1" wrap="square" lIns="91425" tIns="45700" rIns="91425" bIns="45700" anchor="ctr" anchorCtr="0">
            <a:noAutofit/>
          </a:bodyPr>
          <a:lstStyle/>
          <a:p>
            <a:pPr marL="342900" marR="0" lvl="0" indent="-342900" algn="just" rtl="0">
              <a:spcBef>
                <a:spcPts val="0"/>
              </a:spcBef>
              <a:spcAft>
                <a:spcPts val="0"/>
              </a:spcAft>
              <a:buClr>
                <a:srgbClr val="C55A11"/>
              </a:buClr>
              <a:buSzPts val="2000"/>
              <a:buFont typeface="Arial"/>
              <a:buChar char="•"/>
            </a:pPr>
            <a:r>
              <a:rPr lang="en-US" sz="2000" b="1" i="1">
                <a:solidFill>
                  <a:srgbClr val="C55A11"/>
                </a:solidFill>
                <a:latin typeface="Calibri"/>
                <a:ea typeface="Calibri"/>
                <a:cs typeface="Calibri"/>
                <a:sym typeface="Calibri"/>
              </a:rPr>
              <a:t>Parallel processing uses multiple compute resources simultaneously so a task finishes faster than on one resource alone. </a:t>
            </a:r>
            <a:endParaRPr sz="2000" b="1" i="1">
              <a:solidFill>
                <a:srgbClr val="C55A11"/>
              </a:solidFill>
              <a:latin typeface="Calibri"/>
              <a:ea typeface="Calibri"/>
              <a:cs typeface="Calibri"/>
              <a:sym typeface="Calibri"/>
            </a:endParaRPr>
          </a:p>
          <a:p>
            <a:pPr marL="342900" marR="0" lvl="0" indent="-342900" algn="just" rtl="0">
              <a:spcBef>
                <a:spcPts val="0"/>
              </a:spcBef>
              <a:spcAft>
                <a:spcPts val="0"/>
              </a:spcAft>
              <a:buClr>
                <a:srgbClr val="C55A11"/>
              </a:buClr>
              <a:buSzPts val="2000"/>
              <a:buFont typeface="Arial"/>
              <a:buChar char="•"/>
            </a:pPr>
            <a:r>
              <a:rPr lang="en-US" sz="2000" b="1" i="1">
                <a:solidFill>
                  <a:srgbClr val="C55A11"/>
                </a:solidFill>
                <a:latin typeface="Calibri"/>
                <a:ea typeface="Calibri"/>
                <a:cs typeface="Calibri"/>
                <a:sym typeface="Calibri"/>
              </a:rPr>
              <a:t>Clusters are MIMD systems: every node runs its own instructions over its own data.</a:t>
            </a:r>
            <a:endParaRPr/>
          </a:p>
        </p:txBody>
      </p:sp>
      <p:sp>
        <p:nvSpPr>
          <p:cNvPr id="114" name="Google Shape;114;p3"/>
          <p:cNvSpPr/>
          <p:nvPr/>
        </p:nvSpPr>
        <p:spPr>
          <a:xfrm>
            <a:off x="3009578" y="2771638"/>
            <a:ext cx="1665033" cy="1659636"/>
          </a:xfrm>
          <a:prstGeom prst="roundRect">
            <a:avLst>
              <a:gd name="adj" fmla="val 3466"/>
            </a:avLst>
          </a:prstGeom>
          <a:solidFill>
            <a:srgbClr val="FFFFFF"/>
          </a:solidFill>
          <a:ln w="12700" cap="flat" cmpd="sng">
            <a:solidFill>
              <a:srgbClr val="D7DCE4"/>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3"/>
          <p:cNvSpPr/>
          <p:nvPr/>
        </p:nvSpPr>
        <p:spPr>
          <a:xfrm>
            <a:off x="3009578" y="2937996"/>
            <a:ext cx="1665033" cy="32541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2294B"/>
              </a:buClr>
              <a:buSzPts val="2000"/>
              <a:buFont typeface="Calibri"/>
              <a:buNone/>
            </a:pPr>
            <a:r>
              <a:rPr lang="en-US" sz="2000" b="1">
                <a:solidFill>
                  <a:srgbClr val="12294B"/>
                </a:solidFill>
                <a:latin typeface="Calibri"/>
                <a:ea typeface="Calibri"/>
                <a:cs typeface="Calibri"/>
                <a:sym typeface="Calibri"/>
              </a:rPr>
              <a:t>SISD</a:t>
            </a:r>
            <a:endParaRPr sz="2000">
              <a:solidFill>
                <a:schemeClr val="dk1"/>
              </a:solidFill>
              <a:latin typeface="Calibri"/>
              <a:ea typeface="Calibri"/>
              <a:cs typeface="Calibri"/>
              <a:sym typeface="Calibri"/>
            </a:endParaRPr>
          </a:p>
        </p:txBody>
      </p:sp>
      <p:sp>
        <p:nvSpPr>
          <p:cNvPr id="116" name="Google Shape;116;p3"/>
          <p:cNvSpPr/>
          <p:nvPr/>
        </p:nvSpPr>
        <p:spPr>
          <a:xfrm>
            <a:off x="3119306" y="3171588"/>
            <a:ext cx="1491911" cy="35796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E75B5"/>
              </a:buClr>
              <a:buSzPts val="1600"/>
              <a:buFont typeface="Calibri"/>
              <a:buNone/>
            </a:pPr>
            <a:r>
              <a:rPr lang="en-US" sz="1600" i="1">
                <a:solidFill>
                  <a:srgbClr val="2E75B5"/>
                </a:solidFill>
                <a:latin typeface="Calibri"/>
                <a:ea typeface="Calibri"/>
                <a:cs typeface="Calibri"/>
                <a:sym typeface="Calibri"/>
              </a:rPr>
              <a:t>1 instr · 1 data</a:t>
            </a:r>
            <a:endParaRPr sz="1600">
              <a:solidFill>
                <a:srgbClr val="2E75B5"/>
              </a:solidFill>
              <a:latin typeface="Calibri"/>
              <a:ea typeface="Calibri"/>
              <a:cs typeface="Calibri"/>
              <a:sym typeface="Calibri"/>
            </a:endParaRPr>
          </a:p>
        </p:txBody>
      </p:sp>
      <p:sp>
        <p:nvSpPr>
          <p:cNvPr id="117" name="Google Shape;117;p3"/>
          <p:cNvSpPr/>
          <p:nvPr/>
        </p:nvSpPr>
        <p:spPr>
          <a:xfrm>
            <a:off x="3096139" y="4467517"/>
            <a:ext cx="1491911" cy="26997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0B050"/>
              </a:buClr>
              <a:buSzPts val="1100"/>
              <a:buFont typeface="Calibri"/>
              <a:buNone/>
            </a:pPr>
            <a:r>
              <a:rPr lang="en-US" sz="1100" b="1">
                <a:solidFill>
                  <a:srgbClr val="00B050"/>
                </a:solidFill>
                <a:latin typeface="Calibri"/>
                <a:ea typeface="Calibri"/>
                <a:cs typeface="Calibri"/>
                <a:sym typeface="Calibri"/>
              </a:rPr>
              <a:t>Single-threaded script</a:t>
            </a:r>
            <a:endParaRPr sz="1100" b="1">
              <a:solidFill>
                <a:srgbClr val="00B050"/>
              </a:solidFill>
              <a:latin typeface="Calibri"/>
              <a:ea typeface="Calibri"/>
              <a:cs typeface="Calibri"/>
              <a:sym typeface="Calibri"/>
            </a:endParaRPr>
          </a:p>
        </p:txBody>
      </p:sp>
      <p:sp>
        <p:nvSpPr>
          <p:cNvPr id="118" name="Google Shape;118;p3"/>
          <p:cNvSpPr/>
          <p:nvPr/>
        </p:nvSpPr>
        <p:spPr>
          <a:xfrm>
            <a:off x="5303122" y="2800836"/>
            <a:ext cx="1665033" cy="1659636"/>
          </a:xfrm>
          <a:prstGeom prst="roundRect">
            <a:avLst>
              <a:gd name="adj" fmla="val 3466"/>
            </a:avLst>
          </a:prstGeom>
          <a:solidFill>
            <a:srgbClr val="FFFFFF"/>
          </a:solidFill>
          <a:ln w="12700" cap="flat" cmpd="sng">
            <a:solidFill>
              <a:srgbClr val="D7DCE4"/>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a:off x="5303122" y="2937996"/>
            <a:ext cx="1665033" cy="32541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2294B"/>
              </a:buClr>
              <a:buSzPts val="2000"/>
              <a:buFont typeface="Calibri"/>
              <a:buNone/>
            </a:pPr>
            <a:r>
              <a:rPr lang="en-US" sz="2000" b="1">
                <a:solidFill>
                  <a:srgbClr val="12294B"/>
                </a:solidFill>
                <a:latin typeface="Calibri"/>
                <a:ea typeface="Calibri"/>
                <a:cs typeface="Calibri"/>
                <a:sym typeface="Calibri"/>
              </a:rPr>
              <a:t>SIMD</a:t>
            </a:r>
            <a:endParaRPr sz="2000">
              <a:solidFill>
                <a:schemeClr val="dk1"/>
              </a:solidFill>
              <a:latin typeface="Calibri"/>
              <a:ea typeface="Calibri"/>
              <a:cs typeface="Calibri"/>
              <a:sym typeface="Calibri"/>
            </a:endParaRPr>
          </a:p>
        </p:txBody>
      </p:sp>
      <p:sp>
        <p:nvSpPr>
          <p:cNvPr id="120" name="Google Shape;120;p3"/>
          <p:cNvSpPr/>
          <p:nvPr/>
        </p:nvSpPr>
        <p:spPr>
          <a:xfrm>
            <a:off x="5303122" y="3249359"/>
            <a:ext cx="1665034" cy="35796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i="1">
                <a:solidFill>
                  <a:srgbClr val="2E75B5"/>
                </a:solidFill>
                <a:latin typeface="Calibri"/>
                <a:ea typeface="Calibri"/>
                <a:cs typeface="Calibri"/>
                <a:sym typeface="Calibri"/>
              </a:rPr>
              <a:t>1 instr · many data</a:t>
            </a:r>
            <a:endParaRPr/>
          </a:p>
        </p:txBody>
      </p:sp>
      <p:sp>
        <p:nvSpPr>
          <p:cNvPr id="121" name="Google Shape;121;p3"/>
          <p:cNvSpPr/>
          <p:nvPr/>
        </p:nvSpPr>
        <p:spPr>
          <a:xfrm>
            <a:off x="5389682" y="4476494"/>
            <a:ext cx="1491911" cy="23115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0B050"/>
              </a:buClr>
              <a:buSzPts val="1100"/>
              <a:buFont typeface="Calibri"/>
              <a:buNone/>
            </a:pPr>
            <a:r>
              <a:rPr lang="en-US" sz="1100" b="1">
                <a:solidFill>
                  <a:srgbClr val="00B050"/>
                </a:solidFill>
                <a:latin typeface="Calibri"/>
                <a:ea typeface="Calibri"/>
                <a:cs typeface="Calibri"/>
                <a:sym typeface="Calibri"/>
              </a:rPr>
              <a:t>GPU vector ops</a:t>
            </a:r>
            <a:endParaRPr sz="1100" b="1">
              <a:solidFill>
                <a:srgbClr val="00B050"/>
              </a:solidFill>
              <a:latin typeface="Calibri"/>
              <a:ea typeface="Calibri"/>
              <a:cs typeface="Calibri"/>
              <a:sym typeface="Calibri"/>
            </a:endParaRPr>
          </a:p>
        </p:txBody>
      </p:sp>
      <p:sp>
        <p:nvSpPr>
          <p:cNvPr id="122" name="Google Shape;122;p3"/>
          <p:cNvSpPr/>
          <p:nvPr/>
        </p:nvSpPr>
        <p:spPr>
          <a:xfrm>
            <a:off x="7596666" y="2800836"/>
            <a:ext cx="1665033" cy="1659636"/>
          </a:xfrm>
          <a:prstGeom prst="roundRect">
            <a:avLst>
              <a:gd name="adj" fmla="val 3466"/>
            </a:avLst>
          </a:prstGeom>
          <a:noFill/>
          <a:ln w="9525" cap="flat" cmpd="sng">
            <a:solidFill>
              <a:srgbClr val="D7DC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7596666" y="2937996"/>
            <a:ext cx="1665033" cy="32541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2294B"/>
              </a:buClr>
              <a:buSzPts val="2000"/>
              <a:buFont typeface="Calibri"/>
              <a:buNone/>
            </a:pPr>
            <a:r>
              <a:rPr lang="en-US" sz="2000" b="1">
                <a:solidFill>
                  <a:srgbClr val="12294B"/>
                </a:solidFill>
                <a:latin typeface="Calibri"/>
                <a:ea typeface="Calibri"/>
                <a:cs typeface="Calibri"/>
                <a:sym typeface="Calibri"/>
              </a:rPr>
              <a:t>MISD</a:t>
            </a:r>
            <a:endParaRPr sz="2000">
              <a:solidFill>
                <a:schemeClr val="dk1"/>
              </a:solidFill>
              <a:latin typeface="Calibri"/>
              <a:ea typeface="Calibri"/>
              <a:cs typeface="Calibri"/>
              <a:sym typeface="Calibri"/>
            </a:endParaRPr>
          </a:p>
        </p:txBody>
      </p:sp>
      <p:sp>
        <p:nvSpPr>
          <p:cNvPr id="124" name="Google Shape;124;p3"/>
          <p:cNvSpPr/>
          <p:nvPr/>
        </p:nvSpPr>
        <p:spPr>
          <a:xfrm>
            <a:off x="7683226" y="3271209"/>
            <a:ext cx="1491911" cy="35796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i="1">
                <a:solidFill>
                  <a:srgbClr val="2E75B5"/>
                </a:solidFill>
                <a:latin typeface="Calibri"/>
                <a:ea typeface="Calibri"/>
                <a:cs typeface="Calibri"/>
                <a:sym typeface="Calibri"/>
              </a:rPr>
              <a:t>many instr · 1 data</a:t>
            </a:r>
            <a:endParaRPr/>
          </a:p>
        </p:txBody>
      </p:sp>
      <p:sp>
        <p:nvSpPr>
          <p:cNvPr id="125" name="Google Shape;125;p3"/>
          <p:cNvSpPr/>
          <p:nvPr/>
        </p:nvSpPr>
        <p:spPr>
          <a:xfrm>
            <a:off x="7668312" y="4476494"/>
            <a:ext cx="1491911" cy="4031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100" b="1">
                <a:solidFill>
                  <a:srgbClr val="00B050"/>
                </a:solidFill>
                <a:latin typeface="Calibri"/>
                <a:ea typeface="Calibri"/>
                <a:cs typeface="Calibri"/>
                <a:sym typeface="Calibri"/>
              </a:rPr>
              <a:t>Redundant flight control</a:t>
            </a:r>
            <a:endParaRPr/>
          </a:p>
        </p:txBody>
      </p:sp>
      <p:sp>
        <p:nvSpPr>
          <p:cNvPr id="126" name="Google Shape;126;p3"/>
          <p:cNvSpPr/>
          <p:nvPr/>
        </p:nvSpPr>
        <p:spPr>
          <a:xfrm>
            <a:off x="9890209" y="2800836"/>
            <a:ext cx="1665033" cy="1659636"/>
          </a:xfrm>
          <a:prstGeom prst="roundRect">
            <a:avLst>
              <a:gd name="adj" fmla="val 3466"/>
            </a:avLst>
          </a:prstGeom>
          <a:solidFill>
            <a:srgbClr val="D0CECE"/>
          </a:solidFill>
          <a:ln w="12700" cap="flat" cmpd="sng">
            <a:solidFill>
              <a:srgbClr val="D9A441"/>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9890209" y="2937996"/>
            <a:ext cx="1665033" cy="32541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830"/>
              </a:buClr>
              <a:buSzPts val="2000"/>
              <a:buFont typeface="Calibri"/>
              <a:buNone/>
            </a:pPr>
            <a:r>
              <a:rPr lang="en-US" sz="2000" b="1">
                <a:solidFill>
                  <a:srgbClr val="0A1830"/>
                </a:solidFill>
                <a:latin typeface="Calibri"/>
                <a:ea typeface="Calibri"/>
                <a:cs typeface="Calibri"/>
                <a:sym typeface="Calibri"/>
              </a:rPr>
              <a:t>MIMD</a:t>
            </a:r>
            <a:endParaRPr sz="2000">
              <a:solidFill>
                <a:schemeClr val="dk1"/>
              </a:solidFill>
              <a:latin typeface="Calibri"/>
              <a:ea typeface="Calibri"/>
              <a:cs typeface="Calibri"/>
              <a:sym typeface="Calibri"/>
            </a:endParaRPr>
          </a:p>
        </p:txBody>
      </p:sp>
      <p:sp>
        <p:nvSpPr>
          <p:cNvPr id="128" name="Google Shape;128;p3"/>
          <p:cNvSpPr/>
          <p:nvPr/>
        </p:nvSpPr>
        <p:spPr>
          <a:xfrm>
            <a:off x="9999936" y="3261935"/>
            <a:ext cx="1491911" cy="35796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i="1" dirty="0">
                <a:solidFill>
                  <a:srgbClr val="2E75B5"/>
                </a:solidFill>
                <a:latin typeface="Calibri"/>
                <a:ea typeface="Calibri"/>
                <a:cs typeface="Calibri"/>
                <a:sym typeface="Calibri"/>
              </a:rPr>
              <a:t>many </a:t>
            </a:r>
            <a:r>
              <a:rPr lang="en-US" sz="1600" i="1" dirty="0" err="1">
                <a:solidFill>
                  <a:srgbClr val="2E75B5"/>
                </a:solidFill>
                <a:latin typeface="Calibri"/>
                <a:ea typeface="Calibri"/>
                <a:cs typeface="Calibri"/>
                <a:sym typeface="Calibri"/>
              </a:rPr>
              <a:t>instr</a:t>
            </a:r>
            <a:r>
              <a:rPr lang="en-US" sz="1600" i="1" dirty="0">
                <a:solidFill>
                  <a:srgbClr val="2E75B5"/>
                </a:solidFill>
                <a:latin typeface="Calibri"/>
                <a:ea typeface="Calibri"/>
                <a:cs typeface="Calibri"/>
                <a:sym typeface="Calibri"/>
              </a:rPr>
              <a:t> · many data</a:t>
            </a:r>
            <a:endParaRPr dirty="0"/>
          </a:p>
        </p:txBody>
      </p:sp>
      <p:sp>
        <p:nvSpPr>
          <p:cNvPr id="129" name="Google Shape;129;p3"/>
          <p:cNvSpPr/>
          <p:nvPr/>
        </p:nvSpPr>
        <p:spPr>
          <a:xfrm>
            <a:off x="9999937" y="4466281"/>
            <a:ext cx="1491911" cy="27121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100" b="1">
                <a:solidFill>
                  <a:srgbClr val="00B050"/>
                </a:solidFill>
                <a:latin typeface="Calibri"/>
                <a:ea typeface="Calibri"/>
                <a:cs typeface="Calibri"/>
                <a:sym typeface="Calibri"/>
              </a:rPr>
              <a:t>Hadoop / Spark cluster</a:t>
            </a:r>
            <a:endParaRPr/>
          </a:p>
        </p:txBody>
      </p:sp>
      <p:sp>
        <p:nvSpPr>
          <p:cNvPr id="130" name="Google Shape;130;p3"/>
          <p:cNvSpPr/>
          <p:nvPr/>
        </p:nvSpPr>
        <p:spPr>
          <a:xfrm>
            <a:off x="5104748" y="4903970"/>
            <a:ext cx="4070400" cy="365700"/>
          </a:xfrm>
          <a:prstGeom prst="rect">
            <a:avLst/>
          </a:prstGeom>
          <a:noFill/>
          <a:ln w="9525" cap="flat" cmpd="dbl">
            <a:solidFill>
              <a:srgbClr val="D9A44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C55A11"/>
              </a:buClr>
              <a:buSzPts val="1800"/>
              <a:buFont typeface="Calibri"/>
              <a:buNone/>
            </a:pPr>
            <a:r>
              <a:rPr lang="en-US" sz="1800" b="1">
                <a:solidFill>
                  <a:srgbClr val="C55A11"/>
                </a:solidFill>
                <a:latin typeface="Calibri"/>
                <a:ea typeface="Calibri"/>
                <a:cs typeface="Calibri"/>
                <a:sym typeface="Calibri"/>
              </a:rPr>
              <a:t>Distributed clusters = MIMD at scale</a:t>
            </a:r>
            <a:endParaRPr sz="1800">
              <a:solidFill>
                <a:srgbClr val="C55A11"/>
              </a:solidFill>
              <a:latin typeface="Calibri"/>
              <a:ea typeface="Calibri"/>
              <a:cs typeface="Calibri"/>
              <a:sym typeface="Calibri"/>
            </a:endParaRPr>
          </a:p>
        </p:txBody>
      </p:sp>
      <p:sp>
        <p:nvSpPr>
          <p:cNvPr id="131" name="Google Shape;131;p3"/>
          <p:cNvSpPr/>
          <p:nvPr/>
        </p:nvSpPr>
        <p:spPr>
          <a:xfrm>
            <a:off x="2972962" y="5415236"/>
            <a:ext cx="8991295" cy="812822"/>
          </a:xfrm>
          <a:prstGeom prst="roundRect">
            <a:avLst>
              <a:gd name="adj" fmla="val 6957"/>
            </a:avLst>
          </a:prstGeom>
          <a:solidFill>
            <a:srgbClr val="F4F6F9"/>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3119306" y="5353412"/>
            <a:ext cx="8625535" cy="10332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38135"/>
              </a:buClr>
              <a:buSzPts val="1600"/>
              <a:buFont typeface="Calibri"/>
              <a:buNone/>
            </a:pPr>
            <a:r>
              <a:rPr lang="en-US" sz="1600" b="1">
                <a:solidFill>
                  <a:srgbClr val="538135"/>
                </a:solidFill>
                <a:latin typeface="Calibri"/>
                <a:ea typeface="Calibri"/>
                <a:cs typeface="Calibri"/>
                <a:sym typeface="Calibri"/>
              </a:rPr>
              <a:t>Rule of thumb:  </a:t>
            </a:r>
            <a:r>
              <a:rPr lang="en-US" sz="1600">
                <a:solidFill>
                  <a:srgbClr val="538135"/>
                </a:solidFill>
                <a:latin typeface="Calibri"/>
                <a:ea typeface="Calibri"/>
                <a:cs typeface="Calibri"/>
                <a:sym typeface="Calibri"/>
              </a:rPr>
              <a:t>a 200-node cluster scanning a 10 TB dataset in parallel finishes in minutes; the same scan on one machine (~150 MB/s) takes over 14 hours. This is the core economic case for distributed processing.</a:t>
            </a:r>
            <a:endParaRPr sz="1600">
              <a:solidFill>
                <a:srgbClr val="538135"/>
              </a:solidFill>
              <a:latin typeface="Calibri"/>
              <a:ea typeface="Calibri"/>
              <a:cs typeface="Calibri"/>
              <a:sym typeface="Calibri"/>
            </a:endParaRPr>
          </a:p>
        </p:txBody>
      </p:sp>
      <p:sp>
        <p:nvSpPr>
          <p:cNvPr id="133" name="Google Shape;133;p3"/>
          <p:cNvSpPr/>
          <p:nvPr/>
        </p:nvSpPr>
        <p:spPr>
          <a:xfrm>
            <a:off x="2996846" y="3439520"/>
            <a:ext cx="1689171"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rgbClr val="BF9000"/>
                </a:solidFill>
                <a:latin typeface="Calibri"/>
                <a:ea typeface="Calibri"/>
                <a:cs typeface="Calibri"/>
                <a:sym typeface="Calibri"/>
              </a:rPr>
              <a:t>Single Instruction Stream, Single Data Stream</a:t>
            </a:r>
            <a:endParaRPr sz="1400" b="1">
              <a:solidFill>
                <a:srgbClr val="BF9000"/>
              </a:solidFill>
              <a:latin typeface="Calibri"/>
              <a:ea typeface="Calibri"/>
              <a:cs typeface="Calibri"/>
              <a:sym typeface="Calibri"/>
            </a:endParaRPr>
          </a:p>
        </p:txBody>
      </p:sp>
      <p:sp>
        <p:nvSpPr>
          <p:cNvPr id="134" name="Google Shape;134;p3"/>
          <p:cNvSpPr/>
          <p:nvPr/>
        </p:nvSpPr>
        <p:spPr>
          <a:xfrm>
            <a:off x="5315600" y="3640979"/>
            <a:ext cx="1689171"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rgbClr val="BF9000"/>
                </a:solidFill>
                <a:latin typeface="Calibri"/>
                <a:ea typeface="Calibri"/>
                <a:cs typeface="Calibri"/>
                <a:sym typeface="Calibri"/>
              </a:rPr>
              <a:t>Single Instruction Stream, Multiple Data Stream</a:t>
            </a:r>
            <a:endParaRPr sz="1400" b="1">
              <a:solidFill>
                <a:srgbClr val="BF9000"/>
              </a:solidFill>
              <a:latin typeface="Calibri"/>
              <a:ea typeface="Calibri"/>
              <a:cs typeface="Calibri"/>
              <a:sym typeface="Calibri"/>
            </a:endParaRPr>
          </a:p>
        </p:txBody>
      </p:sp>
      <p:sp>
        <p:nvSpPr>
          <p:cNvPr id="135" name="Google Shape;135;p3"/>
          <p:cNvSpPr/>
          <p:nvPr/>
        </p:nvSpPr>
        <p:spPr>
          <a:xfrm>
            <a:off x="7572528" y="3665951"/>
            <a:ext cx="1689171"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rgbClr val="BF9000"/>
                </a:solidFill>
                <a:latin typeface="Calibri"/>
                <a:ea typeface="Calibri"/>
                <a:cs typeface="Calibri"/>
                <a:sym typeface="Calibri"/>
              </a:rPr>
              <a:t>Multiple Instruction Stream, Single Data Stream</a:t>
            </a:r>
            <a:endParaRPr sz="1400" b="1">
              <a:solidFill>
                <a:srgbClr val="BF9000"/>
              </a:solidFill>
              <a:latin typeface="Calibri"/>
              <a:ea typeface="Calibri"/>
              <a:cs typeface="Calibri"/>
              <a:sym typeface="Calibri"/>
            </a:endParaRPr>
          </a:p>
        </p:txBody>
      </p:sp>
      <p:sp>
        <p:nvSpPr>
          <p:cNvPr id="136" name="Google Shape;136;p3"/>
          <p:cNvSpPr/>
          <p:nvPr/>
        </p:nvSpPr>
        <p:spPr>
          <a:xfrm>
            <a:off x="9853594" y="3659451"/>
            <a:ext cx="1689171"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rgbClr val="BF9000"/>
                </a:solidFill>
                <a:latin typeface="Calibri"/>
                <a:ea typeface="Calibri"/>
                <a:cs typeface="Calibri"/>
                <a:sym typeface="Calibri"/>
              </a:rPr>
              <a:t>Multiple Instruction Stream, Multiple Data Stream</a:t>
            </a:r>
            <a:endParaRPr sz="1400" b="1">
              <a:solidFill>
                <a:srgbClr val="BF9000"/>
              </a:solidFill>
              <a:latin typeface="Calibri"/>
              <a:ea typeface="Calibri"/>
              <a:cs typeface="Calibri"/>
              <a:sym typeface="Calibri"/>
            </a:endParaRPr>
          </a:p>
        </p:txBody>
      </p:sp>
      <p:sp>
        <p:nvSpPr>
          <p:cNvPr id="137" name="Google Shape;137;p3"/>
          <p:cNvSpPr/>
          <p:nvPr/>
        </p:nvSpPr>
        <p:spPr>
          <a:xfrm>
            <a:off x="2774647" y="2289889"/>
            <a:ext cx="293644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u="sng">
                <a:solidFill>
                  <a:schemeClr val="dk1"/>
                </a:solidFill>
                <a:latin typeface="Calibri"/>
                <a:ea typeface="Calibri"/>
                <a:cs typeface="Calibri"/>
                <a:sym typeface="Calibri"/>
              </a:rPr>
              <a:t>The Four Classifications: - </a:t>
            </a:r>
            <a:endParaRPr sz="2000" b="1" i="1" u="sng">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143" name="Google Shape;143;p4"/>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145" name="Google Shape;145;p4"/>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146" name="Google Shape;146;p4"/>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147" name="Google Shape;147;p4"/>
          <p:cNvSpPr/>
          <p:nvPr/>
        </p:nvSpPr>
        <p:spPr>
          <a:xfrm>
            <a:off x="109728" y="1325880"/>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4"/>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149" name="Google Shape;149;p4"/>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150" name="Google Shape;150;p4"/>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151" name="Google Shape;151;p4"/>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152" name="Google Shape;152;p4"/>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153" name="Google Shape;153;p4"/>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154" name="Google Shape;154;p4"/>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155" name="Google Shape;155;p4"/>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156" name="Google Shape;156;p4"/>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157" name="Google Shape;157;p4"/>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158" name="Google Shape;158;p4"/>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159" name="Google Shape;159;p4"/>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160" name="Google Shape;160;p4"/>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161" name="Google Shape;161;p4"/>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162" name="Google Shape;162;p4"/>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163" name="Google Shape;163;p4"/>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164" name="Google Shape;164;p4"/>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165" name="Google Shape;165;p4"/>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166" name="Google Shape;166;p4"/>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3.1 PARALLELISM</a:t>
            </a:r>
            <a:endParaRPr sz="1200">
              <a:solidFill>
                <a:schemeClr val="dk1"/>
              </a:solidFill>
              <a:latin typeface="Calibri"/>
              <a:ea typeface="Calibri"/>
              <a:cs typeface="Calibri"/>
              <a:sym typeface="Calibri"/>
            </a:endParaRPr>
          </a:p>
        </p:txBody>
      </p:sp>
      <p:sp>
        <p:nvSpPr>
          <p:cNvPr id="167" name="Google Shape;167;p4"/>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What Is Parallelism — and Flynn's Taxonomy</a:t>
            </a:r>
            <a:endParaRPr sz="2700">
              <a:solidFill>
                <a:schemeClr val="dk1"/>
              </a:solidFill>
              <a:latin typeface="Calibri"/>
              <a:ea typeface="Calibri"/>
              <a:cs typeface="Calibri"/>
              <a:sym typeface="Calibri"/>
            </a:endParaRPr>
          </a:p>
        </p:txBody>
      </p:sp>
      <p:sp>
        <p:nvSpPr>
          <p:cNvPr id="168" name="Google Shape;168;p4"/>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3</a:t>
            </a:r>
            <a:endParaRPr sz="850">
              <a:solidFill>
                <a:schemeClr val="dk1"/>
              </a:solidFill>
              <a:latin typeface="Calibri"/>
              <a:ea typeface="Calibri"/>
              <a:cs typeface="Calibri"/>
              <a:sym typeface="Calibri"/>
            </a:endParaRPr>
          </a:p>
        </p:txBody>
      </p:sp>
      <p:sp>
        <p:nvSpPr>
          <p:cNvPr id="169" name="Google Shape;169;p4"/>
          <p:cNvSpPr/>
          <p:nvPr/>
        </p:nvSpPr>
        <p:spPr>
          <a:xfrm>
            <a:off x="2926079" y="1186824"/>
            <a:ext cx="8808415" cy="4980721"/>
          </a:xfrm>
          <a:prstGeom prst="rect">
            <a:avLst/>
          </a:prstGeom>
          <a:noFill/>
          <a:ln>
            <a:noFill/>
          </a:ln>
        </p:spPr>
        <p:txBody>
          <a:bodyPr spcFirstLastPara="1" wrap="square" lIns="0" tIns="203125" rIns="0" bIns="203125" anchor="ctr" anchorCtr="0">
            <a:spAutoFit/>
          </a:bodyPr>
          <a:lstStyle/>
          <a:p>
            <a:pPr marL="0" marR="0" lvl="0" indent="0" algn="l" rtl="0">
              <a:lnSpc>
                <a:spcPct val="100000"/>
              </a:lnSpc>
              <a:spcBef>
                <a:spcPts val="0"/>
              </a:spcBef>
              <a:spcAft>
                <a:spcPts val="0"/>
              </a:spcAft>
              <a:buClr>
                <a:srgbClr val="00B050"/>
              </a:buClr>
              <a:buSzPts val="2000"/>
              <a:buFont typeface="Google Sans"/>
              <a:buNone/>
            </a:pPr>
            <a:r>
              <a:rPr lang="en-US" sz="2000" b="1" i="0" u="none" strike="noStrike" cap="none">
                <a:solidFill>
                  <a:srgbClr val="00B050"/>
                </a:solidFill>
                <a:latin typeface="Google Sans"/>
                <a:ea typeface="Google Sans"/>
                <a:cs typeface="Google Sans"/>
                <a:sym typeface="Google Sans"/>
              </a:rPr>
              <a:t>MIMD Architecture in Distributed Frameworks</a:t>
            </a:r>
            <a:endParaRPr/>
          </a:p>
          <a:p>
            <a:pPr marL="0" marR="0" lvl="0" indent="0" algn="l" rtl="0">
              <a:lnSpc>
                <a:spcPct val="100000"/>
              </a:lnSpc>
              <a:spcBef>
                <a:spcPts val="0"/>
              </a:spcBef>
              <a:spcAft>
                <a:spcPts val="0"/>
              </a:spcAft>
              <a:buClr>
                <a:schemeClr val="dk1"/>
              </a:buClr>
              <a:buSzPts val="800"/>
              <a:buFont typeface="Calibri"/>
              <a:buNone/>
            </a:pPr>
            <a:endParaRPr sz="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Modern big data frameworks operate fundamentally as distributed MIMD architectures:</a:t>
            </a:r>
            <a:endParaRPr/>
          </a:p>
          <a:p>
            <a:pPr marL="0" marR="0" lvl="0" indent="0" algn="just" rtl="0">
              <a:lnSpc>
                <a:spcPct val="100000"/>
              </a:lnSpc>
              <a:spcBef>
                <a:spcPts val="0"/>
              </a:spcBef>
              <a:spcAft>
                <a:spcPts val="0"/>
              </a:spcAft>
              <a:buClr>
                <a:schemeClr val="dk1"/>
              </a:buClr>
              <a:buSzPts val="1100"/>
              <a:buFont typeface="Calibri"/>
              <a:buNone/>
            </a:pPr>
            <a:endParaRPr sz="1100" b="0" i="0" u="none" strike="noStrike" cap="none">
              <a:solidFill>
                <a:schemeClr val="dk1"/>
              </a:solidFill>
              <a:latin typeface="Calibri"/>
              <a:ea typeface="Calibri"/>
              <a:cs typeface="Calibri"/>
              <a:sym typeface="Calibri"/>
            </a:endParaRPr>
          </a:p>
          <a:p>
            <a:pPr marL="0" marR="0" lvl="0" indent="-127000" algn="just" rtl="0">
              <a:lnSpc>
                <a:spcPct val="100000"/>
              </a:lnSpc>
              <a:spcBef>
                <a:spcPts val="0"/>
              </a:spcBef>
              <a:spcAft>
                <a:spcPts val="0"/>
              </a:spcAft>
              <a:buClr>
                <a:schemeClr val="dk1"/>
              </a:buClr>
              <a:buSzPts val="2000"/>
              <a:buFont typeface="Calibri"/>
              <a:buChar char="•"/>
            </a:pPr>
            <a:r>
              <a:rPr lang="en-US" sz="2000" b="1" i="0" u="none" strike="noStrike" cap="none">
                <a:solidFill>
                  <a:schemeClr val="dk1"/>
                </a:solidFill>
                <a:latin typeface="Calibri"/>
                <a:ea typeface="Calibri"/>
                <a:cs typeface="Calibri"/>
                <a:sym typeface="Calibri"/>
              </a:rPr>
              <a:t>Apache Hadoop (MapReduce):</a:t>
            </a:r>
            <a:r>
              <a:rPr lang="en-US" sz="2000" b="0" i="0" u="none" strike="noStrike" cap="none">
                <a:solidFill>
                  <a:schemeClr val="dk1"/>
                </a:solidFill>
                <a:latin typeface="Calibri"/>
                <a:ea typeface="Calibri"/>
                <a:cs typeface="Calibri"/>
                <a:sym typeface="Calibri"/>
              </a:rPr>
              <a:t> Different worker nodes execute completely different mapping or reducing tasks across unique splits of data distributed across the HDFS network.</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a:p>
            <a:pPr marL="0" marR="0" lvl="0" indent="-127000" algn="just" rtl="0">
              <a:lnSpc>
                <a:spcPct val="100000"/>
              </a:lnSpc>
              <a:spcBef>
                <a:spcPts val="0"/>
              </a:spcBef>
              <a:spcAft>
                <a:spcPts val="0"/>
              </a:spcAft>
              <a:buClr>
                <a:schemeClr val="dk1"/>
              </a:buClr>
              <a:buSzPts val="2000"/>
              <a:buFont typeface="Calibri"/>
              <a:buChar char="•"/>
            </a:pPr>
            <a:r>
              <a:rPr lang="en-US" sz="2000" b="1" i="0" u="none" strike="noStrike" cap="none">
                <a:solidFill>
                  <a:schemeClr val="dk1"/>
                </a:solidFill>
                <a:latin typeface="Calibri"/>
                <a:ea typeface="Calibri"/>
                <a:cs typeface="Calibri"/>
                <a:sym typeface="Calibri"/>
              </a:rPr>
              <a:t>Apache Spark:</a:t>
            </a:r>
            <a:r>
              <a:rPr lang="en-US" sz="2000" b="0" i="0" u="none" strike="noStrike" cap="none">
                <a:solidFill>
                  <a:schemeClr val="dk1"/>
                </a:solidFill>
                <a:latin typeface="Calibri"/>
                <a:ea typeface="Calibri"/>
                <a:cs typeface="Calibri"/>
                <a:sym typeface="Calibri"/>
              </a:rPr>
              <a:t> Worker nodes execute distinct tasks within a complex execution graph (DAG) on localized partitions of a Resilient Distributed Dataset (RDD).</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a:p>
            <a:pPr marL="0" marR="0" lvl="0" indent="-127000" algn="just" rtl="0">
              <a:lnSpc>
                <a:spcPct val="100000"/>
              </a:lnSpc>
              <a:spcBef>
                <a:spcPts val="0"/>
              </a:spcBef>
              <a:spcAft>
                <a:spcPts val="0"/>
              </a:spcAft>
              <a:buClr>
                <a:schemeClr val="dk1"/>
              </a:buClr>
              <a:buSzPts val="2000"/>
              <a:buFont typeface="Calibri"/>
              <a:buChar char="•"/>
            </a:pPr>
            <a:r>
              <a:rPr lang="en-US" sz="2000" b="1" i="0" u="none" strike="noStrike" cap="none">
                <a:solidFill>
                  <a:schemeClr val="dk1"/>
                </a:solidFill>
                <a:latin typeface="Calibri"/>
                <a:ea typeface="Calibri"/>
                <a:cs typeface="Calibri"/>
                <a:sym typeface="Calibri"/>
              </a:rPr>
              <a:t>Massively Parallel Processing (MPP) Databases:</a:t>
            </a:r>
            <a:r>
              <a:rPr lang="en-US" sz="2000" b="0" i="0" u="none" strike="noStrike" cap="none">
                <a:solidFill>
                  <a:schemeClr val="dk1"/>
                </a:solidFill>
                <a:latin typeface="Calibri"/>
                <a:ea typeface="Calibri"/>
                <a:cs typeface="Calibri"/>
                <a:sym typeface="Calibri"/>
              </a:rPr>
              <a:t> Systems like Snowflake, Amazon Redshift, or Google BigQuery use clusters of independent compute nodes running isolated queries across segmented data storage.</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4"/>
        <p:cNvGrpSpPr/>
        <p:nvPr/>
      </p:nvGrpSpPr>
      <p:grpSpPr>
        <a:xfrm>
          <a:off x="0" y="0"/>
          <a:ext cx="0" cy="0"/>
          <a:chOff x="0" y="0"/>
          <a:chExt cx="0" cy="0"/>
        </a:xfrm>
      </p:grpSpPr>
      <p:sp>
        <p:nvSpPr>
          <p:cNvPr id="175" name="Google Shape;175;p5"/>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177" name="Google Shape;177;p5"/>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178" name="Google Shape;178;p5"/>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179" name="Google Shape;179;p5"/>
          <p:cNvSpPr/>
          <p:nvPr/>
        </p:nvSpPr>
        <p:spPr>
          <a:xfrm>
            <a:off x="109728" y="1325880"/>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181" name="Google Shape;181;p5"/>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182" name="Google Shape;182;p5"/>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183" name="Google Shape;183;p5"/>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184" name="Google Shape;184;p5"/>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185" name="Google Shape;185;p5"/>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dirty="0">
                <a:solidFill>
                  <a:schemeClr val="lt1"/>
                </a:solidFill>
                <a:latin typeface="Calibri"/>
                <a:ea typeface="Calibri"/>
                <a:cs typeface="Calibri"/>
                <a:sym typeface="Calibri"/>
              </a:rPr>
              <a:t>Data Processing Ops</a:t>
            </a:r>
            <a:endParaRPr sz="1400" dirty="0">
              <a:solidFill>
                <a:schemeClr val="lt1"/>
              </a:solidFill>
              <a:latin typeface="Calibri"/>
              <a:ea typeface="Calibri"/>
              <a:cs typeface="Calibri"/>
              <a:sym typeface="Calibri"/>
            </a:endParaRPr>
          </a:p>
        </p:txBody>
      </p:sp>
      <p:sp>
        <p:nvSpPr>
          <p:cNvPr id="186" name="Google Shape;186;p5"/>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187" name="Google Shape;187;p5"/>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188" name="Google Shape;188;p5"/>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189" name="Google Shape;189;p5"/>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190" name="Google Shape;190;p5"/>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191" name="Google Shape;191;p5"/>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192" name="Google Shape;192;p5"/>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193" name="Google Shape;193;p5"/>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194" name="Google Shape;194;p5"/>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195" name="Google Shape;195;p5"/>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196" name="Google Shape;196;p5"/>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197" name="Google Shape;197;p5"/>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198" name="Google Shape;198;p5"/>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3.1 PARALLELISM</a:t>
            </a:r>
            <a:endParaRPr sz="1200">
              <a:solidFill>
                <a:schemeClr val="dk1"/>
              </a:solidFill>
              <a:latin typeface="Calibri"/>
              <a:ea typeface="Calibri"/>
              <a:cs typeface="Calibri"/>
              <a:sym typeface="Calibri"/>
            </a:endParaRPr>
          </a:p>
        </p:txBody>
      </p:sp>
      <p:sp>
        <p:nvSpPr>
          <p:cNvPr id="199" name="Google Shape;199;p5"/>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Five Types of Parallelism</a:t>
            </a:r>
            <a:endParaRPr sz="2700">
              <a:solidFill>
                <a:schemeClr val="dk1"/>
              </a:solidFill>
              <a:latin typeface="Calibri"/>
              <a:ea typeface="Calibri"/>
              <a:cs typeface="Calibri"/>
              <a:sym typeface="Calibri"/>
            </a:endParaRPr>
          </a:p>
        </p:txBody>
      </p:sp>
      <p:sp>
        <p:nvSpPr>
          <p:cNvPr id="200" name="Google Shape;200;p5"/>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4</a:t>
            </a:r>
            <a:endParaRPr sz="850">
              <a:solidFill>
                <a:schemeClr val="dk1"/>
              </a:solidFill>
              <a:latin typeface="Calibri"/>
              <a:ea typeface="Calibri"/>
              <a:cs typeface="Calibri"/>
              <a:sym typeface="Calibri"/>
            </a:endParaRPr>
          </a:p>
        </p:txBody>
      </p:sp>
      <p:sp>
        <p:nvSpPr>
          <p:cNvPr id="201" name="Google Shape;201;p5"/>
          <p:cNvSpPr/>
          <p:nvPr/>
        </p:nvSpPr>
        <p:spPr>
          <a:xfrm>
            <a:off x="2770632" y="1069301"/>
            <a:ext cx="9154668" cy="5827085"/>
          </a:xfrm>
          <a:prstGeom prst="rect">
            <a:avLst/>
          </a:prstGeom>
          <a:noFill/>
          <a:ln>
            <a:noFill/>
          </a:ln>
        </p:spPr>
        <p:txBody>
          <a:bodyPr spcFirstLastPara="1" wrap="square" lIns="0" tIns="203125" rIns="0" bIns="203125" anchor="ctr" anchorCtr="0">
            <a:spAutoFit/>
          </a:bodyPr>
          <a:lstStyle/>
          <a:p>
            <a:pPr marL="0" marR="0" lvl="0" indent="0" algn="just" rtl="0">
              <a:lnSpc>
                <a:spcPct val="100000"/>
              </a:lnSpc>
              <a:spcBef>
                <a:spcPts val="0"/>
              </a:spcBef>
              <a:spcAft>
                <a:spcPts val="0"/>
              </a:spcAft>
              <a:buClr>
                <a:srgbClr val="00B050"/>
              </a:buClr>
              <a:buSzPts val="1600"/>
              <a:buFont typeface="Google Sans"/>
              <a:buNone/>
            </a:pPr>
            <a:r>
              <a:rPr lang="en-US" sz="1600" b="1" i="0" u="none" strike="noStrike" cap="none" dirty="0">
                <a:solidFill>
                  <a:srgbClr val="00B050"/>
                </a:solidFill>
                <a:latin typeface="Google Sans"/>
                <a:ea typeface="Google Sans"/>
                <a:cs typeface="Google Sans"/>
                <a:sym typeface="Google Sans"/>
              </a:rPr>
              <a:t>1. Bit-Level Parallelism</a:t>
            </a:r>
            <a:endParaRPr sz="900" b="0" i="0" u="none" strike="noStrike" cap="none" dirty="0">
              <a:solidFill>
                <a:srgbClr val="00B050"/>
              </a:solidFill>
              <a:latin typeface="Calibri"/>
              <a:ea typeface="Calibri"/>
              <a:cs typeface="Calibri"/>
              <a:sym typeface="Calibri"/>
            </a:endParaRPr>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Concept:</a:t>
            </a:r>
            <a:r>
              <a:rPr lang="en-US" sz="1600" b="0" i="1" u="none" strike="noStrike" cap="none" dirty="0">
                <a:solidFill>
                  <a:schemeClr val="dk1"/>
                </a:solidFill>
                <a:latin typeface="Calibri"/>
                <a:ea typeface="Calibri"/>
                <a:cs typeface="Calibri"/>
                <a:sym typeface="Calibri"/>
              </a:rPr>
              <a:t> Increasing the processor word size so the CPU can process larger numbers or operations in a single cycle.</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Mechanism:</a:t>
            </a:r>
            <a:r>
              <a:rPr lang="en-US" sz="1600" b="0" i="1" u="none" strike="noStrike" cap="none" dirty="0">
                <a:solidFill>
                  <a:schemeClr val="dk1"/>
                </a:solidFill>
                <a:latin typeface="Calibri"/>
                <a:ea typeface="Calibri"/>
                <a:cs typeface="Calibri"/>
                <a:sym typeface="Calibri"/>
              </a:rPr>
              <a:t> Moving from 8-bit to 16-bit, 32-bit, and currently 64-bit architectures.</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Big Data Context:</a:t>
            </a:r>
            <a:r>
              <a:rPr lang="en-US" sz="1600" b="0" i="1" u="none" strike="noStrike" cap="none" dirty="0">
                <a:solidFill>
                  <a:schemeClr val="dk1"/>
                </a:solidFill>
                <a:latin typeface="Calibri"/>
                <a:ea typeface="Calibri"/>
                <a:cs typeface="Calibri"/>
                <a:sym typeface="Calibri"/>
              </a:rPr>
              <a:t> Enables high-precision mathematical operations and massive direct memory addressing (RAM) on individual cluster nodes.</a:t>
            </a:r>
            <a:endParaRPr dirty="0"/>
          </a:p>
          <a:p>
            <a:pPr marL="0" marR="0" lvl="0" indent="0" algn="just" rtl="0">
              <a:lnSpc>
                <a:spcPct val="100000"/>
              </a:lnSpc>
              <a:spcBef>
                <a:spcPts val="0"/>
              </a:spcBef>
              <a:spcAft>
                <a:spcPts val="0"/>
              </a:spcAft>
              <a:buNone/>
            </a:pPr>
            <a:endParaRPr sz="1200" b="0" i="0" u="none" strike="noStrike" cap="none" dirty="0">
              <a:solidFill>
                <a:schemeClr val="dk1"/>
              </a:solidFill>
              <a:latin typeface="Google Sans"/>
              <a:ea typeface="Google Sans"/>
              <a:cs typeface="Google Sans"/>
              <a:sym typeface="Google Sans"/>
            </a:endParaRPr>
          </a:p>
          <a:p>
            <a:pPr marL="0" marR="0" lvl="0" indent="0" algn="just" rtl="0">
              <a:lnSpc>
                <a:spcPct val="100000"/>
              </a:lnSpc>
              <a:spcBef>
                <a:spcPts val="0"/>
              </a:spcBef>
              <a:spcAft>
                <a:spcPts val="0"/>
              </a:spcAft>
              <a:buClr>
                <a:srgbClr val="00B050"/>
              </a:buClr>
              <a:buSzPts val="1600"/>
              <a:buFont typeface="Google Sans"/>
              <a:buNone/>
            </a:pPr>
            <a:r>
              <a:rPr lang="en-US" sz="1600" b="1" i="0" u="none" strike="noStrike" cap="none" dirty="0">
                <a:solidFill>
                  <a:srgbClr val="00B050"/>
                </a:solidFill>
                <a:latin typeface="Google Sans"/>
                <a:ea typeface="Google Sans"/>
                <a:cs typeface="Google Sans"/>
                <a:sym typeface="Google Sans"/>
              </a:rPr>
              <a:t>2. Instruction-Level Parallelism (ILP)</a:t>
            </a:r>
            <a:endParaRPr sz="900" b="0" i="0" u="none" strike="noStrike" cap="none" dirty="0">
              <a:solidFill>
                <a:srgbClr val="00B050"/>
              </a:solidFill>
              <a:latin typeface="Calibri"/>
              <a:ea typeface="Calibri"/>
              <a:cs typeface="Calibri"/>
              <a:sym typeface="Calibri"/>
            </a:endParaRPr>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Concept:</a:t>
            </a:r>
            <a:r>
              <a:rPr lang="en-US" sz="1600" b="0" i="1" u="none" strike="noStrike" cap="none" dirty="0">
                <a:solidFill>
                  <a:schemeClr val="dk1"/>
                </a:solidFill>
                <a:latin typeface="Calibri"/>
                <a:ea typeface="Calibri"/>
                <a:cs typeface="Calibri"/>
                <a:sym typeface="Calibri"/>
              </a:rPr>
              <a:t> Executing multiple instructions from a single instruction stream simultaneously within a single CPU core.</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Mechanism:</a:t>
            </a:r>
            <a:r>
              <a:rPr lang="en-US" sz="1600" b="0" i="1" u="none" strike="noStrike" cap="none" dirty="0">
                <a:solidFill>
                  <a:schemeClr val="dk1"/>
                </a:solidFill>
                <a:latin typeface="Calibri"/>
                <a:ea typeface="Calibri"/>
                <a:cs typeface="Calibri"/>
                <a:sym typeface="Calibri"/>
              </a:rPr>
              <a:t> Achieved using hardware techniques like </a:t>
            </a:r>
            <a:r>
              <a:rPr lang="en-US" sz="1600" b="1" i="1" u="none" strike="noStrike" cap="none" dirty="0">
                <a:solidFill>
                  <a:schemeClr val="dk1"/>
                </a:solidFill>
                <a:latin typeface="Calibri"/>
                <a:ea typeface="Calibri"/>
                <a:cs typeface="Calibri"/>
                <a:sym typeface="Calibri"/>
              </a:rPr>
              <a:t>pipelining</a:t>
            </a:r>
            <a:r>
              <a:rPr lang="en-US" sz="1600" b="0" i="1" u="none" strike="noStrike" cap="none" dirty="0">
                <a:solidFill>
                  <a:schemeClr val="dk1"/>
                </a:solidFill>
                <a:latin typeface="Calibri"/>
                <a:ea typeface="Calibri"/>
                <a:cs typeface="Calibri"/>
                <a:sym typeface="Calibri"/>
              </a:rPr>
              <a:t>, </a:t>
            </a:r>
            <a:r>
              <a:rPr lang="en-US" sz="1600" b="1" i="1" u="none" strike="noStrike" cap="none" dirty="0">
                <a:solidFill>
                  <a:schemeClr val="dk1"/>
                </a:solidFill>
                <a:latin typeface="Calibri"/>
                <a:ea typeface="Calibri"/>
                <a:cs typeface="Calibri"/>
                <a:sym typeface="Calibri"/>
              </a:rPr>
              <a:t>superscalar execution</a:t>
            </a:r>
            <a:r>
              <a:rPr lang="en-US" sz="1600" b="0" i="1" u="none" strike="noStrike" cap="none" dirty="0">
                <a:solidFill>
                  <a:schemeClr val="dk1"/>
                </a:solidFill>
                <a:latin typeface="Calibri"/>
                <a:ea typeface="Calibri"/>
                <a:cs typeface="Calibri"/>
                <a:sym typeface="Calibri"/>
              </a:rPr>
              <a:t>, and </a:t>
            </a:r>
            <a:r>
              <a:rPr lang="en-US" sz="1600" b="1" i="1" u="none" strike="noStrike" cap="none" dirty="0">
                <a:solidFill>
                  <a:schemeClr val="dk1"/>
                </a:solidFill>
                <a:latin typeface="Calibri"/>
                <a:ea typeface="Calibri"/>
                <a:cs typeface="Calibri"/>
                <a:sym typeface="Calibri"/>
              </a:rPr>
              <a:t>out-of-order execution</a:t>
            </a:r>
            <a:r>
              <a:rPr lang="en-US" sz="1600" b="0" i="1" u="none" strike="noStrike" cap="none" dirty="0">
                <a:solidFill>
                  <a:schemeClr val="dk1"/>
                </a:solidFill>
                <a:latin typeface="Calibri"/>
                <a:ea typeface="Calibri"/>
                <a:cs typeface="Calibri"/>
                <a:sym typeface="Calibri"/>
              </a:rPr>
              <a:t>.</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Big Data Context:</a:t>
            </a:r>
            <a:r>
              <a:rPr lang="en-US" sz="1600" b="0" i="1" u="none" strike="noStrike" cap="none" dirty="0">
                <a:solidFill>
                  <a:schemeClr val="dk1"/>
                </a:solidFill>
                <a:latin typeface="Calibri"/>
                <a:ea typeface="Calibri"/>
                <a:cs typeface="Calibri"/>
                <a:sym typeface="Calibri"/>
              </a:rPr>
              <a:t> Speeds up the raw execution of serialized data processing functions at the lowest silicon layer.</a:t>
            </a:r>
            <a:endParaRPr dirty="0"/>
          </a:p>
          <a:p>
            <a:pPr marL="0" marR="0" lvl="0" indent="0" algn="just" rtl="0">
              <a:lnSpc>
                <a:spcPct val="100000"/>
              </a:lnSpc>
              <a:spcBef>
                <a:spcPts val="0"/>
              </a:spcBef>
              <a:spcAft>
                <a:spcPts val="0"/>
              </a:spcAft>
              <a:buClr>
                <a:schemeClr val="dk1"/>
              </a:buClr>
              <a:buSzPts val="1200"/>
              <a:buFont typeface="Calibri"/>
              <a:buNone/>
            </a:pPr>
            <a:endParaRPr sz="1200" dirty="0">
              <a:solidFill>
                <a:schemeClr val="dk1"/>
              </a:solidFill>
              <a:latin typeface="Google Sans"/>
              <a:ea typeface="Google Sans"/>
              <a:cs typeface="Google Sans"/>
              <a:sym typeface="Google Sans"/>
            </a:endParaRPr>
          </a:p>
          <a:p>
            <a:pPr marL="0" marR="0" lvl="0" indent="0" algn="just" rtl="0">
              <a:spcBef>
                <a:spcPts val="0"/>
              </a:spcBef>
              <a:spcAft>
                <a:spcPts val="0"/>
              </a:spcAft>
              <a:buNone/>
            </a:pPr>
            <a:r>
              <a:rPr lang="en-US" sz="1600" b="1" dirty="0">
                <a:solidFill>
                  <a:srgbClr val="00B050"/>
                </a:solidFill>
                <a:latin typeface="Google Sans"/>
                <a:ea typeface="Google Sans"/>
                <a:cs typeface="Google Sans"/>
                <a:sym typeface="Google Sans"/>
              </a:rPr>
              <a:t>3. Data Parallelism</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Concept:</a:t>
            </a:r>
            <a:r>
              <a:rPr lang="en-US" sz="1600" b="0" i="1" u="none" strike="noStrike" cap="none" dirty="0">
                <a:solidFill>
                  <a:schemeClr val="dk1"/>
                </a:solidFill>
                <a:latin typeface="Calibri"/>
                <a:ea typeface="Calibri"/>
                <a:cs typeface="Calibri"/>
                <a:sym typeface="Calibri"/>
              </a:rPr>
              <a:t> Distributing independent chunks of data across multiple computing nodes or cores to run the same operation simultaneously.</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Mechanism:</a:t>
            </a:r>
            <a:r>
              <a:rPr lang="en-US" sz="1600" b="0" i="1" u="none" strike="noStrike" cap="none" dirty="0">
                <a:solidFill>
                  <a:schemeClr val="dk1"/>
                </a:solidFill>
                <a:latin typeface="Calibri"/>
                <a:ea typeface="Calibri"/>
                <a:cs typeface="Calibri"/>
                <a:sym typeface="Calibri"/>
              </a:rPr>
              <a:t> Data is partitioned into subsets, and each subset is processed in parallel by identical code blocks.</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Big Data Context:</a:t>
            </a:r>
            <a:r>
              <a:rPr lang="en-US" sz="1600" b="0" i="1" u="none" strike="noStrike" cap="none" dirty="0">
                <a:solidFill>
                  <a:schemeClr val="dk1"/>
                </a:solidFill>
                <a:latin typeface="Calibri"/>
                <a:ea typeface="Calibri"/>
                <a:cs typeface="Calibri"/>
                <a:sym typeface="Calibri"/>
              </a:rPr>
              <a:t> The foundational paradigm of modern big data systems. It drives frameworks like </a:t>
            </a:r>
            <a:r>
              <a:rPr lang="en-US" sz="1600" b="1" i="1" u="none" strike="noStrike" cap="none" dirty="0">
                <a:solidFill>
                  <a:schemeClr val="dk1"/>
                </a:solidFill>
                <a:latin typeface="Calibri"/>
                <a:ea typeface="Calibri"/>
                <a:cs typeface="Calibri"/>
                <a:sym typeface="Calibri"/>
              </a:rPr>
              <a:t>Apache Spark RDD partitions</a:t>
            </a:r>
            <a:r>
              <a:rPr lang="en-US" sz="1600" b="0" i="1" u="none" strike="noStrike" cap="none" dirty="0">
                <a:solidFill>
                  <a:schemeClr val="dk1"/>
                </a:solidFill>
                <a:latin typeface="Calibri"/>
                <a:ea typeface="Calibri"/>
                <a:cs typeface="Calibri"/>
                <a:sym typeface="Calibri"/>
              </a:rPr>
              <a:t>, </a:t>
            </a:r>
            <a:r>
              <a:rPr lang="en-US" sz="1600" b="1" i="1" u="none" strike="noStrike" cap="none" dirty="0">
                <a:solidFill>
                  <a:schemeClr val="dk1"/>
                </a:solidFill>
                <a:latin typeface="Calibri"/>
                <a:ea typeface="Calibri"/>
                <a:cs typeface="Calibri"/>
                <a:sym typeface="Calibri"/>
              </a:rPr>
              <a:t>Hadoop </a:t>
            </a:r>
            <a:r>
              <a:rPr lang="en-US" sz="1600" b="1" i="1" u="none" strike="noStrike" cap="none" dirty="0" err="1">
                <a:solidFill>
                  <a:schemeClr val="dk1"/>
                </a:solidFill>
                <a:latin typeface="Calibri"/>
                <a:ea typeface="Calibri"/>
                <a:cs typeface="Calibri"/>
                <a:sym typeface="Calibri"/>
              </a:rPr>
              <a:t>MapReduce</a:t>
            </a:r>
            <a:r>
              <a:rPr lang="en-US" sz="1600" b="1" i="1" u="none" strike="noStrike" cap="none" dirty="0">
                <a:solidFill>
                  <a:schemeClr val="dk1"/>
                </a:solidFill>
                <a:latin typeface="Calibri"/>
                <a:ea typeface="Calibri"/>
                <a:cs typeface="Calibri"/>
                <a:sym typeface="Calibri"/>
              </a:rPr>
              <a:t> splits</a:t>
            </a:r>
            <a:r>
              <a:rPr lang="en-US" sz="1600" b="0" i="1" u="none" strike="noStrike" cap="none" dirty="0">
                <a:solidFill>
                  <a:schemeClr val="dk1"/>
                </a:solidFill>
                <a:latin typeface="Calibri"/>
                <a:ea typeface="Calibri"/>
                <a:cs typeface="Calibri"/>
                <a:sym typeface="Calibri"/>
              </a:rPr>
              <a:t>, and GPU-accelerated computing.</a:t>
            </a:r>
            <a:endParaRPr dirty="0"/>
          </a:p>
          <a:p>
            <a:pPr marL="0" marR="0" lvl="0" indent="0" algn="just"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
        <p:cNvGrpSpPr/>
        <p:nvPr/>
      </p:nvGrpSpPr>
      <p:grpSpPr>
        <a:xfrm>
          <a:off x="0" y="0"/>
          <a:ext cx="0" cy="0"/>
          <a:chOff x="0" y="0"/>
          <a:chExt cx="0" cy="0"/>
        </a:xfrm>
      </p:grpSpPr>
      <p:sp>
        <p:nvSpPr>
          <p:cNvPr id="207" name="Google Shape;207;p6"/>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209" name="Google Shape;209;p6"/>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210" name="Google Shape;210;p6"/>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211" name="Google Shape;211;p6"/>
          <p:cNvSpPr/>
          <p:nvPr/>
        </p:nvSpPr>
        <p:spPr>
          <a:xfrm>
            <a:off x="109728" y="1325880"/>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213" name="Google Shape;213;p6"/>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214" name="Google Shape;214;p6"/>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215" name="Google Shape;215;p6"/>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216" name="Google Shape;216;p6"/>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217" name="Google Shape;217;p6"/>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218" name="Google Shape;218;p6"/>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219" name="Google Shape;219;p6"/>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220" name="Google Shape;220;p6"/>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221" name="Google Shape;221;p6"/>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222" name="Google Shape;222;p6"/>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223" name="Google Shape;223;p6"/>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224" name="Google Shape;224;p6"/>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225" name="Google Shape;225;p6"/>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226" name="Google Shape;226;p6"/>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227" name="Google Shape;227;p6"/>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228" name="Google Shape;228;p6"/>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229" name="Google Shape;229;p6"/>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230" name="Google Shape;230;p6"/>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3.1 PARALLELISM</a:t>
            </a:r>
            <a:endParaRPr sz="1200">
              <a:solidFill>
                <a:schemeClr val="dk1"/>
              </a:solidFill>
              <a:latin typeface="Calibri"/>
              <a:ea typeface="Calibri"/>
              <a:cs typeface="Calibri"/>
              <a:sym typeface="Calibri"/>
            </a:endParaRPr>
          </a:p>
        </p:txBody>
      </p:sp>
      <p:sp>
        <p:nvSpPr>
          <p:cNvPr id="231" name="Google Shape;231;p6"/>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Five Types of Parallelism</a:t>
            </a:r>
            <a:endParaRPr sz="2700">
              <a:solidFill>
                <a:schemeClr val="dk1"/>
              </a:solidFill>
              <a:latin typeface="Calibri"/>
              <a:ea typeface="Calibri"/>
              <a:cs typeface="Calibri"/>
              <a:sym typeface="Calibri"/>
            </a:endParaRPr>
          </a:p>
        </p:txBody>
      </p:sp>
      <p:sp>
        <p:nvSpPr>
          <p:cNvPr id="232" name="Google Shape;232;p6"/>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233" name="Google Shape;233;p6"/>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4</a:t>
            </a:r>
            <a:endParaRPr sz="850">
              <a:solidFill>
                <a:schemeClr val="dk1"/>
              </a:solidFill>
              <a:latin typeface="Calibri"/>
              <a:ea typeface="Calibri"/>
              <a:cs typeface="Calibri"/>
              <a:sym typeface="Calibri"/>
            </a:endParaRPr>
          </a:p>
        </p:txBody>
      </p:sp>
      <p:sp>
        <p:nvSpPr>
          <p:cNvPr id="234" name="Google Shape;234;p6"/>
          <p:cNvSpPr/>
          <p:nvPr/>
        </p:nvSpPr>
        <p:spPr>
          <a:xfrm>
            <a:off x="2770632" y="1140268"/>
            <a:ext cx="9238183" cy="4257424"/>
          </a:xfrm>
          <a:prstGeom prst="rect">
            <a:avLst/>
          </a:prstGeom>
          <a:noFill/>
          <a:ln>
            <a:noFill/>
          </a:ln>
        </p:spPr>
        <p:txBody>
          <a:bodyPr spcFirstLastPara="1" wrap="square" lIns="0" tIns="203125" rIns="0" bIns="203125" anchor="ctr" anchorCtr="0">
            <a:spAutoFit/>
          </a:bodyPr>
          <a:lstStyle/>
          <a:p>
            <a:pPr marL="0" marR="0" lvl="0" indent="0" algn="just" rtl="0">
              <a:spcBef>
                <a:spcPts val="0"/>
              </a:spcBef>
              <a:spcAft>
                <a:spcPts val="0"/>
              </a:spcAft>
              <a:buNone/>
            </a:pPr>
            <a:r>
              <a:rPr lang="en-US" sz="1600" b="1" dirty="0">
                <a:solidFill>
                  <a:srgbClr val="00B050"/>
                </a:solidFill>
                <a:latin typeface="Google Sans"/>
                <a:ea typeface="Google Sans"/>
                <a:cs typeface="Google Sans"/>
                <a:sym typeface="Google Sans"/>
              </a:rPr>
              <a:t>4. Task Parallelism (Functional Parallelism)</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Concept:</a:t>
            </a:r>
            <a:r>
              <a:rPr lang="en-US" sz="1600" b="0" i="1" u="none" strike="noStrike" cap="none" dirty="0">
                <a:solidFill>
                  <a:schemeClr val="dk1"/>
                </a:solidFill>
                <a:latin typeface="Calibri"/>
                <a:ea typeface="Calibri"/>
                <a:cs typeface="Calibri"/>
                <a:sym typeface="Calibri"/>
              </a:rPr>
              <a:t> Executing completely different operations or tasks concurrently on either the same or different data sets.</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Mechanism:</a:t>
            </a:r>
            <a:r>
              <a:rPr lang="en-US" sz="1600" b="0" i="1" u="none" strike="noStrike" cap="none" dirty="0">
                <a:solidFill>
                  <a:schemeClr val="dk1"/>
                </a:solidFill>
                <a:latin typeface="Calibri"/>
                <a:ea typeface="Calibri"/>
                <a:cs typeface="Calibri"/>
                <a:sym typeface="Calibri"/>
              </a:rPr>
              <a:t> Threads or nodes perform unrelated functions at the same time.</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Big Data Context:</a:t>
            </a:r>
            <a:r>
              <a:rPr lang="en-US" sz="1600" b="0" i="1" u="none" strike="noStrike" cap="none" dirty="0">
                <a:solidFill>
                  <a:schemeClr val="dk1"/>
                </a:solidFill>
                <a:latin typeface="Calibri"/>
                <a:ea typeface="Calibri"/>
                <a:cs typeface="Calibri"/>
                <a:sym typeface="Calibri"/>
              </a:rPr>
              <a:t> Heavily used in multi-stage workflows and complex orchestration pipelines (e.g., executing a data ingestion task, a data cleaning job, and an ML model training job concurrently via </a:t>
            </a:r>
            <a:r>
              <a:rPr lang="en-US" sz="1600" b="1" i="1" u="none" strike="noStrike" cap="none" dirty="0">
                <a:solidFill>
                  <a:schemeClr val="dk1"/>
                </a:solidFill>
                <a:latin typeface="Calibri"/>
                <a:ea typeface="Calibri"/>
                <a:cs typeface="Calibri"/>
                <a:sym typeface="Calibri"/>
              </a:rPr>
              <a:t>Apache Airflow</a:t>
            </a:r>
            <a:r>
              <a:rPr lang="en-US" sz="1600" b="0" i="1" u="none" strike="noStrike" cap="none" dirty="0">
                <a:solidFill>
                  <a:schemeClr val="dk1"/>
                </a:solidFill>
                <a:latin typeface="Calibri"/>
                <a:ea typeface="Calibri"/>
                <a:cs typeface="Calibri"/>
                <a:sym typeface="Calibri"/>
              </a:rPr>
              <a:t>).</a:t>
            </a:r>
            <a:endParaRPr dirty="0"/>
          </a:p>
          <a:p>
            <a:pPr marL="0" marR="0" lvl="0" indent="0" algn="just" rtl="0">
              <a:lnSpc>
                <a:spcPct val="100000"/>
              </a:lnSpc>
              <a:spcBef>
                <a:spcPts val="0"/>
              </a:spcBef>
              <a:spcAft>
                <a:spcPts val="0"/>
              </a:spcAft>
              <a:buClr>
                <a:schemeClr val="dk1"/>
              </a:buClr>
              <a:buSzPts val="1200"/>
              <a:buFont typeface="Calibri"/>
              <a:buNone/>
            </a:pPr>
            <a:endParaRPr sz="1200" dirty="0">
              <a:solidFill>
                <a:schemeClr val="dk1"/>
              </a:solidFill>
              <a:latin typeface="Google Sans"/>
              <a:ea typeface="Google Sans"/>
              <a:cs typeface="Google Sans"/>
              <a:sym typeface="Google Sans"/>
            </a:endParaRPr>
          </a:p>
          <a:p>
            <a:pPr marL="0" marR="0" lvl="0" indent="0" algn="just" rtl="0">
              <a:lnSpc>
                <a:spcPct val="100000"/>
              </a:lnSpc>
              <a:spcBef>
                <a:spcPts val="0"/>
              </a:spcBef>
              <a:spcAft>
                <a:spcPts val="0"/>
              </a:spcAft>
              <a:buClr>
                <a:schemeClr val="dk1"/>
              </a:buClr>
              <a:buSzPts val="1200"/>
              <a:buFont typeface="Calibri"/>
              <a:buNone/>
            </a:pPr>
            <a:endParaRPr sz="1200" b="0" i="0" u="none" strike="noStrike" cap="none" dirty="0">
              <a:solidFill>
                <a:schemeClr val="dk1"/>
              </a:solidFill>
              <a:latin typeface="Google Sans"/>
              <a:ea typeface="Google Sans"/>
              <a:cs typeface="Google Sans"/>
              <a:sym typeface="Google Sans"/>
            </a:endParaRPr>
          </a:p>
          <a:p>
            <a:pPr marL="0" marR="0" lvl="0" indent="0" algn="just" rtl="0">
              <a:lnSpc>
                <a:spcPct val="100000"/>
              </a:lnSpc>
              <a:spcBef>
                <a:spcPts val="0"/>
              </a:spcBef>
              <a:spcAft>
                <a:spcPts val="0"/>
              </a:spcAft>
              <a:buClr>
                <a:srgbClr val="00B050"/>
              </a:buClr>
              <a:buSzPts val="1600"/>
              <a:buFont typeface="Google Sans"/>
              <a:buNone/>
            </a:pPr>
            <a:r>
              <a:rPr lang="en-US" sz="1600" b="1" dirty="0">
                <a:solidFill>
                  <a:srgbClr val="00B050"/>
                </a:solidFill>
                <a:latin typeface="Google Sans"/>
                <a:ea typeface="Google Sans"/>
                <a:cs typeface="Google Sans"/>
                <a:sym typeface="Google Sans"/>
              </a:rPr>
              <a:t>5. Loop-Level Parallelism</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Concept:</a:t>
            </a:r>
            <a:r>
              <a:rPr lang="en-US" sz="1600" b="0" i="1" u="none" strike="noStrike" cap="none" dirty="0">
                <a:solidFill>
                  <a:schemeClr val="dk1"/>
                </a:solidFill>
                <a:latin typeface="Calibri"/>
                <a:ea typeface="Calibri"/>
                <a:cs typeface="Calibri"/>
                <a:sym typeface="Calibri"/>
              </a:rPr>
              <a:t> Optimizing loops so that individual iterations can run concurrently instead of waiting for the previous iteration to finish.</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Mechanism:</a:t>
            </a:r>
            <a:r>
              <a:rPr lang="en-US" sz="1600" b="0" i="1" u="none" strike="noStrike" cap="none" dirty="0">
                <a:solidFill>
                  <a:schemeClr val="dk1"/>
                </a:solidFill>
                <a:latin typeface="Calibri"/>
                <a:ea typeface="Calibri"/>
                <a:cs typeface="Calibri"/>
                <a:sym typeface="Calibri"/>
              </a:rPr>
              <a:t> Compiler optimization or manual directives (like </a:t>
            </a:r>
            <a:r>
              <a:rPr lang="en-US" sz="1600" b="0" i="1" u="none" strike="noStrike" cap="none" dirty="0" err="1">
                <a:solidFill>
                  <a:schemeClr val="dk1"/>
                </a:solidFill>
                <a:latin typeface="Calibri"/>
                <a:ea typeface="Calibri"/>
                <a:cs typeface="Calibri"/>
                <a:sym typeface="Calibri"/>
              </a:rPr>
              <a:t>OpenMP</a:t>
            </a:r>
            <a:r>
              <a:rPr lang="en-US" sz="1600" b="0" i="1" u="none" strike="noStrike" cap="none" dirty="0">
                <a:solidFill>
                  <a:schemeClr val="dk1"/>
                </a:solidFill>
                <a:latin typeface="Calibri"/>
                <a:ea typeface="Calibri"/>
                <a:cs typeface="Calibri"/>
                <a:sym typeface="Calibri"/>
              </a:rPr>
              <a:t>) that parallelize independent loop execution paths.</a:t>
            </a:r>
            <a:endParaRPr dirty="0"/>
          </a:p>
          <a:p>
            <a:pPr marL="0" marR="0" lvl="0" indent="0" algn="just" rtl="0">
              <a:lnSpc>
                <a:spcPct val="100000"/>
              </a:lnSpc>
              <a:spcBef>
                <a:spcPts val="0"/>
              </a:spcBef>
              <a:spcAft>
                <a:spcPts val="0"/>
              </a:spcAft>
              <a:buNone/>
            </a:pPr>
            <a:r>
              <a:rPr lang="en-US" sz="1600" b="1" i="1" u="none" strike="noStrike" cap="none" dirty="0">
                <a:solidFill>
                  <a:schemeClr val="dk1"/>
                </a:solidFill>
                <a:latin typeface="Calibri"/>
                <a:ea typeface="Calibri"/>
                <a:cs typeface="Calibri"/>
                <a:sym typeface="Calibri"/>
              </a:rPr>
              <a:t>Big Data Context:</a:t>
            </a:r>
            <a:r>
              <a:rPr lang="en-US" sz="1600" b="0" i="1" u="none" strike="noStrike" cap="none" dirty="0">
                <a:solidFill>
                  <a:schemeClr val="dk1"/>
                </a:solidFill>
                <a:latin typeface="Calibri"/>
                <a:ea typeface="Calibri"/>
                <a:cs typeface="Calibri"/>
                <a:sym typeface="Calibri"/>
              </a:rPr>
              <a:t> Critical for optimizing repetitive mathematical operations inside data analysis scripts, matrix transformations, and machine learning algorithms.</a:t>
            </a:r>
            <a:endParaRPr dirty="0"/>
          </a:p>
          <a:p>
            <a:pPr marL="0" marR="0" lvl="0" indent="0" algn="just"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Shape 239"/>
        <p:cNvGrpSpPr/>
        <p:nvPr/>
      </p:nvGrpSpPr>
      <p:grpSpPr>
        <a:xfrm>
          <a:off x="0" y="0"/>
          <a:ext cx="0" cy="0"/>
          <a:chOff x="0" y="0"/>
          <a:chExt cx="0" cy="0"/>
        </a:xfrm>
      </p:grpSpPr>
      <p:sp>
        <p:nvSpPr>
          <p:cNvPr id="240" name="Google Shape;240;p7"/>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242" name="Google Shape;242;p7"/>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243" name="Google Shape;243;p7"/>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244" name="Google Shape;244;p7"/>
          <p:cNvSpPr/>
          <p:nvPr/>
        </p:nvSpPr>
        <p:spPr>
          <a:xfrm>
            <a:off x="109728" y="1325880"/>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246" name="Google Shape;246;p7"/>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247" name="Google Shape;247;p7"/>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248" name="Google Shape;248;p7"/>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249" name="Google Shape;249;p7"/>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250" name="Google Shape;250;p7"/>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251" name="Google Shape;251;p7"/>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252" name="Google Shape;252;p7"/>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253" name="Google Shape;253;p7"/>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254" name="Google Shape;254;p7"/>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255" name="Google Shape;255;p7"/>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256" name="Google Shape;256;p7"/>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257" name="Google Shape;257;p7"/>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258" name="Google Shape;258;p7"/>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259" name="Google Shape;259;p7"/>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260" name="Google Shape;260;p7"/>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261" name="Google Shape;261;p7"/>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262" name="Google Shape;262;p7"/>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263" name="Google Shape;263;p7"/>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3.1 PARALLELISM</a:t>
            </a:r>
            <a:endParaRPr sz="1200">
              <a:solidFill>
                <a:schemeClr val="dk1"/>
              </a:solidFill>
              <a:latin typeface="Calibri"/>
              <a:ea typeface="Calibri"/>
              <a:cs typeface="Calibri"/>
              <a:sym typeface="Calibri"/>
            </a:endParaRPr>
          </a:p>
        </p:txBody>
      </p:sp>
      <p:sp>
        <p:nvSpPr>
          <p:cNvPr id="264" name="Google Shape;264;p7"/>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Five Types of Parallelism</a:t>
            </a:r>
            <a:endParaRPr sz="2700">
              <a:solidFill>
                <a:schemeClr val="dk1"/>
              </a:solidFill>
              <a:latin typeface="Calibri"/>
              <a:ea typeface="Calibri"/>
              <a:cs typeface="Calibri"/>
              <a:sym typeface="Calibri"/>
            </a:endParaRPr>
          </a:p>
        </p:txBody>
      </p:sp>
      <p:sp>
        <p:nvSpPr>
          <p:cNvPr id="265" name="Google Shape;265;p7"/>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266" name="Google Shape;266;p7"/>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4</a:t>
            </a:r>
            <a:endParaRPr sz="850">
              <a:solidFill>
                <a:schemeClr val="dk1"/>
              </a:solidFill>
              <a:latin typeface="Calibri"/>
              <a:ea typeface="Calibri"/>
              <a:cs typeface="Calibri"/>
              <a:sym typeface="Calibri"/>
            </a:endParaRPr>
          </a:p>
        </p:txBody>
      </p:sp>
      <p:pic>
        <p:nvPicPr>
          <p:cNvPr id="267" name="Google Shape;267;p7"/>
          <p:cNvPicPr preferRelativeResize="0"/>
          <p:nvPr/>
        </p:nvPicPr>
        <p:blipFill rotWithShape="1">
          <a:blip r:embed="rId3">
            <a:alphaModFix/>
          </a:blip>
          <a:srcRect/>
          <a:stretch/>
        </p:blipFill>
        <p:spPr>
          <a:xfrm>
            <a:off x="2706471" y="1619250"/>
            <a:ext cx="9247632" cy="3181413"/>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2"/>
        <p:cNvGrpSpPr/>
        <p:nvPr/>
      </p:nvGrpSpPr>
      <p:grpSpPr>
        <a:xfrm>
          <a:off x="0" y="0"/>
          <a:ext cx="0" cy="0"/>
          <a:chOff x="0" y="0"/>
          <a:chExt cx="0" cy="0"/>
        </a:xfrm>
      </p:grpSpPr>
      <p:sp>
        <p:nvSpPr>
          <p:cNvPr id="273" name="Google Shape;273;p8"/>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275" name="Google Shape;275;p8"/>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276" name="Google Shape;276;p8"/>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277" name="Google Shape;277;p8"/>
          <p:cNvSpPr/>
          <p:nvPr/>
        </p:nvSpPr>
        <p:spPr>
          <a:xfrm>
            <a:off x="109728" y="1325880"/>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279" name="Google Shape;279;p8"/>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280" name="Google Shape;280;p8"/>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281" name="Google Shape;281;p8"/>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282" name="Google Shape;282;p8"/>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283" name="Google Shape;283;p8"/>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284" name="Google Shape;284;p8"/>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285" name="Google Shape;285;p8"/>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286" name="Google Shape;286;p8"/>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287" name="Google Shape;287;p8"/>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288" name="Google Shape;288;p8"/>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289" name="Google Shape;289;p8"/>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290" name="Google Shape;290;p8"/>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291" name="Google Shape;291;p8"/>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292" name="Google Shape;292;p8"/>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293" name="Google Shape;293;p8"/>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294" name="Google Shape;294;p8"/>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295" name="Google Shape;295;p8"/>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296" name="Google Shape;296;p8"/>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3.1 PARALLELISM</a:t>
            </a:r>
            <a:endParaRPr sz="1200">
              <a:solidFill>
                <a:schemeClr val="dk1"/>
              </a:solidFill>
              <a:latin typeface="Calibri"/>
              <a:ea typeface="Calibri"/>
              <a:cs typeface="Calibri"/>
              <a:sym typeface="Calibri"/>
            </a:endParaRPr>
          </a:p>
        </p:txBody>
      </p:sp>
      <p:sp>
        <p:nvSpPr>
          <p:cNvPr id="297" name="Google Shape;297;p8"/>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Amdahl's Law — the Limit of Speed-Up</a:t>
            </a:r>
            <a:endParaRPr sz="2700">
              <a:solidFill>
                <a:schemeClr val="dk1"/>
              </a:solidFill>
              <a:latin typeface="Calibri"/>
              <a:ea typeface="Calibri"/>
              <a:cs typeface="Calibri"/>
              <a:sym typeface="Calibri"/>
            </a:endParaRPr>
          </a:p>
        </p:txBody>
      </p:sp>
      <p:sp>
        <p:nvSpPr>
          <p:cNvPr id="298" name="Google Shape;298;p8"/>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299" name="Google Shape;299;p8"/>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5</a:t>
            </a:r>
            <a:endParaRPr sz="850">
              <a:solidFill>
                <a:schemeClr val="dk1"/>
              </a:solidFill>
              <a:latin typeface="Calibri"/>
              <a:ea typeface="Calibri"/>
              <a:cs typeface="Calibri"/>
              <a:sym typeface="Calibri"/>
            </a:endParaRPr>
          </a:p>
        </p:txBody>
      </p:sp>
      <p:pic>
        <p:nvPicPr>
          <p:cNvPr id="300" name="Google Shape;300;p8"/>
          <p:cNvPicPr preferRelativeResize="0"/>
          <p:nvPr/>
        </p:nvPicPr>
        <p:blipFill rotWithShape="1">
          <a:blip r:embed="rId3">
            <a:alphaModFix/>
          </a:blip>
          <a:srcRect/>
          <a:stretch/>
        </p:blipFill>
        <p:spPr>
          <a:xfrm>
            <a:off x="2834640" y="2713482"/>
            <a:ext cx="6706181" cy="2911092"/>
          </a:xfrm>
          <a:prstGeom prst="rect">
            <a:avLst/>
          </a:prstGeom>
          <a:noFill/>
          <a:ln>
            <a:noFill/>
          </a:ln>
        </p:spPr>
      </p:pic>
      <p:sp>
        <p:nvSpPr>
          <p:cNvPr id="301" name="Google Shape;301;p8"/>
          <p:cNvSpPr/>
          <p:nvPr/>
        </p:nvSpPr>
        <p:spPr>
          <a:xfrm>
            <a:off x="2834023" y="1247465"/>
            <a:ext cx="8991295" cy="164134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000" b="1" i="1">
                <a:solidFill>
                  <a:srgbClr val="C55A11"/>
                </a:solidFill>
                <a:latin typeface="Calibri"/>
                <a:ea typeface="Calibri"/>
                <a:cs typeface="Calibri"/>
                <a:sym typeface="Calibri"/>
              </a:rPr>
              <a:t>Amdahl's Law predicts the theoretical maximum speed-up of a program when only a part of it is parallelized. </a:t>
            </a:r>
            <a:endParaRPr sz="2000" b="1" i="1">
              <a:solidFill>
                <a:srgbClr val="C55A11"/>
              </a:solidFill>
              <a:latin typeface="Calibri"/>
              <a:ea typeface="Calibri"/>
              <a:cs typeface="Calibri"/>
              <a:sym typeface="Calibri"/>
            </a:endParaRPr>
          </a:p>
          <a:p>
            <a:pPr marL="0" marR="0" lvl="0" indent="0" algn="just" rtl="0">
              <a:spcBef>
                <a:spcPts val="0"/>
              </a:spcBef>
              <a:spcAft>
                <a:spcPts val="0"/>
              </a:spcAft>
              <a:buNone/>
            </a:pPr>
            <a:r>
              <a:rPr lang="en-US" sz="2000" b="1" i="1">
                <a:solidFill>
                  <a:srgbClr val="C55A11"/>
                </a:solidFill>
                <a:latin typeface="Calibri"/>
                <a:ea typeface="Calibri"/>
                <a:cs typeface="Calibri"/>
                <a:sym typeface="Calibri"/>
              </a:rPr>
              <a:t>It proves that the non-parallel portion of a program always creates a hard performance bottleneck.</a:t>
            </a:r>
            <a:endParaRPr/>
          </a:p>
          <a:p>
            <a:pPr marL="0" marR="0" lvl="0" indent="0" algn="just" rtl="0">
              <a:spcBef>
                <a:spcPts val="0"/>
              </a:spcBef>
              <a:spcAft>
                <a:spcPts val="0"/>
              </a:spcAft>
              <a:buNone/>
            </a:pPr>
            <a:endParaRPr sz="2000" b="1" i="1">
              <a:solidFill>
                <a:srgbClr val="C55A1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6"/>
        <p:cNvGrpSpPr/>
        <p:nvPr/>
      </p:nvGrpSpPr>
      <p:grpSpPr>
        <a:xfrm>
          <a:off x="0" y="0"/>
          <a:ext cx="0" cy="0"/>
          <a:chOff x="0" y="0"/>
          <a:chExt cx="0" cy="0"/>
        </a:xfrm>
      </p:grpSpPr>
      <p:sp>
        <p:nvSpPr>
          <p:cNvPr id="307" name="Google Shape;307;p9"/>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309" name="Google Shape;309;p9"/>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310" name="Google Shape;310;p9"/>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311" name="Google Shape;311;p9"/>
          <p:cNvSpPr/>
          <p:nvPr/>
        </p:nvSpPr>
        <p:spPr>
          <a:xfrm>
            <a:off x="109728" y="1325880"/>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9"/>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313" name="Google Shape;313;p9"/>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314" name="Google Shape;314;p9"/>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315" name="Google Shape;315;p9"/>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316" name="Google Shape;316;p9"/>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317" name="Google Shape;317;p9"/>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318" name="Google Shape;318;p9"/>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319" name="Google Shape;319;p9"/>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320" name="Google Shape;320;p9"/>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321" name="Google Shape;321;p9"/>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322" name="Google Shape;322;p9"/>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323" name="Google Shape;323;p9"/>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324" name="Google Shape;324;p9"/>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325" name="Google Shape;325;p9"/>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326" name="Google Shape;326;p9"/>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327" name="Google Shape;327;p9"/>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328" name="Google Shape;328;p9"/>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329" name="Google Shape;329;p9"/>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330" name="Google Shape;330;p9"/>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3.1 PARALLELISM</a:t>
            </a:r>
            <a:endParaRPr sz="1200">
              <a:solidFill>
                <a:schemeClr val="dk1"/>
              </a:solidFill>
              <a:latin typeface="Calibri"/>
              <a:ea typeface="Calibri"/>
              <a:cs typeface="Calibri"/>
              <a:sym typeface="Calibri"/>
            </a:endParaRPr>
          </a:p>
        </p:txBody>
      </p:sp>
      <p:sp>
        <p:nvSpPr>
          <p:cNvPr id="331" name="Google Shape;331;p9"/>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Amdahl's Law — the Limit of Speed-Up</a:t>
            </a:r>
            <a:endParaRPr sz="2700">
              <a:solidFill>
                <a:schemeClr val="dk1"/>
              </a:solidFill>
              <a:latin typeface="Calibri"/>
              <a:ea typeface="Calibri"/>
              <a:cs typeface="Calibri"/>
              <a:sym typeface="Calibri"/>
            </a:endParaRPr>
          </a:p>
        </p:txBody>
      </p:sp>
      <p:sp>
        <p:nvSpPr>
          <p:cNvPr id="332" name="Google Shape;332;p9"/>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5</a:t>
            </a:r>
            <a:endParaRPr sz="850">
              <a:solidFill>
                <a:schemeClr val="dk1"/>
              </a:solidFill>
              <a:latin typeface="Calibri"/>
              <a:ea typeface="Calibri"/>
              <a:cs typeface="Calibri"/>
              <a:sym typeface="Calibri"/>
            </a:endParaRPr>
          </a:p>
        </p:txBody>
      </p:sp>
      <p:graphicFrame>
        <p:nvGraphicFramePr>
          <p:cNvPr id="333" name="Google Shape;333;p9"/>
          <p:cNvGraphicFramePr/>
          <p:nvPr>
            <p:extLst>
              <p:ext uri="{D42A27DB-BD31-4B8C-83A1-F6EECF244321}">
                <p14:modId xmlns:p14="http://schemas.microsoft.com/office/powerpoint/2010/main" val="1317728656"/>
              </p:ext>
            </p:extLst>
          </p:nvPr>
        </p:nvGraphicFramePr>
        <p:xfrm>
          <a:off x="3070231" y="5005231"/>
          <a:ext cx="5521319" cy="1693857"/>
        </p:xfrm>
        <a:graphic>
          <a:graphicData uri="http://schemas.openxmlformats.org/drawingml/2006/chart">
            <c:chart xmlns:c="http://schemas.openxmlformats.org/drawingml/2006/chart" xmlns:r="http://schemas.openxmlformats.org/officeDocument/2006/relationships" r:id="rId3"/>
          </a:graphicData>
        </a:graphic>
      </p:graphicFrame>
      <p:pic>
        <p:nvPicPr>
          <p:cNvPr id="334" name="Google Shape;334;p9"/>
          <p:cNvPicPr preferRelativeResize="0"/>
          <p:nvPr/>
        </p:nvPicPr>
        <p:blipFill rotWithShape="1">
          <a:blip r:embed="rId4">
            <a:alphaModFix/>
          </a:blip>
          <a:srcRect/>
          <a:stretch/>
        </p:blipFill>
        <p:spPr>
          <a:xfrm>
            <a:off x="2834640" y="1250751"/>
            <a:ext cx="7085215" cy="3579258"/>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9"/>
        <p:cNvGrpSpPr/>
        <p:nvPr/>
      </p:nvGrpSpPr>
      <p:grpSpPr>
        <a:xfrm>
          <a:off x="0" y="0"/>
          <a:ext cx="0" cy="0"/>
          <a:chOff x="0" y="0"/>
          <a:chExt cx="0" cy="0"/>
        </a:xfrm>
      </p:grpSpPr>
      <p:sp>
        <p:nvSpPr>
          <p:cNvPr id="340" name="Google Shape;340;p10"/>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0"/>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342" name="Google Shape;342;p10"/>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343" name="Google Shape;343;p10"/>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344" name="Google Shape;344;p10"/>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345" name="Google Shape;345;p10"/>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346" name="Google Shape;346;p10"/>
          <p:cNvSpPr/>
          <p:nvPr/>
        </p:nvSpPr>
        <p:spPr>
          <a:xfrm>
            <a:off x="109728" y="1888236"/>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0"/>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348" name="Google Shape;348;p10"/>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349" name="Google Shape;349;p10"/>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350" name="Google Shape;350;p10"/>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351" name="Google Shape;351;p10"/>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352" name="Google Shape;352;p10"/>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353" name="Google Shape;353;p10"/>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354" name="Google Shape;354;p10"/>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355" name="Google Shape;355;p10"/>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356" name="Google Shape;356;p10"/>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357" name="Google Shape;357;p10"/>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358" name="Google Shape;358;p10"/>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359" name="Google Shape;359;p10"/>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360" name="Google Shape;360;p10"/>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361" name="Google Shape;361;p10"/>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362" name="Google Shape;362;p10"/>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363" name="Google Shape;363;p10"/>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3.2 DATA PARTITIONING</a:t>
            </a:r>
            <a:endParaRPr sz="1200">
              <a:solidFill>
                <a:schemeClr val="dk1"/>
              </a:solidFill>
              <a:latin typeface="Calibri"/>
              <a:ea typeface="Calibri"/>
              <a:cs typeface="Calibri"/>
              <a:sym typeface="Calibri"/>
            </a:endParaRPr>
          </a:p>
        </p:txBody>
      </p:sp>
      <p:sp>
        <p:nvSpPr>
          <p:cNvPr id="364" name="Google Shape;364;p10"/>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Horizontal vs Vertical Partitioning</a:t>
            </a:r>
            <a:endParaRPr sz="2700">
              <a:solidFill>
                <a:schemeClr val="dk1"/>
              </a:solidFill>
              <a:latin typeface="Calibri"/>
              <a:ea typeface="Calibri"/>
              <a:cs typeface="Calibri"/>
              <a:sym typeface="Calibri"/>
            </a:endParaRPr>
          </a:p>
        </p:txBody>
      </p:sp>
      <p:sp>
        <p:nvSpPr>
          <p:cNvPr id="365" name="Google Shape;365;p10"/>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6</a:t>
            </a:r>
            <a:endParaRPr sz="850">
              <a:solidFill>
                <a:schemeClr val="dk1"/>
              </a:solidFill>
              <a:latin typeface="Calibri"/>
              <a:ea typeface="Calibri"/>
              <a:cs typeface="Calibri"/>
              <a:sym typeface="Calibri"/>
            </a:endParaRPr>
          </a:p>
        </p:txBody>
      </p:sp>
      <p:pic>
        <p:nvPicPr>
          <p:cNvPr id="366" name="Google Shape;366;p10"/>
          <p:cNvPicPr preferRelativeResize="0"/>
          <p:nvPr/>
        </p:nvPicPr>
        <p:blipFill rotWithShape="1">
          <a:blip r:embed="rId3">
            <a:alphaModFix/>
          </a:blip>
          <a:srcRect/>
          <a:stretch/>
        </p:blipFill>
        <p:spPr>
          <a:xfrm>
            <a:off x="3850966" y="3511296"/>
            <a:ext cx="6767146" cy="2895851"/>
          </a:xfrm>
          <a:prstGeom prst="rect">
            <a:avLst/>
          </a:prstGeom>
          <a:noFill/>
          <a:ln w="9525" cap="flat" cmpd="sng">
            <a:solidFill>
              <a:schemeClr val="accent2"/>
            </a:solidFill>
            <a:prstDash val="solid"/>
            <a:round/>
            <a:headEnd type="none" w="sm" len="sm"/>
            <a:tailEnd type="none" w="sm" len="sm"/>
          </a:ln>
        </p:spPr>
      </p:pic>
      <p:pic>
        <p:nvPicPr>
          <p:cNvPr id="367" name="Google Shape;367;p10"/>
          <p:cNvPicPr preferRelativeResize="0"/>
          <p:nvPr/>
        </p:nvPicPr>
        <p:blipFill rotWithShape="1">
          <a:blip r:embed="rId4">
            <a:alphaModFix/>
          </a:blip>
          <a:srcRect/>
          <a:stretch/>
        </p:blipFill>
        <p:spPr>
          <a:xfrm>
            <a:off x="2724912" y="1170432"/>
            <a:ext cx="4509627" cy="2165793"/>
          </a:xfrm>
          <a:prstGeom prst="rect">
            <a:avLst/>
          </a:prstGeom>
          <a:noFill/>
          <a:ln>
            <a:noFill/>
          </a:ln>
        </p:spPr>
      </p:pic>
      <p:pic>
        <p:nvPicPr>
          <p:cNvPr id="368" name="Google Shape;368;p10"/>
          <p:cNvPicPr preferRelativeResize="0"/>
          <p:nvPr/>
        </p:nvPicPr>
        <p:blipFill rotWithShape="1">
          <a:blip r:embed="rId5">
            <a:alphaModFix/>
          </a:blip>
          <a:srcRect/>
          <a:stretch/>
        </p:blipFill>
        <p:spPr>
          <a:xfrm>
            <a:off x="7463139" y="1170432"/>
            <a:ext cx="4472524" cy="2187110"/>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3"/>
        <p:cNvGrpSpPr/>
        <p:nvPr/>
      </p:nvGrpSpPr>
      <p:grpSpPr>
        <a:xfrm>
          <a:off x="0" y="0"/>
          <a:ext cx="0" cy="0"/>
          <a:chOff x="0" y="0"/>
          <a:chExt cx="0" cy="0"/>
        </a:xfrm>
      </p:grpSpPr>
      <p:sp>
        <p:nvSpPr>
          <p:cNvPr id="374" name="Google Shape;374;p11"/>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1"/>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376" name="Google Shape;376;p11"/>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377" name="Google Shape;377;p11"/>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378" name="Google Shape;378;p11"/>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379" name="Google Shape;379;p11"/>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380" name="Google Shape;380;p11"/>
          <p:cNvSpPr/>
          <p:nvPr/>
        </p:nvSpPr>
        <p:spPr>
          <a:xfrm>
            <a:off x="109728" y="1888236"/>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1"/>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382" name="Google Shape;382;p11"/>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383" name="Google Shape;383;p11"/>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384" name="Google Shape;384;p11"/>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385" name="Google Shape;385;p11"/>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386" name="Google Shape;386;p11"/>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387" name="Google Shape;387;p11"/>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388" name="Google Shape;388;p11"/>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389" name="Google Shape;389;p11"/>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390" name="Google Shape;390;p11"/>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391" name="Google Shape;391;p11"/>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392" name="Google Shape;392;p11"/>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393" name="Google Shape;393;p11"/>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394" name="Google Shape;394;p11"/>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395" name="Google Shape;395;p11"/>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396" name="Google Shape;396;p11"/>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397" name="Google Shape;397;p11"/>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3.2 DATA PARTITIONING</a:t>
            </a:r>
            <a:endParaRPr sz="1200">
              <a:solidFill>
                <a:schemeClr val="dk1"/>
              </a:solidFill>
              <a:latin typeface="Calibri"/>
              <a:ea typeface="Calibri"/>
              <a:cs typeface="Calibri"/>
              <a:sym typeface="Calibri"/>
            </a:endParaRPr>
          </a:p>
        </p:txBody>
      </p:sp>
      <p:sp>
        <p:nvSpPr>
          <p:cNvPr id="398" name="Google Shape;398;p11"/>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Horizontal vs Vertical Partitioning</a:t>
            </a:r>
            <a:endParaRPr sz="2700">
              <a:solidFill>
                <a:schemeClr val="dk1"/>
              </a:solidFill>
              <a:latin typeface="Calibri"/>
              <a:ea typeface="Calibri"/>
              <a:cs typeface="Calibri"/>
              <a:sym typeface="Calibri"/>
            </a:endParaRPr>
          </a:p>
        </p:txBody>
      </p:sp>
      <p:sp>
        <p:nvSpPr>
          <p:cNvPr id="399" name="Google Shape;399;p11"/>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6</a:t>
            </a:r>
            <a:endParaRPr sz="850">
              <a:solidFill>
                <a:schemeClr val="dk1"/>
              </a:solidFill>
              <a:latin typeface="Calibri"/>
              <a:ea typeface="Calibri"/>
              <a:cs typeface="Calibri"/>
              <a:sym typeface="Calibri"/>
            </a:endParaRPr>
          </a:p>
        </p:txBody>
      </p:sp>
      <p:sp>
        <p:nvSpPr>
          <p:cNvPr id="400" name="Google Shape;400;p11"/>
          <p:cNvSpPr/>
          <p:nvPr/>
        </p:nvSpPr>
        <p:spPr>
          <a:xfrm>
            <a:off x="2834640" y="1371600"/>
            <a:ext cx="4312768" cy="2581564"/>
          </a:xfrm>
          <a:prstGeom prst="roundRect">
            <a:avLst>
              <a:gd name="adj" fmla="val 2581"/>
            </a:avLst>
          </a:prstGeom>
          <a:solidFill>
            <a:srgbClr val="FFFFFF"/>
          </a:solidFill>
          <a:ln w="12700" cap="flat" cmpd="sng">
            <a:solidFill>
              <a:srgbClr val="D7DCE4"/>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1"/>
          <p:cNvSpPr/>
          <p:nvPr/>
        </p:nvSpPr>
        <p:spPr>
          <a:xfrm>
            <a:off x="2971800" y="1481328"/>
            <a:ext cx="4038448"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800"/>
              <a:buFont typeface="Calibri"/>
              <a:buNone/>
            </a:pPr>
            <a:r>
              <a:rPr lang="en-US" sz="1800" b="1">
                <a:solidFill>
                  <a:srgbClr val="12294B"/>
                </a:solidFill>
                <a:latin typeface="Calibri"/>
                <a:ea typeface="Calibri"/>
                <a:cs typeface="Calibri"/>
                <a:sym typeface="Calibri"/>
              </a:rPr>
              <a:t>Horizontal Partitioning (Sharding)</a:t>
            </a:r>
            <a:endParaRPr sz="1800">
              <a:solidFill>
                <a:schemeClr val="dk1"/>
              </a:solidFill>
              <a:latin typeface="Calibri"/>
              <a:ea typeface="Calibri"/>
              <a:cs typeface="Calibri"/>
              <a:sym typeface="Calibri"/>
            </a:endParaRPr>
          </a:p>
        </p:txBody>
      </p:sp>
      <p:sp>
        <p:nvSpPr>
          <p:cNvPr id="402" name="Google Shape;402;p11"/>
          <p:cNvSpPr/>
          <p:nvPr/>
        </p:nvSpPr>
        <p:spPr>
          <a:xfrm>
            <a:off x="2971800" y="1801368"/>
            <a:ext cx="4038448"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B050"/>
              </a:buClr>
              <a:buSzPts val="1200"/>
              <a:buFont typeface="Calibri"/>
              <a:buNone/>
            </a:pPr>
            <a:r>
              <a:rPr lang="en-US" sz="1200" i="1">
                <a:solidFill>
                  <a:srgbClr val="00B050"/>
                </a:solidFill>
                <a:latin typeface="Calibri"/>
                <a:ea typeface="Calibri"/>
                <a:cs typeface="Calibri"/>
                <a:sym typeface="Calibri"/>
              </a:rPr>
              <a:t>Splits by ROWS — each shard holds full records for a subset of keys</a:t>
            </a:r>
            <a:endParaRPr sz="1200">
              <a:solidFill>
                <a:srgbClr val="00B050"/>
              </a:solidFill>
              <a:latin typeface="Calibri"/>
              <a:ea typeface="Calibri"/>
              <a:cs typeface="Calibri"/>
              <a:sym typeface="Calibri"/>
            </a:endParaRPr>
          </a:p>
        </p:txBody>
      </p:sp>
      <p:sp>
        <p:nvSpPr>
          <p:cNvPr id="403" name="Google Shape;403;p11"/>
          <p:cNvSpPr/>
          <p:nvPr/>
        </p:nvSpPr>
        <p:spPr>
          <a:xfrm>
            <a:off x="2971800" y="2286000"/>
            <a:ext cx="4038448" cy="438912"/>
          </a:xfrm>
          <a:prstGeom prst="roundRect">
            <a:avLst>
              <a:gd name="adj" fmla="val 16667"/>
            </a:avLst>
          </a:prstGeom>
          <a:solidFill>
            <a:srgbClr val="1B7A78"/>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1"/>
          <p:cNvSpPr/>
          <p:nvPr/>
        </p:nvSpPr>
        <p:spPr>
          <a:xfrm>
            <a:off x="2971800" y="2286000"/>
            <a:ext cx="4038448" cy="43891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50"/>
              <a:buFont typeface="Courier New"/>
              <a:buNone/>
            </a:pPr>
            <a:r>
              <a:rPr lang="en-US" sz="1050">
                <a:solidFill>
                  <a:srgbClr val="FFFFFF"/>
                </a:solidFill>
                <a:latin typeface="Courier New"/>
                <a:ea typeface="Courier New"/>
                <a:cs typeface="Courier New"/>
                <a:sym typeface="Courier New"/>
              </a:rPr>
              <a:t>Shard 1:  id 1–1M  (all cols)</a:t>
            </a:r>
            <a:endParaRPr sz="1050">
              <a:solidFill>
                <a:schemeClr val="dk1"/>
              </a:solidFill>
              <a:latin typeface="Calibri"/>
              <a:ea typeface="Calibri"/>
              <a:cs typeface="Calibri"/>
              <a:sym typeface="Calibri"/>
            </a:endParaRPr>
          </a:p>
        </p:txBody>
      </p:sp>
      <p:sp>
        <p:nvSpPr>
          <p:cNvPr id="405" name="Google Shape;405;p11"/>
          <p:cNvSpPr/>
          <p:nvPr/>
        </p:nvSpPr>
        <p:spPr>
          <a:xfrm>
            <a:off x="2971800" y="2834640"/>
            <a:ext cx="4038448" cy="438912"/>
          </a:xfrm>
          <a:prstGeom prst="roundRect">
            <a:avLst>
              <a:gd name="adj" fmla="val 16667"/>
            </a:avLst>
          </a:prstGeom>
          <a:solidFill>
            <a:srgbClr val="12294B"/>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1"/>
          <p:cNvSpPr/>
          <p:nvPr/>
        </p:nvSpPr>
        <p:spPr>
          <a:xfrm>
            <a:off x="2971800" y="2834640"/>
            <a:ext cx="4038448" cy="43891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50"/>
              <a:buFont typeface="Courier New"/>
              <a:buNone/>
            </a:pPr>
            <a:r>
              <a:rPr lang="en-US" sz="1050">
                <a:solidFill>
                  <a:srgbClr val="FFFFFF"/>
                </a:solidFill>
                <a:latin typeface="Courier New"/>
                <a:ea typeface="Courier New"/>
                <a:cs typeface="Courier New"/>
                <a:sym typeface="Courier New"/>
              </a:rPr>
              <a:t>Shard 2:  id 1M–2M  (all cols)</a:t>
            </a:r>
            <a:endParaRPr sz="1050">
              <a:solidFill>
                <a:schemeClr val="dk1"/>
              </a:solidFill>
              <a:latin typeface="Calibri"/>
              <a:ea typeface="Calibri"/>
              <a:cs typeface="Calibri"/>
              <a:sym typeface="Calibri"/>
            </a:endParaRPr>
          </a:p>
        </p:txBody>
      </p:sp>
      <p:sp>
        <p:nvSpPr>
          <p:cNvPr id="407" name="Google Shape;407;p11"/>
          <p:cNvSpPr/>
          <p:nvPr/>
        </p:nvSpPr>
        <p:spPr>
          <a:xfrm>
            <a:off x="2971800" y="3383280"/>
            <a:ext cx="4038448" cy="438912"/>
          </a:xfrm>
          <a:prstGeom prst="roundRect">
            <a:avLst>
              <a:gd name="adj" fmla="val 16667"/>
            </a:avLst>
          </a:prstGeom>
          <a:solidFill>
            <a:srgbClr val="1D3A66"/>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1"/>
          <p:cNvSpPr/>
          <p:nvPr/>
        </p:nvSpPr>
        <p:spPr>
          <a:xfrm>
            <a:off x="2971800" y="3383280"/>
            <a:ext cx="4038448" cy="43891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50"/>
              <a:buFont typeface="Courier New"/>
              <a:buNone/>
            </a:pPr>
            <a:r>
              <a:rPr lang="en-US" sz="1050">
                <a:solidFill>
                  <a:srgbClr val="FFFFFF"/>
                </a:solidFill>
                <a:latin typeface="Courier New"/>
                <a:ea typeface="Courier New"/>
                <a:cs typeface="Courier New"/>
                <a:sym typeface="Courier New"/>
              </a:rPr>
              <a:t>Shard 3:  id 2M–3M  (all cols)</a:t>
            </a:r>
            <a:endParaRPr sz="1050">
              <a:solidFill>
                <a:schemeClr val="dk1"/>
              </a:solidFill>
              <a:latin typeface="Calibri"/>
              <a:ea typeface="Calibri"/>
              <a:cs typeface="Calibri"/>
              <a:sym typeface="Calibri"/>
            </a:endParaRPr>
          </a:p>
        </p:txBody>
      </p:sp>
      <p:sp>
        <p:nvSpPr>
          <p:cNvPr id="409" name="Google Shape;409;p11"/>
          <p:cNvSpPr/>
          <p:nvPr/>
        </p:nvSpPr>
        <p:spPr>
          <a:xfrm>
            <a:off x="7513168" y="1371600"/>
            <a:ext cx="4312768" cy="2581564"/>
          </a:xfrm>
          <a:prstGeom prst="roundRect">
            <a:avLst>
              <a:gd name="adj" fmla="val 2581"/>
            </a:avLst>
          </a:prstGeom>
          <a:solidFill>
            <a:srgbClr val="FFFFFF"/>
          </a:solidFill>
          <a:ln w="12700" cap="flat" cmpd="sng">
            <a:solidFill>
              <a:srgbClr val="D7DCE4"/>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1"/>
          <p:cNvSpPr/>
          <p:nvPr/>
        </p:nvSpPr>
        <p:spPr>
          <a:xfrm>
            <a:off x="7650328" y="1481328"/>
            <a:ext cx="4038448"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800"/>
              <a:buFont typeface="Calibri"/>
              <a:buNone/>
            </a:pPr>
            <a:r>
              <a:rPr lang="en-US" sz="1800" b="1">
                <a:solidFill>
                  <a:srgbClr val="12294B"/>
                </a:solidFill>
                <a:latin typeface="Calibri"/>
                <a:ea typeface="Calibri"/>
                <a:cs typeface="Calibri"/>
                <a:sym typeface="Calibri"/>
              </a:rPr>
              <a:t>Vertical</a:t>
            </a:r>
            <a:r>
              <a:rPr lang="en-US" sz="1300" b="1">
                <a:solidFill>
                  <a:srgbClr val="12294B"/>
                </a:solidFill>
                <a:latin typeface="Calibri"/>
                <a:ea typeface="Calibri"/>
                <a:cs typeface="Calibri"/>
                <a:sym typeface="Calibri"/>
              </a:rPr>
              <a:t> </a:t>
            </a:r>
            <a:r>
              <a:rPr lang="en-US" sz="1800" b="1">
                <a:solidFill>
                  <a:srgbClr val="12294B"/>
                </a:solidFill>
                <a:latin typeface="Calibri"/>
                <a:ea typeface="Calibri"/>
                <a:cs typeface="Calibri"/>
                <a:sym typeface="Calibri"/>
              </a:rPr>
              <a:t>Partitioning</a:t>
            </a:r>
            <a:endParaRPr/>
          </a:p>
        </p:txBody>
      </p:sp>
      <p:sp>
        <p:nvSpPr>
          <p:cNvPr id="411" name="Google Shape;411;p11"/>
          <p:cNvSpPr/>
          <p:nvPr/>
        </p:nvSpPr>
        <p:spPr>
          <a:xfrm>
            <a:off x="7650328" y="1801368"/>
            <a:ext cx="4038448"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i="1">
                <a:solidFill>
                  <a:srgbClr val="00B050"/>
                </a:solidFill>
                <a:latin typeface="Calibri"/>
                <a:ea typeface="Calibri"/>
                <a:cs typeface="Calibri"/>
                <a:sym typeface="Calibri"/>
              </a:rPr>
              <a:t>Splits by COLUMNS — hot vs cold columns stored separately (basis of Parquet/ORC)</a:t>
            </a:r>
            <a:endParaRPr/>
          </a:p>
        </p:txBody>
      </p:sp>
      <p:sp>
        <p:nvSpPr>
          <p:cNvPr id="412" name="Google Shape;412;p11"/>
          <p:cNvSpPr/>
          <p:nvPr/>
        </p:nvSpPr>
        <p:spPr>
          <a:xfrm>
            <a:off x="7650328" y="2331720"/>
            <a:ext cx="4038448" cy="502920"/>
          </a:xfrm>
          <a:prstGeom prst="roundRect">
            <a:avLst>
              <a:gd name="adj" fmla="val 9412"/>
            </a:avLst>
          </a:prstGeom>
          <a:solidFill>
            <a:srgbClr val="D9A441"/>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1"/>
          <p:cNvSpPr/>
          <p:nvPr/>
        </p:nvSpPr>
        <p:spPr>
          <a:xfrm>
            <a:off x="7650328" y="2331720"/>
            <a:ext cx="4038448"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830"/>
              </a:buClr>
              <a:buSzPts val="1400"/>
              <a:buFont typeface="Courier New"/>
              <a:buNone/>
            </a:pPr>
            <a:r>
              <a:rPr lang="en-US" sz="1400" b="1">
                <a:solidFill>
                  <a:srgbClr val="0A1830"/>
                </a:solidFill>
                <a:latin typeface="Courier New"/>
                <a:ea typeface="Courier New"/>
                <a:cs typeface="Courier New"/>
                <a:sym typeface="Courier New"/>
              </a:rPr>
              <a:t>customers_core</a:t>
            </a:r>
            <a:endParaRPr sz="1050">
              <a:solidFill>
                <a:schemeClr val="dk1"/>
              </a:solidFill>
              <a:latin typeface="Calibri"/>
              <a:ea typeface="Calibri"/>
              <a:cs typeface="Calibri"/>
              <a:sym typeface="Calibri"/>
            </a:endParaRPr>
          </a:p>
          <a:p>
            <a:pPr marL="0" marR="0" lvl="0" indent="0" algn="ctr" rtl="0">
              <a:spcBef>
                <a:spcPts val="0"/>
              </a:spcBef>
              <a:spcAft>
                <a:spcPts val="0"/>
              </a:spcAft>
              <a:buClr>
                <a:srgbClr val="0A1830"/>
              </a:buClr>
              <a:buSzPts val="1050"/>
              <a:buFont typeface="Courier New"/>
              <a:buNone/>
            </a:pPr>
            <a:r>
              <a:rPr lang="en-US" sz="1050" b="1">
                <a:solidFill>
                  <a:srgbClr val="0A1830"/>
                </a:solidFill>
                <a:latin typeface="Courier New"/>
                <a:ea typeface="Courier New"/>
                <a:cs typeface="Courier New"/>
                <a:sym typeface="Courier New"/>
              </a:rPr>
              <a:t>(id, name, email)</a:t>
            </a:r>
            <a:endParaRPr sz="1050">
              <a:solidFill>
                <a:schemeClr val="dk1"/>
              </a:solidFill>
              <a:latin typeface="Calibri"/>
              <a:ea typeface="Calibri"/>
              <a:cs typeface="Calibri"/>
              <a:sym typeface="Calibri"/>
            </a:endParaRPr>
          </a:p>
        </p:txBody>
      </p:sp>
      <p:sp>
        <p:nvSpPr>
          <p:cNvPr id="414" name="Google Shape;414;p11"/>
          <p:cNvSpPr/>
          <p:nvPr/>
        </p:nvSpPr>
        <p:spPr>
          <a:xfrm>
            <a:off x="7650328" y="3200400"/>
            <a:ext cx="4038448" cy="621792"/>
          </a:xfrm>
          <a:prstGeom prst="roundRect">
            <a:avLst>
              <a:gd name="adj" fmla="val 9412"/>
            </a:avLst>
          </a:prstGeom>
          <a:solidFill>
            <a:srgbClr val="8A93A3"/>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1"/>
          <p:cNvSpPr/>
          <p:nvPr/>
        </p:nvSpPr>
        <p:spPr>
          <a:xfrm>
            <a:off x="7650328" y="3200400"/>
            <a:ext cx="4038448" cy="62179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ourier New"/>
              <a:buNone/>
            </a:pPr>
            <a:r>
              <a:rPr lang="en-US" sz="1600" b="1">
                <a:solidFill>
                  <a:srgbClr val="FFFFFF"/>
                </a:solidFill>
                <a:latin typeface="Courier New"/>
                <a:ea typeface="Courier New"/>
                <a:cs typeface="Courier New"/>
                <a:sym typeface="Courier New"/>
              </a:rPr>
              <a:t>customers_history</a:t>
            </a:r>
            <a:endParaRPr sz="1050" b="1">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50"/>
              <a:buFont typeface="Courier New"/>
              <a:buNone/>
            </a:pPr>
            <a:r>
              <a:rPr lang="en-US" sz="1050">
                <a:solidFill>
                  <a:srgbClr val="FFFFFF"/>
                </a:solidFill>
                <a:latin typeface="Courier New"/>
                <a:ea typeface="Courier New"/>
                <a:cs typeface="Courier New"/>
                <a:sym typeface="Courier New"/>
              </a:rPr>
              <a:t>(address, purchase_blob)</a:t>
            </a:r>
            <a:endParaRPr sz="1050">
              <a:solidFill>
                <a:schemeClr val="dk1"/>
              </a:solidFill>
              <a:latin typeface="Calibri"/>
              <a:ea typeface="Calibri"/>
              <a:cs typeface="Calibri"/>
              <a:sym typeface="Calibri"/>
            </a:endParaRPr>
          </a:p>
        </p:txBody>
      </p:sp>
      <p:sp>
        <p:nvSpPr>
          <p:cNvPr id="416" name="Google Shape;416;p11"/>
          <p:cNvSpPr/>
          <p:nvPr/>
        </p:nvSpPr>
        <p:spPr>
          <a:xfrm>
            <a:off x="2834641" y="4312666"/>
            <a:ext cx="8991295" cy="1325880"/>
          </a:xfrm>
          <a:prstGeom prst="roundRect">
            <a:avLst>
              <a:gd name="adj" fmla="val 4324"/>
            </a:avLst>
          </a:prstGeom>
          <a:solidFill>
            <a:srgbClr val="F4F6F9"/>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1"/>
          <p:cNvSpPr/>
          <p:nvPr/>
        </p:nvSpPr>
        <p:spPr>
          <a:xfrm>
            <a:off x="2944368" y="4409324"/>
            <a:ext cx="8625535" cy="1043709"/>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00B050"/>
              </a:buClr>
              <a:buSzPts val="1800"/>
              <a:buFont typeface="Calibri"/>
              <a:buChar char="▪"/>
            </a:pPr>
            <a:r>
              <a:rPr lang="en-US" sz="1800" b="1">
                <a:solidFill>
                  <a:srgbClr val="00B050"/>
                </a:solidFill>
                <a:latin typeface="Calibri"/>
                <a:ea typeface="Calibri"/>
                <a:cs typeface="Calibri"/>
                <a:sym typeface="Calibri"/>
              </a:rPr>
              <a:t>Horizontal: fast range scans; risk of hot shards from skewed keys</a:t>
            </a:r>
            <a:endParaRPr sz="1800" b="1">
              <a:solidFill>
                <a:srgbClr val="00B050"/>
              </a:solidFill>
              <a:latin typeface="Calibri"/>
              <a:ea typeface="Calibri"/>
              <a:cs typeface="Calibri"/>
              <a:sym typeface="Calibri"/>
            </a:endParaRPr>
          </a:p>
          <a:p>
            <a:pPr marL="203200" marR="0" lvl="0" indent="-203200" algn="l" rtl="0">
              <a:lnSpc>
                <a:spcPct val="108000"/>
              </a:lnSpc>
              <a:spcBef>
                <a:spcPts val="800"/>
              </a:spcBef>
              <a:spcAft>
                <a:spcPts val="0"/>
              </a:spcAft>
              <a:buClr>
                <a:srgbClr val="0070C0"/>
              </a:buClr>
              <a:buSzPts val="1800"/>
              <a:buFont typeface="Calibri"/>
              <a:buChar char="▪"/>
            </a:pPr>
            <a:r>
              <a:rPr lang="en-US" sz="1800" b="1">
                <a:solidFill>
                  <a:srgbClr val="0070C0"/>
                </a:solidFill>
                <a:latin typeface="Calibri"/>
                <a:ea typeface="Calibri"/>
                <a:cs typeface="Calibri"/>
                <a:sym typeface="Calibri"/>
              </a:rPr>
              <a:t>Vertical: analytical queries skip unread columns entirely — the reason columnar formats (Parquet/ORC) are fast</a:t>
            </a:r>
            <a:endParaRPr sz="1800" b="1">
              <a:solidFill>
                <a:srgbClr val="0070C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2"/>
        <p:cNvGrpSpPr/>
        <p:nvPr/>
      </p:nvGrpSpPr>
      <p:grpSpPr>
        <a:xfrm>
          <a:off x="0" y="0"/>
          <a:ext cx="0" cy="0"/>
          <a:chOff x="0" y="0"/>
          <a:chExt cx="0" cy="0"/>
        </a:xfrm>
      </p:grpSpPr>
      <p:sp>
        <p:nvSpPr>
          <p:cNvPr id="423" name="Google Shape;423;p12"/>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2"/>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425" name="Google Shape;425;p12"/>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426" name="Google Shape;426;p12"/>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427" name="Google Shape;427;p12"/>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428" name="Google Shape;428;p12"/>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429" name="Google Shape;429;p12"/>
          <p:cNvSpPr/>
          <p:nvPr/>
        </p:nvSpPr>
        <p:spPr>
          <a:xfrm>
            <a:off x="109728" y="1888236"/>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2"/>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431" name="Google Shape;431;p12"/>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432" name="Google Shape;432;p12"/>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433" name="Google Shape;433;p12"/>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434" name="Google Shape;434;p12"/>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435" name="Google Shape;435;p12"/>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436" name="Google Shape;436;p12"/>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437" name="Google Shape;437;p12"/>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438" name="Google Shape;438;p12"/>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439" name="Google Shape;439;p12"/>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440" name="Google Shape;440;p12"/>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441" name="Google Shape;441;p12"/>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442" name="Google Shape;442;p12"/>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443" name="Google Shape;443;p12"/>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444" name="Google Shape;444;p12"/>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445" name="Google Shape;445;p12"/>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446" name="Google Shape;446;p12"/>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3.2 DATA PARTITIONING</a:t>
            </a:r>
            <a:endParaRPr sz="1200">
              <a:solidFill>
                <a:schemeClr val="dk1"/>
              </a:solidFill>
              <a:latin typeface="Calibri"/>
              <a:ea typeface="Calibri"/>
              <a:cs typeface="Calibri"/>
              <a:sym typeface="Calibri"/>
            </a:endParaRPr>
          </a:p>
        </p:txBody>
      </p:sp>
      <p:sp>
        <p:nvSpPr>
          <p:cNvPr id="447" name="Google Shape;447;p12"/>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Hash Partitioning &amp; Data Locality</a:t>
            </a:r>
            <a:endParaRPr sz="2700">
              <a:solidFill>
                <a:schemeClr val="dk1"/>
              </a:solidFill>
              <a:latin typeface="Calibri"/>
              <a:ea typeface="Calibri"/>
              <a:cs typeface="Calibri"/>
              <a:sym typeface="Calibri"/>
            </a:endParaRPr>
          </a:p>
        </p:txBody>
      </p:sp>
      <p:sp>
        <p:nvSpPr>
          <p:cNvPr id="448" name="Google Shape;448;p12"/>
          <p:cNvSpPr/>
          <p:nvPr/>
        </p:nvSpPr>
        <p:spPr>
          <a:xfrm>
            <a:off x="2797329" y="2100441"/>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400"/>
              <a:buFont typeface="Calibri"/>
              <a:buNone/>
            </a:pPr>
            <a:r>
              <a:rPr lang="en-US" sz="1400" b="1">
                <a:solidFill>
                  <a:srgbClr val="12294B"/>
                </a:solidFill>
                <a:latin typeface="Calibri"/>
                <a:ea typeface="Calibri"/>
                <a:cs typeface="Calibri"/>
                <a:sym typeface="Calibri"/>
              </a:rPr>
              <a:t>Hash Partitioning</a:t>
            </a:r>
            <a:endParaRPr sz="1400">
              <a:solidFill>
                <a:schemeClr val="dk1"/>
              </a:solidFill>
              <a:latin typeface="Calibri"/>
              <a:ea typeface="Calibri"/>
              <a:cs typeface="Calibri"/>
              <a:sym typeface="Calibri"/>
            </a:endParaRPr>
          </a:p>
        </p:txBody>
      </p:sp>
      <p:sp>
        <p:nvSpPr>
          <p:cNvPr id="449" name="Google Shape;449;p12"/>
          <p:cNvSpPr/>
          <p:nvPr/>
        </p:nvSpPr>
        <p:spPr>
          <a:xfrm>
            <a:off x="2797329" y="2429625"/>
            <a:ext cx="8991295" cy="502920"/>
          </a:xfrm>
          <a:prstGeom prst="roundRect">
            <a:avLst>
              <a:gd name="adj" fmla="val 14545"/>
            </a:avLst>
          </a:prstGeom>
          <a:solidFill>
            <a:srgbClr val="FFE499"/>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2"/>
          <p:cNvSpPr/>
          <p:nvPr/>
        </p:nvSpPr>
        <p:spPr>
          <a:xfrm>
            <a:off x="2797329" y="2429625"/>
            <a:ext cx="8991295"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partition_id = hash(key) % num_partitions</a:t>
            </a:r>
            <a:endParaRPr sz="1800">
              <a:solidFill>
                <a:schemeClr val="dk1"/>
              </a:solidFill>
              <a:latin typeface="Calibri"/>
              <a:ea typeface="Calibri"/>
              <a:cs typeface="Calibri"/>
              <a:sym typeface="Calibri"/>
            </a:endParaRPr>
          </a:p>
        </p:txBody>
      </p:sp>
      <p:sp>
        <p:nvSpPr>
          <p:cNvPr id="451" name="Google Shape;451;p12"/>
          <p:cNvSpPr/>
          <p:nvPr/>
        </p:nvSpPr>
        <p:spPr>
          <a:xfrm>
            <a:off x="2797789" y="1216154"/>
            <a:ext cx="8991295" cy="96926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000" b="1" i="1">
                <a:solidFill>
                  <a:srgbClr val="C55A11"/>
                </a:solidFill>
                <a:latin typeface="Calibri"/>
                <a:ea typeface="Calibri"/>
                <a:cs typeface="Calibri"/>
                <a:sym typeface="Calibri"/>
              </a:rPr>
              <a:t>Hash Partitioning and Data Locality are two foundational principles that dictate how modern big data systems distribute data and optimize computation across massive clusters.</a:t>
            </a:r>
            <a:endParaRPr/>
          </a:p>
          <a:p>
            <a:pPr marL="0" marR="0" lvl="0" indent="0" algn="just" rtl="0">
              <a:spcBef>
                <a:spcPts val="0"/>
              </a:spcBef>
              <a:spcAft>
                <a:spcPts val="0"/>
              </a:spcAft>
              <a:buNone/>
            </a:pPr>
            <a:endParaRPr sz="2000" b="1" i="1">
              <a:solidFill>
                <a:srgbClr val="C55A11"/>
              </a:solidFill>
              <a:latin typeface="Calibri"/>
              <a:ea typeface="Calibri"/>
              <a:cs typeface="Calibri"/>
              <a:sym typeface="Calibri"/>
            </a:endParaRPr>
          </a:p>
        </p:txBody>
      </p:sp>
      <p:sp>
        <p:nvSpPr>
          <p:cNvPr id="452" name="Google Shape;452;p12"/>
          <p:cNvSpPr/>
          <p:nvPr/>
        </p:nvSpPr>
        <p:spPr>
          <a:xfrm>
            <a:off x="2800032" y="5321536"/>
            <a:ext cx="3815542" cy="1148976"/>
          </a:xfrm>
          <a:prstGeom prst="rect">
            <a:avLst/>
          </a:prstGeom>
          <a:noFill/>
          <a:ln w="9525" cap="flat" cmpd="sng">
            <a:solidFill>
              <a:schemeClr val="accent2"/>
            </a:solidFill>
            <a:prstDash val="solid"/>
            <a:miter lim="8000"/>
            <a:headEnd type="none" w="sm" len="sm"/>
            <a:tailEnd type="none" w="sm" len="sm"/>
          </a:ln>
        </p:spPr>
        <p:txBody>
          <a:bodyPr spcFirstLastPara="1" wrap="square" lIns="0" tIns="88850" rIns="0" bIns="88850" anchor="ctr" anchorCtr="0">
            <a:spAutoFit/>
          </a:bodyPr>
          <a:lstStyle/>
          <a:p>
            <a:pPr marL="0" marR="0" lvl="0" indent="0" algn="ctr" rtl="0">
              <a:lnSpc>
                <a:spcPct val="100000"/>
              </a:lnSpc>
              <a:spcBef>
                <a:spcPts val="0"/>
              </a:spcBef>
              <a:spcAft>
                <a:spcPts val="0"/>
              </a:spcAft>
              <a:buClr>
                <a:schemeClr val="accent6"/>
              </a:buClr>
              <a:buSzPts val="1500"/>
              <a:buFont typeface="Google Sans"/>
              <a:buNone/>
            </a:pPr>
            <a:r>
              <a:rPr lang="en-US" sz="1500" b="1" i="0" u="none" strike="noStrike" cap="none">
                <a:solidFill>
                  <a:schemeClr val="accent6"/>
                </a:solidFill>
                <a:latin typeface="Google Sans"/>
                <a:ea typeface="Google Sans"/>
                <a:cs typeface="Google Sans"/>
                <a:sym typeface="Google Sans"/>
              </a:rPr>
              <a:t>Hash Partitioning: Balancing the Load</a:t>
            </a:r>
            <a:endParaRPr sz="800" b="0" i="0" u="none" strike="noStrike" cap="none">
              <a:solidFill>
                <a:schemeClr val="accent6"/>
              </a:solidFill>
              <a:latin typeface="Calibri"/>
              <a:ea typeface="Calibri"/>
              <a:cs typeface="Calibri"/>
              <a:sym typeface="Calibri"/>
            </a:endParaRPr>
          </a:p>
          <a:p>
            <a:pPr marL="0" marR="0" lvl="0" indent="0" algn="ctr" rtl="0">
              <a:lnSpc>
                <a:spcPct val="100000"/>
              </a:lnSpc>
              <a:spcBef>
                <a:spcPts val="0"/>
              </a:spcBef>
              <a:spcAft>
                <a:spcPts val="0"/>
              </a:spcAft>
              <a:buClr>
                <a:srgbClr val="C55A11"/>
              </a:buClr>
              <a:buSzPts val="1600"/>
              <a:buFont typeface="Google Sans"/>
              <a:buNone/>
            </a:pPr>
            <a:r>
              <a:rPr lang="en-US" sz="1600" b="1" i="0" u="none" strike="noStrike" cap="none">
                <a:solidFill>
                  <a:srgbClr val="C55A11"/>
                </a:solidFill>
                <a:latin typeface="Google Sans"/>
                <a:ea typeface="Google Sans"/>
                <a:cs typeface="Google Sans"/>
                <a:sym typeface="Google Sans"/>
              </a:rPr>
              <a:t>Hash partitioning uses a mathematical formula to determine exactly which node stores a specific record.</a:t>
            </a:r>
            <a:endParaRPr sz="1800" b="0" i="0" u="none" strike="noStrike" cap="none">
              <a:solidFill>
                <a:schemeClr val="dk1"/>
              </a:solidFill>
              <a:latin typeface="Arial"/>
              <a:ea typeface="Arial"/>
              <a:cs typeface="Arial"/>
              <a:sym typeface="Arial"/>
            </a:endParaRPr>
          </a:p>
        </p:txBody>
      </p:sp>
      <p:sp>
        <p:nvSpPr>
          <p:cNvPr id="453" name="Google Shape;453;p12"/>
          <p:cNvSpPr/>
          <p:nvPr/>
        </p:nvSpPr>
        <p:spPr>
          <a:xfrm>
            <a:off x="6776999" y="5229203"/>
            <a:ext cx="5012085" cy="1333642"/>
          </a:xfrm>
          <a:prstGeom prst="rect">
            <a:avLst/>
          </a:prstGeom>
          <a:noFill/>
          <a:ln w="9525" cap="flat" cmpd="sng">
            <a:solidFill>
              <a:schemeClr val="accent2"/>
            </a:solidFill>
            <a:prstDash val="solid"/>
            <a:miter lim="8000"/>
            <a:headEnd type="none" w="sm" len="sm"/>
            <a:tailEnd type="none" w="sm" len="sm"/>
          </a:ln>
        </p:spPr>
        <p:txBody>
          <a:bodyPr spcFirstLastPara="1" wrap="square" lIns="0" tIns="88850" rIns="0" bIns="88850" anchor="ctr" anchorCtr="0">
            <a:spAutoFit/>
          </a:bodyPr>
          <a:lstStyle/>
          <a:p>
            <a:pPr marL="0" marR="0" lvl="0" indent="0" algn="ctr" rtl="0">
              <a:spcBef>
                <a:spcPts val="0"/>
              </a:spcBef>
              <a:spcAft>
                <a:spcPts val="0"/>
              </a:spcAft>
              <a:buNone/>
            </a:pPr>
            <a:r>
              <a:rPr lang="en-US" sz="1500" b="1">
                <a:solidFill>
                  <a:schemeClr val="accent6"/>
                </a:solidFill>
                <a:latin typeface="Google Sans"/>
                <a:ea typeface="Google Sans"/>
                <a:cs typeface="Google Sans"/>
                <a:sym typeface="Google Sans"/>
              </a:rPr>
              <a:t>Data Locality: Moving Code, Not Data</a:t>
            </a:r>
            <a:endParaRPr/>
          </a:p>
          <a:p>
            <a:pPr marL="0" marR="0" lvl="0" indent="0" algn="ctr" rtl="0">
              <a:spcBef>
                <a:spcPts val="0"/>
              </a:spcBef>
              <a:spcAft>
                <a:spcPts val="0"/>
              </a:spcAft>
              <a:buNone/>
            </a:pPr>
            <a:r>
              <a:rPr lang="en-US" sz="1500" b="1">
                <a:solidFill>
                  <a:srgbClr val="C55A11"/>
                </a:solidFill>
                <a:latin typeface="Google Sans"/>
                <a:ea typeface="Google Sans"/>
                <a:cs typeface="Google Sans"/>
                <a:sym typeface="Google Sans"/>
              </a:rPr>
              <a:t>Data Locality is the practice of scheduling data processing tasks on the exact physical machines that already hold the targeted data chunks on their local disks.</a:t>
            </a:r>
            <a:endParaRPr/>
          </a:p>
        </p:txBody>
      </p:sp>
      <p:sp>
        <p:nvSpPr>
          <p:cNvPr id="454" name="Google Shape;454;p12" descr="Data Partitioning Techniques in System Design - GeeksforGeeks"/>
          <p:cNvSpPr/>
          <p:nvPr/>
        </p:nvSpPr>
        <p:spPr>
          <a:xfrm>
            <a:off x="4367897" y="3511296"/>
            <a:ext cx="1337164" cy="13371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55" name="Google Shape;455;p12"/>
          <p:cNvPicPr preferRelativeResize="0"/>
          <p:nvPr/>
        </p:nvPicPr>
        <p:blipFill rotWithShape="1">
          <a:blip r:embed="rId3">
            <a:alphaModFix/>
          </a:blip>
          <a:srcRect/>
          <a:stretch/>
        </p:blipFill>
        <p:spPr>
          <a:xfrm>
            <a:off x="2834640" y="3040380"/>
            <a:ext cx="5312465" cy="2172091"/>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0"/>
        <p:cNvGrpSpPr/>
        <p:nvPr/>
      </p:nvGrpSpPr>
      <p:grpSpPr>
        <a:xfrm>
          <a:off x="0" y="0"/>
          <a:ext cx="0" cy="0"/>
          <a:chOff x="0" y="0"/>
          <a:chExt cx="0" cy="0"/>
        </a:xfrm>
      </p:grpSpPr>
      <p:sp>
        <p:nvSpPr>
          <p:cNvPr id="461" name="Google Shape;461;p13"/>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3"/>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463" name="Google Shape;463;p13"/>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464" name="Google Shape;464;p13"/>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465" name="Google Shape;465;p13"/>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466" name="Google Shape;466;p13"/>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467" name="Google Shape;467;p13"/>
          <p:cNvSpPr/>
          <p:nvPr/>
        </p:nvSpPr>
        <p:spPr>
          <a:xfrm>
            <a:off x="109728" y="1888236"/>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3"/>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469" name="Google Shape;469;p13"/>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470" name="Google Shape;470;p13"/>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471" name="Google Shape;471;p13"/>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472" name="Google Shape;472;p13"/>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473" name="Google Shape;473;p13"/>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474" name="Google Shape;474;p13"/>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475" name="Google Shape;475;p13"/>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476" name="Google Shape;476;p13"/>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477" name="Google Shape;477;p13"/>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478" name="Google Shape;478;p13"/>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479" name="Google Shape;479;p13"/>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480" name="Google Shape;480;p13"/>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481" name="Google Shape;481;p13"/>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482" name="Google Shape;482;p13"/>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483" name="Google Shape;483;p13"/>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484" name="Google Shape;484;p13"/>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3.2 DATA PARTITIONING</a:t>
            </a:r>
            <a:endParaRPr sz="1200">
              <a:solidFill>
                <a:schemeClr val="dk1"/>
              </a:solidFill>
              <a:latin typeface="Calibri"/>
              <a:ea typeface="Calibri"/>
              <a:cs typeface="Calibri"/>
              <a:sym typeface="Calibri"/>
            </a:endParaRPr>
          </a:p>
        </p:txBody>
      </p:sp>
      <p:sp>
        <p:nvSpPr>
          <p:cNvPr id="485" name="Google Shape;485;p13"/>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Hash Partitioning &amp; Data Locality</a:t>
            </a:r>
            <a:endParaRPr sz="2700">
              <a:solidFill>
                <a:schemeClr val="dk1"/>
              </a:solidFill>
              <a:latin typeface="Calibri"/>
              <a:ea typeface="Calibri"/>
              <a:cs typeface="Calibri"/>
              <a:sym typeface="Calibri"/>
            </a:endParaRPr>
          </a:p>
        </p:txBody>
      </p:sp>
      <p:sp>
        <p:nvSpPr>
          <p:cNvPr id="486" name="Google Shape;486;p13"/>
          <p:cNvSpPr/>
          <p:nvPr/>
        </p:nvSpPr>
        <p:spPr>
          <a:xfrm>
            <a:off x="2797789" y="2013552"/>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400"/>
              <a:buFont typeface="Calibri"/>
              <a:buNone/>
            </a:pPr>
            <a:r>
              <a:rPr lang="en-US" sz="1400" b="1">
                <a:solidFill>
                  <a:srgbClr val="12294B"/>
                </a:solidFill>
                <a:latin typeface="Calibri"/>
                <a:ea typeface="Calibri"/>
                <a:cs typeface="Calibri"/>
                <a:sym typeface="Calibri"/>
              </a:rPr>
              <a:t>Data Locality — "move computation to data"</a:t>
            </a:r>
            <a:endParaRPr sz="1400">
              <a:solidFill>
                <a:schemeClr val="dk1"/>
              </a:solidFill>
              <a:latin typeface="Calibri"/>
              <a:ea typeface="Calibri"/>
              <a:cs typeface="Calibri"/>
              <a:sym typeface="Calibri"/>
            </a:endParaRPr>
          </a:p>
        </p:txBody>
      </p:sp>
      <p:sp>
        <p:nvSpPr>
          <p:cNvPr id="487" name="Google Shape;487;p13"/>
          <p:cNvSpPr/>
          <p:nvPr/>
        </p:nvSpPr>
        <p:spPr>
          <a:xfrm>
            <a:off x="2797789" y="2379312"/>
            <a:ext cx="2110664" cy="1234440"/>
          </a:xfrm>
          <a:prstGeom prst="roundRect">
            <a:avLst>
              <a:gd name="adj" fmla="val 5926"/>
            </a:avLst>
          </a:prstGeom>
          <a:solidFill>
            <a:srgbClr val="12294B"/>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3"/>
          <p:cNvSpPr/>
          <p:nvPr/>
        </p:nvSpPr>
        <p:spPr>
          <a:xfrm>
            <a:off x="2870941" y="2470752"/>
            <a:ext cx="196436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PROCESS_LOCAL</a:t>
            </a:r>
            <a:endParaRPr sz="2000">
              <a:solidFill>
                <a:schemeClr val="dk1"/>
              </a:solidFill>
              <a:latin typeface="Calibri"/>
              <a:ea typeface="Calibri"/>
              <a:cs typeface="Calibri"/>
              <a:sym typeface="Calibri"/>
            </a:endParaRPr>
          </a:p>
        </p:txBody>
      </p:sp>
      <p:sp>
        <p:nvSpPr>
          <p:cNvPr id="489" name="Google Shape;489;p13"/>
          <p:cNvSpPr/>
          <p:nvPr/>
        </p:nvSpPr>
        <p:spPr>
          <a:xfrm>
            <a:off x="2870941" y="2927952"/>
            <a:ext cx="1964360" cy="5486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0F2F5"/>
              </a:buClr>
              <a:buSzPts val="1400"/>
              <a:buFont typeface="Calibri"/>
              <a:buNone/>
            </a:pPr>
            <a:r>
              <a:rPr lang="en-US" sz="1400">
                <a:solidFill>
                  <a:srgbClr val="F0F2F5"/>
                </a:solidFill>
                <a:latin typeface="Calibri"/>
                <a:ea typeface="Calibri"/>
                <a:cs typeface="Calibri"/>
                <a:sym typeface="Calibri"/>
              </a:rPr>
              <a:t>Same JVM/executor</a:t>
            </a:r>
            <a:endParaRPr sz="1400">
              <a:solidFill>
                <a:schemeClr val="dk1"/>
              </a:solidFill>
              <a:latin typeface="Calibri"/>
              <a:ea typeface="Calibri"/>
              <a:cs typeface="Calibri"/>
              <a:sym typeface="Calibri"/>
            </a:endParaRPr>
          </a:p>
        </p:txBody>
      </p:sp>
      <p:sp>
        <p:nvSpPr>
          <p:cNvPr id="490" name="Google Shape;490;p13"/>
          <p:cNvSpPr/>
          <p:nvPr/>
        </p:nvSpPr>
        <p:spPr>
          <a:xfrm>
            <a:off x="4935885" y="2927952"/>
            <a:ext cx="128016" cy="164592"/>
          </a:xfrm>
          <a:prstGeom prst="rightArrow">
            <a:avLst>
              <a:gd name="adj1" fmla="val 50000"/>
              <a:gd name="adj2" fmla="val 50000"/>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3"/>
          <p:cNvSpPr/>
          <p:nvPr/>
        </p:nvSpPr>
        <p:spPr>
          <a:xfrm>
            <a:off x="5091333" y="2379312"/>
            <a:ext cx="2110664" cy="1234440"/>
          </a:xfrm>
          <a:prstGeom prst="roundRect">
            <a:avLst>
              <a:gd name="adj" fmla="val 5926"/>
            </a:avLst>
          </a:prstGeom>
          <a:solidFill>
            <a:srgbClr val="1B7A78"/>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3"/>
          <p:cNvSpPr/>
          <p:nvPr/>
        </p:nvSpPr>
        <p:spPr>
          <a:xfrm>
            <a:off x="5164485" y="2470752"/>
            <a:ext cx="196436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NODE_LOCAL</a:t>
            </a:r>
            <a:endParaRPr sz="2000">
              <a:solidFill>
                <a:schemeClr val="dk1"/>
              </a:solidFill>
              <a:latin typeface="Calibri"/>
              <a:ea typeface="Calibri"/>
              <a:cs typeface="Calibri"/>
              <a:sym typeface="Calibri"/>
            </a:endParaRPr>
          </a:p>
        </p:txBody>
      </p:sp>
      <p:sp>
        <p:nvSpPr>
          <p:cNvPr id="493" name="Google Shape;493;p13"/>
          <p:cNvSpPr/>
          <p:nvPr/>
        </p:nvSpPr>
        <p:spPr>
          <a:xfrm>
            <a:off x="5164485" y="2927952"/>
            <a:ext cx="1964360" cy="5486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0F2F5"/>
              </a:buClr>
              <a:buSzPts val="1400"/>
              <a:buFont typeface="Calibri"/>
              <a:buNone/>
            </a:pPr>
            <a:r>
              <a:rPr lang="en-US" sz="1400">
                <a:solidFill>
                  <a:srgbClr val="F0F2F5"/>
                </a:solidFill>
                <a:latin typeface="Calibri"/>
                <a:ea typeface="Calibri"/>
                <a:cs typeface="Calibri"/>
                <a:sym typeface="Calibri"/>
              </a:rPr>
              <a:t>Same physical node</a:t>
            </a:r>
            <a:endParaRPr sz="1400">
              <a:solidFill>
                <a:schemeClr val="dk1"/>
              </a:solidFill>
              <a:latin typeface="Calibri"/>
              <a:ea typeface="Calibri"/>
              <a:cs typeface="Calibri"/>
              <a:sym typeface="Calibri"/>
            </a:endParaRPr>
          </a:p>
        </p:txBody>
      </p:sp>
      <p:sp>
        <p:nvSpPr>
          <p:cNvPr id="494" name="Google Shape;494;p13"/>
          <p:cNvSpPr/>
          <p:nvPr/>
        </p:nvSpPr>
        <p:spPr>
          <a:xfrm>
            <a:off x="7229429" y="2927952"/>
            <a:ext cx="128016" cy="164592"/>
          </a:xfrm>
          <a:prstGeom prst="rightArrow">
            <a:avLst>
              <a:gd name="adj1" fmla="val 50000"/>
              <a:gd name="adj2" fmla="val 50000"/>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3"/>
          <p:cNvSpPr/>
          <p:nvPr/>
        </p:nvSpPr>
        <p:spPr>
          <a:xfrm>
            <a:off x="7384877" y="2379312"/>
            <a:ext cx="2110664" cy="1234440"/>
          </a:xfrm>
          <a:prstGeom prst="roundRect">
            <a:avLst>
              <a:gd name="adj" fmla="val 5926"/>
            </a:avLst>
          </a:prstGeom>
          <a:solidFill>
            <a:srgbClr val="D9A441"/>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3"/>
          <p:cNvSpPr/>
          <p:nvPr/>
        </p:nvSpPr>
        <p:spPr>
          <a:xfrm>
            <a:off x="7458029" y="2470752"/>
            <a:ext cx="196436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RACK_LOCAL</a:t>
            </a:r>
            <a:endParaRPr sz="2000">
              <a:solidFill>
                <a:schemeClr val="dk1"/>
              </a:solidFill>
              <a:latin typeface="Calibri"/>
              <a:ea typeface="Calibri"/>
              <a:cs typeface="Calibri"/>
              <a:sym typeface="Calibri"/>
            </a:endParaRPr>
          </a:p>
        </p:txBody>
      </p:sp>
      <p:sp>
        <p:nvSpPr>
          <p:cNvPr id="497" name="Google Shape;497;p13"/>
          <p:cNvSpPr/>
          <p:nvPr/>
        </p:nvSpPr>
        <p:spPr>
          <a:xfrm>
            <a:off x="7458029" y="2927952"/>
            <a:ext cx="1964360" cy="5486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0F2F5"/>
              </a:buClr>
              <a:buSzPts val="1400"/>
              <a:buFont typeface="Calibri"/>
              <a:buNone/>
            </a:pPr>
            <a:r>
              <a:rPr lang="en-US" sz="1400">
                <a:solidFill>
                  <a:srgbClr val="F0F2F5"/>
                </a:solidFill>
                <a:latin typeface="Calibri"/>
                <a:ea typeface="Calibri"/>
                <a:cs typeface="Calibri"/>
                <a:sym typeface="Calibri"/>
              </a:rPr>
              <a:t>Same network rack</a:t>
            </a:r>
            <a:endParaRPr sz="1400">
              <a:solidFill>
                <a:schemeClr val="dk1"/>
              </a:solidFill>
              <a:latin typeface="Calibri"/>
              <a:ea typeface="Calibri"/>
              <a:cs typeface="Calibri"/>
              <a:sym typeface="Calibri"/>
            </a:endParaRPr>
          </a:p>
        </p:txBody>
      </p:sp>
      <p:sp>
        <p:nvSpPr>
          <p:cNvPr id="498" name="Google Shape;498;p13"/>
          <p:cNvSpPr/>
          <p:nvPr/>
        </p:nvSpPr>
        <p:spPr>
          <a:xfrm>
            <a:off x="9522972" y="2927952"/>
            <a:ext cx="128016" cy="164592"/>
          </a:xfrm>
          <a:prstGeom prst="rightArrow">
            <a:avLst>
              <a:gd name="adj1" fmla="val 50000"/>
              <a:gd name="adj2" fmla="val 50000"/>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3"/>
          <p:cNvSpPr/>
          <p:nvPr/>
        </p:nvSpPr>
        <p:spPr>
          <a:xfrm>
            <a:off x="9678420" y="2379312"/>
            <a:ext cx="2110664" cy="1234440"/>
          </a:xfrm>
          <a:prstGeom prst="roundRect">
            <a:avLst>
              <a:gd name="adj" fmla="val 5926"/>
            </a:avLst>
          </a:prstGeom>
          <a:solidFill>
            <a:srgbClr val="B5462A"/>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3"/>
          <p:cNvSpPr/>
          <p:nvPr/>
        </p:nvSpPr>
        <p:spPr>
          <a:xfrm>
            <a:off x="9751572" y="2470752"/>
            <a:ext cx="196436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ANY</a:t>
            </a:r>
            <a:endParaRPr sz="2000">
              <a:solidFill>
                <a:schemeClr val="dk1"/>
              </a:solidFill>
              <a:latin typeface="Calibri"/>
              <a:ea typeface="Calibri"/>
              <a:cs typeface="Calibri"/>
              <a:sym typeface="Calibri"/>
            </a:endParaRPr>
          </a:p>
        </p:txBody>
      </p:sp>
      <p:sp>
        <p:nvSpPr>
          <p:cNvPr id="501" name="Google Shape;501;p13"/>
          <p:cNvSpPr/>
          <p:nvPr/>
        </p:nvSpPr>
        <p:spPr>
          <a:xfrm>
            <a:off x="9751572" y="2927952"/>
            <a:ext cx="1964360" cy="5486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0F2F5"/>
              </a:buClr>
              <a:buSzPts val="1400"/>
              <a:buFont typeface="Calibri"/>
              <a:buNone/>
            </a:pPr>
            <a:r>
              <a:rPr lang="en-US" sz="1400">
                <a:solidFill>
                  <a:srgbClr val="F0F2F5"/>
                </a:solidFill>
                <a:latin typeface="Calibri"/>
                <a:ea typeface="Calibri"/>
                <a:cs typeface="Calibri"/>
                <a:sym typeface="Calibri"/>
              </a:rPr>
              <a:t>Across racks / core switch</a:t>
            </a:r>
            <a:endParaRPr sz="1400">
              <a:solidFill>
                <a:schemeClr val="dk1"/>
              </a:solidFill>
              <a:latin typeface="Calibri"/>
              <a:ea typeface="Calibri"/>
              <a:cs typeface="Calibri"/>
              <a:sym typeface="Calibri"/>
            </a:endParaRPr>
          </a:p>
        </p:txBody>
      </p:sp>
      <p:sp>
        <p:nvSpPr>
          <p:cNvPr id="502" name="Google Shape;502;p13"/>
          <p:cNvSpPr/>
          <p:nvPr/>
        </p:nvSpPr>
        <p:spPr>
          <a:xfrm>
            <a:off x="2770632" y="3602736"/>
            <a:ext cx="8991295"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1000"/>
              <a:buFont typeface="Calibri"/>
              <a:buNone/>
            </a:pPr>
            <a:r>
              <a:rPr lang="en-US" sz="1000" i="1">
                <a:solidFill>
                  <a:srgbClr val="8A93A3"/>
                </a:solidFill>
                <a:latin typeface="Calibri"/>
                <a:ea typeface="Calibri"/>
                <a:cs typeface="Calibri"/>
                <a:sym typeface="Calibri"/>
              </a:rPr>
              <a:t>increasing cost →</a:t>
            </a:r>
            <a:endParaRPr sz="1000">
              <a:solidFill>
                <a:schemeClr val="dk1"/>
              </a:solidFill>
              <a:latin typeface="Calibri"/>
              <a:ea typeface="Calibri"/>
              <a:cs typeface="Calibri"/>
              <a:sym typeface="Calibri"/>
            </a:endParaRPr>
          </a:p>
        </p:txBody>
      </p:sp>
      <p:sp>
        <p:nvSpPr>
          <p:cNvPr id="503" name="Google Shape;503;p13"/>
          <p:cNvSpPr/>
          <p:nvPr/>
        </p:nvSpPr>
        <p:spPr>
          <a:xfrm>
            <a:off x="2797789" y="1216154"/>
            <a:ext cx="8991295" cy="96926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000" b="1" i="1">
                <a:solidFill>
                  <a:srgbClr val="C55A11"/>
                </a:solidFill>
                <a:latin typeface="Calibri"/>
                <a:ea typeface="Calibri"/>
                <a:cs typeface="Calibri"/>
                <a:sym typeface="Calibri"/>
              </a:rPr>
              <a:t>Hash Partitioning and Data Locality are two foundational principles that dictate how modern big data systems distribute data and optimize computation across massive clusters.</a:t>
            </a:r>
            <a:endParaRPr/>
          </a:p>
          <a:p>
            <a:pPr marL="0" marR="0" lvl="0" indent="0" algn="just" rtl="0">
              <a:spcBef>
                <a:spcPts val="0"/>
              </a:spcBef>
              <a:spcAft>
                <a:spcPts val="0"/>
              </a:spcAft>
              <a:buNone/>
            </a:pPr>
            <a:endParaRPr sz="2000" b="1" i="1">
              <a:solidFill>
                <a:srgbClr val="C55A11"/>
              </a:solidFill>
              <a:latin typeface="Calibri"/>
              <a:ea typeface="Calibri"/>
              <a:cs typeface="Calibri"/>
              <a:sym typeface="Calibri"/>
            </a:endParaRPr>
          </a:p>
        </p:txBody>
      </p:sp>
      <p:pic>
        <p:nvPicPr>
          <p:cNvPr id="504" name="Google Shape;504;p13" descr="Data Locality in Hadoop – Big Data In Real World"/>
          <p:cNvPicPr preferRelativeResize="0"/>
          <p:nvPr/>
        </p:nvPicPr>
        <p:blipFill rotWithShape="1">
          <a:blip r:embed="rId3">
            <a:alphaModFix/>
          </a:blip>
          <a:srcRect l="2070" t="2557" r="7458" b="10056"/>
          <a:stretch/>
        </p:blipFill>
        <p:spPr>
          <a:xfrm>
            <a:off x="2797789" y="3769713"/>
            <a:ext cx="5080486" cy="3002681"/>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9"/>
        <p:cNvGrpSpPr/>
        <p:nvPr/>
      </p:nvGrpSpPr>
      <p:grpSpPr>
        <a:xfrm>
          <a:off x="0" y="0"/>
          <a:ext cx="0" cy="0"/>
          <a:chOff x="0" y="0"/>
          <a:chExt cx="0" cy="0"/>
        </a:xfrm>
      </p:grpSpPr>
      <p:sp>
        <p:nvSpPr>
          <p:cNvPr id="510" name="Google Shape;510;p14"/>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4"/>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512" name="Google Shape;512;p14"/>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513" name="Google Shape;513;p14"/>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514" name="Google Shape;514;p14"/>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515" name="Google Shape;515;p14"/>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516" name="Google Shape;516;p14"/>
          <p:cNvSpPr/>
          <p:nvPr/>
        </p:nvSpPr>
        <p:spPr>
          <a:xfrm>
            <a:off x="109728" y="1888236"/>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4"/>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518" name="Google Shape;518;p14"/>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519" name="Google Shape;519;p14"/>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520" name="Google Shape;520;p14"/>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521" name="Google Shape;521;p14"/>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522" name="Google Shape;522;p14"/>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523" name="Google Shape;523;p14"/>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524" name="Google Shape;524;p14"/>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525" name="Google Shape;525;p14"/>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526" name="Google Shape;526;p14"/>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527" name="Google Shape;527;p14"/>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528" name="Google Shape;528;p14"/>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529" name="Google Shape;529;p14"/>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530" name="Google Shape;530;p14"/>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531" name="Google Shape;531;p14"/>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532" name="Google Shape;532;p14"/>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533" name="Google Shape;533;p14"/>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3.2 DATA PARTITIONING</a:t>
            </a:r>
            <a:endParaRPr sz="1200">
              <a:solidFill>
                <a:schemeClr val="dk1"/>
              </a:solidFill>
              <a:latin typeface="Calibri"/>
              <a:ea typeface="Calibri"/>
              <a:cs typeface="Calibri"/>
              <a:sym typeface="Calibri"/>
            </a:endParaRPr>
          </a:p>
        </p:txBody>
      </p:sp>
      <p:sp>
        <p:nvSpPr>
          <p:cNvPr id="534" name="Google Shape;534;p14"/>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Partition Placement — HDFS Rack Awareness</a:t>
            </a:r>
            <a:endParaRPr sz="2700">
              <a:solidFill>
                <a:schemeClr val="dk1"/>
              </a:solidFill>
              <a:latin typeface="Calibri"/>
              <a:ea typeface="Calibri"/>
              <a:cs typeface="Calibri"/>
              <a:sym typeface="Calibri"/>
            </a:endParaRPr>
          </a:p>
        </p:txBody>
      </p:sp>
      <p:sp>
        <p:nvSpPr>
          <p:cNvPr id="535" name="Google Shape;535;p14"/>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8</a:t>
            </a:r>
            <a:endParaRPr sz="850">
              <a:solidFill>
                <a:schemeClr val="dk1"/>
              </a:solidFill>
              <a:latin typeface="Calibri"/>
              <a:ea typeface="Calibri"/>
              <a:cs typeface="Calibri"/>
              <a:sym typeface="Calibri"/>
            </a:endParaRPr>
          </a:p>
        </p:txBody>
      </p:sp>
      <p:sp>
        <p:nvSpPr>
          <p:cNvPr id="536" name="Google Shape;536;p14"/>
          <p:cNvSpPr/>
          <p:nvPr/>
        </p:nvSpPr>
        <p:spPr>
          <a:xfrm>
            <a:off x="2770632" y="1225296"/>
            <a:ext cx="8927287" cy="242497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000" b="1">
                <a:solidFill>
                  <a:srgbClr val="C55A11"/>
                </a:solidFill>
                <a:latin typeface="Calibri"/>
                <a:ea typeface="Calibri"/>
                <a:cs typeface="Calibri"/>
                <a:sym typeface="Calibri"/>
              </a:rPr>
              <a:t>HDFS Rack Awareness is the algorithmic policy used by the Hadoop Distributed File System (HDFS) to intelligently distribute data blocks across physical hardware server racks.</a:t>
            </a:r>
            <a:endParaRPr/>
          </a:p>
          <a:p>
            <a:pPr marL="0" marR="0" lvl="0" indent="0" algn="just" rtl="0">
              <a:spcBef>
                <a:spcPts val="0"/>
              </a:spcBef>
              <a:spcAft>
                <a:spcPts val="0"/>
              </a:spcAft>
              <a:buNone/>
            </a:pPr>
            <a:endParaRPr sz="2000" b="1">
              <a:solidFill>
                <a:srgbClr val="C55A11"/>
              </a:solidFill>
              <a:latin typeface="Calibri"/>
              <a:ea typeface="Calibri"/>
              <a:cs typeface="Calibri"/>
              <a:sym typeface="Calibri"/>
            </a:endParaRPr>
          </a:p>
          <a:p>
            <a:pPr marL="0" marR="0" lvl="0" indent="0" algn="just" rtl="0">
              <a:spcBef>
                <a:spcPts val="0"/>
              </a:spcBef>
              <a:spcAft>
                <a:spcPts val="0"/>
              </a:spcAft>
              <a:buNone/>
            </a:pPr>
            <a:r>
              <a:rPr lang="en-US" sz="2000" b="1">
                <a:solidFill>
                  <a:srgbClr val="C55A11"/>
                </a:solidFill>
                <a:latin typeface="Calibri"/>
                <a:ea typeface="Calibri"/>
                <a:cs typeface="Calibri"/>
                <a:sym typeface="Calibri"/>
              </a:rPr>
              <a:t>It perfectly balances two conflicting engineering priorities in a data center: </a:t>
            </a:r>
            <a:endParaRPr sz="2000" b="1">
              <a:solidFill>
                <a:srgbClr val="C55A11"/>
              </a:solidFill>
              <a:latin typeface="Calibri"/>
              <a:ea typeface="Calibri"/>
              <a:cs typeface="Calibri"/>
              <a:sym typeface="Calibri"/>
            </a:endParaRPr>
          </a:p>
          <a:p>
            <a:pPr marL="0" marR="0" lvl="0" indent="0" algn="just" rtl="0">
              <a:spcBef>
                <a:spcPts val="0"/>
              </a:spcBef>
              <a:spcAft>
                <a:spcPts val="0"/>
              </a:spcAft>
              <a:buNone/>
            </a:pPr>
            <a:r>
              <a:rPr lang="en-US" sz="2000" b="1">
                <a:solidFill>
                  <a:srgbClr val="00B050"/>
                </a:solidFill>
                <a:latin typeface="Calibri"/>
                <a:ea typeface="Calibri"/>
                <a:cs typeface="Calibri"/>
                <a:sym typeface="Calibri"/>
              </a:rPr>
              <a:t>Data Reliability (surviving hardware failures) and </a:t>
            </a:r>
            <a:endParaRPr sz="2000" b="1">
              <a:solidFill>
                <a:srgbClr val="00B050"/>
              </a:solidFill>
              <a:latin typeface="Calibri"/>
              <a:ea typeface="Calibri"/>
              <a:cs typeface="Calibri"/>
              <a:sym typeface="Calibri"/>
            </a:endParaRPr>
          </a:p>
          <a:p>
            <a:pPr marL="0" marR="0" lvl="0" indent="0" algn="just" rtl="0">
              <a:spcBef>
                <a:spcPts val="0"/>
              </a:spcBef>
              <a:spcAft>
                <a:spcPts val="0"/>
              </a:spcAft>
              <a:buNone/>
            </a:pPr>
            <a:r>
              <a:rPr lang="en-US" sz="2000" b="1">
                <a:solidFill>
                  <a:srgbClr val="00B050"/>
                </a:solidFill>
                <a:latin typeface="Calibri"/>
                <a:ea typeface="Calibri"/>
                <a:cs typeface="Calibri"/>
                <a:sym typeface="Calibri"/>
              </a:rPr>
              <a:t>Network Performance (maximizing write speeds).</a:t>
            </a:r>
            <a:endParaRPr/>
          </a:p>
          <a:p>
            <a:pPr marL="0" marR="0" lvl="0" indent="0" algn="just" rtl="0">
              <a:spcBef>
                <a:spcPts val="0"/>
              </a:spcBef>
              <a:spcAft>
                <a:spcPts val="0"/>
              </a:spcAft>
              <a:buNone/>
            </a:pPr>
            <a:endParaRPr sz="2000" b="1">
              <a:solidFill>
                <a:srgbClr val="C55A11"/>
              </a:solidFill>
              <a:latin typeface="Calibri"/>
              <a:ea typeface="Calibri"/>
              <a:cs typeface="Calibri"/>
              <a:sym typeface="Calibri"/>
            </a:endParaRPr>
          </a:p>
        </p:txBody>
      </p:sp>
      <p:pic>
        <p:nvPicPr>
          <p:cNvPr id="537" name="Google Shape;537;p14" descr="Rack Awareness in HDFS. Wonder how does the NameNode decides… | by Sharayu  Shinde | Medium"/>
          <p:cNvPicPr preferRelativeResize="0"/>
          <p:nvPr/>
        </p:nvPicPr>
        <p:blipFill rotWithShape="1">
          <a:blip r:embed="rId3">
            <a:alphaModFix/>
          </a:blip>
          <a:srcRect/>
          <a:stretch/>
        </p:blipFill>
        <p:spPr>
          <a:xfrm>
            <a:off x="4247284" y="3419332"/>
            <a:ext cx="4942898" cy="3081684"/>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2"/>
        <p:cNvGrpSpPr/>
        <p:nvPr/>
      </p:nvGrpSpPr>
      <p:grpSpPr>
        <a:xfrm>
          <a:off x="0" y="0"/>
          <a:ext cx="0" cy="0"/>
          <a:chOff x="0" y="0"/>
          <a:chExt cx="0" cy="0"/>
        </a:xfrm>
      </p:grpSpPr>
      <p:sp>
        <p:nvSpPr>
          <p:cNvPr id="543" name="Google Shape;543;p15"/>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5"/>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545" name="Google Shape;545;p15"/>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546" name="Google Shape;546;p15"/>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547" name="Google Shape;547;p15"/>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548" name="Google Shape;548;p15"/>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549" name="Google Shape;549;p15"/>
          <p:cNvSpPr/>
          <p:nvPr/>
        </p:nvSpPr>
        <p:spPr>
          <a:xfrm>
            <a:off x="109728" y="1888236"/>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5"/>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551" name="Google Shape;551;p15"/>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552" name="Google Shape;552;p15"/>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553" name="Google Shape;553;p15"/>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554" name="Google Shape;554;p15"/>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555" name="Google Shape;555;p15"/>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556" name="Google Shape;556;p15"/>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557" name="Google Shape;557;p15"/>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558" name="Google Shape;558;p15"/>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559" name="Google Shape;559;p15"/>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560" name="Google Shape;560;p15"/>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561" name="Google Shape;561;p15"/>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562" name="Google Shape;562;p15"/>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563" name="Google Shape;563;p15"/>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564" name="Google Shape;564;p15"/>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565" name="Google Shape;565;p15"/>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566" name="Google Shape;566;p15"/>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3.2 DATA PARTITIONING</a:t>
            </a:r>
            <a:endParaRPr sz="1200">
              <a:solidFill>
                <a:schemeClr val="dk1"/>
              </a:solidFill>
              <a:latin typeface="Calibri"/>
              <a:ea typeface="Calibri"/>
              <a:cs typeface="Calibri"/>
              <a:sym typeface="Calibri"/>
            </a:endParaRPr>
          </a:p>
        </p:txBody>
      </p:sp>
      <p:sp>
        <p:nvSpPr>
          <p:cNvPr id="567" name="Google Shape;567;p15"/>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Partition Placement — HDFS Rack Awareness</a:t>
            </a:r>
            <a:endParaRPr sz="2700">
              <a:solidFill>
                <a:schemeClr val="dk1"/>
              </a:solidFill>
              <a:latin typeface="Calibri"/>
              <a:ea typeface="Calibri"/>
              <a:cs typeface="Calibri"/>
              <a:sym typeface="Calibri"/>
            </a:endParaRPr>
          </a:p>
        </p:txBody>
      </p:sp>
      <p:sp>
        <p:nvSpPr>
          <p:cNvPr id="568" name="Google Shape;568;p15"/>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569" name="Google Shape;569;p15"/>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8</a:t>
            </a:r>
            <a:endParaRPr sz="850">
              <a:solidFill>
                <a:schemeClr val="dk1"/>
              </a:solidFill>
              <a:latin typeface="Calibri"/>
              <a:ea typeface="Calibri"/>
              <a:cs typeface="Calibri"/>
              <a:sym typeface="Calibri"/>
            </a:endParaRPr>
          </a:p>
        </p:txBody>
      </p:sp>
      <p:sp>
        <p:nvSpPr>
          <p:cNvPr id="570" name="Google Shape;570;p15"/>
          <p:cNvSpPr/>
          <p:nvPr/>
        </p:nvSpPr>
        <p:spPr>
          <a:xfrm>
            <a:off x="4451004" y="1133856"/>
            <a:ext cx="3880196" cy="365760"/>
          </a:xfrm>
          <a:prstGeom prst="rect">
            <a:avLst/>
          </a:prstGeom>
          <a:noFill/>
          <a:ln w="9525"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C55A11"/>
              </a:buClr>
              <a:buSzPts val="2400"/>
              <a:buFont typeface="Calibri"/>
              <a:buNone/>
            </a:pPr>
            <a:r>
              <a:rPr lang="en-US" sz="2400" b="1">
                <a:solidFill>
                  <a:srgbClr val="C55A11"/>
                </a:solidFill>
                <a:latin typeface="Calibri"/>
                <a:ea typeface="Calibri"/>
                <a:cs typeface="Calibri"/>
                <a:sym typeface="Calibri"/>
              </a:rPr>
              <a:t>Default replication factor = 3 </a:t>
            </a:r>
            <a:endParaRPr sz="2400" b="1">
              <a:solidFill>
                <a:srgbClr val="C55A11"/>
              </a:solidFill>
              <a:latin typeface="Calibri"/>
              <a:ea typeface="Calibri"/>
              <a:cs typeface="Calibri"/>
              <a:sym typeface="Calibri"/>
            </a:endParaRPr>
          </a:p>
        </p:txBody>
      </p:sp>
      <p:sp>
        <p:nvSpPr>
          <p:cNvPr id="571" name="Google Shape;571;p15"/>
          <p:cNvSpPr/>
          <p:nvPr/>
        </p:nvSpPr>
        <p:spPr>
          <a:xfrm>
            <a:off x="2834640" y="1828800"/>
            <a:ext cx="4221328" cy="2377440"/>
          </a:xfrm>
          <a:prstGeom prst="roundRect">
            <a:avLst>
              <a:gd name="adj" fmla="val 3077"/>
            </a:avLst>
          </a:prstGeom>
          <a:solidFill>
            <a:srgbClr val="EAF1FB"/>
          </a:solidFill>
          <a:ln w="12700" cap="flat" cmpd="sng">
            <a:solidFill>
              <a:srgbClr val="12294B"/>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5"/>
          <p:cNvSpPr/>
          <p:nvPr/>
        </p:nvSpPr>
        <p:spPr>
          <a:xfrm>
            <a:off x="2834640" y="1920240"/>
            <a:ext cx="4221328" cy="2926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2294B"/>
              </a:buClr>
              <a:buSzPts val="2000"/>
              <a:buFont typeface="Calibri"/>
              <a:buNone/>
            </a:pPr>
            <a:r>
              <a:rPr lang="en-US" sz="2000" b="1">
                <a:solidFill>
                  <a:srgbClr val="12294B"/>
                </a:solidFill>
                <a:latin typeface="Calibri"/>
                <a:ea typeface="Calibri"/>
                <a:cs typeface="Calibri"/>
                <a:sym typeface="Calibri"/>
              </a:rPr>
              <a:t>RACK A</a:t>
            </a:r>
            <a:endParaRPr sz="2000">
              <a:solidFill>
                <a:schemeClr val="dk1"/>
              </a:solidFill>
              <a:latin typeface="Calibri"/>
              <a:ea typeface="Calibri"/>
              <a:cs typeface="Calibri"/>
              <a:sym typeface="Calibri"/>
            </a:endParaRPr>
          </a:p>
        </p:txBody>
      </p:sp>
      <p:sp>
        <p:nvSpPr>
          <p:cNvPr id="573" name="Google Shape;573;p15"/>
          <p:cNvSpPr/>
          <p:nvPr/>
        </p:nvSpPr>
        <p:spPr>
          <a:xfrm>
            <a:off x="3108960" y="2331720"/>
            <a:ext cx="3672688" cy="777240"/>
          </a:xfrm>
          <a:prstGeom prst="roundRect">
            <a:avLst>
              <a:gd name="adj" fmla="val 9412"/>
            </a:avLst>
          </a:prstGeom>
          <a:solidFill>
            <a:srgbClr val="1B7A78"/>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5"/>
          <p:cNvSpPr/>
          <p:nvPr/>
        </p:nvSpPr>
        <p:spPr>
          <a:xfrm>
            <a:off x="3108960" y="2331720"/>
            <a:ext cx="3672688" cy="7772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Node 1</a:t>
            </a:r>
            <a:endParaRPr sz="1800">
              <a:solidFill>
                <a:schemeClr val="dk1"/>
              </a:solidFill>
              <a:latin typeface="Calibri"/>
              <a:ea typeface="Calibri"/>
              <a:cs typeface="Calibri"/>
              <a:sym typeface="Calibri"/>
            </a:endParaRPr>
          </a:p>
          <a:p>
            <a:pPr marL="0" marR="0" lvl="0" indent="0" algn="ctr" rtl="0">
              <a:spcBef>
                <a:spcPts val="0"/>
              </a:spcBef>
              <a:spcAft>
                <a:spcPts val="0"/>
              </a:spcAft>
              <a:buClr>
                <a:srgbClr val="FFC000"/>
              </a:buClr>
              <a:buSzPts val="2000"/>
              <a:buFont typeface="Calibri"/>
              <a:buNone/>
            </a:pPr>
            <a:r>
              <a:rPr lang="en-US" sz="2000" b="1" i="1" u="sng">
                <a:solidFill>
                  <a:srgbClr val="FFC000"/>
                </a:solidFill>
                <a:latin typeface="Calibri"/>
                <a:ea typeface="Calibri"/>
                <a:cs typeface="Calibri"/>
                <a:sym typeface="Calibri"/>
              </a:rPr>
              <a:t>Replica</a:t>
            </a:r>
            <a:r>
              <a:rPr lang="en-US" sz="1800" b="1" i="1" u="sng">
                <a:solidFill>
                  <a:srgbClr val="FFC000"/>
                </a:solidFill>
                <a:latin typeface="Calibri"/>
                <a:ea typeface="Calibri"/>
                <a:cs typeface="Calibri"/>
                <a:sym typeface="Calibri"/>
              </a:rPr>
              <a:t> 1 (writer)</a:t>
            </a:r>
            <a:endParaRPr sz="1800" i="1" u="sng">
              <a:solidFill>
                <a:srgbClr val="FFC000"/>
              </a:solidFill>
              <a:latin typeface="Calibri"/>
              <a:ea typeface="Calibri"/>
              <a:cs typeface="Calibri"/>
              <a:sym typeface="Calibri"/>
            </a:endParaRPr>
          </a:p>
        </p:txBody>
      </p:sp>
      <p:sp>
        <p:nvSpPr>
          <p:cNvPr id="575" name="Google Shape;575;p15"/>
          <p:cNvSpPr/>
          <p:nvPr/>
        </p:nvSpPr>
        <p:spPr>
          <a:xfrm>
            <a:off x="3108960" y="3246120"/>
            <a:ext cx="3672688" cy="777240"/>
          </a:xfrm>
          <a:prstGeom prst="roundRect">
            <a:avLst>
              <a:gd name="adj" fmla="val 9412"/>
            </a:avLst>
          </a:prstGeom>
          <a:solidFill>
            <a:srgbClr val="C7D3E3"/>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5"/>
          <p:cNvSpPr/>
          <p:nvPr/>
        </p:nvSpPr>
        <p:spPr>
          <a:xfrm>
            <a:off x="3108960" y="3246120"/>
            <a:ext cx="3672688" cy="7772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830"/>
              </a:buClr>
              <a:buSzPts val="1800"/>
              <a:buFont typeface="Calibri"/>
              <a:buNone/>
            </a:pPr>
            <a:r>
              <a:rPr lang="en-US" sz="1800">
                <a:solidFill>
                  <a:srgbClr val="0A1830"/>
                </a:solidFill>
                <a:latin typeface="Calibri"/>
                <a:ea typeface="Calibri"/>
                <a:cs typeface="Calibri"/>
                <a:sym typeface="Calibri"/>
              </a:rPr>
              <a:t>Node 2</a:t>
            </a:r>
            <a:endParaRPr sz="1800">
              <a:solidFill>
                <a:schemeClr val="dk1"/>
              </a:solidFill>
              <a:latin typeface="Calibri"/>
              <a:ea typeface="Calibri"/>
              <a:cs typeface="Calibri"/>
              <a:sym typeface="Calibri"/>
            </a:endParaRPr>
          </a:p>
          <a:p>
            <a:pPr marL="0" marR="0" lvl="0" indent="0" algn="ctr" rtl="0">
              <a:spcBef>
                <a:spcPts val="0"/>
              </a:spcBef>
              <a:spcAft>
                <a:spcPts val="0"/>
              </a:spcAft>
              <a:buClr>
                <a:srgbClr val="0A1830"/>
              </a:buClr>
              <a:buSzPts val="1800"/>
              <a:buFont typeface="Calibri"/>
              <a:buNone/>
            </a:pPr>
            <a:r>
              <a:rPr lang="en-US" sz="1800">
                <a:solidFill>
                  <a:srgbClr val="0A1830"/>
                </a:solidFill>
                <a:latin typeface="Calibri"/>
                <a:ea typeface="Calibri"/>
                <a:cs typeface="Calibri"/>
                <a:sym typeface="Calibri"/>
              </a:rPr>
              <a:t>(no replica)</a:t>
            </a:r>
            <a:endParaRPr sz="1800">
              <a:solidFill>
                <a:schemeClr val="dk1"/>
              </a:solidFill>
              <a:latin typeface="Calibri"/>
              <a:ea typeface="Calibri"/>
              <a:cs typeface="Calibri"/>
              <a:sym typeface="Calibri"/>
            </a:endParaRPr>
          </a:p>
        </p:txBody>
      </p:sp>
      <p:sp>
        <p:nvSpPr>
          <p:cNvPr id="577" name="Google Shape;577;p15"/>
          <p:cNvSpPr/>
          <p:nvPr/>
        </p:nvSpPr>
        <p:spPr>
          <a:xfrm>
            <a:off x="7604608" y="1828800"/>
            <a:ext cx="4221328" cy="2377440"/>
          </a:xfrm>
          <a:prstGeom prst="roundRect">
            <a:avLst>
              <a:gd name="adj" fmla="val 3077"/>
            </a:avLst>
          </a:prstGeom>
          <a:solidFill>
            <a:srgbClr val="FBF1E0"/>
          </a:solidFill>
          <a:ln w="12700" cap="flat" cmpd="sng">
            <a:solidFill>
              <a:srgbClr val="D9A441"/>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5"/>
          <p:cNvSpPr/>
          <p:nvPr/>
        </p:nvSpPr>
        <p:spPr>
          <a:xfrm>
            <a:off x="7604608" y="1920240"/>
            <a:ext cx="4221328" cy="2926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5E15"/>
              </a:buClr>
              <a:buSzPts val="2000"/>
              <a:buFont typeface="Calibri"/>
              <a:buNone/>
            </a:pPr>
            <a:r>
              <a:rPr lang="en-US" sz="2000" b="1">
                <a:solidFill>
                  <a:srgbClr val="8A5E15"/>
                </a:solidFill>
                <a:latin typeface="Calibri"/>
                <a:ea typeface="Calibri"/>
                <a:cs typeface="Calibri"/>
                <a:sym typeface="Calibri"/>
              </a:rPr>
              <a:t>RACK B</a:t>
            </a:r>
            <a:endParaRPr sz="2000">
              <a:solidFill>
                <a:schemeClr val="dk1"/>
              </a:solidFill>
              <a:latin typeface="Calibri"/>
              <a:ea typeface="Calibri"/>
              <a:cs typeface="Calibri"/>
              <a:sym typeface="Calibri"/>
            </a:endParaRPr>
          </a:p>
        </p:txBody>
      </p:sp>
      <p:sp>
        <p:nvSpPr>
          <p:cNvPr id="579" name="Google Shape;579;p15"/>
          <p:cNvSpPr/>
          <p:nvPr/>
        </p:nvSpPr>
        <p:spPr>
          <a:xfrm>
            <a:off x="7878928" y="2331720"/>
            <a:ext cx="3672688" cy="777240"/>
          </a:xfrm>
          <a:prstGeom prst="roundRect">
            <a:avLst>
              <a:gd name="adj" fmla="val 9412"/>
            </a:avLst>
          </a:prstGeom>
          <a:solidFill>
            <a:srgbClr val="D9A441"/>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5"/>
          <p:cNvSpPr/>
          <p:nvPr/>
        </p:nvSpPr>
        <p:spPr>
          <a:xfrm>
            <a:off x="7878928" y="2331720"/>
            <a:ext cx="3672688" cy="7772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830"/>
              </a:buClr>
              <a:buSzPts val="1800"/>
              <a:buFont typeface="Calibri"/>
              <a:buNone/>
            </a:pPr>
            <a:r>
              <a:rPr lang="en-US" sz="1800" b="1">
                <a:solidFill>
                  <a:srgbClr val="0A1830"/>
                </a:solidFill>
                <a:latin typeface="Calibri"/>
                <a:ea typeface="Calibri"/>
                <a:cs typeface="Calibri"/>
                <a:sym typeface="Calibri"/>
              </a:rPr>
              <a:t>Node 3</a:t>
            </a:r>
            <a:endParaRPr sz="1800">
              <a:solidFill>
                <a:schemeClr val="dk1"/>
              </a:solidFill>
              <a:latin typeface="Calibri"/>
              <a:ea typeface="Calibri"/>
              <a:cs typeface="Calibri"/>
              <a:sym typeface="Calibri"/>
            </a:endParaRPr>
          </a:p>
          <a:p>
            <a:pPr marL="0" marR="0" lvl="0" indent="0" algn="ctr" rtl="0">
              <a:spcBef>
                <a:spcPts val="0"/>
              </a:spcBef>
              <a:spcAft>
                <a:spcPts val="0"/>
              </a:spcAft>
              <a:buClr>
                <a:srgbClr val="C00000"/>
              </a:buClr>
              <a:buSzPts val="1800"/>
              <a:buFont typeface="Calibri"/>
              <a:buNone/>
            </a:pPr>
            <a:r>
              <a:rPr lang="en-US" sz="1800" b="1" i="1" u="sng">
                <a:solidFill>
                  <a:srgbClr val="C00000"/>
                </a:solidFill>
                <a:latin typeface="Calibri"/>
                <a:ea typeface="Calibri"/>
                <a:cs typeface="Calibri"/>
                <a:sym typeface="Calibri"/>
              </a:rPr>
              <a:t>Replica 2</a:t>
            </a:r>
            <a:endParaRPr sz="1800" i="1" u="sng">
              <a:solidFill>
                <a:srgbClr val="C00000"/>
              </a:solidFill>
              <a:latin typeface="Calibri"/>
              <a:ea typeface="Calibri"/>
              <a:cs typeface="Calibri"/>
              <a:sym typeface="Calibri"/>
            </a:endParaRPr>
          </a:p>
        </p:txBody>
      </p:sp>
      <p:sp>
        <p:nvSpPr>
          <p:cNvPr id="581" name="Google Shape;581;p15"/>
          <p:cNvSpPr/>
          <p:nvPr/>
        </p:nvSpPr>
        <p:spPr>
          <a:xfrm>
            <a:off x="7878928" y="3246120"/>
            <a:ext cx="3672688" cy="777240"/>
          </a:xfrm>
          <a:prstGeom prst="roundRect">
            <a:avLst>
              <a:gd name="adj" fmla="val 9412"/>
            </a:avLst>
          </a:prstGeom>
          <a:solidFill>
            <a:srgbClr val="E8B95F"/>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5"/>
          <p:cNvSpPr/>
          <p:nvPr/>
        </p:nvSpPr>
        <p:spPr>
          <a:xfrm>
            <a:off x="7878928" y="3246120"/>
            <a:ext cx="3672688" cy="7772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830"/>
              </a:buClr>
              <a:buSzPts val="1800"/>
              <a:buFont typeface="Calibri"/>
              <a:buNone/>
            </a:pPr>
            <a:r>
              <a:rPr lang="en-US" sz="1800" b="1">
                <a:solidFill>
                  <a:srgbClr val="0A1830"/>
                </a:solidFill>
                <a:latin typeface="Calibri"/>
                <a:ea typeface="Calibri"/>
                <a:cs typeface="Calibri"/>
                <a:sym typeface="Calibri"/>
              </a:rPr>
              <a:t>Node 4</a:t>
            </a:r>
            <a:endParaRPr sz="1800">
              <a:solidFill>
                <a:schemeClr val="dk1"/>
              </a:solidFill>
              <a:latin typeface="Calibri"/>
              <a:ea typeface="Calibri"/>
              <a:cs typeface="Calibri"/>
              <a:sym typeface="Calibri"/>
            </a:endParaRPr>
          </a:p>
          <a:p>
            <a:pPr marL="0" marR="0" lvl="0" indent="0" algn="ctr" rtl="0">
              <a:spcBef>
                <a:spcPts val="0"/>
              </a:spcBef>
              <a:spcAft>
                <a:spcPts val="0"/>
              </a:spcAft>
              <a:buClr>
                <a:srgbClr val="C00000"/>
              </a:buClr>
              <a:buSzPts val="1800"/>
              <a:buFont typeface="Calibri"/>
              <a:buNone/>
            </a:pPr>
            <a:r>
              <a:rPr lang="en-US" sz="1800" b="1" i="1" u="sng">
                <a:solidFill>
                  <a:srgbClr val="C00000"/>
                </a:solidFill>
                <a:latin typeface="Calibri"/>
                <a:ea typeface="Calibri"/>
                <a:cs typeface="Calibri"/>
                <a:sym typeface="Calibri"/>
              </a:rPr>
              <a:t>Replica 3</a:t>
            </a:r>
            <a:endParaRPr sz="1800" i="1" u="sng">
              <a:solidFill>
                <a:srgbClr val="C00000"/>
              </a:solidFill>
              <a:latin typeface="Calibri"/>
              <a:ea typeface="Calibri"/>
              <a:cs typeface="Calibri"/>
              <a:sym typeface="Calibri"/>
            </a:endParaRPr>
          </a:p>
        </p:txBody>
      </p:sp>
      <p:cxnSp>
        <p:nvCxnSpPr>
          <p:cNvPr id="583" name="Google Shape;583;p15"/>
          <p:cNvCxnSpPr/>
          <p:nvPr/>
        </p:nvCxnSpPr>
        <p:spPr>
          <a:xfrm>
            <a:off x="7055968" y="3017520"/>
            <a:ext cx="548640" cy="0"/>
          </a:xfrm>
          <a:prstGeom prst="straightConnector1">
            <a:avLst/>
          </a:prstGeom>
          <a:noFill/>
          <a:ln w="25400" cap="flat" cmpd="sng">
            <a:solidFill>
              <a:srgbClr val="12294B"/>
            </a:solidFill>
            <a:prstDash val="dash"/>
            <a:round/>
            <a:headEnd type="none" w="sm" len="sm"/>
            <a:tailEnd type="none" w="sm" len="sm"/>
          </a:ln>
        </p:spPr>
      </p:cxnSp>
      <p:sp>
        <p:nvSpPr>
          <p:cNvPr id="584" name="Google Shape;584;p15"/>
          <p:cNvSpPr/>
          <p:nvPr/>
        </p:nvSpPr>
        <p:spPr>
          <a:xfrm>
            <a:off x="2834640" y="4434840"/>
            <a:ext cx="8991295" cy="1600200"/>
          </a:xfrm>
          <a:prstGeom prst="roundRect">
            <a:avLst>
              <a:gd name="adj" fmla="val 4571"/>
            </a:avLst>
          </a:prstGeom>
          <a:solidFill>
            <a:srgbClr val="F4F6F9"/>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5"/>
          <p:cNvSpPr/>
          <p:nvPr/>
        </p:nvSpPr>
        <p:spPr>
          <a:xfrm>
            <a:off x="3017520" y="4553712"/>
            <a:ext cx="8625535" cy="1417320"/>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C55A11"/>
              </a:buClr>
              <a:buSzPts val="1400"/>
              <a:buFont typeface="Calibri"/>
              <a:buChar char="▪"/>
            </a:pPr>
            <a:r>
              <a:rPr lang="en-US" sz="1400" b="1">
                <a:solidFill>
                  <a:srgbClr val="C55A11"/>
                </a:solidFill>
                <a:latin typeface="Calibri"/>
                <a:ea typeface="Calibri"/>
                <a:cs typeface="Calibri"/>
                <a:sym typeface="Calibri"/>
              </a:rPr>
              <a:t>Replica 2 goes to a different rack — survives a rack-level failure (power/switch outage)</a:t>
            </a:r>
            <a:endParaRPr sz="1400" b="1">
              <a:solidFill>
                <a:srgbClr val="C55A11"/>
              </a:solidFill>
              <a:latin typeface="Calibri"/>
              <a:ea typeface="Calibri"/>
              <a:cs typeface="Calibri"/>
              <a:sym typeface="Calibri"/>
            </a:endParaRPr>
          </a:p>
          <a:p>
            <a:pPr marL="203200" marR="0" lvl="0" indent="-203200" algn="l" rtl="0">
              <a:lnSpc>
                <a:spcPct val="108000"/>
              </a:lnSpc>
              <a:spcBef>
                <a:spcPts val="600"/>
              </a:spcBef>
              <a:spcAft>
                <a:spcPts val="0"/>
              </a:spcAft>
              <a:buClr>
                <a:srgbClr val="C55A11"/>
              </a:buClr>
              <a:buSzPts val="1400"/>
              <a:buFont typeface="Calibri"/>
              <a:buChar char="▪"/>
            </a:pPr>
            <a:r>
              <a:rPr lang="en-US" sz="1400" b="1">
                <a:solidFill>
                  <a:srgbClr val="C55A11"/>
                </a:solidFill>
                <a:latin typeface="Calibri"/>
                <a:ea typeface="Calibri"/>
                <a:cs typeface="Calibri"/>
                <a:sym typeface="Calibri"/>
              </a:rPr>
              <a:t>Replica 3 stays in that same rack (with Replica 2) — keeps inter-replica write traffic cheap while still tolerating one node failure</a:t>
            </a:r>
            <a:endParaRPr sz="1400" b="1">
              <a:solidFill>
                <a:srgbClr val="C55A11"/>
              </a:solidFill>
              <a:latin typeface="Calibri"/>
              <a:ea typeface="Calibri"/>
              <a:cs typeface="Calibri"/>
              <a:sym typeface="Calibri"/>
            </a:endParaRPr>
          </a:p>
          <a:p>
            <a:pPr marL="203200" marR="0" lvl="0" indent="-203200" algn="l" rtl="0">
              <a:lnSpc>
                <a:spcPct val="108000"/>
              </a:lnSpc>
              <a:spcBef>
                <a:spcPts val="600"/>
              </a:spcBef>
              <a:spcAft>
                <a:spcPts val="0"/>
              </a:spcAft>
              <a:buClr>
                <a:srgbClr val="C55A11"/>
              </a:buClr>
              <a:buSzPts val="1400"/>
              <a:buFont typeface="Calibri"/>
              <a:buChar char="▪"/>
            </a:pPr>
            <a:r>
              <a:rPr lang="en-US" sz="1400" b="1">
                <a:solidFill>
                  <a:srgbClr val="C55A11"/>
                </a:solidFill>
                <a:latin typeface="Calibri"/>
                <a:ea typeface="Calibri"/>
                <a:cs typeface="Calibri"/>
                <a:sym typeface="Calibri"/>
              </a:rPr>
              <a:t>Cloud object stores generalize this to "availability zones" — spreading data across zones so one data-centre failure never causes data loss</a:t>
            </a:r>
            <a:endParaRPr sz="1400" b="1">
              <a:solidFill>
                <a:srgbClr val="C55A1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0"/>
        <p:cNvGrpSpPr/>
        <p:nvPr/>
      </p:nvGrpSpPr>
      <p:grpSpPr>
        <a:xfrm>
          <a:off x="0" y="0"/>
          <a:ext cx="0" cy="0"/>
          <a:chOff x="0" y="0"/>
          <a:chExt cx="0" cy="0"/>
        </a:xfrm>
      </p:grpSpPr>
      <p:sp>
        <p:nvSpPr>
          <p:cNvPr id="591" name="Google Shape;591;p16"/>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6"/>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593" name="Google Shape;593;p16"/>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594" name="Google Shape;594;p16"/>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595" name="Google Shape;595;p16"/>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596" name="Google Shape;596;p16"/>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dirty="0">
                <a:solidFill>
                  <a:schemeClr val="lt1"/>
                </a:solidFill>
                <a:latin typeface="Calibri"/>
                <a:ea typeface="Calibri"/>
                <a:cs typeface="Calibri"/>
                <a:sym typeface="Calibri"/>
              </a:rPr>
              <a:t>Parallelism &amp; its Types</a:t>
            </a:r>
            <a:endParaRPr sz="1400" dirty="0">
              <a:solidFill>
                <a:schemeClr val="lt1"/>
              </a:solidFill>
              <a:latin typeface="Calibri"/>
              <a:ea typeface="Calibri"/>
              <a:cs typeface="Calibri"/>
              <a:sym typeface="Calibri"/>
            </a:endParaRPr>
          </a:p>
        </p:txBody>
      </p:sp>
      <p:sp>
        <p:nvSpPr>
          <p:cNvPr id="597" name="Google Shape;597;p16"/>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598" name="Google Shape;598;p16"/>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599" name="Google Shape;599;p16"/>
          <p:cNvSpPr/>
          <p:nvPr/>
        </p:nvSpPr>
        <p:spPr>
          <a:xfrm>
            <a:off x="109728" y="2450592"/>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6"/>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601" name="Google Shape;601;p16"/>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602" name="Google Shape;602;p16"/>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603" name="Google Shape;603;p16"/>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604" name="Google Shape;604;p16"/>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605" name="Google Shape;605;p16"/>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606" name="Google Shape;606;p16"/>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607" name="Google Shape;607;p16"/>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608" name="Google Shape;608;p16"/>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609" name="Google Shape;609;p16"/>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610" name="Google Shape;610;p16"/>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611" name="Google Shape;611;p16"/>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612" name="Google Shape;612;p16"/>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613" name="Google Shape;613;p16"/>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614" name="Google Shape;614;p16"/>
          <p:cNvSpPr/>
          <p:nvPr/>
        </p:nvSpPr>
        <p:spPr>
          <a:xfrm>
            <a:off x="2834640" y="612648"/>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2800"/>
              <a:buFont typeface="Calibri"/>
              <a:buNone/>
            </a:pPr>
            <a:r>
              <a:rPr lang="en-US" sz="2800" b="1">
                <a:solidFill>
                  <a:srgbClr val="1B7A78"/>
                </a:solidFill>
                <a:latin typeface="Calibri"/>
                <a:ea typeface="Calibri"/>
                <a:cs typeface="Calibri"/>
                <a:sym typeface="Calibri"/>
              </a:rPr>
              <a:t>3.3 DATA PROCESSING OPERATIONS</a:t>
            </a:r>
            <a:endParaRPr sz="2800">
              <a:solidFill>
                <a:schemeClr val="dk1"/>
              </a:solidFill>
              <a:latin typeface="Calibri"/>
              <a:ea typeface="Calibri"/>
              <a:cs typeface="Calibri"/>
              <a:sym typeface="Calibri"/>
            </a:endParaRPr>
          </a:p>
        </p:txBody>
      </p:sp>
      <p:sp>
        <p:nvSpPr>
          <p:cNvPr id="615" name="Google Shape;615;p16"/>
          <p:cNvSpPr/>
          <p:nvPr/>
        </p:nvSpPr>
        <p:spPr>
          <a:xfrm>
            <a:off x="2944368" y="974614"/>
            <a:ext cx="8250104" cy="1949122"/>
          </a:xfrm>
          <a:prstGeom prst="rect">
            <a:avLst/>
          </a:prstGeom>
          <a:noFill/>
          <a:ln>
            <a:noFill/>
          </a:ln>
        </p:spPr>
        <p:txBody>
          <a:bodyPr spcFirstLastPara="1" wrap="square" lIns="0" tIns="203125" rIns="0" bIns="203125" anchor="ctr" anchorCtr="0">
            <a:spAutoFit/>
          </a:bodyPr>
          <a:lstStyle/>
          <a:p>
            <a:pPr marL="0" marR="0" lvl="0" indent="0" algn="just" rtl="0">
              <a:spcBef>
                <a:spcPts val="0"/>
              </a:spcBef>
              <a:spcAft>
                <a:spcPts val="0"/>
              </a:spcAft>
              <a:buNone/>
            </a:pPr>
            <a:r>
              <a:rPr lang="en-US" sz="2000" b="1" dirty="0">
                <a:solidFill>
                  <a:srgbClr val="C55A11"/>
                </a:solidFill>
                <a:latin typeface="Calibri"/>
                <a:ea typeface="Calibri"/>
                <a:cs typeface="Calibri"/>
                <a:sym typeface="Calibri"/>
              </a:rPr>
              <a:t>Data processing operations represent the foundational transformations applied to raw data to convert it into meaningful information. In distributed big data environments, these operations are carefully structured to optimize processing efficiency, cluster memory usage, and network traffic.</a:t>
            </a:r>
            <a:endParaRPr dirty="0"/>
          </a:p>
          <a:p>
            <a:pPr marL="0" marR="0" lvl="0" indent="0" algn="just" rtl="0">
              <a:spcBef>
                <a:spcPts val="0"/>
              </a:spcBef>
              <a:spcAft>
                <a:spcPts val="0"/>
              </a:spcAft>
              <a:buNone/>
            </a:pPr>
            <a:endParaRPr sz="2000" b="1" dirty="0">
              <a:solidFill>
                <a:srgbClr val="C55A11"/>
              </a:solidFill>
              <a:latin typeface="Calibri"/>
              <a:ea typeface="Calibri"/>
              <a:cs typeface="Calibri"/>
              <a:sym typeface="Calibri"/>
            </a:endParaRPr>
          </a:p>
        </p:txBody>
      </p:sp>
      <p:sp>
        <p:nvSpPr>
          <p:cNvPr id="616" name="Google Shape;616;p16"/>
          <p:cNvSpPr/>
          <p:nvPr/>
        </p:nvSpPr>
        <p:spPr>
          <a:xfrm>
            <a:off x="0" y="0"/>
            <a:ext cx="12192000" cy="15875"/>
          </a:xfrm>
          <a:prstGeom prst="rect">
            <a:avLst/>
          </a:prstGeom>
          <a:solidFill>
            <a:srgbClr val="000000"/>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7" name="Google Shape;617;p16"/>
          <p:cNvSpPr/>
          <p:nvPr/>
        </p:nvSpPr>
        <p:spPr>
          <a:xfrm>
            <a:off x="3116464" y="2764274"/>
            <a:ext cx="40601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Google Sans"/>
                <a:ea typeface="Google Sans"/>
                <a:cs typeface="Google Sans"/>
                <a:sym typeface="Google Sans"/>
              </a:rPr>
              <a:t>1. Validation and Cleaning</a:t>
            </a:r>
            <a:endParaRPr sz="1800" b="1" u="none" strike="noStrike" dirty="0">
              <a:solidFill>
                <a:schemeClr val="dk1"/>
              </a:solidFill>
              <a:latin typeface="Google Sans"/>
              <a:ea typeface="Google Sans"/>
              <a:cs typeface="Google Sans"/>
              <a:sym typeface="Google Sans"/>
            </a:endParaRPr>
          </a:p>
        </p:txBody>
      </p:sp>
      <p:sp>
        <p:nvSpPr>
          <p:cNvPr id="618" name="Google Shape;618;p16"/>
          <p:cNvSpPr/>
          <p:nvPr/>
        </p:nvSpPr>
        <p:spPr>
          <a:xfrm>
            <a:off x="3116465" y="3305917"/>
            <a:ext cx="43320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Google Sans"/>
                <a:ea typeface="Google Sans"/>
                <a:cs typeface="Google Sans"/>
                <a:sym typeface="Google Sans"/>
              </a:rPr>
              <a:t>2. Transformation (Mapping)</a:t>
            </a:r>
            <a:endParaRPr dirty="0"/>
          </a:p>
        </p:txBody>
      </p:sp>
      <p:sp>
        <p:nvSpPr>
          <p:cNvPr id="619" name="Google Shape;619;p16"/>
          <p:cNvSpPr/>
          <p:nvPr/>
        </p:nvSpPr>
        <p:spPr>
          <a:xfrm>
            <a:off x="3116464" y="3847560"/>
            <a:ext cx="22300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Google Sans"/>
                <a:ea typeface="Google Sans"/>
                <a:cs typeface="Google Sans"/>
                <a:sym typeface="Google Sans"/>
              </a:rPr>
              <a:t>3. Filtering</a:t>
            </a:r>
            <a:endParaRPr dirty="0"/>
          </a:p>
        </p:txBody>
      </p:sp>
      <p:sp>
        <p:nvSpPr>
          <p:cNvPr id="620" name="Google Shape;620;p16"/>
          <p:cNvSpPr/>
          <p:nvPr/>
        </p:nvSpPr>
        <p:spPr>
          <a:xfrm>
            <a:off x="3116464" y="4389203"/>
            <a:ext cx="45175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Google Sans"/>
                <a:ea typeface="Google Sans"/>
                <a:cs typeface="Google Sans"/>
                <a:sym typeface="Google Sans"/>
              </a:rPr>
              <a:t>4. Aggregation and Reduction</a:t>
            </a:r>
            <a:endParaRPr dirty="0"/>
          </a:p>
        </p:txBody>
      </p:sp>
      <p:sp>
        <p:nvSpPr>
          <p:cNvPr id="621" name="Google Shape;621;p16"/>
          <p:cNvSpPr/>
          <p:nvPr/>
        </p:nvSpPr>
        <p:spPr>
          <a:xfrm>
            <a:off x="3116464" y="4979398"/>
            <a:ext cx="21325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Google Sans"/>
                <a:ea typeface="Google Sans"/>
                <a:cs typeface="Google Sans"/>
                <a:sym typeface="Google Sans"/>
              </a:rPr>
              <a:t>5. Joining</a:t>
            </a:r>
            <a:endParaRP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6"/>
        <p:cNvGrpSpPr/>
        <p:nvPr/>
      </p:nvGrpSpPr>
      <p:grpSpPr>
        <a:xfrm>
          <a:off x="0" y="0"/>
          <a:ext cx="0" cy="0"/>
          <a:chOff x="0" y="0"/>
          <a:chExt cx="0" cy="0"/>
        </a:xfrm>
      </p:grpSpPr>
      <p:sp>
        <p:nvSpPr>
          <p:cNvPr id="627" name="Google Shape;627;p17"/>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7"/>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629" name="Google Shape;629;p17"/>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630" name="Google Shape;630;p17"/>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631" name="Google Shape;631;p17"/>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632" name="Google Shape;632;p17"/>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633" name="Google Shape;633;p17"/>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634" name="Google Shape;634;p17"/>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635" name="Google Shape;635;p17"/>
          <p:cNvSpPr/>
          <p:nvPr/>
        </p:nvSpPr>
        <p:spPr>
          <a:xfrm>
            <a:off x="109728" y="2450592"/>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7"/>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637" name="Google Shape;637;p17"/>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638" name="Google Shape;638;p17"/>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639" name="Google Shape;639;p17"/>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640" name="Google Shape;640;p17"/>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641" name="Google Shape;641;p17"/>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642" name="Google Shape;642;p17"/>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643" name="Google Shape;643;p17"/>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644" name="Google Shape;644;p17"/>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645" name="Google Shape;645;p17"/>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646" name="Google Shape;646;p17"/>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647" name="Google Shape;647;p17"/>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648" name="Google Shape;648;p17"/>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649" name="Google Shape;649;p17"/>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650" name="Google Shape;650;p17"/>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3.3 DATA PROCESSING OPERATIONS</a:t>
            </a:r>
            <a:endParaRPr sz="1200">
              <a:solidFill>
                <a:schemeClr val="dk1"/>
              </a:solidFill>
              <a:latin typeface="Calibri"/>
              <a:ea typeface="Calibri"/>
              <a:cs typeface="Calibri"/>
              <a:sym typeface="Calibri"/>
            </a:endParaRPr>
          </a:p>
        </p:txBody>
      </p:sp>
      <p:sp>
        <p:nvSpPr>
          <p:cNvPr id="651" name="Google Shape;651;p17"/>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Parallel Aggregation &amp; Reduction</a:t>
            </a:r>
            <a:endParaRPr sz="2700">
              <a:solidFill>
                <a:schemeClr val="dk1"/>
              </a:solidFill>
              <a:latin typeface="Calibri"/>
              <a:ea typeface="Calibri"/>
              <a:cs typeface="Calibri"/>
              <a:sym typeface="Calibri"/>
            </a:endParaRPr>
          </a:p>
        </p:txBody>
      </p:sp>
      <p:sp>
        <p:nvSpPr>
          <p:cNvPr id="652" name="Google Shape;652;p17"/>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9</a:t>
            </a:r>
            <a:endParaRPr sz="850">
              <a:solidFill>
                <a:schemeClr val="dk1"/>
              </a:solidFill>
              <a:latin typeface="Calibri"/>
              <a:ea typeface="Calibri"/>
              <a:cs typeface="Calibri"/>
              <a:sym typeface="Calibri"/>
            </a:endParaRPr>
          </a:p>
        </p:txBody>
      </p:sp>
      <p:sp>
        <p:nvSpPr>
          <p:cNvPr id="653" name="Google Shape;653;p17"/>
          <p:cNvSpPr/>
          <p:nvPr/>
        </p:nvSpPr>
        <p:spPr>
          <a:xfrm>
            <a:off x="2923256" y="898309"/>
            <a:ext cx="8814062" cy="1918345"/>
          </a:xfrm>
          <a:prstGeom prst="rect">
            <a:avLst/>
          </a:prstGeom>
          <a:noFill/>
          <a:ln>
            <a:noFill/>
          </a:ln>
        </p:spPr>
        <p:txBody>
          <a:bodyPr spcFirstLastPara="1" wrap="square" lIns="0" tIns="203125" rIns="0" bIns="203125" anchor="ctr" anchorCtr="0">
            <a:spAutoFit/>
          </a:bodyPr>
          <a:lstStyle/>
          <a:p>
            <a:pPr marL="0" marR="0" lvl="0" indent="0" algn="just" rtl="0">
              <a:lnSpc>
                <a:spcPct val="100000"/>
              </a:lnSpc>
              <a:spcBef>
                <a:spcPts val="0"/>
              </a:spcBef>
              <a:spcAft>
                <a:spcPts val="0"/>
              </a:spcAft>
              <a:buClr>
                <a:srgbClr val="C55A11"/>
              </a:buClr>
              <a:buSzPts val="2000"/>
              <a:buFont typeface="Calibri"/>
              <a:buNone/>
            </a:pPr>
            <a:r>
              <a:rPr lang="en-US" sz="2000" b="1">
                <a:solidFill>
                  <a:srgbClr val="C55A11"/>
                </a:solidFill>
                <a:latin typeface="Calibri"/>
                <a:ea typeface="Calibri"/>
                <a:cs typeface="Calibri"/>
                <a:sym typeface="Calibri"/>
              </a:rPr>
              <a:t>In distributed big data processing, Parallel Aggregation and Reduction is the mechanism used to compute global metrics (like SUM, COUNT, MAX, MIN, or AVERAGE) across billions of rows scattered across a cluster without bottlenecking the system.</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654" name="Google Shape;654;p17"/>
          <p:cNvSpPr/>
          <p:nvPr/>
        </p:nvSpPr>
        <p:spPr>
          <a:xfrm>
            <a:off x="2834640" y="2604783"/>
            <a:ext cx="8991295" cy="110799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dirty="0">
                <a:solidFill>
                  <a:schemeClr val="dk1"/>
                </a:solidFill>
                <a:latin typeface="Google Sans"/>
                <a:ea typeface="Google Sans"/>
                <a:cs typeface="Google Sans"/>
                <a:sym typeface="Google Sans"/>
              </a:rPr>
              <a:t>The Challenge: The Centralization Bottleneck</a:t>
            </a:r>
            <a:endParaRPr dirty="0"/>
          </a:p>
          <a:p>
            <a:pPr marL="0" marR="0" lvl="0" indent="0" algn="just" rtl="0">
              <a:spcBef>
                <a:spcPts val="0"/>
              </a:spcBef>
              <a:spcAft>
                <a:spcPts val="0"/>
              </a:spcAft>
              <a:buNone/>
            </a:pPr>
            <a:r>
              <a:rPr lang="en-US" sz="1600" i="1" dirty="0">
                <a:solidFill>
                  <a:srgbClr val="00B050"/>
                </a:solidFill>
                <a:latin typeface="Google Sans"/>
                <a:ea typeface="Google Sans"/>
                <a:cs typeface="Google Sans"/>
                <a:sym typeface="Google Sans"/>
              </a:rPr>
              <a:t>If a cluster has 1,000 worker nodes holding pieces of a massive dataset, you cannot simply send all raw data rows to a single master node to calculate a total. The master node would immediately run out of memory (OOM error) and choke on network bandwidth.</a:t>
            </a:r>
            <a:endParaRPr sz="1600" b="0" i="1" u="none" strike="noStrike" dirty="0">
              <a:solidFill>
                <a:srgbClr val="00B050"/>
              </a:solidFill>
              <a:latin typeface="Google Sans"/>
              <a:ea typeface="Google Sans"/>
              <a:cs typeface="Google Sans"/>
              <a:sym typeface="Google Sans"/>
            </a:endParaRPr>
          </a:p>
        </p:txBody>
      </p:sp>
      <p:sp>
        <p:nvSpPr>
          <p:cNvPr id="655" name="Google Shape;655;p17"/>
          <p:cNvSpPr/>
          <p:nvPr/>
        </p:nvSpPr>
        <p:spPr>
          <a:xfrm>
            <a:off x="3014873" y="4829690"/>
            <a:ext cx="4315414" cy="1933806"/>
          </a:xfrm>
          <a:prstGeom prst="rect">
            <a:avLst/>
          </a:prstGeom>
          <a:noFill/>
          <a:ln>
            <a:noFill/>
          </a:ln>
        </p:spPr>
        <p:txBody>
          <a:bodyPr spcFirstLastPara="1" wrap="square" lIns="0" tIns="88850" rIns="0" bIns="88850" anchor="ctr" anchorCtr="0">
            <a:spAutoFit/>
          </a:bodyPr>
          <a:lstStyle/>
          <a:p>
            <a:pPr marL="0" marR="0" lvl="0" indent="0" algn="l" rtl="0">
              <a:lnSpc>
                <a:spcPct val="100000"/>
              </a:lnSpc>
              <a:spcBef>
                <a:spcPts val="0"/>
              </a:spcBef>
              <a:spcAft>
                <a:spcPts val="0"/>
              </a:spcAft>
              <a:buClr>
                <a:schemeClr val="dk1"/>
              </a:buClr>
              <a:buSzPts val="1200"/>
              <a:buFont typeface="Google Sans"/>
              <a:buNone/>
            </a:pPr>
            <a:r>
              <a:rPr lang="en-US" sz="1200" b="1" i="0" u="none" strike="noStrike" cap="none" dirty="0">
                <a:solidFill>
                  <a:schemeClr val="dk1"/>
                </a:solidFill>
                <a:latin typeface="Google Sans"/>
                <a:ea typeface="Google Sans"/>
                <a:cs typeface="Google Sans"/>
                <a:sym typeface="Google Sans"/>
              </a:rPr>
              <a:t>1. Local Pre-Aggregation (Map-Side Combine)</a:t>
            </a:r>
            <a:endParaRPr sz="800" b="0" i="0" u="none" strike="noStrike" cap="none" dirty="0">
              <a:solidFill>
                <a:schemeClr val="dk1"/>
              </a:solidFill>
              <a:latin typeface="Calibri"/>
              <a:ea typeface="Calibri"/>
              <a:cs typeface="Calibri"/>
              <a:sym typeface="Calibri"/>
            </a:endParaRPr>
          </a:p>
          <a:p>
            <a:pPr marL="0" marR="0" lvl="0" indent="-76200" algn="l" rtl="0">
              <a:lnSpc>
                <a:spcPct val="100000"/>
              </a:lnSpc>
              <a:spcBef>
                <a:spcPts val="0"/>
              </a:spcBef>
              <a:spcAft>
                <a:spcPts val="0"/>
              </a:spcAft>
              <a:buClr>
                <a:schemeClr val="dk1"/>
              </a:buClr>
              <a:buSzPts val="1200"/>
              <a:buFont typeface="Google Sans"/>
              <a:buChar char="•"/>
            </a:pPr>
            <a:r>
              <a:rPr lang="en-US" sz="1200" b="1" i="0" u="none" strike="noStrike" cap="none" dirty="0">
                <a:solidFill>
                  <a:schemeClr val="dk1"/>
                </a:solidFill>
                <a:latin typeface="Google Sans"/>
                <a:ea typeface="Google Sans"/>
                <a:cs typeface="Google Sans"/>
                <a:sym typeface="Google Sans"/>
              </a:rPr>
              <a:t>The Action:</a:t>
            </a:r>
            <a:r>
              <a:rPr lang="en-US" sz="1200" b="0" i="0" u="none" strike="noStrike" cap="none" dirty="0">
                <a:solidFill>
                  <a:schemeClr val="dk1"/>
                </a:solidFill>
                <a:latin typeface="Google Sans"/>
                <a:ea typeface="Google Sans"/>
                <a:cs typeface="Google Sans"/>
                <a:sym typeface="Google Sans"/>
              </a:rPr>
              <a:t> Each individual worker node runs the aggregation function natively on </a:t>
            </a:r>
            <a:r>
              <a:rPr lang="en-US" sz="1200" b="1" i="0" u="none" strike="noStrike" cap="none" dirty="0">
                <a:solidFill>
                  <a:schemeClr val="dk1"/>
                </a:solidFill>
                <a:latin typeface="Google Sans"/>
                <a:ea typeface="Google Sans"/>
                <a:cs typeface="Google Sans"/>
                <a:sym typeface="Google Sans"/>
              </a:rPr>
              <a:t>only</a:t>
            </a:r>
            <a:r>
              <a:rPr lang="en-US" sz="1200" b="0" i="0" u="none" strike="noStrike" cap="none" dirty="0">
                <a:solidFill>
                  <a:schemeClr val="dk1"/>
                </a:solidFill>
                <a:latin typeface="Google Sans"/>
                <a:ea typeface="Google Sans"/>
                <a:cs typeface="Google Sans"/>
                <a:sym typeface="Google Sans"/>
              </a:rPr>
              <a:t> the data blocks stored in its local memory or disk.</a:t>
            </a:r>
            <a:endParaRPr dirty="0"/>
          </a:p>
          <a:p>
            <a:pPr marL="0" marR="0" lvl="0" indent="-76200" algn="l" rtl="0">
              <a:lnSpc>
                <a:spcPct val="100000"/>
              </a:lnSpc>
              <a:spcBef>
                <a:spcPts val="0"/>
              </a:spcBef>
              <a:spcAft>
                <a:spcPts val="0"/>
              </a:spcAft>
              <a:buClr>
                <a:schemeClr val="dk1"/>
              </a:buClr>
              <a:buSzPts val="1200"/>
              <a:buFont typeface="Google Sans"/>
              <a:buChar char="•"/>
            </a:pPr>
            <a:r>
              <a:rPr lang="en-US" sz="1200" b="1" i="0" u="none" strike="noStrike" cap="none" dirty="0">
                <a:solidFill>
                  <a:schemeClr val="dk1"/>
                </a:solidFill>
                <a:latin typeface="Google Sans"/>
                <a:ea typeface="Google Sans"/>
                <a:cs typeface="Google Sans"/>
                <a:sym typeface="Google Sans"/>
              </a:rPr>
              <a:t>Example:</a:t>
            </a:r>
            <a:r>
              <a:rPr lang="en-US" sz="1200" b="0" i="0" u="none" strike="noStrike" cap="none" dirty="0">
                <a:solidFill>
                  <a:schemeClr val="dk1"/>
                </a:solidFill>
                <a:latin typeface="Google Sans"/>
                <a:ea typeface="Google Sans"/>
                <a:cs typeface="Google Sans"/>
                <a:sym typeface="Google Sans"/>
              </a:rPr>
              <a:t> If a node has a column of numbers, it adds them up locally to produce a single subtotal.</a:t>
            </a:r>
            <a:endParaRPr dirty="0"/>
          </a:p>
          <a:p>
            <a:pPr marL="0" marR="0" lvl="0" indent="-76200" algn="l" rtl="0">
              <a:lnSpc>
                <a:spcPct val="100000"/>
              </a:lnSpc>
              <a:spcBef>
                <a:spcPts val="0"/>
              </a:spcBef>
              <a:spcAft>
                <a:spcPts val="0"/>
              </a:spcAft>
              <a:buClr>
                <a:schemeClr val="dk1"/>
              </a:buClr>
              <a:buSzPts val="1200"/>
              <a:buFont typeface="Google Sans"/>
              <a:buChar char="•"/>
            </a:pPr>
            <a:r>
              <a:rPr lang="en-US" sz="1200" b="1" i="0" u="none" strike="noStrike" cap="none" dirty="0">
                <a:solidFill>
                  <a:schemeClr val="dk1"/>
                </a:solidFill>
                <a:latin typeface="Google Sans"/>
                <a:ea typeface="Google Sans"/>
                <a:cs typeface="Google Sans"/>
                <a:sym typeface="Google Sans"/>
              </a:rPr>
              <a:t>The Benefit:</a:t>
            </a:r>
            <a:r>
              <a:rPr lang="en-US" sz="1200" b="0" i="0" u="none" strike="noStrike" cap="none" dirty="0">
                <a:solidFill>
                  <a:schemeClr val="dk1"/>
                </a:solidFill>
                <a:latin typeface="Google Sans"/>
                <a:ea typeface="Google Sans"/>
                <a:cs typeface="Google Sans"/>
                <a:sym typeface="Google Sans"/>
              </a:rPr>
              <a:t> This compresses millions of </a:t>
            </a:r>
            <a:r>
              <a:rPr lang="en-US" sz="1200" b="0" i="0" u="none" strike="noStrike" cap="none" dirty="0" err="1" smtClean="0">
                <a:solidFill>
                  <a:schemeClr val="dk1"/>
                </a:solidFill>
                <a:latin typeface="Google Sans"/>
                <a:ea typeface="Google Sans"/>
                <a:cs typeface="Google Sans"/>
                <a:sym typeface="Google Sans"/>
              </a:rPr>
              <a:t>raws</a:t>
            </a:r>
            <a:r>
              <a:rPr lang="en-US" sz="1200" b="0" i="0" u="none" strike="noStrike" cap="none" dirty="0" smtClean="0">
                <a:solidFill>
                  <a:schemeClr val="dk1"/>
                </a:solidFill>
                <a:latin typeface="Google Sans"/>
                <a:ea typeface="Google Sans"/>
                <a:cs typeface="Google Sans"/>
                <a:sym typeface="Google Sans"/>
              </a:rPr>
              <a:t> </a:t>
            </a:r>
            <a:r>
              <a:rPr lang="en-US" sz="1200" b="0" i="0" u="none" strike="noStrike" cap="none" dirty="0">
                <a:solidFill>
                  <a:schemeClr val="dk1"/>
                </a:solidFill>
                <a:latin typeface="Google Sans"/>
                <a:ea typeface="Google Sans"/>
                <a:cs typeface="Google Sans"/>
                <a:sym typeface="Google Sans"/>
              </a:rPr>
              <a:t>down to a single numeric value directly on the worker node.</a:t>
            </a:r>
            <a:endParaRPr dirty="0"/>
          </a:p>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Arial"/>
              <a:ea typeface="Arial"/>
              <a:cs typeface="Arial"/>
              <a:sym typeface="Arial"/>
            </a:endParaRPr>
          </a:p>
        </p:txBody>
      </p:sp>
      <p:sp>
        <p:nvSpPr>
          <p:cNvPr id="656" name="Google Shape;656;p17"/>
          <p:cNvSpPr/>
          <p:nvPr/>
        </p:nvSpPr>
        <p:spPr>
          <a:xfrm>
            <a:off x="7683980" y="4829690"/>
            <a:ext cx="4315414" cy="1564474"/>
          </a:xfrm>
          <a:prstGeom prst="rect">
            <a:avLst/>
          </a:prstGeom>
          <a:noFill/>
          <a:ln>
            <a:noFill/>
          </a:ln>
        </p:spPr>
        <p:txBody>
          <a:bodyPr spcFirstLastPara="1" wrap="square" lIns="0" tIns="88850" rIns="0" bIns="88850" anchor="ctr" anchorCtr="0">
            <a:spAutoFit/>
          </a:bodyPr>
          <a:lstStyle/>
          <a:p>
            <a:pPr marL="0" marR="0" lvl="0" indent="0" algn="l" rtl="0">
              <a:lnSpc>
                <a:spcPct val="100000"/>
              </a:lnSpc>
              <a:spcBef>
                <a:spcPts val="0"/>
              </a:spcBef>
              <a:spcAft>
                <a:spcPts val="0"/>
              </a:spcAft>
              <a:buClr>
                <a:schemeClr val="dk1"/>
              </a:buClr>
              <a:buSzPts val="1200"/>
              <a:buFont typeface="Google Sans"/>
              <a:buNone/>
            </a:pPr>
            <a:r>
              <a:rPr lang="en-US" sz="1200" b="1" i="0" u="none" strike="noStrike" cap="none">
                <a:solidFill>
                  <a:schemeClr val="dk1"/>
                </a:solidFill>
                <a:latin typeface="Google Sans"/>
                <a:ea typeface="Google Sans"/>
                <a:cs typeface="Google Sans"/>
                <a:sym typeface="Google Sans"/>
              </a:rPr>
              <a:t>2. Global Reduction (Reduce-Side Collapse)</a:t>
            </a:r>
            <a:endParaRPr sz="800" b="0" i="0" u="none" strike="noStrike" cap="none">
              <a:solidFill>
                <a:schemeClr val="dk1"/>
              </a:solidFill>
              <a:latin typeface="Calibri"/>
              <a:ea typeface="Calibri"/>
              <a:cs typeface="Calibri"/>
              <a:sym typeface="Calibri"/>
            </a:endParaRPr>
          </a:p>
          <a:p>
            <a:pPr marL="0" marR="0" lvl="0" indent="-76200" algn="l" rtl="0">
              <a:lnSpc>
                <a:spcPct val="100000"/>
              </a:lnSpc>
              <a:spcBef>
                <a:spcPts val="0"/>
              </a:spcBef>
              <a:spcAft>
                <a:spcPts val="0"/>
              </a:spcAft>
              <a:buClr>
                <a:schemeClr val="dk1"/>
              </a:buClr>
              <a:buSzPts val="1200"/>
              <a:buFont typeface="Google Sans"/>
              <a:buChar char="•"/>
            </a:pPr>
            <a:r>
              <a:rPr lang="en-US" sz="1200" b="1" i="0" u="none" strike="noStrike" cap="none">
                <a:solidFill>
                  <a:schemeClr val="dk1"/>
                </a:solidFill>
                <a:latin typeface="Google Sans"/>
                <a:ea typeface="Google Sans"/>
                <a:cs typeface="Google Sans"/>
                <a:sym typeface="Google Sans"/>
              </a:rPr>
              <a:t>The Action:</a:t>
            </a:r>
            <a:r>
              <a:rPr lang="en-US" sz="1200" b="0" i="0" u="none" strike="noStrike" cap="none">
                <a:solidFill>
                  <a:schemeClr val="dk1"/>
                </a:solidFill>
                <a:latin typeface="Google Sans"/>
                <a:ea typeface="Google Sans"/>
                <a:cs typeface="Google Sans"/>
                <a:sym typeface="Google Sans"/>
              </a:rPr>
              <a:t> The lightweight local subtotals are sent across the network (shuffled) to a single reducer node or a small set of target nodes.</a:t>
            </a:r>
            <a:endParaRPr/>
          </a:p>
          <a:p>
            <a:pPr marL="0" marR="0" lvl="0" indent="-76200" algn="l" rtl="0">
              <a:lnSpc>
                <a:spcPct val="100000"/>
              </a:lnSpc>
              <a:spcBef>
                <a:spcPts val="0"/>
              </a:spcBef>
              <a:spcAft>
                <a:spcPts val="0"/>
              </a:spcAft>
              <a:buClr>
                <a:schemeClr val="dk1"/>
              </a:buClr>
              <a:buSzPts val="1200"/>
              <a:buFont typeface="Google Sans"/>
              <a:buChar char="•"/>
            </a:pPr>
            <a:r>
              <a:rPr lang="en-US" sz="1200" b="1" i="0" u="none" strike="noStrike" cap="none">
                <a:solidFill>
                  <a:schemeClr val="dk1"/>
                </a:solidFill>
                <a:latin typeface="Google Sans"/>
                <a:ea typeface="Google Sans"/>
                <a:cs typeface="Google Sans"/>
                <a:sym typeface="Google Sans"/>
              </a:rPr>
              <a:t>The Execution:</a:t>
            </a:r>
            <a:r>
              <a:rPr lang="en-US" sz="1200" b="0" i="0" u="none" strike="noStrike" cap="none">
                <a:solidFill>
                  <a:schemeClr val="dk1"/>
                </a:solidFill>
                <a:latin typeface="Google Sans"/>
                <a:ea typeface="Google Sans"/>
                <a:cs typeface="Google Sans"/>
                <a:sym typeface="Google Sans"/>
              </a:rPr>
              <a:t> The reducer node performs the final math operation on just those 1,000 incoming subtotal numbers.</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657" name="Google Shape;657;p17"/>
          <p:cNvSpPr/>
          <p:nvPr/>
        </p:nvSpPr>
        <p:spPr>
          <a:xfrm>
            <a:off x="4121321" y="3837161"/>
            <a:ext cx="6417932" cy="1118198"/>
          </a:xfrm>
          <a:prstGeom prst="rect">
            <a:avLst/>
          </a:prstGeom>
          <a:noFill/>
          <a:ln>
            <a:noFill/>
          </a:ln>
        </p:spPr>
        <p:txBody>
          <a:bodyPr spcFirstLastPara="1" wrap="square" lIns="0" tIns="88850" rIns="0" bIns="88850" anchor="ctr" anchorCtr="0">
            <a:spAutoFit/>
          </a:bodyPr>
          <a:lstStyle/>
          <a:p>
            <a:pPr marL="0" marR="0" lvl="0" indent="0" algn="ctr" rtl="0">
              <a:lnSpc>
                <a:spcPct val="100000"/>
              </a:lnSpc>
              <a:spcBef>
                <a:spcPts val="0"/>
              </a:spcBef>
              <a:spcAft>
                <a:spcPts val="0"/>
              </a:spcAft>
              <a:buClr>
                <a:schemeClr val="dk1"/>
              </a:buClr>
              <a:buSzPts val="1500"/>
              <a:buFont typeface="Google Sans"/>
              <a:buNone/>
            </a:pPr>
            <a:r>
              <a:rPr lang="en-US" sz="1500" b="1" i="0" u="none" strike="noStrike" cap="none">
                <a:solidFill>
                  <a:schemeClr val="dk1"/>
                </a:solidFill>
                <a:latin typeface="Google Sans"/>
                <a:ea typeface="Google Sans"/>
                <a:cs typeface="Google Sans"/>
                <a:sym typeface="Google Sans"/>
              </a:rPr>
              <a:t>The Strategy: Two-Phase Reduction</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C55A11"/>
              </a:buClr>
              <a:buSzPts val="1400"/>
              <a:buFont typeface="Arial"/>
              <a:buNone/>
            </a:pPr>
            <a:r>
              <a:rPr lang="en-US" sz="1400" b="0" i="0" u="none" strike="noStrike" cap="none">
                <a:solidFill>
                  <a:srgbClr val="C55A11"/>
                </a:solidFill>
                <a:latin typeface="Arial"/>
                <a:ea typeface="Arial"/>
                <a:cs typeface="Arial"/>
                <a:sym typeface="Arial"/>
              </a:rPr>
              <a:t>To bypass this bottleneck, frameworks like </a:t>
            </a:r>
            <a:r>
              <a:rPr lang="en-US" sz="1400" b="1" i="0" u="none" strike="noStrike" cap="none">
                <a:solidFill>
                  <a:srgbClr val="C55A11"/>
                </a:solidFill>
                <a:latin typeface="Arial"/>
                <a:ea typeface="Arial"/>
                <a:cs typeface="Arial"/>
                <a:sym typeface="Arial"/>
              </a:rPr>
              <a:t>Apache Spark</a:t>
            </a:r>
            <a:r>
              <a:rPr lang="en-US" sz="1400" b="0" i="0" u="none" strike="noStrike" cap="none">
                <a:solidFill>
                  <a:srgbClr val="C55A11"/>
                </a:solidFill>
                <a:latin typeface="Arial"/>
                <a:ea typeface="Arial"/>
                <a:cs typeface="Arial"/>
                <a:sym typeface="Arial"/>
              </a:rPr>
              <a:t> and </a:t>
            </a:r>
            <a:r>
              <a:rPr lang="en-US" sz="1400" b="1" i="0" u="none" strike="noStrike" cap="none">
                <a:solidFill>
                  <a:srgbClr val="C55A11"/>
                </a:solidFill>
                <a:latin typeface="Arial"/>
                <a:ea typeface="Arial"/>
                <a:cs typeface="Arial"/>
                <a:sym typeface="Arial"/>
              </a:rPr>
              <a:t>Hadoop MapReduce</a:t>
            </a:r>
            <a:r>
              <a:rPr lang="en-US" sz="1400" b="0" i="0" u="none" strike="noStrike" cap="none">
                <a:solidFill>
                  <a:srgbClr val="C55A11"/>
                </a:solidFill>
                <a:latin typeface="Arial"/>
                <a:ea typeface="Arial"/>
                <a:cs typeface="Arial"/>
                <a:sym typeface="Arial"/>
              </a:rPr>
              <a:t> use a divide-and-conquer strategy divided into two main stages:</a:t>
            </a:r>
            <a:endParaRPr sz="900" b="0" i="0" u="none" strike="noStrike" cap="none">
              <a:solidFill>
                <a:srgbClr val="C55A1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2"/>
        <p:cNvGrpSpPr/>
        <p:nvPr/>
      </p:nvGrpSpPr>
      <p:grpSpPr>
        <a:xfrm>
          <a:off x="0" y="0"/>
          <a:ext cx="0" cy="0"/>
          <a:chOff x="0" y="0"/>
          <a:chExt cx="0" cy="0"/>
        </a:xfrm>
      </p:grpSpPr>
      <p:sp>
        <p:nvSpPr>
          <p:cNvPr id="663" name="Google Shape;663;p18"/>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8"/>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665" name="Google Shape;665;p18"/>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666" name="Google Shape;666;p18"/>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667" name="Google Shape;667;p18"/>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668" name="Google Shape;668;p18"/>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669" name="Google Shape;669;p18"/>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670" name="Google Shape;670;p18"/>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671" name="Google Shape;671;p18"/>
          <p:cNvSpPr/>
          <p:nvPr/>
        </p:nvSpPr>
        <p:spPr>
          <a:xfrm>
            <a:off x="109728" y="2450592"/>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8"/>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673" name="Google Shape;673;p18"/>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674" name="Google Shape;674;p18"/>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675" name="Google Shape;675;p18"/>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676" name="Google Shape;676;p18"/>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677" name="Google Shape;677;p18"/>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678" name="Google Shape;678;p18"/>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679" name="Google Shape;679;p18"/>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680" name="Google Shape;680;p18"/>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681" name="Google Shape;681;p18"/>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682" name="Google Shape;682;p18"/>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683" name="Google Shape;683;p18"/>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684" name="Google Shape;684;p18"/>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685" name="Google Shape;685;p18"/>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686" name="Google Shape;686;p18"/>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3.3 DATA PROCESSING OPERATIONS</a:t>
            </a:r>
            <a:endParaRPr sz="1200">
              <a:solidFill>
                <a:schemeClr val="dk1"/>
              </a:solidFill>
              <a:latin typeface="Calibri"/>
              <a:ea typeface="Calibri"/>
              <a:cs typeface="Calibri"/>
              <a:sym typeface="Calibri"/>
            </a:endParaRPr>
          </a:p>
        </p:txBody>
      </p:sp>
      <p:sp>
        <p:nvSpPr>
          <p:cNvPr id="687" name="Google Shape;687;p18"/>
          <p:cNvSpPr/>
          <p:nvPr/>
        </p:nvSpPr>
        <p:spPr>
          <a:xfrm>
            <a:off x="2834639" y="790263"/>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Parallel Aggregation &amp; Reduction</a:t>
            </a:r>
            <a:endParaRPr sz="2700">
              <a:solidFill>
                <a:schemeClr val="dk1"/>
              </a:solidFill>
              <a:latin typeface="Calibri"/>
              <a:ea typeface="Calibri"/>
              <a:cs typeface="Calibri"/>
              <a:sym typeface="Calibri"/>
            </a:endParaRPr>
          </a:p>
        </p:txBody>
      </p:sp>
      <p:sp>
        <p:nvSpPr>
          <p:cNvPr id="688" name="Google Shape;688;p18"/>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689" name="Google Shape;689;p18"/>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9</a:t>
            </a:r>
            <a:endParaRPr sz="850">
              <a:solidFill>
                <a:schemeClr val="dk1"/>
              </a:solidFill>
              <a:latin typeface="Calibri"/>
              <a:ea typeface="Calibri"/>
              <a:cs typeface="Calibri"/>
              <a:sym typeface="Calibri"/>
            </a:endParaRPr>
          </a:p>
        </p:txBody>
      </p:sp>
      <p:sp>
        <p:nvSpPr>
          <p:cNvPr id="690" name="Google Shape;690;p18"/>
          <p:cNvSpPr/>
          <p:nvPr/>
        </p:nvSpPr>
        <p:spPr>
          <a:xfrm>
            <a:off x="2944368" y="1508483"/>
            <a:ext cx="8881567" cy="1040753"/>
          </a:xfrm>
          <a:prstGeom prst="roundRect">
            <a:avLst>
              <a:gd name="adj" fmla="val 2297"/>
            </a:avLst>
          </a:prstGeom>
          <a:solidFill>
            <a:srgbClr val="F4F6F9"/>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8"/>
          <p:cNvSpPr/>
          <p:nvPr/>
        </p:nvSpPr>
        <p:spPr>
          <a:xfrm>
            <a:off x="3208251" y="1595235"/>
            <a:ext cx="2819095" cy="83667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70C0"/>
              </a:buClr>
              <a:buSzPts val="1400"/>
              <a:buFont typeface="Arial"/>
              <a:buNone/>
            </a:pPr>
            <a:r>
              <a:rPr lang="en-US" sz="1400" b="1">
                <a:solidFill>
                  <a:srgbClr val="0070C0"/>
                </a:solidFill>
                <a:latin typeface="Arial"/>
                <a:ea typeface="Arial"/>
                <a:cs typeface="Arial"/>
                <a:sym typeface="Arial"/>
              </a:rPr>
              <a:t>reduceByKey</a:t>
            </a:r>
            <a:r>
              <a:rPr lang="en-US" sz="1400" b="1">
                <a:solidFill>
                  <a:srgbClr val="1B7A78"/>
                </a:solidFill>
                <a:latin typeface="Arial"/>
                <a:ea typeface="Arial"/>
                <a:cs typeface="Arial"/>
                <a:sym typeface="Arial"/>
              </a:rPr>
              <a:t>  </a:t>
            </a:r>
            <a:endParaRPr sz="1400">
              <a:solidFill>
                <a:schemeClr val="dk1"/>
              </a:solidFill>
              <a:latin typeface="Arial"/>
              <a:ea typeface="Arial"/>
              <a:cs typeface="Arial"/>
              <a:sym typeface="Arial"/>
            </a:endParaRPr>
          </a:p>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sums locally first (combiner), then shuffles only partial sums.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a:r>
            <a:br>
              <a:rPr lang="en-US" sz="1400">
                <a:solidFill>
                  <a:srgbClr val="000000"/>
                </a:solidFill>
                <a:latin typeface="Arial"/>
                <a:ea typeface="Arial"/>
                <a:cs typeface="Arial"/>
                <a:sym typeface="Arial"/>
              </a:rPr>
            </a:br>
            <a:endParaRPr sz="1400">
              <a:solidFill>
                <a:schemeClr val="dk1"/>
              </a:solidFill>
              <a:latin typeface="Arial"/>
              <a:ea typeface="Arial"/>
              <a:cs typeface="Arial"/>
              <a:sym typeface="Arial"/>
            </a:endParaRPr>
          </a:p>
        </p:txBody>
      </p:sp>
      <p:sp>
        <p:nvSpPr>
          <p:cNvPr id="692" name="Google Shape;692;p18"/>
          <p:cNvSpPr/>
          <p:nvPr/>
        </p:nvSpPr>
        <p:spPr>
          <a:xfrm>
            <a:off x="8117379" y="1542590"/>
            <a:ext cx="2819095" cy="96046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70C0"/>
              </a:buClr>
              <a:buSzPts val="1400"/>
              <a:buFont typeface="Arial"/>
              <a:buNone/>
            </a:pPr>
            <a:r>
              <a:rPr lang="en-US" sz="1400" b="1">
                <a:solidFill>
                  <a:srgbClr val="0070C0"/>
                </a:solidFill>
                <a:latin typeface="Arial"/>
                <a:ea typeface="Arial"/>
                <a:cs typeface="Arial"/>
                <a:sym typeface="Arial"/>
              </a:rPr>
              <a:t>groupByKey </a:t>
            </a:r>
            <a:r>
              <a:rPr lang="en-US" sz="1400" b="1">
                <a:solidFill>
                  <a:srgbClr val="00B050"/>
                </a:solidFill>
                <a:latin typeface="Arial"/>
                <a:ea typeface="Arial"/>
                <a:cs typeface="Arial"/>
                <a:sym typeface="Arial"/>
              </a:rPr>
              <a:t> </a:t>
            </a:r>
            <a:endParaRPr sz="1400">
              <a:solidFill>
                <a:srgbClr val="00B050"/>
              </a:solidFill>
              <a:latin typeface="Arial"/>
              <a:ea typeface="Arial"/>
              <a:cs typeface="Arial"/>
              <a:sym typeface="Arial"/>
            </a:endParaRPr>
          </a:p>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ships every raw record across the network before summing — far more shuffle traffic.</a:t>
            </a:r>
            <a:br>
              <a:rPr lang="en-US" sz="1400">
                <a:solidFill>
                  <a:srgbClr val="000000"/>
                </a:solidFill>
                <a:latin typeface="Arial"/>
                <a:ea typeface="Arial"/>
                <a:cs typeface="Arial"/>
                <a:sym typeface="Arial"/>
              </a:rPr>
            </a:br>
            <a:endParaRPr sz="1400">
              <a:solidFill>
                <a:schemeClr val="dk1"/>
              </a:solidFill>
              <a:latin typeface="Arial"/>
              <a:ea typeface="Arial"/>
              <a:cs typeface="Arial"/>
              <a:sym typeface="Arial"/>
            </a:endParaRPr>
          </a:p>
        </p:txBody>
      </p:sp>
      <p:pic>
        <p:nvPicPr>
          <p:cNvPr id="693" name="Google Shape;693;p18"/>
          <p:cNvPicPr preferRelativeResize="0"/>
          <p:nvPr/>
        </p:nvPicPr>
        <p:blipFill rotWithShape="1">
          <a:blip r:embed="rId3">
            <a:alphaModFix/>
          </a:blip>
          <a:srcRect/>
          <a:stretch/>
        </p:blipFill>
        <p:spPr>
          <a:xfrm>
            <a:off x="2834640" y="2795493"/>
            <a:ext cx="8991294" cy="3696287"/>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8"/>
        <p:cNvGrpSpPr/>
        <p:nvPr/>
      </p:nvGrpSpPr>
      <p:grpSpPr>
        <a:xfrm>
          <a:off x="0" y="0"/>
          <a:ext cx="0" cy="0"/>
          <a:chOff x="0" y="0"/>
          <a:chExt cx="0" cy="0"/>
        </a:xfrm>
      </p:grpSpPr>
      <p:sp>
        <p:nvSpPr>
          <p:cNvPr id="699" name="Google Shape;699;p19"/>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9"/>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701" name="Google Shape;701;p19"/>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702" name="Google Shape;702;p19"/>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703" name="Google Shape;703;p19"/>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704" name="Google Shape;704;p19"/>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705" name="Google Shape;705;p19"/>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706" name="Google Shape;706;p19"/>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707" name="Google Shape;707;p19"/>
          <p:cNvSpPr/>
          <p:nvPr/>
        </p:nvSpPr>
        <p:spPr>
          <a:xfrm>
            <a:off x="109728" y="2450592"/>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9"/>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709" name="Google Shape;709;p19"/>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710" name="Google Shape;710;p19"/>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711" name="Google Shape;711;p19"/>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712" name="Google Shape;712;p19"/>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713" name="Google Shape;713;p19"/>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714" name="Google Shape;714;p19"/>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715" name="Google Shape;715;p19"/>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716" name="Google Shape;716;p19"/>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717" name="Google Shape;717;p19"/>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718" name="Google Shape;718;p19"/>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719" name="Google Shape;719;p19"/>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720" name="Google Shape;720;p19"/>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721" name="Google Shape;721;p19"/>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722" name="Google Shape;722;p19"/>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3.3 DATA PROCESSING OPERATIONS</a:t>
            </a:r>
            <a:endParaRPr sz="1200">
              <a:solidFill>
                <a:schemeClr val="dk1"/>
              </a:solidFill>
              <a:latin typeface="Calibri"/>
              <a:ea typeface="Calibri"/>
              <a:cs typeface="Calibri"/>
              <a:sym typeface="Calibri"/>
            </a:endParaRPr>
          </a:p>
        </p:txBody>
      </p:sp>
      <p:sp>
        <p:nvSpPr>
          <p:cNvPr id="723" name="Google Shape;723;p19"/>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Filtering, Transformation &amp; Distributed Joins</a:t>
            </a:r>
            <a:endParaRPr sz="2700">
              <a:solidFill>
                <a:schemeClr val="dk1"/>
              </a:solidFill>
              <a:latin typeface="Calibri"/>
              <a:ea typeface="Calibri"/>
              <a:cs typeface="Calibri"/>
              <a:sym typeface="Calibri"/>
            </a:endParaRPr>
          </a:p>
        </p:txBody>
      </p:sp>
      <p:sp>
        <p:nvSpPr>
          <p:cNvPr id="724" name="Google Shape;724;p19"/>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10</a:t>
            </a:r>
            <a:endParaRPr sz="850">
              <a:solidFill>
                <a:schemeClr val="dk1"/>
              </a:solidFill>
              <a:latin typeface="Calibri"/>
              <a:ea typeface="Calibri"/>
              <a:cs typeface="Calibri"/>
              <a:sym typeface="Calibri"/>
            </a:endParaRPr>
          </a:p>
        </p:txBody>
      </p:sp>
      <p:sp>
        <p:nvSpPr>
          <p:cNvPr id="725" name="Google Shape;725;p19"/>
          <p:cNvSpPr/>
          <p:nvPr/>
        </p:nvSpPr>
        <p:spPr>
          <a:xfrm>
            <a:off x="9128762" y="5831859"/>
            <a:ext cx="2976981" cy="27512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600"/>
              <a:buFont typeface="Calibri"/>
              <a:buNone/>
            </a:pPr>
            <a:r>
              <a:rPr lang="en-US" sz="1600" b="1" dirty="0">
                <a:solidFill>
                  <a:srgbClr val="12294B"/>
                </a:solidFill>
                <a:latin typeface="Calibri"/>
                <a:ea typeface="Calibri"/>
                <a:cs typeface="Calibri"/>
                <a:sym typeface="Calibri"/>
              </a:rPr>
              <a:t>Distributed Join Strategies</a:t>
            </a:r>
            <a:endParaRPr sz="1600" dirty="0">
              <a:solidFill>
                <a:schemeClr val="dk1"/>
              </a:solidFill>
              <a:latin typeface="Calibri"/>
              <a:ea typeface="Calibri"/>
              <a:cs typeface="Calibri"/>
              <a:sym typeface="Calibri"/>
            </a:endParaRPr>
          </a:p>
        </p:txBody>
      </p:sp>
      <p:sp>
        <p:nvSpPr>
          <p:cNvPr id="726" name="Google Shape;726;p19"/>
          <p:cNvSpPr/>
          <p:nvPr/>
        </p:nvSpPr>
        <p:spPr>
          <a:xfrm>
            <a:off x="2870303" y="5468879"/>
            <a:ext cx="2814218" cy="1245031"/>
          </a:xfrm>
          <a:prstGeom prst="roundRect">
            <a:avLst>
              <a:gd name="adj" fmla="val 2759"/>
            </a:avLst>
          </a:prstGeom>
          <a:solidFill>
            <a:srgbClr val="FFFFFF"/>
          </a:solidFill>
          <a:ln w="12700" cap="flat" cmpd="sng">
            <a:solidFill>
              <a:srgbClr val="12294B"/>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9"/>
          <p:cNvSpPr/>
          <p:nvPr/>
        </p:nvSpPr>
        <p:spPr>
          <a:xfrm>
            <a:off x="2870303" y="5441447"/>
            <a:ext cx="2814218" cy="502920"/>
          </a:xfrm>
          <a:prstGeom prst="roundRect">
            <a:avLst>
              <a:gd name="adj" fmla="val 14545"/>
            </a:avLst>
          </a:prstGeom>
          <a:solidFill>
            <a:srgbClr val="12294B"/>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9"/>
          <p:cNvSpPr/>
          <p:nvPr/>
        </p:nvSpPr>
        <p:spPr>
          <a:xfrm>
            <a:off x="2943455" y="5441447"/>
            <a:ext cx="2667914"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Shuffle / Sort-Merge Join</a:t>
            </a:r>
            <a:endParaRPr sz="1600">
              <a:solidFill>
                <a:schemeClr val="dk1"/>
              </a:solidFill>
              <a:latin typeface="Calibri"/>
              <a:ea typeface="Calibri"/>
              <a:cs typeface="Calibri"/>
              <a:sym typeface="Calibri"/>
            </a:endParaRPr>
          </a:p>
        </p:txBody>
      </p:sp>
      <p:sp>
        <p:nvSpPr>
          <p:cNvPr id="729" name="Google Shape;729;p19"/>
          <p:cNvSpPr/>
          <p:nvPr/>
        </p:nvSpPr>
        <p:spPr>
          <a:xfrm>
            <a:off x="3015909" y="5968330"/>
            <a:ext cx="2539898"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A1A1A"/>
              </a:buClr>
              <a:buSzPts val="1400"/>
              <a:buFont typeface="Calibri"/>
              <a:buNone/>
            </a:pPr>
            <a:r>
              <a:rPr lang="en-US" sz="1400">
                <a:solidFill>
                  <a:srgbClr val="1A1A1A"/>
                </a:solidFill>
                <a:latin typeface="Calibri"/>
                <a:ea typeface="Calibri"/>
                <a:cs typeface="Calibri"/>
                <a:sym typeface="Calibri"/>
              </a:rPr>
              <a:t>Both sides re-partitioned by key, then joined</a:t>
            </a:r>
            <a:endParaRPr sz="1400">
              <a:solidFill>
                <a:schemeClr val="dk1"/>
              </a:solidFill>
              <a:latin typeface="Calibri"/>
              <a:ea typeface="Calibri"/>
              <a:cs typeface="Calibri"/>
              <a:sym typeface="Calibri"/>
            </a:endParaRPr>
          </a:p>
        </p:txBody>
      </p:sp>
      <p:sp>
        <p:nvSpPr>
          <p:cNvPr id="730" name="Google Shape;730;p19"/>
          <p:cNvSpPr/>
          <p:nvPr/>
        </p:nvSpPr>
        <p:spPr>
          <a:xfrm>
            <a:off x="3007463" y="6461606"/>
            <a:ext cx="2539898" cy="3195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1200"/>
              <a:buFont typeface="Calibri"/>
              <a:buNone/>
            </a:pPr>
            <a:r>
              <a:rPr lang="en-US" sz="1200" i="1">
                <a:solidFill>
                  <a:srgbClr val="12294B"/>
                </a:solidFill>
                <a:latin typeface="Calibri"/>
                <a:ea typeface="Calibri"/>
                <a:cs typeface="Calibri"/>
                <a:sym typeface="Calibri"/>
              </a:rPr>
              <a:t>Both tables large &amp; unsorted</a:t>
            </a:r>
            <a:endParaRPr sz="1200">
              <a:solidFill>
                <a:schemeClr val="dk1"/>
              </a:solidFill>
              <a:latin typeface="Calibri"/>
              <a:ea typeface="Calibri"/>
              <a:cs typeface="Calibri"/>
              <a:sym typeface="Calibri"/>
            </a:endParaRPr>
          </a:p>
        </p:txBody>
      </p:sp>
      <p:sp>
        <p:nvSpPr>
          <p:cNvPr id="731" name="Google Shape;731;p19"/>
          <p:cNvSpPr/>
          <p:nvPr/>
        </p:nvSpPr>
        <p:spPr>
          <a:xfrm>
            <a:off x="5958841" y="5414831"/>
            <a:ext cx="2814218" cy="1304692"/>
          </a:xfrm>
          <a:prstGeom prst="roundRect">
            <a:avLst>
              <a:gd name="adj" fmla="val 2759"/>
            </a:avLst>
          </a:prstGeom>
          <a:solidFill>
            <a:srgbClr val="FFFFFF"/>
          </a:solidFill>
          <a:ln w="12700" cap="flat" cmpd="sng">
            <a:solidFill>
              <a:srgbClr val="D9A441"/>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9"/>
          <p:cNvSpPr/>
          <p:nvPr/>
        </p:nvSpPr>
        <p:spPr>
          <a:xfrm>
            <a:off x="5958841" y="5441447"/>
            <a:ext cx="2814218" cy="502920"/>
          </a:xfrm>
          <a:prstGeom prst="roundRect">
            <a:avLst>
              <a:gd name="adj" fmla="val 14545"/>
            </a:avLst>
          </a:prstGeom>
          <a:solidFill>
            <a:srgbClr val="D9A441"/>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9"/>
          <p:cNvSpPr/>
          <p:nvPr/>
        </p:nvSpPr>
        <p:spPr>
          <a:xfrm>
            <a:off x="6031993" y="5441447"/>
            <a:ext cx="2667914"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830"/>
              </a:buClr>
              <a:buSzPts val="1600"/>
              <a:buFont typeface="Calibri"/>
              <a:buNone/>
            </a:pPr>
            <a:r>
              <a:rPr lang="en-US" sz="1600" b="1">
                <a:solidFill>
                  <a:srgbClr val="0A1830"/>
                </a:solidFill>
                <a:latin typeface="Calibri"/>
                <a:ea typeface="Calibri"/>
                <a:cs typeface="Calibri"/>
                <a:sym typeface="Calibri"/>
              </a:rPr>
              <a:t>Broadcast Join</a:t>
            </a:r>
            <a:endParaRPr sz="1600">
              <a:solidFill>
                <a:schemeClr val="dk1"/>
              </a:solidFill>
              <a:latin typeface="Calibri"/>
              <a:ea typeface="Calibri"/>
              <a:cs typeface="Calibri"/>
              <a:sym typeface="Calibri"/>
            </a:endParaRPr>
          </a:p>
        </p:txBody>
      </p:sp>
      <p:sp>
        <p:nvSpPr>
          <p:cNvPr id="734" name="Google Shape;734;p19"/>
          <p:cNvSpPr/>
          <p:nvPr/>
        </p:nvSpPr>
        <p:spPr>
          <a:xfrm>
            <a:off x="6096001" y="5969423"/>
            <a:ext cx="2539898" cy="46791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A1A1A"/>
              </a:buClr>
              <a:buSzPts val="1400"/>
              <a:buFont typeface="Calibri"/>
              <a:buNone/>
            </a:pPr>
            <a:r>
              <a:rPr lang="en-US" sz="1400">
                <a:solidFill>
                  <a:srgbClr val="1A1A1A"/>
                </a:solidFill>
                <a:latin typeface="Calibri"/>
                <a:ea typeface="Calibri"/>
                <a:cs typeface="Calibri"/>
                <a:sym typeface="Calibri"/>
              </a:rPr>
              <a:t>Small side copied to every node; large side untouched</a:t>
            </a:r>
            <a:endParaRPr sz="1400">
              <a:solidFill>
                <a:schemeClr val="dk1"/>
              </a:solidFill>
              <a:latin typeface="Calibri"/>
              <a:ea typeface="Calibri"/>
              <a:cs typeface="Calibri"/>
              <a:sym typeface="Calibri"/>
            </a:endParaRPr>
          </a:p>
        </p:txBody>
      </p:sp>
      <p:sp>
        <p:nvSpPr>
          <p:cNvPr id="735" name="Google Shape;735;p19"/>
          <p:cNvSpPr/>
          <p:nvPr/>
        </p:nvSpPr>
        <p:spPr>
          <a:xfrm>
            <a:off x="6096001" y="6448114"/>
            <a:ext cx="2539898" cy="27140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8A5E15"/>
              </a:buClr>
              <a:buSzPts val="1200"/>
              <a:buFont typeface="Calibri"/>
              <a:buNone/>
            </a:pPr>
            <a:r>
              <a:rPr lang="en-US" sz="1200" i="1">
                <a:solidFill>
                  <a:srgbClr val="8A5E15"/>
                </a:solidFill>
                <a:latin typeface="Calibri"/>
                <a:ea typeface="Calibri"/>
                <a:cs typeface="Calibri"/>
                <a:sym typeface="Calibri"/>
              </a:rPr>
              <a:t>One side small enough for memory</a:t>
            </a:r>
            <a:endParaRPr sz="1200">
              <a:solidFill>
                <a:schemeClr val="dk1"/>
              </a:solidFill>
              <a:latin typeface="Calibri"/>
              <a:ea typeface="Calibri"/>
              <a:cs typeface="Calibri"/>
              <a:sym typeface="Calibri"/>
            </a:endParaRPr>
          </a:p>
        </p:txBody>
      </p:sp>
      <p:sp>
        <p:nvSpPr>
          <p:cNvPr id="736" name="Google Shape;736;p19"/>
          <p:cNvSpPr/>
          <p:nvPr/>
        </p:nvSpPr>
        <p:spPr>
          <a:xfrm>
            <a:off x="3067050" y="1271016"/>
            <a:ext cx="8576004" cy="92333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55A11"/>
              </a:buClr>
              <a:buSzPts val="1800"/>
              <a:buFont typeface="Google Sans"/>
              <a:buAutoNum type="arabicPeriod"/>
            </a:pPr>
            <a:r>
              <a:rPr lang="en-US" sz="1800" b="1" dirty="0">
                <a:solidFill>
                  <a:srgbClr val="C55A11"/>
                </a:solidFill>
                <a:latin typeface="Google Sans"/>
                <a:ea typeface="Google Sans"/>
                <a:cs typeface="Google Sans"/>
                <a:sym typeface="Google Sans"/>
              </a:rPr>
              <a:t>Filtering (Narrowing Scope)</a:t>
            </a:r>
            <a:endParaRPr dirty="0"/>
          </a:p>
          <a:p>
            <a:pPr marL="0" marR="0" lvl="0" indent="0" algn="l" rtl="0">
              <a:spcBef>
                <a:spcPts val="0"/>
              </a:spcBef>
              <a:spcAft>
                <a:spcPts val="0"/>
              </a:spcAft>
              <a:buNone/>
            </a:pPr>
            <a:endParaRPr sz="1800" b="1" dirty="0">
              <a:solidFill>
                <a:schemeClr val="dk1"/>
              </a:solidFill>
              <a:latin typeface="Google Sans"/>
              <a:ea typeface="Google Sans"/>
              <a:cs typeface="Google Sans"/>
              <a:sym typeface="Google Sans"/>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600" dirty="0">
                <a:solidFill>
                  <a:schemeClr val="dk1"/>
                </a:solidFill>
                <a:latin typeface="Calibri"/>
                <a:ea typeface="Calibri"/>
                <a:cs typeface="Calibri"/>
                <a:sym typeface="Calibri"/>
              </a:rPr>
              <a:t>Filtering selectively discards data rows that fail a specific </a:t>
            </a:r>
            <a:r>
              <a:rPr lang="en-US" sz="1600" dirty="0" err="1">
                <a:solidFill>
                  <a:schemeClr val="dk1"/>
                </a:solidFill>
                <a:latin typeface="Calibri"/>
                <a:ea typeface="Calibri"/>
                <a:cs typeface="Calibri"/>
                <a:sym typeface="Calibri"/>
              </a:rPr>
              <a:t>boolean</a:t>
            </a:r>
            <a:r>
              <a:rPr lang="en-US" sz="1600" dirty="0">
                <a:solidFill>
                  <a:schemeClr val="dk1"/>
                </a:solidFill>
                <a:latin typeface="Calibri"/>
                <a:ea typeface="Calibri"/>
                <a:cs typeface="Calibri"/>
                <a:sym typeface="Calibri"/>
              </a:rPr>
              <a:t> evaluation condition.</a:t>
            </a:r>
            <a:endParaRPr sz="1800" b="0" u="none" strike="noStrike" dirty="0">
              <a:solidFill>
                <a:schemeClr val="dk1"/>
              </a:solidFill>
              <a:latin typeface="Calibri"/>
              <a:ea typeface="Calibri"/>
              <a:cs typeface="Calibri"/>
              <a:sym typeface="Calibri"/>
            </a:endParaRPr>
          </a:p>
        </p:txBody>
      </p:sp>
      <p:sp>
        <p:nvSpPr>
          <p:cNvPr id="737" name="Google Shape;737;p19"/>
          <p:cNvSpPr/>
          <p:nvPr/>
        </p:nvSpPr>
        <p:spPr>
          <a:xfrm>
            <a:off x="3149600" y="2225787"/>
            <a:ext cx="8676335" cy="175432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800" b="1" dirty="0">
                <a:solidFill>
                  <a:srgbClr val="C55A11"/>
                </a:solidFill>
                <a:latin typeface="Google Sans"/>
                <a:ea typeface="Google Sans"/>
                <a:cs typeface="Google Sans"/>
                <a:sym typeface="Google Sans"/>
              </a:rPr>
              <a:t>2. Transformation (Reshaping Structure)</a:t>
            </a:r>
            <a:endParaRPr dirty="0"/>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dirty="0">
                <a:solidFill>
                  <a:schemeClr val="dk1"/>
                </a:solidFill>
                <a:latin typeface="Calibri"/>
                <a:ea typeface="Calibri"/>
                <a:cs typeface="Calibri"/>
                <a:sym typeface="Calibri"/>
              </a:rPr>
              <a:t>	Transformation modifies or augments existing fields into new computational representations.</a:t>
            </a:r>
            <a:endParaRPr sz="1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1" i="0" u="none" strike="noStrike" cap="none" dirty="0">
                <a:solidFill>
                  <a:schemeClr val="dk1"/>
                </a:solidFill>
                <a:latin typeface="Calibri"/>
                <a:ea typeface="Calibri"/>
                <a:cs typeface="Calibri"/>
                <a:sym typeface="Calibri"/>
              </a:rPr>
              <a:t> 	</a:t>
            </a:r>
            <a:endParaRPr dirty="0"/>
          </a:p>
          <a:p>
            <a:pPr marL="0" marR="0" lvl="0" indent="0" algn="just" rtl="0">
              <a:lnSpc>
                <a:spcPct val="100000"/>
              </a:lnSpc>
              <a:spcBef>
                <a:spcPts val="0"/>
              </a:spcBef>
              <a:spcAft>
                <a:spcPts val="0"/>
              </a:spcAft>
              <a:buNone/>
            </a:pPr>
            <a:r>
              <a:rPr lang="en-US" sz="1600" b="1" dirty="0">
                <a:solidFill>
                  <a:schemeClr val="dk1"/>
                </a:solidFill>
                <a:latin typeface="Calibri"/>
                <a:ea typeface="Calibri"/>
                <a:cs typeface="Calibri"/>
                <a:sym typeface="Calibri"/>
              </a:rPr>
              <a:t>	</a:t>
            </a:r>
            <a:r>
              <a:rPr lang="en-US" sz="1600" b="1" i="0" u="none" strike="noStrike" cap="none" dirty="0">
                <a:solidFill>
                  <a:schemeClr val="dk1"/>
                </a:solidFill>
                <a:latin typeface="Calibri"/>
                <a:ea typeface="Calibri"/>
                <a:cs typeface="Calibri"/>
                <a:sym typeface="Calibri"/>
              </a:rPr>
              <a:t>Narrow Transformations:</a:t>
            </a:r>
            <a:r>
              <a:rPr lang="en-US" sz="1600" b="0" i="0" u="none" strike="noStrike" cap="none" dirty="0">
                <a:solidFill>
                  <a:schemeClr val="dk1"/>
                </a:solidFill>
                <a:latin typeface="Calibri"/>
                <a:ea typeface="Calibri"/>
                <a:cs typeface="Calibri"/>
                <a:sym typeface="Calibri"/>
              </a:rPr>
              <a:t> Operations where each input partition contributes to exactly one                    		output partition (e.g., </a:t>
            </a:r>
            <a:r>
              <a:rPr lang="en-US" sz="1100" b="0" i="0" u="none" strike="noStrike" cap="none" dirty="0">
                <a:solidFill>
                  <a:schemeClr val="dk1"/>
                </a:solidFill>
                <a:latin typeface="Calibri"/>
                <a:ea typeface="Calibri"/>
                <a:cs typeface="Calibri"/>
                <a:sym typeface="Calibri"/>
              </a:rPr>
              <a:t>map</a:t>
            </a:r>
            <a:r>
              <a:rPr lang="en-US" sz="1600" b="0" i="0" u="none" strike="noStrike" cap="none" dirty="0">
                <a:solidFill>
                  <a:schemeClr val="dk1"/>
                </a:solidFill>
                <a:latin typeface="Calibri"/>
                <a:ea typeface="Calibri"/>
                <a:cs typeface="Calibri"/>
                <a:sym typeface="Calibri"/>
              </a:rPr>
              <a:t>, </a:t>
            </a:r>
            <a:r>
              <a:rPr lang="en-US" sz="1100" b="0" i="0" u="none" strike="noStrike" cap="none" dirty="0" err="1">
                <a:solidFill>
                  <a:schemeClr val="dk1"/>
                </a:solidFill>
                <a:latin typeface="Calibri"/>
                <a:ea typeface="Calibri"/>
                <a:cs typeface="Calibri"/>
                <a:sym typeface="Calibri"/>
              </a:rPr>
              <a:t>flatMap</a:t>
            </a:r>
            <a:r>
              <a:rPr lang="en-US" sz="1600" b="0" i="0" u="none" strike="noStrike" cap="none" dirty="0">
                <a:solidFill>
                  <a:schemeClr val="dk1"/>
                </a:solidFill>
                <a:latin typeface="Calibri"/>
                <a:ea typeface="Calibri"/>
                <a:cs typeface="Calibri"/>
                <a:sym typeface="Calibri"/>
              </a:rPr>
              <a:t>). </a:t>
            </a:r>
            <a:endParaRPr dirty="0"/>
          </a:p>
          <a:p>
            <a:pPr marL="0" marR="0" lvl="0" indent="0" algn="just" rtl="0">
              <a:lnSpc>
                <a:spcPct val="100000"/>
              </a:lnSpc>
              <a:spcBef>
                <a:spcPts val="0"/>
              </a:spcBef>
              <a:spcAft>
                <a:spcPts val="0"/>
              </a:spcAft>
              <a:buNone/>
            </a:pPr>
            <a:r>
              <a:rPr lang="en-US" sz="1600" b="1" i="0" u="none" strike="noStrike" cap="none" dirty="0">
                <a:solidFill>
                  <a:schemeClr val="dk1"/>
                </a:solidFill>
                <a:latin typeface="Calibri"/>
                <a:ea typeface="Calibri"/>
                <a:cs typeface="Calibri"/>
                <a:sym typeface="Calibri"/>
              </a:rPr>
              <a:t>	Wide Transformations:</a:t>
            </a:r>
            <a:r>
              <a:rPr lang="en-US" sz="1600" b="0" i="0" u="none" strike="noStrike" cap="none" dirty="0">
                <a:solidFill>
                  <a:schemeClr val="dk1"/>
                </a:solidFill>
                <a:latin typeface="Calibri"/>
                <a:ea typeface="Calibri"/>
                <a:cs typeface="Calibri"/>
                <a:sym typeface="Calibri"/>
              </a:rPr>
              <a:t> Operations that require data to be reorganized across multiple </a:t>
            </a:r>
            <a:r>
              <a:rPr lang="en-US" sz="1600" b="0" i="0" u="none" strike="noStrike" cap="none" dirty="0" smtClean="0">
                <a:solidFill>
                  <a:schemeClr val="dk1"/>
                </a:solidFill>
                <a:latin typeface="Calibri"/>
                <a:ea typeface="Calibri"/>
                <a:cs typeface="Calibri"/>
                <a:sym typeface="Calibri"/>
              </a:rPr>
              <a:t> </a:t>
            </a:r>
          </a:p>
          <a:p>
            <a:pPr marL="0" marR="0" lvl="0" indent="0" algn="just" rtl="0">
              <a:lnSpc>
                <a:spcPct val="100000"/>
              </a:lnSpc>
              <a:spcBef>
                <a:spcPts val="0"/>
              </a:spcBef>
              <a:spcAft>
                <a:spcPts val="0"/>
              </a:spcAft>
              <a:buNone/>
            </a:pPr>
            <a:r>
              <a:rPr lang="en-US" sz="1600" dirty="0">
                <a:solidFill>
                  <a:schemeClr val="dk1"/>
                </a:solidFill>
                <a:latin typeface="Calibri"/>
                <a:ea typeface="Calibri"/>
                <a:cs typeface="Calibri"/>
                <a:sym typeface="Calibri"/>
              </a:rPr>
              <a:t> </a:t>
            </a:r>
            <a:r>
              <a:rPr lang="en-US" sz="1600" dirty="0" smtClean="0">
                <a:solidFill>
                  <a:schemeClr val="dk1"/>
                </a:solidFill>
                <a:latin typeface="Calibri"/>
                <a:ea typeface="Calibri"/>
                <a:cs typeface="Calibri"/>
                <a:sym typeface="Calibri"/>
              </a:rPr>
              <a:t>                                       </a:t>
            </a:r>
            <a:r>
              <a:rPr lang="en-US" sz="1600" b="0" i="0" u="none" strike="noStrike" cap="none" dirty="0" smtClean="0">
                <a:solidFill>
                  <a:schemeClr val="dk1"/>
                </a:solidFill>
                <a:latin typeface="Calibri"/>
                <a:ea typeface="Calibri"/>
                <a:cs typeface="Calibri"/>
                <a:sym typeface="Calibri"/>
              </a:rPr>
              <a:t>cluster nodes </a:t>
            </a:r>
            <a:r>
              <a:rPr lang="en-US" sz="1600" b="0" i="0" u="none" strike="noStrike" cap="none" dirty="0">
                <a:solidFill>
                  <a:schemeClr val="dk1"/>
                </a:solidFill>
                <a:latin typeface="Calibri"/>
                <a:ea typeface="Calibri"/>
                <a:cs typeface="Calibri"/>
                <a:sym typeface="Calibri"/>
              </a:rPr>
              <a:t>(e.g., </a:t>
            </a:r>
            <a:r>
              <a:rPr lang="en-US" sz="1100" b="0" i="0" u="none" strike="noStrike" cap="none" dirty="0">
                <a:solidFill>
                  <a:schemeClr val="dk1"/>
                </a:solidFill>
                <a:latin typeface="Calibri"/>
                <a:ea typeface="Calibri"/>
                <a:cs typeface="Calibri"/>
                <a:sym typeface="Calibri"/>
              </a:rPr>
              <a:t>sort</a:t>
            </a:r>
            <a:r>
              <a:rPr lang="en-US" sz="1600" b="0" i="0" u="none" strike="noStrike" cap="none" dirty="0">
                <a:solidFill>
                  <a:schemeClr val="dk1"/>
                </a:solidFill>
                <a:latin typeface="Calibri"/>
                <a:ea typeface="Calibri"/>
                <a:cs typeface="Calibri"/>
                <a:sym typeface="Calibri"/>
              </a:rPr>
              <a:t>, </a:t>
            </a:r>
            <a:r>
              <a:rPr lang="en-US" sz="1100" b="0" i="0" u="none" strike="noStrike" cap="none" dirty="0">
                <a:solidFill>
                  <a:schemeClr val="dk1"/>
                </a:solidFill>
                <a:latin typeface="Calibri"/>
                <a:ea typeface="Calibri"/>
                <a:cs typeface="Calibri"/>
                <a:sym typeface="Calibri"/>
              </a:rPr>
              <a:t>repartition</a:t>
            </a:r>
            <a:r>
              <a:rPr lang="en-US" sz="1600" b="0" i="0" u="none" strike="noStrike" cap="none" dirty="0">
                <a:solidFill>
                  <a:schemeClr val="dk1"/>
                </a:solidFill>
                <a:latin typeface="Calibri"/>
                <a:ea typeface="Calibri"/>
                <a:cs typeface="Calibri"/>
                <a:sym typeface="Calibri"/>
              </a:rPr>
              <a:t>). </a:t>
            </a:r>
            <a:endParaRPr sz="1800" b="0" i="0" u="none" strike="noStrike" cap="none" dirty="0">
              <a:solidFill>
                <a:schemeClr val="dk1"/>
              </a:solidFill>
              <a:latin typeface="Calibri"/>
              <a:ea typeface="Calibri"/>
              <a:cs typeface="Calibri"/>
              <a:sym typeface="Calibri"/>
            </a:endParaRPr>
          </a:p>
        </p:txBody>
      </p:sp>
      <p:sp>
        <p:nvSpPr>
          <p:cNvPr id="738" name="Google Shape;738;p19"/>
          <p:cNvSpPr/>
          <p:nvPr/>
        </p:nvSpPr>
        <p:spPr>
          <a:xfrm>
            <a:off x="3047999" y="4057029"/>
            <a:ext cx="8777935"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C55A11"/>
                </a:solidFill>
                <a:latin typeface="Google Sans"/>
                <a:ea typeface="Google Sans"/>
                <a:cs typeface="Google Sans"/>
                <a:sym typeface="Google Sans"/>
              </a:rPr>
              <a:t>3. Distributed Joins (Merging Data)</a:t>
            </a:r>
            <a:endParaRPr dirty="0"/>
          </a:p>
          <a:p>
            <a:pPr marL="914400" marR="0" lvl="2" indent="0" algn="l" rtl="0">
              <a:spcBef>
                <a:spcPts val="0"/>
              </a:spcBef>
              <a:spcAft>
                <a:spcPts val="0"/>
              </a:spcAft>
              <a:buNone/>
            </a:pPr>
            <a:r>
              <a:rPr lang="en-US" sz="1600" b="0" i="0" u="none" strike="noStrike" cap="none" dirty="0">
                <a:solidFill>
                  <a:schemeClr val="dk1"/>
                </a:solidFill>
                <a:latin typeface="Calibri"/>
                <a:ea typeface="Calibri"/>
                <a:cs typeface="Calibri"/>
                <a:sym typeface="Calibri"/>
              </a:rPr>
              <a:t>Distributed joins combine </a:t>
            </a:r>
            <a:r>
              <a:rPr lang="en-US" sz="1600" b="0" i="0" u="none" strike="noStrike" cap="none" dirty="0" smtClean="0">
                <a:solidFill>
                  <a:schemeClr val="dk1"/>
                </a:solidFill>
                <a:latin typeface="Calibri"/>
                <a:ea typeface="Calibri"/>
                <a:cs typeface="Calibri"/>
                <a:sym typeface="Calibri"/>
              </a:rPr>
              <a:t>separate </a:t>
            </a:r>
            <a:r>
              <a:rPr lang="en-US" sz="1600" b="0" i="0" u="none" strike="noStrike" cap="none" dirty="0">
                <a:solidFill>
                  <a:schemeClr val="dk1"/>
                </a:solidFill>
                <a:latin typeface="Calibri"/>
                <a:ea typeface="Calibri"/>
                <a:cs typeface="Calibri"/>
                <a:sym typeface="Calibri"/>
              </a:rPr>
              <a:t>data sets based on a shared key. Because matching data rows may sit on completely different physical servers, systems rely on two main execution architectures:</a:t>
            </a:r>
            <a:endParaRPr sz="1600" b="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3"/>
        <p:cNvGrpSpPr/>
        <p:nvPr/>
      </p:nvGrpSpPr>
      <p:grpSpPr>
        <a:xfrm>
          <a:off x="0" y="0"/>
          <a:ext cx="0" cy="0"/>
          <a:chOff x="0" y="0"/>
          <a:chExt cx="0" cy="0"/>
        </a:xfrm>
      </p:grpSpPr>
      <p:sp>
        <p:nvSpPr>
          <p:cNvPr id="744" name="Google Shape;744;p20"/>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0"/>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746" name="Google Shape;746;p20"/>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747" name="Google Shape;747;p20"/>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748" name="Google Shape;748;p20"/>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749" name="Google Shape;749;p20"/>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750" name="Google Shape;750;p20"/>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751" name="Google Shape;751;p20"/>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752" name="Google Shape;752;p20"/>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753" name="Google Shape;753;p20"/>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754" name="Google Shape;754;p20"/>
          <p:cNvSpPr/>
          <p:nvPr/>
        </p:nvSpPr>
        <p:spPr>
          <a:xfrm>
            <a:off x="109728" y="3012948"/>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0"/>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756" name="Google Shape;756;p20"/>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757" name="Google Shape;757;p20"/>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758" name="Google Shape;758;p20"/>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759" name="Google Shape;759;p20"/>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760" name="Google Shape;760;p20"/>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761" name="Google Shape;761;p20"/>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762" name="Google Shape;762;p20"/>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763" name="Google Shape;763;p20"/>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764" name="Google Shape;764;p20"/>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765" name="Google Shape;765;p20"/>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766" name="Google Shape;766;p20"/>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767" name="Google Shape;767;p20"/>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2000"/>
              <a:buFont typeface="Calibri"/>
              <a:buNone/>
            </a:pPr>
            <a:r>
              <a:rPr lang="en-US" sz="2000" b="1">
                <a:solidFill>
                  <a:srgbClr val="1B7A78"/>
                </a:solidFill>
                <a:latin typeface="Calibri"/>
                <a:ea typeface="Calibri"/>
                <a:cs typeface="Calibri"/>
                <a:sym typeface="Calibri"/>
              </a:rPr>
              <a:t>3.4 DISTRIBUTED QUERY OPTIMIZATION</a:t>
            </a:r>
            <a:endParaRPr sz="2000">
              <a:solidFill>
                <a:schemeClr val="dk1"/>
              </a:solidFill>
              <a:latin typeface="Calibri"/>
              <a:ea typeface="Calibri"/>
              <a:cs typeface="Calibri"/>
              <a:sym typeface="Calibri"/>
            </a:endParaRPr>
          </a:p>
        </p:txBody>
      </p:sp>
      <p:sp>
        <p:nvSpPr>
          <p:cNvPr id="768" name="Google Shape;768;p20"/>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11</a:t>
            </a:r>
            <a:endParaRPr sz="850">
              <a:solidFill>
                <a:schemeClr val="dk1"/>
              </a:solidFill>
              <a:latin typeface="Calibri"/>
              <a:ea typeface="Calibri"/>
              <a:cs typeface="Calibri"/>
              <a:sym typeface="Calibri"/>
            </a:endParaRPr>
          </a:p>
        </p:txBody>
      </p:sp>
      <p:sp>
        <p:nvSpPr>
          <p:cNvPr id="769" name="Google Shape;769;p20"/>
          <p:cNvSpPr/>
          <p:nvPr/>
        </p:nvSpPr>
        <p:spPr>
          <a:xfrm>
            <a:off x="2944368" y="755294"/>
            <a:ext cx="8513928" cy="1518235"/>
          </a:xfrm>
          <a:prstGeom prst="rect">
            <a:avLst/>
          </a:prstGeom>
          <a:noFill/>
          <a:ln>
            <a:noFill/>
          </a:ln>
        </p:spPr>
        <p:txBody>
          <a:bodyPr spcFirstLastPara="1" wrap="square" lIns="0" tIns="203125" rIns="0" bIns="203125" anchor="ctr" anchorCtr="0">
            <a:spAutoFit/>
          </a:bodyPr>
          <a:lstStyle/>
          <a:p>
            <a:pPr marL="0" marR="0" lvl="0" indent="0" algn="just" rtl="0">
              <a:spcBef>
                <a:spcPts val="0"/>
              </a:spcBef>
              <a:spcAft>
                <a:spcPts val="0"/>
              </a:spcAft>
              <a:buNone/>
            </a:pPr>
            <a:r>
              <a:rPr lang="en-US" sz="1800" b="1">
                <a:solidFill>
                  <a:srgbClr val="C55A11"/>
                </a:solidFill>
                <a:latin typeface="Calibri"/>
                <a:ea typeface="Calibri"/>
                <a:cs typeface="Calibri"/>
                <a:sym typeface="Calibri"/>
              </a:rPr>
              <a:t>Distributed Query Optimization is the mechanism that translates high-level logical code (like SQL or Spark DataFrame APIs) into a physical execution plan optimized for a distributed cluster. Its primary goal is to minimize network shuffles and disk I/O.</a:t>
            </a:r>
            <a:endParaRPr/>
          </a:p>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770" name="Google Shape;770;p20"/>
          <p:cNvSpPr/>
          <p:nvPr/>
        </p:nvSpPr>
        <p:spPr>
          <a:xfrm>
            <a:off x="0" y="0"/>
            <a:ext cx="12192000" cy="15875"/>
          </a:xfrm>
          <a:prstGeom prst="rect">
            <a:avLst/>
          </a:prstGeom>
          <a:solidFill>
            <a:srgbClr val="000000"/>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1" name="Google Shape;771;p20"/>
          <p:cNvSpPr/>
          <p:nvPr/>
        </p:nvSpPr>
        <p:spPr>
          <a:xfrm>
            <a:off x="2907791" y="1908741"/>
            <a:ext cx="8991295" cy="2744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B050"/>
              </a:buClr>
              <a:buSzPts val="1800"/>
              <a:buFont typeface="Calibri"/>
              <a:buNone/>
            </a:pPr>
            <a:r>
              <a:rPr lang="en-US" sz="1800" b="1">
                <a:solidFill>
                  <a:srgbClr val="00B050"/>
                </a:solidFill>
                <a:latin typeface="Calibri"/>
                <a:ea typeface="Calibri"/>
                <a:cs typeface="Calibri"/>
                <a:sym typeface="Calibri"/>
              </a:rPr>
              <a:t>Minimizing Communication Cost</a:t>
            </a:r>
            <a:endParaRPr sz="1800">
              <a:solidFill>
                <a:srgbClr val="00B050"/>
              </a:solidFill>
              <a:latin typeface="Calibri"/>
              <a:ea typeface="Calibri"/>
              <a:cs typeface="Calibri"/>
              <a:sym typeface="Calibri"/>
            </a:endParaRPr>
          </a:p>
        </p:txBody>
      </p:sp>
      <p:sp>
        <p:nvSpPr>
          <p:cNvPr id="772" name="Google Shape;772;p20"/>
          <p:cNvSpPr/>
          <p:nvPr/>
        </p:nvSpPr>
        <p:spPr>
          <a:xfrm>
            <a:off x="2907791" y="2311169"/>
            <a:ext cx="8991295"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70C0"/>
              </a:buClr>
              <a:buSzPts val="1600"/>
              <a:buFont typeface="Calibri"/>
              <a:buNone/>
            </a:pPr>
            <a:r>
              <a:rPr lang="en-US" sz="1600" i="1" dirty="0">
                <a:solidFill>
                  <a:srgbClr val="0070C0"/>
                </a:solidFill>
                <a:latin typeface="Calibri"/>
                <a:ea typeface="Calibri"/>
                <a:cs typeface="Calibri"/>
                <a:sym typeface="Calibri"/>
              </a:rPr>
              <a:t>Network I/O — not CPU — dominates distributed query cost. Optimizers rewrite plans to move as few bytes as possible.</a:t>
            </a:r>
            <a:endParaRPr sz="1600" dirty="0">
              <a:solidFill>
                <a:srgbClr val="0070C0"/>
              </a:solidFill>
              <a:latin typeface="Calibri"/>
              <a:ea typeface="Calibri"/>
              <a:cs typeface="Calibri"/>
              <a:sym typeface="Calibri"/>
            </a:endParaRPr>
          </a:p>
        </p:txBody>
      </p:sp>
      <p:sp>
        <p:nvSpPr>
          <p:cNvPr id="773" name="Google Shape;773;p20"/>
          <p:cNvSpPr/>
          <p:nvPr/>
        </p:nvSpPr>
        <p:spPr>
          <a:xfrm>
            <a:off x="3017520" y="2731793"/>
            <a:ext cx="8991295" cy="566928"/>
          </a:xfrm>
          <a:prstGeom prst="roundRect">
            <a:avLst>
              <a:gd name="adj" fmla="val 12903"/>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0"/>
          <p:cNvSpPr/>
          <p:nvPr/>
        </p:nvSpPr>
        <p:spPr>
          <a:xfrm>
            <a:off x="3154680" y="2731793"/>
            <a:ext cx="2468880" cy="56692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400"/>
              <a:buFont typeface="Calibri"/>
              <a:buNone/>
            </a:pPr>
            <a:r>
              <a:rPr lang="en-US" sz="1800" b="1" dirty="0">
                <a:solidFill>
                  <a:srgbClr val="12294B"/>
                </a:solidFill>
                <a:latin typeface="Calibri"/>
                <a:ea typeface="Calibri"/>
                <a:cs typeface="Calibri"/>
                <a:sym typeface="Calibri"/>
              </a:rPr>
              <a:t>Predicate pushdown</a:t>
            </a:r>
            <a:endParaRPr sz="1800" dirty="0">
              <a:solidFill>
                <a:schemeClr val="dk1"/>
              </a:solidFill>
              <a:latin typeface="Calibri"/>
              <a:ea typeface="Calibri"/>
              <a:cs typeface="Calibri"/>
              <a:sym typeface="Calibri"/>
            </a:endParaRPr>
          </a:p>
        </p:txBody>
      </p:sp>
      <p:sp>
        <p:nvSpPr>
          <p:cNvPr id="775" name="Google Shape;775;p20"/>
          <p:cNvSpPr/>
          <p:nvPr/>
        </p:nvSpPr>
        <p:spPr>
          <a:xfrm>
            <a:off x="5378247" y="2731793"/>
            <a:ext cx="3646170" cy="56692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200"/>
              <a:buFont typeface="Calibri"/>
              <a:buNone/>
            </a:pPr>
            <a:r>
              <a:rPr lang="en-US" sz="1600" dirty="0">
                <a:solidFill>
                  <a:srgbClr val="1A1A1A"/>
                </a:solidFill>
                <a:latin typeface="Calibri"/>
                <a:ea typeface="Calibri"/>
                <a:cs typeface="Calibri"/>
                <a:sym typeface="Calibri"/>
              </a:rPr>
              <a:t>WHERE filters pushed to the storage layer</a:t>
            </a:r>
            <a:endParaRPr sz="1600" dirty="0">
              <a:solidFill>
                <a:schemeClr val="dk1"/>
              </a:solidFill>
              <a:latin typeface="Calibri"/>
              <a:ea typeface="Calibri"/>
              <a:cs typeface="Calibri"/>
              <a:sym typeface="Calibri"/>
            </a:endParaRPr>
          </a:p>
        </p:txBody>
      </p:sp>
      <p:sp>
        <p:nvSpPr>
          <p:cNvPr id="776" name="Google Shape;776;p20"/>
          <p:cNvSpPr/>
          <p:nvPr/>
        </p:nvSpPr>
        <p:spPr>
          <a:xfrm>
            <a:off x="9098280" y="2731793"/>
            <a:ext cx="2910535" cy="56692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600" i="1" dirty="0">
                <a:solidFill>
                  <a:srgbClr val="1B7A78"/>
                </a:solidFill>
                <a:latin typeface="Calibri"/>
                <a:ea typeface="Calibri"/>
                <a:cs typeface="Calibri"/>
                <a:sym typeface="Calibri"/>
              </a:rPr>
              <a:t>Fewer rows read &amp; shuffled</a:t>
            </a:r>
            <a:endParaRPr sz="1600" dirty="0">
              <a:solidFill>
                <a:schemeClr val="dk1"/>
              </a:solidFill>
              <a:latin typeface="Calibri"/>
              <a:ea typeface="Calibri"/>
              <a:cs typeface="Calibri"/>
              <a:sym typeface="Calibri"/>
            </a:endParaRPr>
          </a:p>
        </p:txBody>
      </p:sp>
      <p:sp>
        <p:nvSpPr>
          <p:cNvPr id="777" name="Google Shape;777;p20"/>
          <p:cNvSpPr/>
          <p:nvPr/>
        </p:nvSpPr>
        <p:spPr>
          <a:xfrm>
            <a:off x="3154680" y="3335298"/>
            <a:ext cx="2223567" cy="1210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400"/>
              <a:buFont typeface="Calibri"/>
              <a:buNone/>
            </a:pPr>
            <a:r>
              <a:rPr lang="en-US" sz="1800" b="1" dirty="0">
                <a:solidFill>
                  <a:srgbClr val="12294B"/>
                </a:solidFill>
                <a:latin typeface="Calibri"/>
                <a:ea typeface="Calibri"/>
                <a:cs typeface="Calibri"/>
                <a:sym typeface="Calibri"/>
              </a:rPr>
              <a:t>Projection pushdown</a:t>
            </a:r>
            <a:endParaRPr sz="1800" dirty="0">
              <a:solidFill>
                <a:schemeClr val="dk1"/>
              </a:solidFill>
              <a:latin typeface="Calibri"/>
              <a:ea typeface="Calibri"/>
              <a:cs typeface="Calibri"/>
              <a:sym typeface="Calibri"/>
            </a:endParaRPr>
          </a:p>
        </p:txBody>
      </p:sp>
      <p:sp>
        <p:nvSpPr>
          <p:cNvPr id="778" name="Google Shape;778;p20"/>
          <p:cNvSpPr/>
          <p:nvPr/>
        </p:nvSpPr>
        <p:spPr>
          <a:xfrm>
            <a:off x="5378248" y="3335298"/>
            <a:ext cx="3575252" cy="143948"/>
          </a:xfrm>
          <a:prstGeom prst="rect">
            <a:avLst/>
          </a:prstGeom>
          <a:noFill/>
          <a:ln>
            <a:noFill/>
          </a:ln>
        </p:spPr>
        <p:txBody>
          <a:bodyPr spcFirstLastPara="1" wrap="square" lIns="91425" tIns="45700" rIns="91425" bIns="45700" anchor="ctr" anchorCtr="0">
            <a:noAutofit/>
          </a:bodyPr>
          <a:lstStyle/>
          <a:p>
            <a:pPr lvl="0">
              <a:buClr>
                <a:srgbClr val="1A1A1A"/>
              </a:buClr>
              <a:buSzPts val="1200"/>
            </a:pPr>
            <a:r>
              <a:rPr lang="en-US" sz="1600" dirty="0">
                <a:solidFill>
                  <a:srgbClr val="1A1A1A"/>
                </a:solidFill>
                <a:latin typeface="Calibri"/>
                <a:ea typeface="Calibri"/>
                <a:cs typeface="Calibri"/>
                <a:sym typeface="Calibri"/>
              </a:rPr>
              <a:t>Only </a:t>
            </a:r>
            <a:r>
              <a:rPr lang="en-US" sz="1600" dirty="0" err="1">
                <a:solidFill>
                  <a:srgbClr val="1A1A1A"/>
                </a:solidFill>
                <a:latin typeface="Calibri"/>
                <a:ea typeface="Calibri"/>
                <a:cs typeface="Calibri"/>
                <a:sym typeface="Calibri"/>
              </a:rPr>
              <a:t>SELECTed</a:t>
            </a:r>
            <a:r>
              <a:rPr lang="en-US" sz="1600" dirty="0">
                <a:solidFill>
                  <a:srgbClr val="1A1A1A"/>
                </a:solidFill>
                <a:latin typeface="Calibri"/>
                <a:ea typeface="Calibri"/>
                <a:cs typeface="Calibri"/>
                <a:sym typeface="Calibri"/>
              </a:rPr>
              <a:t> columns read from </a:t>
            </a:r>
            <a:r>
              <a:rPr lang="en-US" sz="1600" dirty="0">
                <a:solidFill>
                  <a:srgbClr val="1A1A1A"/>
                </a:solidFill>
                <a:latin typeface="Calibri"/>
                <a:ea typeface="Calibri"/>
                <a:cs typeface="Calibri"/>
                <a:sym typeface="Calibri"/>
              </a:rPr>
              <a:t>Parquet/ORC(Optimized Row Columnar)</a:t>
            </a:r>
            <a:endParaRPr sz="1600" dirty="0">
              <a:solidFill>
                <a:schemeClr val="dk1"/>
              </a:solidFill>
              <a:latin typeface="Calibri"/>
              <a:ea typeface="Calibri"/>
              <a:cs typeface="Calibri"/>
              <a:sym typeface="Calibri"/>
            </a:endParaRPr>
          </a:p>
        </p:txBody>
      </p:sp>
      <p:sp>
        <p:nvSpPr>
          <p:cNvPr id="779" name="Google Shape;779;p20"/>
          <p:cNvSpPr/>
          <p:nvPr/>
        </p:nvSpPr>
        <p:spPr>
          <a:xfrm>
            <a:off x="9098280" y="3335297"/>
            <a:ext cx="2465647" cy="14399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600" i="1">
                <a:solidFill>
                  <a:srgbClr val="1B7A78"/>
                </a:solidFill>
                <a:latin typeface="Calibri"/>
                <a:ea typeface="Calibri"/>
                <a:cs typeface="Calibri"/>
                <a:sym typeface="Calibri"/>
              </a:rPr>
              <a:t>Fewer bytes read from disk</a:t>
            </a:r>
            <a:endParaRPr sz="1600">
              <a:solidFill>
                <a:schemeClr val="dk1"/>
              </a:solidFill>
              <a:latin typeface="Calibri"/>
              <a:ea typeface="Calibri"/>
              <a:cs typeface="Calibri"/>
              <a:sym typeface="Calibri"/>
            </a:endParaRPr>
          </a:p>
        </p:txBody>
      </p:sp>
      <p:sp>
        <p:nvSpPr>
          <p:cNvPr id="780" name="Google Shape;780;p20"/>
          <p:cNvSpPr/>
          <p:nvPr/>
        </p:nvSpPr>
        <p:spPr>
          <a:xfrm>
            <a:off x="3017521" y="3774601"/>
            <a:ext cx="7616936" cy="143995"/>
          </a:xfrm>
          <a:prstGeom prst="roundRect">
            <a:avLst>
              <a:gd name="adj" fmla="val 12903"/>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1" name="Google Shape;781;p20"/>
          <p:cNvSpPr/>
          <p:nvPr/>
        </p:nvSpPr>
        <p:spPr>
          <a:xfrm>
            <a:off x="3154680" y="3774601"/>
            <a:ext cx="2091501" cy="14399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400"/>
              <a:buFont typeface="Calibri"/>
              <a:buNone/>
            </a:pPr>
            <a:r>
              <a:rPr lang="en-US" sz="1800" b="1">
                <a:solidFill>
                  <a:srgbClr val="12294B"/>
                </a:solidFill>
                <a:latin typeface="Calibri"/>
                <a:ea typeface="Calibri"/>
                <a:cs typeface="Calibri"/>
                <a:sym typeface="Calibri"/>
              </a:rPr>
              <a:t>Partition pruning</a:t>
            </a:r>
            <a:endParaRPr sz="1800">
              <a:solidFill>
                <a:schemeClr val="dk1"/>
              </a:solidFill>
              <a:latin typeface="Calibri"/>
              <a:ea typeface="Calibri"/>
              <a:cs typeface="Calibri"/>
              <a:sym typeface="Calibri"/>
            </a:endParaRPr>
          </a:p>
        </p:txBody>
      </p:sp>
      <p:sp>
        <p:nvSpPr>
          <p:cNvPr id="782" name="Google Shape;782;p20"/>
          <p:cNvSpPr/>
          <p:nvPr/>
        </p:nvSpPr>
        <p:spPr>
          <a:xfrm>
            <a:off x="5378248" y="3774601"/>
            <a:ext cx="3575252" cy="1875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200"/>
              <a:buFont typeface="Calibri"/>
              <a:buNone/>
            </a:pPr>
            <a:r>
              <a:rPr lang="en-US" sz="1600" dirty="0">
                <a:solidFill>
                  <a:srgbClr val="1A1A1A"/>
                </a:solidFill>
                <a:latin typeface="Calibri"/>
                <a:ea typeface="Calibri"/>
                <a:cs typeface="Calibri"/>
                <a:sym typeface="Calibri"/>
              </a:rPr>
              <a:t>Entire non-matching partitions skipped</a:t>
            </a:r>
            <a:endParaRPr sz="1600" dirty="0">
              <a:solidFill>
                <a:schemeClr val="dk1"/>
              </a:solidFill>
              <a:latin typeface="Calibri"/>
              <a:ea typeface="Calibri"/>
              <a:cs typeface="Calibri"/>
              <a:sym typeface="Calibri"/>
            </a:endParaRPr>
          </a:p>
        </p:txBody>
      </p:sp>
      <p:sp>
        <p:nvSpPr>
          <p:cNvPr id="783" name="Google Shape;783;p20"/>
          <p:cNvSpPr/>
          <p:nvPr/>
        </p:nvSpPr>
        <p:spPr>
          <a:xfrm>
            <a:off x="9098280" y="3774601"/>
            <a:ext cx="2465647" cy="14399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600" i="1">
                <a:solidFill>
                  <a:srgbClr val="1B7A78"/>
                </a:solidFill>
                <a:latin typeface="Calibri"/>
                <a:ea typeface="Calibri"/>
                <a:cs typeface="Calibri"/>
                <a:sym typeface="Calibri"/>
              </a:rPr>
              <a:t>Whole files never opened</a:t>
            </a:r>
            <a:endParaRPr sz="1600">
              <a:solidFill>
                <a:schemeClr val="dk1"/>
              </a:solidFill>
              <a:latin typeface="Calibri"/>
              <a:ea typeface="Calibri"/>
              <a:cs typeface="Calibri"/>
              <a:sym typeface="Calibri"/>
            </a:endParaRPr>
          </a:p>
        </p:txBody>
      </p:sp>
      <p:sp>
        <p:nvSpPr>
          <p:cNvPr id="784" name="Google Shape;784;p20"/>
          <p:cNvSpPr/>
          <p:nvPr/>
        </p:nvSpPr>
        <p:spPr>
          <a:xfrm>
            <a:off x="3154679" y="4236812"/>
            <a:ext cx="2091501" cy="14399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400"/>
              <a:buFont typeface="Calibri"/>
              <a:buNone/>
            </a:pPr>
            <a:r>
              <a:rPr lang="en-US" sz="1800" b="1">
                <a:solidFill>
                  <a:srgbClr val="12294B"/>
                </a:solidFill>
                <a:latin typeface="Calibri"/>
                <a:ea typeface="Calibri"/>
                <a:cs typeface="Calibri"/>
                <a:sym typeface="Calibri"/>
              </a:rPr>
              <a:t>Map-side combine</a:t>
            </a:r>
            <a:endParaRPr sz="1800">
              <a:solidFill>
                <a:schemeClr val="dk1"/>
              </a:solidFill>
              <a:latin typeface="Calibri"/>
              <a:ea typeface="Calibri"/>
              <a:cs typeface="Calibri"/>
              <a:sym typeface="Calibri"/>
            </a:endParaRPr>
          </a:p>
        </p:txBody>
      </p:sp>
      <p:sp>
        <p:nvSpPr>
          <p:cNvPr id="785" name="Google Shape;785;p20"/>
          <p:cNvSpPr/>
          <p:nvPr/>
        </p:nvSpPr>
        <p:spPr>
          <a:xfrm>
            <a:off x="5378247" y="4236812"/>
            <a:ext cx="3093677" cy="131041"/>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200"/>
              <a:buFont typeface="Calibri"/>
              <a:buNone/>
            </a:pPr>
            <a:r>
              <a:rPr lang="en-US" sz="1600" dirty="0">
                <a:solidFill>
                  <a:srgbClr val="1A1A1A"/>
                </a:solidFill>
                <a:latin typeface="Calibri"/>
                <a:ea typeface="Calibri"/>
                <a:cs typeface="Calibri"/>
                <a:sym typeface="Calibri"/>
              </a:rPr>
              <a:t>Partial aggregation before shuffle</a:t>
            </a:r>
            <a:endParaRPr sz="1600" dirty="0">
              <a:solidFill>
                <a:schemeClr val="dk1"/>
              </a:solidFill>
              <a:latin typeface="Calibri"/>
              <a:ea typeface="Calibri"/>
              <a:cs typeface="Calibri"/>
              <a:sym typeface="Calibri"/>
            </a:endParaRPr>
          </a:p>
        </p:txBody>
      </p:sp>
      <p:sp>
        <p:nvSpPr>
          <p:cNvPr id="786" name="Google Shape;786;p20"/>
          <p:cNvSpPr/>
          <p:nvPr/>
        </p:nvSpPr>
        <p:spPr>
          <a:xfrm>
            <a:off x="9098279" y="4236812"/>
            <a:ext cx="2465647" cy="14399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600" i="1">
                <a:solidFill>
                  <a:srgbClr val="1B7A78"/>
                </a:solidFill>
                <a:latin typeface="Calibri"/>
                <a:ea typeface="Calibri"/>
                <a:cs typeface="Calibri"/>
                <a:sym typeface="Calibri"/>
              </a:rPr>
              <a:t>Smaller shuffle payload</a:t>
            </a:r>
            <a:endParaRPr sz="1600">
              <a:solidFill>
                <a:schemeClr val="dk1"/>
              </a:solidFill>
              <a:latin typeface="Calibri"/>
              <a:ea typeface="Calibri"/>
              <a:cs typeface="Calibri"/>
              <a:sym typeface="Calibri"/>
            </a:endParaRPr>
          </a:p>
        </p:txBody>
      </p:sp>
      <p:sp>
        <p:nvSpPr>
          <p:cNvPr id="787" name="Google Shape;787;p20"/>
          <p:cNvSpPr/>
          <p:nvPr/>
        </p:nvSpPr>
        <p:spPr>
          <a:xfrm>
            <a:off x="3017520" y="4655450"/>
            <a:ext cx="7616936" cy="143995"/>
          </a:xfrm>
          <a:prstGeom prst="roundRect">
            <a:avLst>
              <a:gd name="adj" fmla="val 12903"/>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8" name="Google Shape;788;p20"/>
          <p:cNvSpPr/>
          <p:nvPr/>
        </p:nvSpPr>
        <p:spPr>
          <a:xfrm>
            <a:off x="3154679" y="4655450"/>
            <a:ext cx="2091501" cy="14399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400"/>
              <a:buFont typeface="Calibri"/>
              <a:buNone/>
            </a:pPr>
            <a:r>
              <a:rPr lang="en-US" sz="1800" b="1">
                <a:solidFill>
                  <a:srgbClr val="12294B"/>
                </a:solidFill>
                <a:latin typeface="Calibri"/>
                <a:ea typeface="Calibri"/>
                <a:cs typeface="Calibri"/>
                <a:sym typeface="Calibri"/>
              </a:rPr>
              <a:t>Broadcast selection</a:t>
            </a:r>
            <a:endParaRPr sz="1800">
              <a:solidFill>
                <a:schemeClr val="dk1"/>
              </a:solidFill>
              <a:latin typeface="Calibri"/>
              <a:ea typeface="Calibri"/>
              <a:cs typeface="Calibri"/>
              <a:sym typeface="Calibri"/>
            </a:endParaRPr>
          </a:p>
        </p:txBody>
      </p:sp>
      <p:sp>
        <p:nvSpPr>
          <p:cNvPr id="789" name="Google Shape;789;p20"/>
          <p:cNvSpPr/>
          <p:nvPr/>
        </p:nvSpPr>
        <p:spPr>
          <a:xfrm>
            <a:off x="5378247" y="4655450"/>
            <a:ext cx="3422853" cy="14399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200"/>
              <a:buFont typeface="Calibri"/>
              <a:buNone/>
            </a:pPr>
            <a:r>
              <a:rPr lang="en-US" sz="1600" dirty="0">
                <a:solidFill>
                  <a:srgbClr val="1A1A1A"/>
                </a:solidFill>
                <a:latin typeface="Calibri"/>
                <a:ea typeface="Calibri"/>
                <a:cs typeface="Calibri"/>
                <a:sym typeface="Calibri"/>
              </a:rPr>
              <a:t>Small table copied instead of shuffled</a:t>
            </a:r>
            <a:endParaRPr sz="1600" dirty="0">
              <a:solidFill>
                <a:schemeClr val="dk1"/>
              </a:solidFill>
              <a:latin typeface="Calibri"/>
              <a:ea typeface="Calibri"/>
              <a:cs typeface="Calibri"/>
              <a:sym typeface="Calibri"/>
            </a:endParaRPr>
          </a:p>
        </p:txBody>
      </p:sp>
      <p:sp>
        <p:nvSpPr>
          <p:cNvPr id="790" name="Google Shape;790;p20"/>
          <p:cNvSpPr/>
          <p:nvPr/>
        </p:nvSpPr>
        <p:spPr>
          <a:xfrm>
            <a:off x="9098279" y="4655450"/>
            <a:ext cx="2465647" cy="14399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600" i="1">
                <a:solidFill>
                  <a:srgbClr val="1B7A78"/>
                </a:solidFill>
                <a:latin typeface="Calibri"/>
                <a:ea typeface="Calibri"/>
                <a:cs typeface="Calibri"/>
                <a:sym typeface="Calibri"/>
              </a:rPr>
              <a:t>Shuffle eliminated for large side</a:t>
            </a:r>
            <a:endParaRPr sz="1600">
              <a:solidFill>
                <a:schemeClr val="dk1"/>
              </a:solidFill>
              <a:latin typeface="Calibri"/>
              <a:ea typeface="Calibri"/>
              <a:cs typeface="Calibri"/>
              <a:sym typeface="Calibri"/>
            </a:endParaRPr>
          </a:p>
        </p:txBody>
      </p:sp>
      <p:sp>
        <p:nvSpPr>
          <p:cNvPr id="791" name="Google Shape;791;p20"/>
          <p:cNvSpPr/>
          <p:nvPr/>
        </p:nvSpPr>
        <p:spPr>
          <a:xfrm>
            <a:off x="2907791" y="5170216"/>
            <a:ext cx="8735264" cy="1051560"/>
          </a:xfrm>
          <a:prstGeom prst="roundRect">
            <a:avLst>
              <a:gd name="adj" fmla="val 6957"/>
            </a:avLst>
          </a:prstGeom>
          <a:solidFill>
            <a:srgbClr val="0A1830"/>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0"/>
          <p:cNvSpPr/>
          <p:nvPr/>
        </p:nvSpPr>
        <p:spPr>
          <a:xfrm>
            <a:off x="3090670" y="5243368"/>
            <a:ext cx="8379919" cy="914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7E6FF"/>
              </a:buClr>
              <a:buSzPts val="1400"/>
              <a:buFont typeface="Courier New"/>
              <a:buNone/>
            </a:pPr>
            <a:r>
              <a:rPr lang="en-US" sz="1400">
                <a:solidFill>
                  <a:srgbClr val="D7E6FF"/>
                </a:solidFill>
                <a:latin typeface="Courier New"/>
                <a:ea typeface="Courier New"/>
                <a:cs typeface="Courier New"/>
                <a:sym typeface="Courier New"/>
              </a:rPr>
              <a:t>SELECT customer_name, amount FROM sales s JOIN customers c ON s.customer_id=c.id</a:t>
            </a:r>
            <a:endParaRPr sz="1400">
              <a:solidFill>
                <a:schemeClr val="dk1"/>
              </a:solidFill>
              <a:latin typeface="Calibri"/>
              <a:ea typeface="Calibri"/>
              <a:cs typeface="Calibri"/>
              <a:sym typeface="Calibri"/>
            </a:endParaRPr>
          </a:p>
          <a:p>
            <a:pPr marL="0" marR="0" lvl="0" indent="0" algn="l" rtl="0">
              <a:spcBef>
                <a:spcPts val="0"/>
              </a:spcBef>
              <a:spcAft>
                <a:spcPts val="0"/>
              </a:spcAft>
              <a:buClr>
                <a:srgbClr val="D7E6FF"/>
              </a:buClr>
              <a:buSzPts val="1400"/>
              <a:buFont typeface="Courier New"/>
              <a:buNone/>
            </a:pPr>
            <a:r>
              <a:rPr lang="en-US" sz="1400">
                <a:solidFill>
                  <a:srgbClr val="D7E6FF"/>
                </a:solidFill>
                <a:latin typeface="Courier New"/>
                <a:ea typeface="Courier New"/>
                <a:cs typeface="Courier New"/>
                <a:sym typeface="Courier New"/>
              </a:rPr>
              <a:t>WHERE s.sale_date = '2026-08-01'   →   prune to 1 partition, read 3 columns, broadcast customers</a:t>
            </a:r>
            <a:endParaRPr sz="1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7"/>
        <p:cNvGrpSpPr/>
        <p:nvPr/>
      </p:nvGrpSpPr>
      <p:grpSpPr>
        <a:xfrm>
          <a:off x="0" y="0"/>
          <a:ext cx="0" cy="0"/>
          <a:chOff x="0" y="0"/>
          <a:chExt cx="0" cy="0"/>
        </a:xfrm>
      </p:grpSpPr>
      <p:sp>
        <p:nvSpPr>
          <p:cNvPr id="798" name="Google Shape;798;p21"/>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1"/>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800" name="Google Shape;800;p21"/>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801" name="Google Shape;801;p21"/>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802" name="Google Shape;802;p21"/>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803" name="Google Shape;803;p21"/>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804" name="Google Shape;804;p21"/>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805" name="Google Shape;805;p21"/>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806" name="Google Shape;806;p21"/>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807" name="Google Shape;807;p21"/>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808" name="Google Shape;808;p21"/>
          <p:cNvSpPr/>
          <p:nvPr/>
        </p:nvSpPr>
        <p:spPr>
          <a:xfrm>
            <a:off x="109728" y="3012948"/>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1"/>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810" name="Google Shape;810;p21"/>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811" name="Google Shape;811;p21"/>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812" name="Google Shape;812;p21"/>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813" name="Google Shape;813;p21"/>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814" name="Google Shape;814;p21"/>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815" name="Google Shape;815;p21"/>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816" name="Google Shape;816;p21"/>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817" name="Google Shape;817;p21"/>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818" name="Google Shape;818;p21"/>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819" name="Google Shape;819;p21"/>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820" name="Google Shape;820;p21"/>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821" name="Google Shape;821;p21"/>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3.4 DISTRIBUTED QUERY OPTIMIZATION</a:t>
            </a:r>
            <a:endParaRPr sz="1200">
              <a:solidFill>
                <a:schemeClr val="dk1"/>
              </a:solidFill>
              <a:latin typeface="Calibri"/>
              <a:ea typeface="Calibri"/>
              <a:cs typeface="Calibri"/>
              <a:sym typeface="Calibri"/>
            </a:endParaRPr>
          </a:p>
        </p:txBody>
      </p:sp>
      <p:sp>
        <p:nvSpPr>
          <p:cNvPr id="822" name="Google Shape;822;p21"/>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Broadcast Joins vs Shuffle Operations</a:t>
            </a:r>
            <a:endParaRPr sz="2700">
              <a:solidFill>
                <a:schemeClr val="dk1"/>
              </a:solidFill>
              <a:latin typeface="Calibri"/>
              <a:ea typeface="Calibri"/>
              <a:cs typeface="Calibri"/>
              <a:sym typeface="Calibri"/>
            </a:endParaRPr>
          </a:p>
        </p:txBody>
      </p:sp>
      <p:sp>
        <p:nvSpPr>
          <p:cNvPr id="823" name="Google Shape;823;p21"/>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824" name="Google Shape;824;p21"/>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12</a:t>
            </a:r>
            <a:endParaRPr sz="850">
              <a:solidFill>
                <a:schemeClr val="dk1"/>
              </a:solidFill>
              <a:latin typeface="Calibri"/>
              <a:ea typeface="Calibri"/>
              <a:cs typeface="Calibri"/>
              <a:sym typeface="Calibri"/>
            </a:endParaRPr>
          </a:p>
        </p:txBody>
      </p:sp>
      <p:sp>
        <p:nvSpPr>
          <p:cNvPr id="825" name="Google Shape;825;p21"/>
          <p:cNvSpPr/>
          <p:nvPr/>
        </p:nvSpPr>
        <p:spPr>
          <a:xfrm>
            <a:off x="2880360" y="1371600"/>
            <a:ext cx="4312768" cy="3794759"/>
          </a:xfrm>
          <a:prstGeom prst="roundRect">
            <a:avLst>
              <a:gd name="adj" fmla="val 2286"/>
            </a:avLst>
          </a:prstGeom>
          <a:solidFill>
            <a:srgbClr val="FBF1E0"/>
          </a:solidFill>
          <a:ln w="12700" cap="flat" cmpd="sng">
            <a:solidFill>
              <a:srgbClr val="D9A441"/>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6" name="Google Shape;826;p21"/>
          <p:cNvSpPr/>
          <p:nvPr/>
        </p:nvSpPr>
        <p:spPr>
          <a:xfrm>
            <a:off x="2834640" y="1481328"/>
            <a:ext cx="4312768"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5E15"/>
              </a:buClr>
              <a:buSzPts val="1800"/>
              <a:buFont typeface="Calibri"/>
              <a:buNone/>
            </a:pPr>
            <a:r>
              <a:rPr lang="en-US" sz="2400" b="1">
                <a:solidFill>
                  <a:srgbClr val="8A5E15"/>
                </a:solidFill>
                <a:latin typeface="Calibri"/>
                <a:ea typeface="Calibri"/>
                <a:cs typeface="Calibri"/>
                <a:sym typeface="Calibri"/>
              </a:rPr>
              <a:t>BROADCAST JOIN</a:t>
            </a:r>
            <a:endParaRPr sz="2400">
              <a:solidFill>
                <a:schemeClr val="dk1"/>
              </a:solidFill>
              <a:latin typeface="Calibri"/>
              <a:ea typeface="Calibri"/>
              <a:cs typeface="Calibri"/>
              <a:sym typeface="Calibri"/>
            </a:endParaRPr>
          </a:p>
        </p:txBody>
      </p:sp>
      <p:sp>
        <p:nvSpPr>
          <p:cNvPr id="827" name="Google Shape;827;p21"/>
          <p:cNvSpPr/>
          <p:nvPr/>
        </p:nvSpPr>
        <p:spPr>
          <a:xfrm>
            <a:off x="3086100" y="1832633"/>
            <a:ext cx="3855568" cy="1497215"/>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1A1A1A"/>
              </a:buClr>
              <a:buSzPts val="1400"/>
              <a:buFont typeface="Calibri"/>
              <a:buChar char="▪"/>
            </a:pPr>
            <a:r>
              <a:rPr lang="en-US" sz="1800" dirty="0">
                <a:solidFill>
                  <a:srgbClr val="1A1A1A"/>
                </a:solidFill>
                <a:latin typeface="Calibri"/>
                <a:ea typeface="Calibri"/>
                <a:cs typeface="Calibri"/>
                <a:sym typeface="Calibri"/>
              </a:rPr>
              <a:t>Only the small table travels (once, to every executor)</a:t>
            </a:r>
            <a:endParaRPr sz="1800" dirty="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400"/>
              <a:buFont typeface="Calibri"/>
              <a:buChar char="▪"/>
            </a:pPr>
            <a:r>
              <a:rPr lang="en-US" sz="1800" dirty="0">
                <a:solidFill>
                  <a:srgbClr val="1A1A1A"/>
                </a:solidFill>
                <a:latin typeface="Calibri"/>
                <a:ea typeface="Calibri"/>
                <a:cs typeface="Calibri"/>
                <a:sym typeface="Calibri"/>
              </a:rPr>
              <a:t>Small table must fit in executor memory</a:t>
            </a:r>
            <a:endParaRPr sz="1800" dirty="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400"/>
              <a:buFont typeface="Calibri"/>
              <a:buChar char="▪"/>
            </a:pPr>
            <a:r>
              <a:rPr lang="en-US" sz="1800" dirty="0">
                <a:solidFill>
                  <a:srgbClr val="1A1A1A"/>
                </a:solidFill>
                <a:latin typeface="Calibri"/>
                <a:ea typeface="Calibri"/>
                <a:cs typeface="Calibri"/>
                <a:sym typeface="Calibri"/>
              </a:rPr>
              <a:t>Automatic when small side &lt; threshold (Spark default 10MB, often tuned higher)</a:t>
            </a:r>
            <a:endParaRPr sz="1800" dirty="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400"/>
              <a:buFont typeface="Calibri"/>
              <a:buChar char="▪"/>
            </a:pPr>
            <a:r>
              <a:rPr lang="en-US" sz="1800" dirty="0">
                <a:solidFill>
                  <a:srgbClr val="1A1A1A"/>
                </a:solidFill>
                <a:latin typeface="Calibri"/>
                <a:ea typeface="Calibri"/>
                <a:cs typeface="Calibri"/>
                <a:sym typeface="Calibri"/>
              </a:rPr>
              <a:t>Risk: executor </a:t>
            </a:r>
            <a:r>
              <a:rPr lang="en-US" sz="1800" dirty="0" smtClean="0">
                <a:solidFill>
                  <a:srgbClr val="1A1A1A"/>
                </a:solidFill>
                <a:latin typeface="Calibri"/>
                <a:ea typeface="Calibri"/>
                <a:cs typeface="Calibri"/>
                <a:sym typeface="Calibri"/>
              </a:rPr>
              <a:t>Out Of Memory if </a:t>
            </a:r>
            <a:r>
              <a:rPr lang="en-US" sz="1800" dirty="0">
                <a:solidFill>
                  <a:srgbClr val="1A1A1A"/>
                </a:solidFill>
                <a:latin typeface="Calibri"/>
                <a:ea typeface="Calibri"/>
                <a:cs typeface="Calibri"/>
                <a:sym typeface="Calibri"/>
              </a:rPr>
              <a:t>size was under-estimated</a:t>
            </a:r>
            <a:endParaRPr sz="1800" dirty="0">
              <a:solidFill>
                <a:schemeClr val="dk1"/>
              </a:solidFill>
              <a:latin typeface="Calibri"/>
              <a:ea typeface="Calibri"/>
              <a:cs typeface="Calibri"/>
              <a:sym typeface="Calibri"/>
            </a:endParaRPr>
          </a:p>
        </p:txBody>
      </p:sp>
      <p:sp>
        <p:nvSpPr>
          <p:cNvPr id="828" name="Google Shape;828;p21"/>
          <p:cNvSpPr/>
          <p:nvPr/>
        </p:nvSpPr>
        <p:spPr>
          <a:xfrm>
            <a:off x="7513168" y="1371600"/>
            <a:ext cx="4312768" cy="3794759"/>
          </a:xfrm>
          <a:prstGeom prst="roundRect">
            <a:avLst>
              <a:gd name="adj" fmla="val 2286"/>
            </a:avLst>
          </a:prstGeom>
          <a:solidFill>
            <a:srgbClr val="EAF1FB"/>
          </a:solidFill>
          <a:ln w="12700" cap="flat" cmpd="sng">
            <a:solidFill>
              <a:srgbClr val="12294B"/>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9" name="Google Shape;829;p21"/>
          <p:cNvSpPr/>
          <p:nvPr/>
        </p:nvSpPr>
        <p:spPr>
          <a:xfrm>
            <a:off x="7513168" y="1481328"/>
            <a:ext cx="4312768"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2294B"/>
              </a:buClr>
              <a:buSzPts val="1800"/>
              <a:buFont typeface="Calibri"/>
              <a:buNone/>
            </a:pPr>
            <a:r>
              <a:rPr lang="en-US" sz="2400" b="1">
                <a:solidFill>
                  <a:srgbClr val="12294B"/>
                </a:solidFill>
                <a:latin typeface="Calibri"/>
                <a:ea typeface="Calibri"/>
                <a:cs typeface="Calibri"/>
                <a:sym typeface="Calibri"/>
              </a:rPr>
              <a:t>SHUFFLE (SORT-MERGE) JOIN</a:t>
            </a:r>
            <a:endParaRPr sz="2400">
              <a:solidFill>
                <a:schemeClr val="dk1"/>
              </a:solidFill>
              <a:latin typeface="Calibri"/>
              <a:ea typeface="Calibri"/>
              <a:cs typeface="Calibri"/>
              <a:sym typeface="Calibri"/>
            </a:endParaRPr>
          </a:p>
        </p:txBody>
      </p:sp>
      <p:sp>
        <p:nvSpPr>
          <p:cNvPr id="830" name="Google Shape;830;p21"/>
          <p:cNvSpPr/>
          <p:nvPr/>
        </p:nvSpPr>
        <p:spPr>
          <a:xfrm>
            <a:off x="7741768" y="1856047"/>
            <a:ext cx="3855568" cy="1497215"/>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1A1A1A"/>
              </a:buClr>
              <a:buSzPts val="1400"/>
              <a:buFont typeface="Calibri"/>
              <a:buChar char="▪"/>
            </a:pPr>
            <a:r>
              <a:rPr lang="en-US" sz="1800" dirty="0">
                <a:solidFill>
                  <a:srgbClr val="1A1A1A"/>
                </a:solidFill>
                <a:latin typeface="Calibri"/>
                <a:ea typeface="Calibri"/>
                <a:cs typeface="Calibri"/>
                <a:sym typeface="Calibri"/>
              </a:rPr>
              <a:t>BOTH large tables are re-partitioned and moved across the network</a:t>
            </a:r>
            <a:endParaRPr sz="1800" dirty="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400"/>
              <a:buFont typeface="Calibri"/>
              <a:buChar char="▪"/>
            </a:pPr>
            <a:r>
              <a:rPr lang="en-US" sz="1800" dirty="0">
                <a:solidFill>
                  <a:srgbClr val="1A1A1A"/>
                </a:solidFill>
                <a:latin typeface="Calibri"/>
                <a:ea typeface="Calibri"/>
                <a:cs typeface="Calibri"/>
                <a:sym typeface="Calibri"/>
              </a:rPr>
              <a:t>Lower per-executor memory pressure</a:t>
            </a:r>
            <a:endParaRPr sz="1800" dirty="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400"/>
              <a:buFont typeface="Calibri"/>
              <a:buChar char="▪"/>
            </a:pPr>
            <a:r>
              <a:rPr lang="en-US" sz="1800" dirty="0">
                <a:solidFill>
                  <a:srgbClr val="1A1A1A"/>
                </a:solidFill>
                <a:latin typeface="Calibri"/>
                <a:ea typeface="Calibri"/>
                <a:cs typeface="Calibri"/>
                <a:sym typeface="Calibri"/>
              </a:rPr>
              <a:t>Default fallback when both sides are large</a:t>
            </a:r>
            <a:endParaRPr sz="1800" dirty="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400"/>
              <a:buFont typeface="Calibri"/>
              <a:buChar char="▪"/>
            </a:pPr>
            <a:r>
              <a:rPr lang="en-US" sz="1800" dirty="0">
                <a:solidFill>
                  <a:srgbClr val="1A1A1A"/>
                </a:solidFill>
                <a:latin typeface="Calibri"/>
                <a:ea typeface="Calibri"/>
                <a:cs typeface="Calibri"/>
                <a:sym typeface="Calibri"/>
              </a:rPr>
              <a:t>Risk: long shuffle stage; stragglers from data skew</a:t>
            </a:r>
            <a:endParaRPr sz="1800" dirty="0">
              <a:solidFill>
                <a:schemeClr val="dk1"/>
              </a:solidFill>
              <a:latin typeface="Calibri"/>
              <a:ea typeface="Calibri"/>
              <a:cs typeface="Calibri"/>
              <a:sym typeface="Calibri"/>
            </a:endParaRPr>
          </a:p>
        </p:txBody>
      </p:sp>
      <p:sp>
        <p:nvSpPr>
          <p:cNvPr id="831" name="Google Shape;831;p21"/>
          <p:cNvSpPr/>
          <p:nvPr/>
        </p:nvSpPr>
        <p:spPr>
          <a:xfrm>
            <a:off x="3017519" y="5185375"/>
            <a:ext cx="8991296" cy="1333569"/>
          </a:xfrm>
          <a:prstGeom prst="rect">
            <a:avLst/>
          </a:prstGeom>
          <a:noFill/>
          <a:ln>
            <a:noFill/>
          </a:ln>
        </p:spPr>
        <p:txBody>
          <a:bodyPr spcFirstLastPara="1" wrap="square" lIns="0" tIns="203125" rIns="0" bIns="203125" anchor="ctr" anchorCtr="0">
            <a:spAutoFit/>
          </a:bodyPr>
          <a:lstStyle/>
          <a:p>
            <a:pPr marL="0" marR="0" lvl="0" indent="0" algn="just" rtl="0">
              <a:spcBef>
                <a:spcPts val="0"/>
              </a:spcBef>
              <a:spcAft>
                <a:spcPts val="0"/>
              </a:spcAft>
              <a:buNone/>
            </a:pPr>
            <a:r>
              <a:rPr lang="en-US" sz="2000" b="1" dirty="0">
                <a:solidFill>
                  <a:srgbClr val="C55A11"/>
                </a:solidFill>
                <a:latin typeface="Calibri"/>
                <a:ea typeface="Calibri"/>
                <a:cs typeface="Calibri"/>
                <a:sym typeface="Calibri"/>
              </a:rPr>
              <a:t>Re-optimizing and modifying the execution plan dynamically at runtime based on real-time data statistics gathered during intermediate stages.</a:t>
            </a:r>
            <a:endParaRPr dirty="0"/>
          </a:p>
          <a:p>
            <a:pPr marL="0" marR="0" lvl="0" indent="0" algn="just" rtl="0">
              <a:spcBef>
                <a:spcPts val="0"/>
              </a:spcBef>
              <a:spcAft>
                <a:spcPts val="0"/>
              </a:spcAft>
              <a:buNone/>
            </a:pPr>
            <a:endParaRPr sz="2000" b="1" dirty="0">
              <a:solidFill>
                <a:srgbClr val="C55A1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6"/>
        <p:cNvGrpSpPr/>
        <p:nvPr/>
      </p:nvGrpSpPr>
      <p:grpSpPr>
        <a:xfrm>
          <a:off x="0" y="0"/>
          <a:ext cx="0" cy="0"/>
          <a:chOff x="0" y="0"/>
          <a:chExt cx="0" cy="0"/>
        </a:xfrm>
      </p:grpSpPr>
      <p:sp>
        <p:nvSpPr>
          <p:cNvPr id="837" name="Google Shape;837;p22"/>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2"/>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839" name="Google Shape;839;p22"/>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840" name="Google Shape;840;p22"/>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841" name="Google Shape;841;p22"/>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842" name="Google Shape;842;p22"/>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843" name="Google Shape;843;p22"/>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844" name="Google Shape;844;p22"/>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845" name="Google Shape;845;p22"/>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846" name="Google Shape;846;p22"/>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847" name="Google Shape;847;p22"/>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848" name="Google Shape;848;p22"/>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849" name="Google Shape;849;p22"/>
          <p:cNvSpPr/>
          <p:nvPr/>
        </p:nvSpPr>
        <p:spPr>
          <a:xfrm>
            <a:off x="109728" y="3575304"/>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2"/>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851" name="Google Shape;851;p22"/>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852" name="Google Shape;852;p22"/>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853" name="Google Shape;853;p22"/>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854" name="Google Shape;854;p22"/>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855" name="Google Shape;855;p22"/>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856" name="Google Shape;856;p22"/>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857" name="Google Shape;857;p22"/>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858" name="Google Shape;858;p22"/>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859" name="Google Shape;859;p22"/>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860" name="Google Shape;860;p22"/>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3.5 CLUSTER RESOURCE MANAGEMENT</a:t>
            </a:r>
            <a:endParaRPr sz="1200">
              <a:solidFill>
                <a:schemeClr val="dk1"/>
              </a:solidFill>
              <a:latin typeface="Calibri"/>
              <a:ea typeface="Calibri"/>
              <a:cs typeface="Calibri"/>
              <a:sym typeface="Calibri"/>
            </a:endParaRPr>
          </a:p>
        </p:txBody>
      </p:sp>
      <p:sp>
        <p:nvSpPr>
          <p:cNvPr id="861" name="Google Shape;861;p22"/>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Job Scheduling: Fair vs Capacity</a:t>
            </a:r>
            <a:endParaRPr sz="2700">
              <a:solidFill>
                <a:schemeClr val="dk1"/>
              </a:solidFill>
              <a:latin typeface="Calibri"/>
              <a:ea typeface="Calibri"/>
              <a:cs typeface="Calibri"/>
              <a:sym typeface="Calibri"/>
            </a:endParaRPr>
          </a:p>
        </p:txBody>
      </p:sp>
      <p:sp>
        <p:nvSpPr>
          <p:cNvPr id="862" name="Google Shape;862;p22"/>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863" name="Google Shape;863;p22"/>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13</a:t>
            </a:r>
            <a:endParaRPr sz="850">
              <a:solidFill>
                <a:schemeClr val="dk1"/>
              </a:solidFill>
              <a:latin typeface="Calibri"/>
              <a:ea typeface="Calibri"/>
              <a:cs typeface="Calibri"/>
              <a:sym typeface="Calibri"/>
            </a:endParaRPr>
          </a:p>
        </p:txBody>
      </p:sp>
      <p:sp>
        <p:nvSpPr>
          <p:cNvPr id="864" name="Google Shape;864;p22"/>
          <p:cNvSpPr/>
          <p:nvPr/>
        </p:nvSpPr>
        <p:spPr>
          <a:xfrm>
            <a:off x="2834640" y="1371600"/>
            <a:ext cx="4312768" cy="3063240"/>
          </a:xfrm>
          <a:prstGeom prst="roundRect">
            <a:avLst>
              <a:gd name="adj" fmla="val 2388"/>
            </a:avLst>
          </a:prstGeom>
          <a:solidFill>
            <a:srgbClr val="FFFFFF"/>
          </a:solidFill>
          <a:ln w="12700" cap="flat" cmpd="sng">
            <a:solidFill>
              <a:srgbClr val="1B7A78"/>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5" name="Google Shape;865;p22"/>
          <p:cNvSpPr/>
          <p:nvPr/>
        </p:nvSpPr>
        <p:spPr>
          <a:xfrm>
            <a:off x="2834640" y="1371600"/>
            <a:ext cx="4312768" cy="502920"/>
          </a:xfrm>
          <a:prstGeom prst="roundRect">
            <a:avLst>
              <a:gd name="adj" fmla="val 14545"/>
            </a:avLst>
          </a:prstGeom>
          <a:solidFill>
            <a:srgbClr val="1B7A78"/>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6" name="Google Shape;866;p22"/>
          <p:cNvSpPr/>
          <p:nvPr/>
        </p:nvSpPr>
        <p:spPr>
          <a:xfrm>
            <a:off x="2834640" y="1371600"/>
            <a:ext cx="4312768"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50"/>
              <a:buFont typeface="Calibri"/>
              <a:buNone/>
            </a:pPr>
            <a:r>
              <a:rPr lang="en-US" sz="1600" b="1">
                <a:solidFill>
                  <a:srgbClr val="FFFFFF"/>
                </a:solidFill>
                <a:latin typeface="Calibri"/>
                <a:ea typeface="Calibri"/>
                <a:cs typeface="Calibri"/>
                <a:sym typeface="Calibri"/>
              </a:rPr>
              <a:t>FAIR SCHEDULER</a:t>
            </a:r>
            <a:endParaRPr sz="1600">
              <a:solidFill>
                <a:schemeClr val="dk1"/>
              </a:solidFill>
              <a:latin typeface="Calibri"/>
              <a:ea typeface="Calibri"/>
              <a:cs typeface="Calibri"/>
              <a:sym typeface="Calibri"/>
            </a:endParaRPr>
          </a:p>
        </p:txBody>
      </p:sp>
      <p:sp>
        <p:nvSpPr>
          <p:cNvPr id="867" name="Google Shape;867;p22"/>
          <p:cNvSpPr/>
          <p:nvPr/>
        </p:nvSpPr>
        <p:spPr>
          <a:xfrm>
            <a:off x="3017520" y="2057400"/>
            <a:ext cx="3947008" cy="2286000"/>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1A1A1A"/>
              </a:buClr>
              <a:buSzPts val="1100"/>
              <a:buFont typeface="Calibri"/>
              <a:buChar char="▪"/>
            </a:pPr>
            <a:r>
              <a:rPr lang="en-US">
                <a:solidFill>
                  <a:srgbClr val="1A1A1A"/>
                </a:solidFill>
                <a:latin typeface="Calibri"/>
                <a:ea typeface="Calibri"/>
                <a:cs typeface="Calibri"/>
                <a:sym typeface="Calibri"/>
              </a:rPr>
              <a:t>Every job gets, on average, an equal resource share over time</a:t>
            </a:r>
            <a:endParaRPr>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100"/>
              <a:buFont typeface="Calibri"/>
              <a:buChar char="▪"/>
            </a:pPr>
            <a:r>
              <a:rPr lang="en-US">
                <a:solidFill>
                  <a:srgbClr val="1A1A1A"/>
                </a:solidFill>
                <a:latin typeface="Calibri"/>
                <a:ea typeface="Calibri"/>
                <a:cs typeface="Calibri"/>
                <a:sym typeface="Calibri"/>
              </a:rPr>
              <a:t>New jobs immediately claim a share from running jobs</a:t>
            </a:r>
            <a:endParaRPr>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100"/>
              <a:buFont typeface="Calibri"/>
              <a:buChar char="▪"/>
            </a:pPr>
            <a:r>
              <a:rPr lang="en-US">
                <a:solidFill>
                  <a:srgbClr val="1A1A1A"/>
                </a:solidFill>
                <a:latin typeface="Calibri"/>
                <a:ea typeface="Calibri"/>
                <a:cs typeface="Calibri"/>
                <a:sym typeface="Calibri"/>
              </a:rPr>
              <a:t>Highly elastic — idle capacity redistributed instantly</a:t>
            </a:r>
            <a:endParaRPr>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100"/>
              <a:buFont typeface="Calibri"/>
              <a:buChar char="▪"/>
            </a:pPr>
            <a:r>
              <a:rPr lang="en-US">
                <a:solidFill>
                  <a:srgbClr val="1A1A1A"/>
                </a:solidFill>
                <a:latin typeface="Calibri"/>
                <a:ea typeface="Calibri"/>
                <a:cs typeface="Calibri"/>
                <a:sym typeface="Calibri"/>
              </a:rPr>
              <a:t>Best for: ad-hoc, mixed, interactive + batch workloads</a:t>
            </a:r>
            <a:endParaRPr>
              <a:solidFill>
                <a:schemeClr val="dk1"/>
              </a:solidFill>
              <a:latin typeface="Calibri"/>
              <a:ea typeface="Calibri"/>
              <a:cs typeface="Calibri"/>
              <a:sym typeface="Calibri"/>
            </a:endParaRPr>
          </a:p>
        </p:txBody>
      </p:sp>
      <p:sp>
        <p:nvSpPr>
          <p:cNvPr id="868" name="Google Shape;868;p22"/>
          <p:cNvSpPr/>
          <p:nvPr/>
        </p:nvSpPr>
        <p:spPr>
          <a:xfrm>
            <a:off x="7513168" y="1371600"/>
            <a:ext cx="4312768" cy="3063240"/>
          </a:xfrm>
          <a:prstGeom prst="roundRect">
            <a:avLst>
              <a:gd name="adj" fmla="val 2388"/>
            </a:avLst>
          </a:prstGeom>
          <a:solidFill>
            <a:srgbClr val="FFFFFF"/>
          </a:solidFill>
          <a:ln w="12700" cap="flat" cmpd="sng">
            <a:solidFill>
              <a:srgbClr val="D9A441"/>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9" name="Google Shape;869;p22"/>
          <p:cNvSpPr/>
          <p:nvPr/>
        </p:nvSpPr>
        <p:spPr>
          <a:xfrm>
            <a:off x="7513168" y="1371600"/>
            <a:ext cx="4312768" cy="502920"/>
          </a:xfrm>
          <a:prstGeom prst="roundRect">
            <a:avLst>
              <a:gd name="adj" fmla="val 14545"/>
            </a:avLst>
          </a:prstGeom>
          <a:solidFill>
            <a:srgbClr val="D9A441"/>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0" name="Google Shape;870;p22"/>
          <p:cNvSpPr/>
          <p:nvPr/>
        </p:nvSpPr>
        <p:spPr>
          <a:xfrm>
            <a:off x="7513168" y="1371600"/>
            <a:ext cx="4312768"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830"/>
              </a:buClr>
              <a:buSzPts val="1350"/>
              <a:buFont typeface="Calibri"/>
              <a:buNone/>
            </a:pPr>
            <a:r>
              <a:rPr lang="en-US" sz="1600" b="1">
                <a:solidFill>
                  <a:srgbClr val="0A1830"/>
                </a:solidFill>
                <a:latin typeface="Calibri"/>
                <a:ea typeface="Calibri"/>
                <a:cs typeface="Calibri"/>
                <a:sym typeface="Calibri"/>
              </a:rPr>
              <a:t>CAPACITY SCHEDULER</a:t>
            </a:r>
            <a:endParaRPr sz="1600">
              <a:solidFill>
                <a:schemeClr val="dk1"/>
              </a:solidFill>
              <a:latin typeface="Calibri"/>
              <a:ea typeface="Calibri"/>
              <a:cs typeface="Calibri"/>
              <a:sym typeface="Calibri"/>
            </a:endParaRPr>
          </a:p>
        </p:txBody>
      </p:sp>
      <p:sp>
        <p:nvSpPr>
          <p:cNvPr id="871" name="Google Shape;871;p22"/>
          <p:cNvSpPr/>
          <p:nvPr/>
        </p:nvSpPr>
        <p:spPr>
          <a:xfrm>
            <a:off x="7696048" y="2057400"/>
            <a:ext cx="3947008" cy="2286000"/>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1A1A1A"/>
              </a:buClr>
              <a:buSzPts val="1100"/>
              <a:buFont typeface="Calibri"/>
              <a:buChar char="▪"/>
            </a:pPr>
            <a:r>
              <a:rPr lang="en-US">
                <a:solidFill>
                  <a:srgbClr val="1A1A1A"/>
                </a:solidFill>
                <a:latin typeface="Calibri"/>
                <a:ea typeface="Calibri"/>
                <a:cs typeface="Calibri"/>
                <a:sym typeface="Calibri"/>
              </a:rPr>
              <a:t>Cluster split into hierarchical QUEUES with guaranteed minimum capacity</a:t>
            </a:r>
            <a:endParaRPr>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100"/>
              <a:buFont typeface="Calibri"/>
              <a:buChar char="▪"/>
            </a:pPr>
            <a:r>
              <a:rPr lang="en-US">
                <a:solidFill>
                  <a:srgbClr val="1A1A1A"/>
                </a:solidFill>
                <a:latin typeface="Calibri"/>
                <a:ea typeface="Calibri"/>
                <a:cs typeface="Calibri"/>
                <a:sym typeface="Calibri"/>
              </a:rPr>
              <a:t>New jobs wait in queue once its capacity is exhausted</a:t>
            </a:r>
            <a:endParaRPr>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100"/>
              <a:buFont typeface="Calibri"/>
              <a:buChar char="▪"/>
            </a:pPr>
            <a:r>
              <a:rPr lang="en-US">
                <a:solidFill>
                  <a:srgbClr val="1A1A1A"/>
                </a:solidFill>
                <a:latin typeface="Calibri"/>
                <a:ea typeface="Calibri"/>
                <a:cs typeface="Calibri"/>
                <a:sym typeface="Calibri"/>
              </a:rPr>
              <a:t>Queues can borrow idle capacity, within configured limits</a:t>
            </a:r>
            <a:endParaRPr>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100"/>
              <a:buFont typeface="Calibri"/>
              <a:buChar char="▪"/>
            </a:pPr>
            <a:r>
              <a:rPr lang="en-US">
                <a:solidFill>
                  <a:srgbClr val="1A1A1A"/>
                </a:solidFill>
                <a:latin typeface="Calibri"/>
                <a:ea typeface="Calibri"/>
                <a:cs typeface="Calibri"/>
                <a:sym typeface="Calibri"/>
              </a:rPr>
              <a:t>Best for: predictable multi-department SLAs (banks, telecoms)</a:t>
            </a:r>
            <a:endParaRPr>
              <a:solidFill>
                <a:schemeClr val="dk1"/>
              </a:solidFill>
              <a:latin typeface="Calibri"/>
              <a:ea typeface="Calibri"/>
              <a:cs typeface="Calibri"/>
              <a:sym typeface="Calibri"/>
            </a:endParaRPr>
          </a:p>
        </p:txBody>
      </p:sp>
      <p:sp>
        <p:nvSpPr>
          <p:cNvPr id="872" name="Google Shape;872;p22"/>
          <p:cNvSpPr/>
          <p:nvPr/>
        </p:nvSpPr>
        <p:spPr>
          <a:xfrm>
            <a:off x="2834640" y="4617720"/>
            <a:ext cx="8991295" cy="1508760"/>
          </a:xfrm>
          <a:prstGeom prst="roundRect">
            <a:avLst>
              <a:gd name="adj" fmla="val 4848"/>
            </a:avLst>
          </a:prstGeom>
          <a:solidFill>
            <a:srgbClr val="F4F6F9"/>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3" name="Google Shape;873;p22"/>
          <p:cNvSpPr/>
          <p:nvPr/>
        </p:nvSpPr>
        <p:spPr>
          <a:xfrm>
            <a:off x="3017520" y="4736592"/>
            <a:ext cx="8625535" cy="12801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200"/>
              <a:buFont typeface="Calibri"/>
              <a:buNone/>
            </a:pPr>
            <a:r>
              <a:rPr lang="en-US" sz="1600" b="1">
                <a:solidFill>
                  <a:srgbClr val="12294B"/>
                </a:solidFill>
                <a:latin typeface="Calibri"/>
                <a:ea typeface="Calibri"/>
                <a:cs typeface="Calibri"/>
                <a:sym typeface="Calibri"/>
              </a:rPr>
              <a:t>Classroom analogy:  </a:t>
            </a:r>
            <a:r>
              <a:rPr lang="en-US" sz="1600">
                <a:solidFill>
                  <a:srgbClr val="1A1A1A"/>
                </a:solidFill>
                <a:latin typeface="Calibri"/>
                <a:ea typeface="Calibri"/>
                <a:cs typeface="Calibri"/>
                <a:sym typeface="Calibri"/>
              </a:rPr>
              <a:t>Capacity Scheduler = fixed lab-slot quotas per department each semester (guaranteed, rigid). Fair Scheduler = a shared walk-in lab where every present student gets an equal turn, and turns shrink automatically as more students arrive.</a:t>
            </a:r>
            <a:endParaRPr sz="16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78"/>
        <p:cNvGrpSpPr/>
        <p:nvPr/>
      </p:nvGrpSpPr>
      <p:grpSpPr>
        <a:xfrm>
          <a:off x="0" y="0"/>
          <a:ext cx="0" cy="0"/>
          <a:chOff x="0" y="0"/>
          <a:chExt cx="0" cy="0"/>
        </a:xfrm>
      </p:grpSpPr>
      <p:sp>
        <p:nvSpPr>
          <p:cNvPr id="879" name="Google Shape;879;p23"/>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3"/>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881" name="Google Shape;881;p23"/>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882" name="Google Shape;882;p23"/>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883" name="Google Shape;883;p23"/>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884" name="Google Shape;884;p23"/>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885" name="Google Shape;885;p23"/>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886" name="Google Shape;886;p23"/>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887" name="Google Shape;887;p23"/>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888" name="Google Shape;888;p23"/>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dirty="0">
                <a:solidFill>
                  <a:schemeClr val="lt1"/>
                </a:solidFill>
                <a:latin typeface="Calibri"/>
                <a:ea typeface="Calibri"/>
                <a:cs typeface="Calibri"/>
                <a:sym typeface="Calibri"/>
              </a:rPr>
              <a:t>Data Processing Ops</a:t>
            </a:r>
            <a:endParaRPr sz="1400" dirty="0">
              <a:solidFill>
                <a:schemeClr val="lt1"/>
              </a:solidFill>
              <a:latin typeface="Calibri"/>
              <a:ea typeface="Calibri"/>
              <a:cs typeface="Calibri"/>
              <a:sym typeface="Calibri"/>
            </a:endParaRPr>
          </a:p>
        </p:txBody>
      </p:sp>
      <p:sp>
        <p:nvSpPr>
          <p:cNvPr id="889" name="Google Shape;889;p23"/>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890" name="Google Shape;890;p23"/>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891" name="Google Shape;891;p23"/>
          <p:cNvSpPr/>
          <p:nvPr/>
        </p:nvSpPr>
        <p:spPr>
          <a:xfrm>
            <a:off x="109728" y="3575304"/>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3"/>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893" name="Google Shape;893;p23"/>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894" name="Google Shape;894;p23"/>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895" name="Google Shape;895;p23"/>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896" name="Google Shape;896;p23"/>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897" name="Google Shape;897;p23"/>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898" name="Google Shape;898;p23"/>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899" name="Google Shape;899;p23"/>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900" name="Google Shape;900;p23"/>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901" name="Google Shape;901;p23"/>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902" name="Google Shape;902;p23"/>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3.5 CLUSTER RESOURCE MANAGEMENT</a:t>
            </a:r>
            <a:endParaRPr sz="1200">
              <a:solidFill>
                <a:schemeClr val="dk1"/>
              </a:solidFill>
              <a:latin typeface="Calibri"/>
              <a:ea typeface="Calibri"/>
              <a:cs typeface="Calibri"/>
              <a:sym typeface="Calibri"/>
            </a:endParaRPr>
          </a:p>
        </p:txBody>
      </p:sp>
      <p:sp>
        <p:nvSpPr>
          <p:cNvPr id="903" name="Google Shape;903;p23"/>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Resource Allocation Strategies</a:t>
            </a:r>
            <a:endParaRPr sz="2700">
              <a:solidFill>
                <a:schemeClr val="dk1"/>
              </a:solidFill>
              <a:latin typeface="Calibri"/>
              <a:ea typeface="Calibri"/>
              <a:cs typeface="Calibri"/>
              <a:sym typeface="Calibri"/>
            </a:endParaRPr>
          </a:p>
        </p:txBody>
      </p:sp>
      <p:sp>
        <p:nvSpPr>
          <p:cNvPr id="904" name="Google Shape;904;p23"/>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905" name="Google Shape;905;p23"/>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14</a:t>
            </a:r>
            <a:endParaRPr sz="850">
              <a:solidFill>
                <a:schemeClr val="dk1"/>
              </a:solidFill>
              <a:latin typeface="Calibri"/>
              <a:ea typeface="Calibri"/>
              <a:cs typeface="Calibri"/>
              <a:sym typeface="Calibri"/>
            </a:endParaRPr>
          </a:p>
        </p:txBody>
      </p:sp>
      <p:sp>
        <p:nvSpPr>
          <p:cNvPr id="906" name="Google Shape;906;p23"/>
          <p:cNvSpPr/>
          <p:nvPr/>
        </p:nvSpPr>
        <p:spPr>
          <a:xfrm>
            <a:off x="2834640" y="1417320"/>
            <a:ext cx="8991295" cy="1051560"/>
          </a:xfrm>
          <a:prstGeom prst="roundRect">
            <a:avLst>
              <a:gd name="adj" fmla="val 6957"/>
            </a:avLst>
          </a:prstGeom>
          <a:solidFill>
            <a:srgbClr val="FFFFFF"/>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200"/>
          </a:p>
        </p:txBody>
      </p:sp>
      <p:sp>
        <p:nvSpPr>
          <p:cNvPr id="907" name="Google Shape;907;p23"/>
          <p:cNvSpPr/>
          <p:nvPr/>
        </p:nvSpPr>
        <p:spPr>
          <a:xfrm>
            <a:off x="3035808" y="1714500"/>
            <a:ext cx="457200" cy="457200"/>
          </a:xfrm>
          <a:prstGeom prst="ellipse">
            <a:avLst/>
          </a:prstGeom>
          <a:solidFill>
            <a:srgbClr val="1229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8" name="Google Shape;908;p23"/>
          <p:cNvSpPr/>
          <p:nvPr/>
        </p:nvSpPr>
        <p:spPr>
          <a:xfrm>
            <a:off x="3035808" y="1714500"/>
            <a:ext cx="45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2000" b="1">
                <a:solidFill>
                  <a:srgbClr val="FFFFFF"/>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909" name="Google Shape;909;p23"/>
          <p:cNvSpPr/>
          <p:nvPr/>
        </p:nvSpPr>
        <p:spPr>
          <a:xfrm>
            <a:off x="3657600" y="1508760"/>
            <a:ext cx="2103120"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200"/>
              <a:buFont typeface="Calibri"/>
              <a:buNone/>
            </a:pPr>
            <a:r>
              <a:rPr lang="en-US" sz="2000" b="1" dirty="0">
                <a:solidFill>
                  <a:srgbClr val="12294B"/>
                </a:solidFill>
                <a:latin typeface="Calibri"/>
                <a:ea typeface="Calibri"/>
                <a:cs typeface="Calibri"/>
                <a:sym typeface="Calibri"/>
              </a:rPr>
              <a:t>Static Allocation</a:t>
            </a:r>
            <a:endParaRPr sz="2000" dirty="0">
              <a:solidFill>
                <a:schemeClr val="dk1"/>
              </a:solidFill>
              <a:latin typeface="Calibri"/>
              <a:ea typeface="Calibri"/>
              <a:cs typeface="Calibri"/>
              <a:sym typeface="Calibri"/>
            </a:endParaRPr>
          </a:p>
        </p:txBody>
      </p:sp>
      <p:sp>
        <p:nvSpPr>
          <p:cNvPr id="910" name="Google Shape;910;p23"/>
          <p:cNvSpPr/>
          <p:nvPr/>
        </p:nvSpPr>
        <p:spPr>
          <a:xfrm>
            <a:off x="5852160" y="1508760"/>
            <a:ext cx="3840480"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600">
                <a:solidFill>
                  <a:srgbClr val="1A1A1A"/>
                </a:solidFill>
                <a:latin typeface="Calibri"/>
                <a:ea typeface="Calibri"/>
                <a:cs typeface="Calibri"/>
                <a:sym typeface="Calibri"/>
              </a:rPr>
              <a:t>Fixed executors/containers reserved for the job's whole lifetime</a:t>
            </a:r>
            <a:endParaRPr sz="1600">
              <a:solidFill>
                <a:schemeClr val="dk1"/>
              </a:solidFill>
              <a:latin typeface="Calibri"/>
              <a:ea typeface="Calibri"/>
              <a:cs typeface="Calibri"/>
              <a:sym typeface="Calibri"/>
            </a:endParaRPr>
          </a:p>
        </p:txBody>
      </p:sp>
      <p:sp>
        <p:nvSpPr>
          <p:cNvPr id="911" name="Google Shape;911;p23"/>
          <p:cNvSpPr/>
          <p:nvPr/>
        </p:nvSpPr>
        <p:spPr>
          <a:xfrm>
            <a:off x="9784080" y="1508760"/>
            <a:ext cx="2041855"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000"/>
              <a:buFont typeface="Calibri"/>
              <a:buNone/>
            </a:pPr>
            <a:r>
              <a:rPr lang="en-US" i="1">
                <a:solidFill>
                  <a:srgbClr val="1B7A78"/>
                </a:solidFill>
                <a:latin typeface="Calibri"/>
                <a:ea typeface="Calibri"/>
                <a:cs typeface="Calibri"/>
                <a:sym typeface="Calibri"/>
              </a:rPr>
              <a:t>Simple &amp; predictable; wastes idle resources</a:t>
            </a:r>
            <a:endParaRPr>
              <a:solidFill>
                <a:schemeClr val="dk1"/>
              </a:solidFill>
              <a:latin typeface="Calibri"/>
              <a:ea typeface="Calibri"/>
              <a:cs typeface="Calibri"/>
              <a:sym typeface="Calibri"/>
            </a:endParaRPr>
          </a:p>
        </p:txBody>
      </p:sp>
      <p:sp>
        <p:nvSpPr>
          <p:cNvPr id="912" name="Google Shape;912;p23"/>
          <p:cNvSpPr/>
          <p:nvPr/>
        </p:nvSpPr>
        <p:spPr>
          <a:xfrm>
            <a:off x="2834640" y="2587752"/>
            <a:ext cx="8991295" cy="1051560"/>
          </a:xfrm>
          <a:prstGeom prst="roundRect">
            <a:avLst>
              <a:gd name="adj" fmla="val 6957"/>
            </a:avLst>
          </a:prstGeom>
          <a:solidFill>
            <a:srgbClr val="FFFFFF"/>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200"/>
          </a:p>
        </p:txBody>
      </p:sp>
      <p:sp>
        <p:nvSpPr>
          <p:cNvPr id="913" name="Google Shape;913;p23"/>
          <p:cNvSpPr/>
          <p:nvPr/>
        </p:nvSpPr>
        <p:spPr>
          <a:xfrm>
            <a:off x="3035808" y="2884932"/>
            <a:ext cx="457200" cy="457200"/>
          </a:xfrm>
          <a:prstGeom prst="ellipse">
            <a:avLst/>
          </a:prstGeom>
          <a:solidFill>
            <a:srgbClr val="1B7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23"/>
          <p:cNvSpPr/>
          <p:nvPr/>
        </p:nvSpPr>
        <p:spPr>
          <a:xfrm>
            <a:off x="3035808" y="2884932"/>
            <a:ext cx="45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2000" b="1">
                <a:solidFill>
                  <a:srgbClr val="FFFFFF"/>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915" name="Google Shape;915;p23"/>
          <p:cNvSpPr/>
          <p:nvPr/>
        </p:nvSpPr>
        <p:spPr>
          <a:xfrm>
            <a:off x="3657600" y="2679192"/>
            <a:ext cx="2103120"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200"/>
              <a:buFont typeface="Calibri"/>
              <a:buNone/>
            </a:pPr>
            <a:r>
              <a:rPr lang="en-US" sz="2000" b="1" dirty="0">
                <a:solidFill>
                  <a:srgbClr val="12294B"/>
                </a:solidFill>
                <a:latin typeface="Calibri"/>
                <a:ea typeface="Calibri"/>
                <a:cs typeface="Calibri"/>
                <a:sym typeface="Calibri"/>
              </a:rPr>
              <a:t>Dynamic Allocation</a:t>
            </a:r>
            <a:endParaRPr sz="2000" dirty="0">
              <a:solidFill>
                <a:schemeClr val="dk1"/>
              </a:solidFill>
              <a:latin typeface="Calibri"/>
              <a:ea typeface="Calibri"/>
              <a:cs typeface="Calibri"/>
              <a:sym typeface="Calibri"/>
            </a:endParaRPr>
          </a:p>
        </p:txBody>
      </p:sp>
      <p:sp>
        <p:nvSpPr>
          <p:cNvPr id="916" name="Google Shape;916;p23"/>
          <p:cNvSpPr/>
          <p:nvPr/>
        </p:nvSpPr>
        <p:spPr>
          <a:xfrm>
            <a:off x="5852160" y="2679192"/>
            <a:ext cx="3840480"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600">
                <a:solidFill>
                  <a:srgbClr val="1A1A1A"/>
                </a:solidFill>
                <a:latin typeface="Calibri"/>
                <a:ea typeface="Calibri"/>
                <a:cs typeface="Calibri"/>
                <a:sym typeface="Calibri"/>
              </a:rPr>
              <a:t>Executors added/removed at runtime based on pending-task backlog</a:t>
            </a:r>
            <a:endParaRPr sz="1600">
              <a:solidFill>
                <a:schemeClr val="dk1"/>
              </a:solidFill>
              <a:latin typeface="Calibri"/>
              <a:ea typeface="Calibri"/>
              <a:cs typeface="Calibri"/>
              <a:sym typeface="Calibri"/>
            </a:endParaRPr>
          </a:p>
        </p:txBody>
      </p:sp>
      <p:sp>
        <p:nvSpPr>
          <p:cNvPr id="917" name="Google Shape;917;p23"/>
          <p:cNvSpPr/>
          <p:nvPr/>
        </p:nvSpPr>
        <p:spPr>
          <a:xfrm>
            <a:off x="9784080" y="2679192"/>
            <a:ext cx="2041855"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000"/>
              <a:buFont typeface="Calibri"/>
              <a:buNone/>
            </a:pPr>
            <a:r>
              <a:rPr lang="en-US" i="1">
                <a:solidFill>
                  <a:srgbClr val="1B7A78"/>
                </a:solidFill>
                <a:latin typeface="Calibri"/>
                <a:ea typeface="Calibri"/>
                <a:cs typeface="Calibri"/>
                <a:sym typeface="Calibri"/>
              </a:rPr>
              <a:t>Better utilization; adds scheduling overhead</a:t>
            </a:r>
            <a:endParaRPr>
              <a:solidFill>
                <a:schemeClr val="dk1"/>
              </a:solidFill>
              <a:latin typeface="Calibri"/>
              <a:ea typeface="Calibri"/>
              <a:cs typeface="Calibri"/>
              <a:sym typeface="Calibri"/>
            </a:endParaRPr>
          </a:p>
        </p:txBody>
      </p:sp>
      <p:sp>
        <p:nvSpPr>
          <p:cNvPr id="918" name="Google Shape;918;p23"/>
          <p:cNvSpPr/>
          <p:nvPr/>
        </p:nvSpPr>
        <p:spPr>
          <a:xfrm>
            <a:off x="2834640" y="3758184"/>
            <a:ext cx="8991295" cy="1051560"/>
          </a:xfrm>
          <a:prstGeom prst="roundRect">
            <a:avLst>
              <a:gd name="adj" fmla="val 6957"/>
            </a:avLst>
          </a:prstGeom>
          <a:solidFill>
            <a:srgbClr val="FFFFFF"/>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200"/>
          </a:p>
        </p:txBody>
      </p:sp>
      <p:sp>
        <p:nvSpPr>
          <p:cNvPr id="919" name="Google Shape;919;p23"/>
          <p:cNvSpPr/>
          <p:nvPr/>
        </p:nvSpPr>
        <p:spPr>
          <a:xfrm>
            <a:off x="3035808" y="4055364"/>
            <a:ext cx="457200" cy="45720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0" name="Google Shape;920;p23"/>
          <p:cNvSpPr/>
          <p:nvPr/>
        </p:nvSpPr>
        <p:spPr>
          <a:xfrm>
            <a:off x="3035808" y="4055364"/>
            <a:ext cx="45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2000" b="1">
                <a:solidFill>
                  <a:srgbClr val="FFFFFF"/>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921" name="Google Shape;921;p23"/>
          <p:cNvSpPr/>
          <p:nvPr/>
        </p:nvSpPr>
        <p:spPr>
          <a:xfrm>
            <a:off x="3657600" y="3849624"/>
            <a:ext cx="2103120"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200"/>
              <a:buFont typeface="Calibri"/>
              <a:buNone/>
            </a:pPr>
            <a:r>
              <a:rPr lang="en-US" sz="2000" b="1">
                <a:solidFill>
                  <a:srgbClr val="12294B"/>
                </a:solidFill>
                <a:latin typeface="Calibri"/>
                <a:ea typeface="Calibri"/>
                <a:cs typeface="Calibri"/>
                <a:sym typeface="Calibri"/>
              </a:rPr>
              <a:t>Container-Based (YARN/K8s)</a:t>
            </a:r>
            <a:endParaRPr sz="2000">
              <a:solidFill>
                <a:schemeClr val="dk1"/>
              </a:solidFill>
              <a:latin typeface="Calibri"/>
              <a:ea typeface="Calibri"/>
              <a:cs typeface="Calibri"/>
              <a:sym typeface="Calibri"/>
            </a:endParaRPr>
          </a:p>
        </p:txBody>
      </p:sp>
      <p:sp>
        <p:nvSpPr>
          <p:cNvPr id="922" name="Google Shape;922;p23"/>
          <p:cNvSpPr/>
          <p:nvPr/>
        </p:nvSpPr>
        <p:spPr>
          <a:xfrm>
            <a:off x="5852160" y="3849624"/>
            <a:ext cx="3840480"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600">
                <a:solidFill>
                  <a:srgbClr val="1A1A1A"/>
                </a:solidFill>
                <a:latin typeface="Calibri"/>
                <a:ea typeface="Calibri"/>
                <a:cs typeface="Calibri"/>
                <a:sym typeface="Calibri"/>
              </a:rPr>
              <a:t>Resources granted as discrete containers/pods with fixed bounds</a:t>
            </a:r>
            <a:endParaRPr sz="1600">
              <a:solidFill>
                <a:schemeClr val="dk1"/>
              </a:solidFill>
              <a:latin typeface="Calibri"/>
              <a:ea typeface="Calibri"/>
              <a:cs typeface="Calibri"/>
              <a:sym typeface="Calibri"/>
            </a:endParaRPr>
          </a:p>
        </p:txBody>
      </p:sp>
      <p:sp>
        <p:nvSpPr>
          <p:cNvPr id="923" name="Google Shape;923;p23"/>
          <p:cNvSpPr/>
          <p:nvPr/>
        </p:nvSpPr>
        <p:spPr>
          <a:xfrm>
            <a:off x="9784080" y="3849624"/>
            <a:ext cx="2041855"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000"/>
              <a:buFont typeface="Calibri"/>
              <a:buNone/>
            </a:pPr>
            <a:r>
              <a:rPr lang="en-US" i="1">
                <a:solidFill>
                  <a:srgbClr val="1B7A78"/>
                </a:solidFill>
                <a:latin typeface="Calibri"/>
                <a:ea typeface="Calibri"/>
                <a:cs typeface="Calibri"/>
                <a:sym typeface="Calibri"/>
              </a:rPr>
              <a:t>Strong isolation; needs accurate sizing</a:t>
            </a:r>
            <a:endParaRPr>
              <a:solidFill>
                <a:schemeClr val="dk1"/>
              </a:solidFill>
              <a:latin typeface="Calibri"/>
              <a:ea typeface="Calibri"/>
              <a:cs typeface="Calibri"/>
              <a:sym typeface="Calibri"/>
            </a:endParaRPr>
          </a:p>
        </p:txBody>
      </p:sp>
      <p:sp>
        <p:nvSpPr>
          <p:cNvPr id="924" name="Google Shape;924;p23"/>
          <p:cNvSpPr/>
          <p:nvPr/>
        </p:nvSpPr>
        <p:spPr>
          <a:xfrm>
            <a:off x="2834640" y="4928616"/>
            <a:ext cx="8991295" cy="1051560"/>
          </a:xfrm>
          <a:prstGeom prst="roundRect">
            <a:avLst>
              <a:gd name="adj" fmla="val 6957"/>
            </a:avLst>
          </a:prstGeom>
          <a:solidFill>
            <a:srgbClr val="FFFFFF"/>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200"/>
          </a:p>
        </p:txBody>
      </p:sp>
      <p:sp>
        <p:nvSpPr>
          <p:cNvPr id="925" name="Google Shape;925;p23"/>
          <p:cNvSpPr/>
          <p:nvPr/>
        </p:nvSpPr>
        <p:spPr>
          <a:xfrm>
            <a:off x="3035808" y="5225796"/>
            <a:ext cx="457200" cy="457200"/>
          </a:xfrm>
          <a:prstGeom prst="ellipse">
            <a:avLst/>
          </a:prstGeom>
          <a:solidFill>
            <a:srgbClr val="6E4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6" name="Google Shape;926;p23"/>
          <p:cNvSpPr/>
          <p:nvPr/>
        </p:nvSpPr>
        <p:spPr>
          <a:xfrm>
            <a:off x="3035808" y="5225796"/>
            <a:ext cx="45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2000" b="1">
                <a:solidFill>
                  <a:srgbClr val="FFFFFF"/>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927" name="Google Shape;927;p23"/>
          <p:cNvSpPr/>
          <p:nvPr/>
        </p:nvSpPr>
        <p:spPr>
          <a:xfrm>
            <a:off x="3657600" y="5020056"/>
            <a:ext cx="2103120"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200"/>
              <a:buFont typeface="Calibri"/>
              <a:buNone/>
            </a:pPr>
            <a:r>
              <a:rPr lang="en-US" sz="2000" b="1">
                <a:solidFill>
                  <a:srgbClr val="12294B"/>
                </a:solidFill>
                <a:latin typeface="Calibri"/>
                <a:ea typeface="Calibri"/>
                <a:cs typeface="Calibri"/>
                <a:sym typeface="Calibri"/>
              </a:rPr>
              <a:t>Preemption</a:t>
            </a:r>
            <a:endParaRPr sz="2000">
              <a:solidFill>
                <a:schemeClr val="dk1"/>
              </a:solidFill>
              <a:latin typeface="Calibri"/>
              <a:ea typeface="Calibri"/>
              <a:cs typeface="Calibri"/>
              <a:sym typeface="Calibri"/>
            </a:endParaRPr>
          </a:p>
        </p:txBody>
      </p:sp>
      <p:sp>
        <p:nvSpPr>
          <p:cNvPr id="928" name="Google Shape;928;p23"/>
          <p:cNvSpPr/>
          <p:nvPr/>
        </p:nvSpPr>
        <p:spPr>
          <a:xfrm>
            <a:off x="5852160" y="5020056"/>
            <a:ext cx="3840480"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600">
                <a:solidFill>
                  <a:srgbClr val="1A1A1A"/>
                </a:solidFill>
                <a:latin typeface="Calibri"/>
                <a:ea typeface="Calibri"/>
                <a:cs typeface="Calibri"/>
                <a:sym typeface="Calibri"/>
              </a:rPr>
              <a:t>Scheduler reclaims resources from low- to satisfy high-priority jobs</a:t>
            </a:r>
            <a:endParaRPr sz="1600">
              <a:solidFill>
                <a:schemeClr val="dk1"/>
              </a:solidFill>
              <a:latin typeface="Calibri"/>
              <a:ea typeface="Calibri"/>
              <a:cs typeface="Calibri"/>
              <a:sym typeface="Calibri"/>
            </a:endParaRPr>
          </a:p>
        </p:txBody>
      </p:sp>
      <p:sp>
        <p:nvSpPr>
          <p:cNvPr id="929" name="Google Shape;929;p23"/>
          <p:cNvSpPr/>
          <p:nvPr/>
        </p:nvSpPr>
        <p:spPr>
          <a:xfrm>
            <a:off x="9784080" y="5020056"/>
            <a:ext cx="2041855"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000"/>
              <a:buFont typeface="Calibri"/>
              <a:buNone/>
            </a:pPr>
            <a:r>
              <a:rPr lang="en-US" i="1">
                <a:solidFill>
                  <a:srgbClr val="1B7A78"/>
                </a:solidFill>
                <a:latin typeface="Calibri"/>
                <a:ea typeface="Calibri"/>
                <a:cs typeface="Calibri"/>
                <a:sym typeface="Calibri"/>
              </a:rPr>
              <a:t>Better SLA compliance; wastes unprogressed/uncheckpointed work</a:t>
            </a:r>
            <a:endParaRPr>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4"/>
        <p:cNvGrpSpPr/>
        <p:nvPr/>
      </p:nvGrpSpPr>
      <p:grpSpPr>
        <a:xfrm>
          <a:off x="0" y="0"/>
          <a:ext cx="0" cy="0"/>
          <a:chOff x="0" y="0"/>
          <a:chExt cx="0" cy="0"/>
        </a:xfrm>
      </p:grpSpPr>
      <p:sp>
        <p:nvSpPr>
          <p:cNvPr id="935" name="Google Shape;935;p24"/>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4"/>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937" name="Google Shape;937;p24"/>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938" name="Google Shape;938;p24"/>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939" name="Google Shape;939;p24"/>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940" name="Google Shape;940;p24"/>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941" name="Google Shape;941;p24"/>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942" name="Google Shape;942;p24"/>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943" name="Google Shape;943;p24"/>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944" name="Google Shape;944;p24"/>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945" name="Google Shape;945;p24"/>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946" name="Google Shape;946;p24"/>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947" name="Google Shape;947;p24"/>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948" name="Google Shape;948;p24"/>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949" name="Google Shape;949;p24"/>
          <p:cNvSpPr/>
          <p:nvPr/>
        </p:nvSpPr>
        <p:spPr>
          <a:xfrm>
            <a:off x="109728" y="4137660"/>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4"/>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951" name="Google Shape;951;p24"/>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952" name="Google Shape;952;p24"/>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953" name="Google Shape;953;p24"/>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954" name="Google Shape;954;p24"/>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955" name="Google Shape;955;p24"/>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956" name="Google Shape;956;p24"/>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957" name="Google Shape;957;p24"/>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958" name="Google Shape;958;p24"/>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3.6 LOAD BALANCING</a:t>
            </a:r>
            <a:endParaRPr sz="1200">
              <a:solidFill>
                <a:schemeClr val="dk1"/>
              </a:solidFill>
              <a:latin typeface="Calibri"/>
              <a:ea typeface="Calibri"/>
              <a:cs typeface="Calibri"/>
              <a:sym typeface="Calibri"/>
            </a:endParaRPr>
          </a:p>
        </p:txBody>
      </p:sp>
      <p:sp>
        <p:nvSpPr>
          <p:cNvPr id="959" name="Google Shape;959;p24"/>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Static vs Dynamic Load Balancing</a:t>
            </a:r>
            <a:endParaRPr sz="2700">
              <a:solidFill>
                <a:schemeClr val="dk1"/>
              </a:solidFill>
              <a:latin typeface="Calibri"/>
              <a:ea typeface="Calibri"/>
              <a:cs typeface="Calibri"/>
              <a:sym typeface="Calibri"/>
            </a:endParaRPr>
          </a:p>
        </p:txBody>
      </p:sp>
      <p:sp>
        <p:nvSpPr>
          <p:cNvPr id="960" name="Google Shape;960;p24"/>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961" name="Google Shape;961;p24"/>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15</a:t>
            </a:r>
            <a:endParaRPr sz="850">
              <a:solidFill>
                <a:schemeClr val="dk1"/>
              </a:solidFill>
              <a:latin typeface="Calibri"/>
              <a:ea typeface="Calibri"/>
              <a:cs typeface="Calibri"/>
              <a:sym typeface="Calibri"/>
            </a:endParaRPr>
          </a:p>
        </p:txBody>
      </p:sp>
      <p:sp>
        <p:nvSpPr>
          <p:cNvPr id="962" name="Google Shape;962;p24"/>
          <p:cNvSpPr/>
          <p:nvPr/>
        </p:nvSpPr>
        <p:spPr>
          <a:xfrm>
            <a:off x="2834640" y="1371600"/>
            <a:ext cx="4312768" cy="1828800"/>
          </a:xfrm>
          <a:prstGeom prst="roundRect">
            <a:avLst>
              <a:gd name="adj" fmla="val 4000"/>
            </a:avLst>
          </a:prstGeom>
          <a:solidFill>
            <a:srgbClr val="EAF1FB"/>
          </a:solidFill>
          <a:ln w="12700" cap="flat" cmpd="sng">
            <a:solidFill>
              <a:srgbClr val="12294B"/>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4"/>
          <p:cNvSpPr/>
          <p:nvPr/>
        </p:nvSpPr>
        <p:spPr>
          <a:xfrm>
            <a:off x="2834640" y="1463040"/>
            <a:ext cx="4312768"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2294B"/>
              </a:buClr>
              <a:buSzPts val="1300"/>
              <a:buFont typeface="Calibri"/>
              <a:buNone/>
            </a:pPr>
            <a:r>
              <a:rPr lang="en-US" sz="1300" b="1">
                <a:solidFill>
                  <a:srgbClr val="12294B"/>
                </a:solidFill>
                <a:latin typeface="Calibri"/>
                <a:ea typeface="Calibri"/>
                <a:cs typeface="Calibri"/>
                <a:sym typeface="Calibri"/>
              </a:rPr>
              <a:t>STATIC</a:t>
            </a:r>
            <a:endParaRPr sz="1300">
              <a:solidFill>
                <a:schemeClr val="dk1"/>
              </a:solidFill>
              <a:latin typeface="Calibri"/>
              <a:ea typeface="Calibri"/>
              <a:cs typeface="Calibri"/>
              <a:sym typeface="Calibri"/>
            </a:endParaRPr>
          </a:p>
        </p:txBody>
      </p:sp>
      <p:sp>
        <p:nvSpPr>
          <p:cNvPr id="964" name="Google Shape;964;p24"/>
          <p:cNvSpPr/>
          <p:nvPr/>
        </p:nvSpPr>
        <p:spPr>
          <a:xfrm>
            <a:off x="3017520" y="1828800"/>
            <a:ext cx="3947008" cy="1280160"/>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1A1A1A"/>
              </a:buClr>
              <a:buSzPts val="1050"/>
              <a:buFont typeface="Calibri"/>
              <a:buChar char="▪"/>
            </a:pPr>
            <a:r>
              <a:rPr lang="en-US" sz="1050">
                <a:solidFill>
                  <a:srgbClr val="1A1A1A"/>
                </a:solidFill>
                <a:latin typeface="Calibri"/>
                <a:ea typeface="Calibri"/>
                <a:cs typeface="Calibri"/>
                <a:sym typeface="Calibri"/>
              </a:rPr>
              <a:t>Work assigned BEFORE execution, per a fixed plan</a:t>
            </a:r>
            <a:endParaRPr sz="1050">
              <a:solidFill>
                <a:schemeClr val="dk1"/>
              </a:solidFill>
              <a:latin typeface="Calibri"/>
              <a:ea typeface="Calibri"/>
              <a:cs typeface="Calibri"/>
              <a:sym typeface="Calibri"/>
            </a:endParaRPr>
          </a:p>
          <a:p>
            <a:pPr marL="203200" marR="0" lvl="0" indent="-203200" algn="l" rtl="0">
              <a:lnSpc>
                <a:spcPct val="108000"/>
              </a:lnSpc>
              <a:spcBef>
                <a:spcPts val="600"/>
              </a:spcBef>
              <a:spcAft>
                <a:spcPts val="0"/>
              </a:spcAft>
              <a:buClr>
                <a:srgbClr val="1A1A1A"/>
              </a:buClr>
              <a:buSzPts val="1050"/>
              <a:buFont typeface="Calibri"/>
              <a:buChar char="▪"/>
            </a:pPr>
            <a:r>
              <a:rPr lang="en-US" sz="1050">
                <a:solidFill>
                  <a:srgbClr val="1A1A1A"/>
                </a:solidFill>
                <a:latin typeface="Calibri"/>
                <a:ea typeface="Calibri"/>
                <a:cs typeface="Calibri"/>
                <a:sym typeface="Calibri"/>
              </a:rPr>
              <a:t>Cannot react to skew or slow nodes</a:t>
            </a:r>
            <a:endParaRPr sz="1050">
              <a:solidFill>
                <a:schemeClr val="dk1"/>
              </a:solidFill>
              <a:latin typeface="Calibri"/>
              <a:ea typeface="Calibri"/>
              <a:cs typeface="Calibri"/>
              <a:sym typeface="Calibri"/>
            </a:endParaRPr>
          </a:p>
          <a:p>
            <a:pPr marL="203200" marR="0" lvl="0" indent="-203200" algn="l" rtl="0">
              <a:lnSpc>
                <a:spcPct val="108000"/>
              </a:lnSpc>
              <a:spcBef>
                <a:spcPts val="600"/>
              </a:spcBef>
              <a:spcAft>
                <a:spcPts val="0"/>
              </a:spcAft>
              <a:buClr>
                <a:srgbClr val="1A1A1A"/>
              </a:buClr>
              <a:buSzPts val="1050"/>
              <a:buFont typeface="Calibri"/>
              <a:buChar char="▪"/>
            </a:pPr>
            <a:r>
              <a:rPr lang="en-US" sz="1050">
                <a:solidFill>
                  <a:srgbClr val="1A1A1A"/>
                </a:solidFill>
                <a:latin typeface="Calibri"/>
                <a:ea typeface="Calibri"/>
                <a:cs typeface="Calibri"/>
                <a:sym typeface="Calibri"/>
              </a:rPr>
              <a:t>Zero runtime overhead</a:t>
            </a:r>
            <a:endParaRPr sz="1050">
              <a:solidFill>
                <a:schemeClr val="dk1"/>
              </a:solidFill>
              <a:latin typeface="Calibri"/>
              <a:ea typeface="Calibri"/>
              <a:cs typeface="Calibri"/>
              <a:sym typeface="Calibri"/>
            </a:endParaRPr>
          </a:p>
        </p:txBody>
      </p:sp>
      <p:sp>
        <p:nvSpPr>
          <p:cNvPr id="965" name="Google Shape;965;p24"/>
          <p:cNvSpPr/>
          <p:nvPr/>
        </p:nvSpPr>
        <p:spPr>
          <a:xfrm>
            <a:off x="7513168" y="1371600"/>
            <a:ext cx="4312768" cy="1828800"/>
          </a:xfrm>
          <a:prstGeom prst="roundRect">
            <a:avLst>
              <a:gd name="adj" fmla="val 4000"/>
            </a:avLst>
          </a:prstGeom>
          <a:solidFill>
            <a:srgbClr val="FBF1E0"/>
          </a:solidFill>
          <a:ln w="12700" cap="flat" cmpd="sng">
            <a:solidFill>
              <a:srgbClr val="D9A441"/>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4"/>
          <p:cNvSpPr/>
          <p:nvPr/>
        </p:nvSpPr>
        <p:spPr>
          <a:xfrm>
            <a:off x="7513168" y="1463040"/>
            <a:ext cx="4312768"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5E15"/>
              </a:buClr>
              <a:buSzPts val="1300"/>
              <a:buFont typeface="Calibri"/>
              <a:buNone/>
            </a:pPr>
            <a:r>
              <a:rPr lang="en-US" sz="1300" b="1">
                <a:solidFill>
                  <a:srgbClr val="8A5E15"/>
                </a:solidFill>
                <a:latin typeface="Calibri"/>
                <a:ea typeface="Calibri"/>
                <a:cs typeface="Calibri"/>
                <a:sym typeface="Calibri"/>
              </a:rPr>
              <a:t>DYNAMIC</a:t>
            </a:r>
            <a:endParaRPr sz="1300">
              <a:solidFill>
                <a:schemeClr val="dk1"/>
              </a:solidFill>
              <a:latin typeface="Calibri"/>
              <a:ea typeface="Calibri"/>
              <a:cs typeface="Calibri"/>
              <a:sym typeface="Calibri"/>
            </a:endParaRPr>
          </a:p>
        </p:txBody>
      </p:sp>
      <p:sp>
        <p:nvSpPr>
          <p:cNvPr id="967" name="Google Shape;967;p24"/>
          <p:cNvSpPr/>
          <p:nvPr/>
        </p:nvSpPr>
        <p:spPr>
          <a:xfrm>
            <a:off x="7696048" y="1828800"/>
            <a:ext cx="3947008" cy="1280160"/>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1A1A1A"/>
              </a:buClr>
              <a:buSzPts val="1050"/>
              <a:buFont typeface="Calibri"/>
              <a:buChar char="▪"/>
            </a:pPr>
            <a:r>
              <a:rPr lang="en-US" sz="1050">
                <a:solidFill>
                  <a:srgbClr val="1A1A1A"/>
                </a:solidFill>
                <a:latin typeface="Calibri"/>
                <a:ea typeface="Calibri"/>
                <a:cs typeface="Calibri"/>
                <a:sym typeface="Calibri"/>
              </a:rPr>
              <a:t>Work assigned/reassigned DURING execution</a:t>
            </a:r>
            <a:endParaRPr sz="1050">
              <a:solidFill>
                <a:schemeClr val="dk1"/>
              </a:solidFill>
              <a:latin typeface="Calibri"/>
              <a:ea typeface="Calibri"/>
              <a:cs typeface="Calibri"/>
              <a:sym typeface="Calibri"/>
            </a:endParaRPr>
          </a:p>
          <a:p>
            <a:pPr marL="203200" marR="0" lvl="0" indent="-203200" algn="l" rtl="0">
              <a:lnSpc>
                <a:spcPct val="108000"/>
              </a:lnSpc>
              <a:spcBef>
                <a:spcPts val="600"/>
              </a:spcBef>
              <a:spcAft>
                <a:spcPts val="0"/>
              </a:spcAft>
              <a:buClr>
                <a:srgbClr val="1A1A1A"/>
              </a:buClr>
              <a:buSzPts val="1050"/>
              <a:buFont typeface="Calibri"/>
              <a:buChar char="▪"/>
            </a:pPr>
            <a:r>
              <a:rPr lang="en-US" sz="1050">
                <a:solidFill>
                  <a:srgbClr val="1A1A1A"/>
                </a:solidFill>
                <a:latin typeface="Calibri"/>
                <a:ea typeface="Calibri"/>
                <a:cs typeface="Calibri"/>
                <a:sym typeface="Calibri"/>
              </a:rPr>
              <a:t>Reacts in real time to skew &amp; stragglers</a:t>
            </a:r>
            <a:endParaRPr sz="1050">
              <a:solidFill>
                <a:schemeClr val="dk1"/>
              </a:solidFill>
              <a:latin typeface="Calibri"/>
              <a:ea typeface="Calibri"/>
              <a:cs typeface="Calibri"/>
              <a:sym typeface="Calibri"/>
            </a:endParaRPr>
          </a:p>
          <a:p>
            <a:pPr marL="203200" marR="0" lvl="0" indent="-203200" algn="l" rtl="0">
              <a:lnSpc>
                <a:spcPct val="108000"/>
              </a:lnSpc>
              <a:spcBef>
                <a:spcPts val="600"/>
              </a:spcBef>
              <a:spcAft>
                <a:spcPts val="0"/>
              </a:spcAft>
              <a:buClr>
                <a:srgbClr val="1A1A1A"/>
              </a:buClr>
              <a:buSzPts val="1050"/>
              <a:buFont typeface="Calibri"/>
              <a:buChar char="▪"/>
            </a:pPr>
            <a:r>
              <a:rPr lang="en-US" sz="1050">
                <a:solidFill>
                  <a:srgbClr val="1A1A1A"/>
                </a:solidFill>
                <a:latin typeface="Calibri"/>
                <a:ea typeface="Calibri"/>
                <a:cs typeface="Calibri"/>
                <a:sym typeface="Calibri"/>
              </a:rPr>
              <a:t>Continuous monitoring overhead</a:t>
            </a:r>
            <a:endParaRPr sz="1050">
              <a:solidFill>
                <a:schemeClr val="dk1"/>
              </a:solidFill>
              <a:latin typeface="Calibri"/>
              <a:ea typeface="Calibri"/>
              <a:cs typeface="Calibri"/>
              <a:sym typeface="Calibri"/>
            </a:endParaRPr>
          </a:p>
        </p:txBody>
      </p:sp>
      <p:sp>
        <p:nvSpPr>
          <p:cNvPr id="968" name="Google Shape;968;p24"/>
          <p:cNvSpPr/>
          <p:nvPr/>
        </p:nvSpPr>
        <p:spPr>
          <a:xfrm>
            <a:off x="2834640" y="338328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300"/>
              <a:buFont typeface="Calibri"/>
              <a:buNone/>
            </a:pPr>
            <a:r>
              <a:rPr lang="en-US" sz="1300" b="1">
                <a:solidFill>
                  <a:srgbClr val="12294B"/>
                </a:solidFill>
                <a:latin typeface="Calibri"/>
                <a:ea typeface="Calibri"/>
                <a:cs typeface="Calibri"/>
                <a:sym typeface="Calibri"/>
              </a:rPr>
              <a:t>Speculative Execution — dynamic balancing in action</a:t>
            </a:r>
            <a:endParaRPr sz="1300">
              <a:solidFill>
                <a:schemeClr val="dk1"/>
              </a:solidFill>
              <a:latin typeface="Calibri"/>
              <a:ea typeface="Calibri"/>
              <a:cs typeface="Calibri"/>
              <a:sym typeface="Calibri"/>
            </a:endParaRPr>
          </a:p>
        </p:txBody>
      </p:sp>
      <p:sp>
        <p:nvSpPr>
          <p:cNvPr id="969" name="Google Shape;969;p24"/>
          <p:cNvSpPr/>
          <p:nvPr/>
        </p:nvSpPr>
        <p:spPr>
          <a:xfrm>
            <a:off x="2834640" y="3749040"/>
            <a:ext cx="2814218" cy="914400"/>
          </a:xfrm>
          <a:prstGeom prst="roundRect">
            <a:avLst>
              <a:gd name="adj" fmla="val 8000"/>
            </a:avLst>
          </a:prstGeom>
          <a:solidFill>
            <a:srgbClr val="1D3A66"/>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4"/>
          <p:cNvSpPr/>
          <p:nvPr/>
        </p:nvSpPr>
        <p:spPr>
          <a:xfrm>
            <a:off x="2834640" y="3749040"/>
            <a:ext cx="2814218"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Task on</a:t>
            </a:r>
            <a:endParaRPr sz="10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Node A</a:t>
            </a:r>
            <a:endParaRPr sz="10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(slow)</a:t>
            </a:r>
            <a:endParaRPr sz="1050">
              <a:solidFill>
                <a:schemeClr val="dk1"/>
              </a:solidFill>
              <a:latin typeface="Calibri"/>
              <a:ea typeface="Calibri"/>
              <a:cs typeface="Calibri"/>
              <a:sym typeface="Calibri"/>
            </a:endParaRPr>
          </a:p>
        </p:txBody>
      </p:sp>
      <p:sp>
        <p:nvSpPr>
          <p:cNvPr id="971" name="Google Shape;971;p24"/>
          <p:cNvSpPr/>
          <p:nvPr/>
        </p:nvSpPr>
        <p:spPr>
          <a:xfrm>
            <a:off x="5676290" y="4114800"/>
            <a:ext cx="219456" cy="164592"/>
          </a:xfrm>
          <a:prstGeom prst="rightArrow">
            <a:avLst>
              <a:gd name="adj1" fmla="val 50000"/>
              <a:gd name="adj2" fmla="val 50000"/>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4"/>
          <p:cNvSpPr/>
          <p:nvPr/>
        </p:nvSpPr>
        <p:spPr>
          <a:xfrm>
            <a:off x="5923178" y="3749040"/>
            <a:ext cx="2814218" cy="914400"/>
          </a:xfrm>
          <a:prstGeom prst="roundRect">
            <a:avLst>
              <a:gd name="adj" fmla="val 8000"/>
            </a:avLst>
          </a:prstGeom>
          <a:solidFill>
            <a:srgbClr val="1D3A66"/>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4"/>
          <p:cNvSpPr/>
          <p:nvPr/>
        </p:nvSpPr>
        <p:spPr>
          <a:xfrm>
            <a:off x="5923178" y="3749040"/>
            <a:ext cx="2814218"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Duplicate</a:t>
            </a:r>
            <a:endParaRPr sz="10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launched on</a:t>
            </a:r>
            <a:endParaRPr sz="10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Node B</a:t>
            </a:r>
            <a:endParaRPr sz="1050">
              <a:solidFill>
                <a:schemeClr val="dk1"/>
              </a:solidFill>
              <a:latin typeface="Calibri"/>
              <a:ea typeface="Calibri"/>
              <a:cs typeface="Calibri"/>
              <a:sym typeface="Calibri"/>
            </a:endParaRPr>
          </a:p>
        </p:txBody>
      </p:sp>
      <p:sp>
        <p:nvSpPr>
          <p:cNvPr id="974" name="Google Shape;974;p24"/>
          <p:cNvSpPr/>
          <p:nvPr/>
        </p:nvSpPr>
        <p:spPr>
          <a:xfrm>
            <a:off x="8764829" y="4114800"/>
            <a:ext cx="219456" cy="164592"/>
          </a:xfrm>
          <a:prstGeom prst="rightArrow">
            <a:avLst>
              <a:gd name="adj1" fmla="val 50000"/>
              <a:gd name="adj2" fmla="val 50000"/>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4"/>
          <p:cNvSpPr/>
          <p:nvPr/>
        </p:nvSpPr>
        <p:spPr>
          <a:xfrm>
            <a:off x="9011717" y="3749040"/>
            <a:ext cx="2814218" cy="914400"/>
          </a:xfrm>
          <a:prstGeom prst="roundRect">
            <a:avLst>
              <a:gd name="adj" fmla="val 8000"/>
            </a:avLst>
          </a:prstGeom>
          <a:solidFill>
            <a:srgbClr val="1B7A78"/>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4"/>
          <p:cNvSpPr/>
          <p:nvPr/>
        </p:nvSpPr>
        <p:spPr>
          <a:xfrm>
            <a:off x="9011717" y="3749040"/>
            <a:ext cx="2814218"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First to finish</a:t>
            </a:r>
            <a:endParaRPr sz="10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WINS; other</a:t>
            </a:r>
            <a:endParaRPr sz="105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killed</a:t>
            </a:r>
            <a:endParaRPr sz="1050">
              <a:solidFill>
                <a:schemeClr val="dk1"/>
              </a:solidFill>
              <a:latin typeface="Calibri"/>
              <a:ea typeface="Calibri"/>
              <a:cs typeface="Calibri"/>
              <a:sym typeface="Calibri"/>
            </a:endParaRPr>
          </a:p>
        </p:txBody>
      </p:sp>
      <p:sp>
        <p:nvSpPr>
          <p:cNvPr id="977" name="Google Shape;977;p24"/>
          <p:cNvSpPr/>
          <p:nvPr/>
        </p:nvSpPr>
        <p:spPr>
          <a:xfrm>
            <a:off x="2834640" y="4892040"/>
            <a:ext cx="8991295" cy="1188720"/>
          </a:xfrm>
          <a:prstGeom prst="roundRect">
            <a:avLst>
              <a:gd name="adj" fmla="val 6154"/>
            </a:avLst>
          </a:prstGeom>
          <a:solidFill>
            <a:srgbClr val="0A1830"/>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4"/>
          <p:cNvSpPr/>
          <p:nvPr/>
        </p:nvSpPr>
        <p:spPr>
          <a:xfrm>
            <a:off x="3017520" y="4956048"/>
            <a:ext cx="8625535" cy="10515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7E6FF"/>
              </a:buClr>
              <a:buSzPts val="1050"/>
              <a:buFont typeface="Courier New"/>
              <a:buNone/>
            </a:pPr>
            <a:r>
              <a:rPr lang="en-US" sz="1050">
                <a:solidFill>
                  <a:srgbClr val="D7E6FF"/>
                </a:solidFill>
                <a:latin typeface="Courier New"/>
                <a:ea typeface="Courier New"/>
                <a:cs typeface="Courier New"/>
                <a:sym typeface="Courier New"/>
              </a:rPr>
              <a:t>spark.speculation = true</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D7E6FF"/>
              </a:buClr>
              <a:buSzPts val="1050"/>
              <a:buFont typeface="Courier New"/>
              <a:buNone/>
            </a:pPr>
            <a:r>
              <a:rPr lang="en-US" sz="1050">
                <a:solidFill>
                  <a:srgbClr val="D7E6FF"/>
                </a:solidFill>
                <a:latin typeface="Courier New"/>
                <a:ea typeface="Courier New"/>
                <a:cs typeface="Courier New"/>
                <a:sym typeface="Courier New"/>
              </a:rPr>
              <a:t>spark.speculation.multiplier = 1.5   // flag if 1.5x slower than peers</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D7E6FF"/>
              </a:buClr>
              <a:buSzPts val="1050"/>
              <a:buFont typeface="Courier New"/>
              <a:buNone/>
            </a:pPr>
            <a:r>
              <a:rPr lang="en-US" sz="1050">
                <a:solidFill>
                  <a:srgbClr val="D7E6FF"/>
                </a:solidFill>
                <a:latin typeface="Courier New"/>
                <a:ea typeface="Courier New"/>
                <a:cs typeface="Courier New"/>
                <a:sym typeface="Courier New"/>
              </a:rPr>
              <a:t>spark.speculation.quantile   = 0.75  // ...after 75% of stage tasks finish</a:t>
            </a:r>
            <a:endParaRPr sz="105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3"/>
        <p:cNvGrpSpPr/>
        <p:nvPr/>
      </p:nvGrpSpPr>
      <p:grpSpPr>
        <a:xfrm>
          <a:off x="0" y="0"/>
          <a:ext cx="0" cy="0"/>
          <a:chOff x="0" y="0"/>
          <a:chExt cx="0" cy="0"/>
        </a:xfrm>
      </p:grpSpPr>
      <p:sp>
        <p:nvSpPr>
          <p:cNvPr id="984" name="Google Shape;984;p25"/>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5"/>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986" name="Google Shape;986;p25"/>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987" name="Google Shape;987;p25"/>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988" name="Google Shape;988;p25"/>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989" name="Google Shape;989;p25"/>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990" name="Google Shape;990;p25"/>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991" name="Google Shape;991;p25"/>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992" name="Google Shape;992;p25"/>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993" name="Google Shape;993;p25"/>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994" name="Google Shape;994;p25"/>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995" name="Google Shape;995;p25"/>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996" name="Google Shape;996;p25"/>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997" name="Google Shape;997;p25"/>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998" name="Google Shape;998;p25"/>
          <p:cNvSpPr/>
          <p:nvPr/>
        </p:nvSpPr>
        <p:spPr>
          <a:xfrm>
            <a:off x="109728" y="4137660"/>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5"/>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1000" name="Google Shape;1000;p25"/>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1001" name="Google Shape;1001;p25"/>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1002" name="Google Shape;1002;p25"/>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1003" name="Google Shape;1003;p25"/>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1004" name="Google Shape;1004;p25"/>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1005" name="Google Shape;1005;p25"/>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1006" name="Google Shape;1006;p25"/>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1007" name="Google Shape;1007;p25"/>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3.6 LOAD BALANCING</a:t>
            </a:r>
            <a:endParaRPr sz="1200">
              <a:solidFill>
                <a:schemeClr val="dk1"/>
              </a:solidFill>
              <a:latin typeface="Calibri"/>
              <a:ea typeface="Calibri"/>
              <a:cs typeface="Calibri"/>
              <a:sym typeface="Calibri"/>
            </a:endParaRPr>
          </a:p>
        </p:txBody>
      </p:sp>
      <p:sp>
        <p:nvSpPr>
          <p:cNvPr id="1008" name="Google Shape;1008;p25"/>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Data Skew — Mitigation Strategies</a:t>
            </a:r>
            <a:endParaRPr sz="2700">
              <a:solidFill>
                <a:schemeClr val="dk1"/>
              </a:solidFill>
              <a:latin typeface="Calibri"/>
              <a:ea typeface="Calibri"/>
              <a:cs typeface="Calibri"/>
              <a:sym typeface="Calibri"/>
            </a:endParaRPr>
          </a:p>
        </p:txBody>
      </p:sp>
      <p:sp>
        <p:nvSpPr>
          <p:cNvPr id="1009" name="Google Shape;1009;p25"/>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1010" name="Google Shape;1010;p25"/>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16</a:t>
            </a:r>
            <a:endParaRPr sz="850">
              <a:solidFill>
                <a:schemeClr val="dk1"/>
              </a:solidFill>
              <a:latin typeface="Calibri"/>
              <a:ea typeface="Calibri"/>
              <a:cs typeface="Calibri"/>
              <a:sym typeface="Calibri"/>
            </a:endParaRPr>
          </a:p>
        </p:txBody>
      </p:sp>
      <p:sp>
        <p:nvSpPr>
          <p:cNvPr id="1011" name="Google Shape;1011;p25"/>
          <p:cNvSpPr/>
          <p:nvPr/>
        </p:nvSpPr>
        <p:spPr>
          <a:xfrm>
            <a:off x="2834640" y="1298448"/>
            <a:ext cx="8991295"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200"/>
              <a:buFont typeface="Calibri"/>
              <a:buNone/>
            </a:pPr>
            <a:r>
              <a:rPr lang="en-US" sz="1200" i="1">
                <a:solidFill>
                  <a:srgbClr val="1A1A1A"/>
                </a:solidFill>
                <a:latin typeface="Calibri"/>
                <a:ea typeface="Calibri"/>
                <a:cs typeface="Calibri"/>
                <a:sym typeface="Calibri"/>
              </a:rPr>
              <a:t>Skew: one key (e.g., a celebrity user_id) dominates a partition, making its task a straggler the whole stage waits for.</a:t>
            </a:r>
            <a:endParaRPr sz="1200">
              <a:solidFill>
                <a:schemeClr val="dk1"/>
              </a:solidFill>
              <a:latin typeface="Calibri"/>
              <a:ea typeface="Calibri"/>
              <a:cs typeface="Calibri"/>
              <a:sym typeface="Calibri"/>
            </a:endParaRPr>
          </a:p>
        </p:txBody>
      </p:sp>
      <p:sp>
        <p:nvSpPr>
          <p:cNvPr id="1012" name="Google Shape;1012;p25"/>
          <p:cNvSpPr/>
          <p:nvPr/>
        </p:nvSpPr>
        <p:spPr>
          <a:xfrm>
            <a:off x="2834640" y="1783080"/>
            <a:ext cx="8991295" cy="1920240"/>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1A1A1A"/>
              </a:buClr>
              <a:buSzPts val="1200"/>
              <a:buFont typeface="Calibri"/>
              <a:buChar char="▪"/>
            </a:pPr>
            <a:r>
              <a:rPr lang="en-US" sz="1200">
                <a:solidFill>
                  <a:srgbClr val="1A1A1A"/>
                </a:solidFill>
                <a:latin typeface="Calibri"/>
                <a:ea typeface="Calibri"/>
                <a:cs typeface="Calibri"/>
                <a:sym typeface="Calibri"/>
              </a:rPr>
              <a:t>Salting: append a random suffix (key#0..key#9) to spread a hot key across partitions, then aggregate in two phases</a:t>
            </a:r>
            <a:endParaRPr sz="120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200"/>
              <a:buFont typeface="Calibri"/>
              <a:buChar char="▪"/>
            </a:pPr>
            <a:r>
              <a:rPr lang="en-US" sz="1200">
                <a:solidFill>
                  <a:srgbClr val="1A1A1A"/>
                </a:solidFill>
                <a:latin typeface="Calibri"/>
                <a:ea typeface="Calibri"/>
                <a:cs typeface="Calibri"/>
                <a:sym typeface="Calibri"/>
              </a:rPr>
              <a:t>Broadcast join for skewed joins: removes the shuffle entirely when skew comes from a small dimension table</a:t>
            </a:r>
            <a:endParaRPr sz="120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200"/>
              <a:buFont typeface="Calibri"/>
              <a:buChar char="▪"/>
            </a:pPr>
            <a:r>
              <a:rPr lang="en-US" sz="1200">
                <a:solidFill>
                  <a:srgbClr val="1A1A1A"/>
                </a:solidFill>
                <a:latin typeface="Calibri"/>
                <a:ea typeface="Calibri"/>
                <a:cs typeface="Calibri"/>
                <a:sym typeface="Calibri"/>
              </a:rPr>
              <a:t>AQE skew-join optimization: Spark 3.x auto-detects oversized shuffle partitions and splits them at runtime</a:t>
            </a:r>
            <a:endParaRPr sz="120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200"/>
              <a:buFont typeface="Calibri"/>
              <a:buChar char="▪"/>
            </a:pPr>
            <a:r>
              <a:rPr lang="en-US" sz="1200">
                <a:solidFill>
                  <a:srgbClr val="1A1A1A"/>
                </a:solidFill>
                <a:latin typeface="Calibri"/>
                <a:ea typeface="Calibri"/>
                <a:cs typeface="Calibri"/>
                <a:sym typeface="Calibri"/>
              </a:rPr>
              <a:t>Custom/range-aware partitioners: isolate known hot keys into their own dedicated partitions</a:t>
            </a:r>
            <a:endParaRPr sz="1200">
              <a:solidFill>
                <a:schemeClr val="dk1"/>
              </a:solidFill>
              <a:latin typeface="Calibri"/>
              <a:ea typeface="Calibri"/>
              <a:cs typeface="Calibri"/>
              <a:sym typeface="Calibri"/>
            </a:endParaRPr>
          </a:p>
        </p:txBody>
      </p:sp>
      <p:sp>
        <p:nvSpPr>
          <p:cNvPr id="1013" name="Google Shape;1013;p25"/>
          <p:cNvSpPr/>
          <p:nvPr/>
        </p:nvSpPr>
        <p:spPr>
          <a:xfrm>
            <a:off x="2834640" y="3794760"/>
            <a:ext cx="8991295" cy="2286000"/>
          </a:xfrm>
          <a:prstGeom prst="roundRect">
            <a:avLst>
              <a:gd name="adj" fmla="val 3200"/>
            </a:avLst>
          </a:prstGeom>
          <a:solidFill>
            <a:srgbClr val="0A1830"/>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5"/>
          <p:cNvSpPr/>
          <p:nvPr/>
        </p:nvSpPr>
        <p:spPr>
          <a:xfrm>
            <a:off x="3063240" y="3931920"/>
            <a:ext cx="8534095" cy="201168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8FA8CE"/>
              </a:buClr>
              <a:buSzPts val="1100"/>
              <a:buFont typeface="Courier New"/>
              <a:buNone/>
            </a:pPr>
            <a:r>
              <a:rPr lang="en-US" sz="1100">
                <a:solidFill>
                  <a:srgbClr val="8FA8CE"/>
                </a:solidFill>
                <a:latin typeface="Courier New"/>
                <a:ea typeface="Courier New"/>
                <a:cs typeface="Courier New"/>
                <a:sym typeface="Courier New"/>
              </a:rPr>
              <a:t>// Salting technique</a:t>
            </a:r>
            <a:br>
              <a:rPr lang="en-US" sz="1100">
                <a:solidFill>
                  <a:srgbClr val="8FA8CE"/>
                </a:solidFill>
                <a:latin typeface="Courier New"/>
                <a:ea typeface="Courier New"/>
                <a:cs typeface="Courier New"/>
                <a:sym typeface="Courier New"/>
              </a:rPr>
            </a:br>
            <a:endParaRPr sz="1100">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D7E6FF"/>
              </a:buClr>
              <a:buSzPts val="1100"/>
              <a:buFont typeface="Courier New"/>
              <a:buNone/>
            </a:pPr>
            <a:r>
              <a:rPr lang="en-US" sz="1100">
                <a:solidFill>
                  <a:srgbClr val="D7E6FF"/>
                </a:solidFill>
                <a:latin typeface="Courier New"/>
                <a:ea typeface="Courier New"/>
                <a:cs typeface="Courier New"/>
                <a:sym typeface="Courier New"/>
              </a:rPr>
              <a:t>val salted = df.withColumn("salted_key",</a:t>
            </a:r>
            <a:br>
              <a:rPr lang="en-US" sz="1100">
                <a:solidFill>
                  <a:srgbClr val="D7E6FF"/>
                </a:solidFill>
                <a:latin typeface="Courier New"/>
                <a:ea typeface="Courier New"/>
                <a:cs typeface="Courier New"/>
                <a:sym typeface="Courier New"/>
              </a:rPr>
            </a:br>
            <a:r>
              <a:rPr lang="en-US" sz="1100">
                <a:solidFill>
                  <a:srgbClr val="D7E6FF"/>
                </a:solidFill>
                <a:latin typeface="Courier New"/>
                <a:ea typeface="Courier New"/>
                <a:cs typeface="Courier New"/>
                <a:sym typeface="Courier New"/>
              </a:rPr>
              <a:t>  concat(col("user_id"), lit("_"), (rand()*10).cast("int")))</a:t>
            </a:r>
            <a:br>
              <a:rPr lang="en-US" sz="1100">
                <a:solidFill>
                  <a:srgbClr val="D7E6FF"/>
                </a:solidFill>
                <a:latin typeface="Courier New"/>
                <a:ea typeface="Courier New"/>
                <a:cs typeface="Courier New"/>
                <a:sym typeface="Courier New"/>
              </a:rPr>
            </a:br>
            <a:endParaRPr sz="1100">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D7E6FF"/>
              </a:buClr>
              <a:buSzPts val="1100"/>
              <a:buFont typeface="Courier New"/>
              <a:buNone/>
            </a:pPr>
            <a:r>
              <a:rPr lang="en-US" sz="1100">
                <a:solidFill>
                  <a:srgbClr val="D7E6FF"/>
                </a:solidFill>
                <a:latin typeface="Courier New"/>
                <a:ea typeface="Courier New"/>
                <a:cs typeface="Courier New"/>
                <a:sym typeface="Courier New"/>
              </a:rPr>
              <a:t>val partial = salted.groupBy("salted_key").agg(sum("amount").as("p_sum"))</a:t>
            </a:r>
            <a:br>
              <a:rPr lang="en-US" sz="1100">
                <a:solidFill>
                  <a:srgbClr val="D7E6FF"/>
                </a:solidFill>
                <a:latin typeface="Courier New"/>
                <a:ea typeface="Courier New"/>
                <a:cs typeface="Courier New"/>
                <a:sym typeface="Courier New"/>
              </a:rPr>
            </a:br>
            <a:endParaRPr sz="1100">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D7E6FF"/>
              </a:buClr>
              <a:buSzPts val="1100"/>
              <a:buFont typeface="Courier New"/>
              <a:buNone/>
            </a:pPr>
            <a:r>
              <a:rPr lang="en-US" sz="1100">
                <a:solidFill>
                  <a:srgbClr val="D7E6FF"/>
                </a:solidFill>
                <a:latin typeface="Courier New"/>
                <a:ea typeface="Courier New"/>
                <a:cs typeface="Courier New"/>
                <a:sym typeface="Courier New"/>
              </a:rPr>
              <a:t>val finalAgg = partial</a:t>
            </a:r>
            <a:endParaRPr sz="1100">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D7E6FF"/>
              </a:buClr>
              <a:buSzPts val="1100"/>
              <a:buFont typeface="Courier New"/>
              <a:buNone/>
            </a:pPr>
            <a:r>
              <a:rPr lang="en-US" sz="1100">
                <a:solidFill>
                  <a:srgbClr val="D7E6FF"/>
                </a:solidFill>
                <a:latin typeface="Courier New"/>
                <a:ea typeface="Courier New"/>
                <a:cs typeface="Courier New"/>
                <a:sym typeface="Courier New"/>
              </a:rPr>
              <a:t>  .withColumn("user_id", split(col("salted_key"),"_")(0))</a:t>
            </a:r>
            <a:endParaRPr sz="1100">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D7E6FF"/>
              </a:buClr>
              <a:buSzPts val="1100"/>
              <a:buFont typeface="Courier New"/>
              <a:buNone/>
            </a:pPr>
            <a:r>
              <a:rPr lang="en-US" sz="1100">
                <a:solidFill>
                  <a:srgbClr val="D7E6FF"/>
                </a:solidFill>
                <a:latin typeface="Courier New"/>
                <a:ea typeface="Courier New"/>
                <a:cs typeface="Courier New"/>
                <a:sym typeface="Courier New"/>
              </a:rPr>
              <a:t>  .groupBy("user_id").agg(sum("p_sum").as("total"))</a:t>
            </a:r>
            <a:endParaRPr sz="11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9"/>
        <p:cNvGrpSpPr/>
        <p:nvPr/>
      </p:nvGrpSpPr>
      <p:grpSpPr>
        <a:xfrm>
          <a:off x="0" y="0"/>
          <a:ext cx="0" cy="0"/>
          <a:chOff x="0" y="0"/>
          <a:chExt cx="0" cy="0"/>
        </a:xfrm>
      </p:grpSpPr>
      <p:sp>
        <p:nvSpPr>
          <p:cNvPr id="1020" name="Google Shape;1020;p26"/>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6"/>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1022" name="Google Shape;1022;p26"/>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1023" name="Google Shape;1023;p26"/>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1024" name="Google Shape;1024;p26"/>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1025" name="Google Shape;1025;p26"/>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1026" name="Google Shape;1026;p26"/>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1027" name="Google Shape;1027;p26"/>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1028" name="Google Shape;1028;p26"/>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1029" name="Google Shape;1029;p26"/>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1030" name="Google Shape;1030;p26"/>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1031" name="Google Shape;1031;p26"/>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1032" name="Google Shape;1032;p26"/>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1033" name="Google Shape;1033;p26"/>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1034" name="Google Shape;1034;p26"/>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1035" name="Google Shape;1035;p26"/>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1036" name="Google Shape;1036;p26"/>
          <p:cNvSpPr/>
          <p:nvPr/>
        </p:nvSpPr>
        <p:spPr>
          <a:xfrm>
            <a:off x="109728" y="4700016"/>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6"/>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1038" name="Google Shape;1038;p26"/>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1039" name="Google Shape;1039;p26"/>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1040" name="Google Shape;1040;p26"/>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1041" name="Google Shape;1041;p26"/>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1042" name="Google Shape;1042;p26"/>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1043" name="Google Shape;1043;p26"/>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3.7 FAULT TOLERANCE</a:t>
            </a:r>
            <a:endParaRPr sz="1200">
              <a:solidFill>
                <a:schemeClr val="dk1"/>
              </a:solidFill>
              <a:latin typeface="Calibri"/>
              <a:ea typeface="Calibri"/>
              <a:cs typeface="Calibri"/>
              <a:sym typeface="Calibri"/>
            </a:endParaRPr>
          </a:p>
        </p:txBody>
      </p:sp>
      <p:sp>
        <p:nvSpPr>
          <p:cNvPr id="1044" name="Google Shape;1044;p26"/>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The Fault-Tolerance Stack</a:t>
            </a:r>
            <a:endParaRPr sz="2700">
              <a:solidFill>
                <a:schemeClr val="dk1"/>
              </a:solidFill>
              <a:latin typeface="Calibri"/>
              <a:ea typeface="Calibri"/>
              <a:cs typeface="Calibri"/>
              <a:sym typeface="Calibri"/>
            </a:endParaRPr>
          </a:p>
        </p:txBody>
      </p:sp>
      <p:sp>
        <p:nvSpPr>
          <p:cNvPr id="1045" name="Google Shape;1045;p26"/>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1046" name="Google Shape;1046;p26"/>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17</a:t>
            </a:r>
            <a:endParaRPr sz="850">
              <a:solidFill>
                <a:schemeClr val="dk1"/>
              </a:solidFill>
              <a:latin typeface="Calibri"/>
              <a:ea typeface="Calibri"/>
              <a:cs typeface="Calibri"/>
              <a:sym typeface="Calibri"/>
            </a:endParaRPr>
          </a:p>
        </p:txBody>
      </p:sp>
      <p:sp>
        <p:nvSpPr>
          <p:cNvPr id="1047" name="Google Shape;1047;p26"/>
          <p:cNvSpPr/>
          <p:nvPr/>
        </p:nvSpPr>
        <p:spPr>
          <a:xfrm>
            <a:off x="2834640" y="1417320"/>
            <a:ext cx="8991295" cy="777240"/>
          </a:xfrm>
          <a:prstGeom prst="roundRect">
            <a:avLst>
              <a:gd name="adj" fmla="val 9412"/>
            </a:avLst>
          </a:prstGeom>
          <a:solidFill>
            <a:srgbClr val="0A1830"/>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6"/>
          <p:cNvSpPr/>
          <p:nvPr/>
        </p:nvSpPr>
        <p:spPr>
          <a:xfrm>
            <a:off x="3017520" y="1417320"/>
            <a:ext cx="4495648"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Layer 4 — Cluster Coordination Recovery</a:t>
            </a:r>
            <a:endParaRPr sz="1200">
              <a:solidFill>
                <a:schemeClr val="dk1"/>
              </a:solidFill>
              <a:latin typeface="Calibri"/>
              <a:ea typeface="Calibri"/>
              <a:cs typeface="Calibri"/>
              <a:sym typeface="Calibri"/>
            </a:endParaRPr>
          </a:p>
        </p:txBody>
      </p:sp>
      <p:sp>
        <p:nvSpPr>
          <p:cNvPr id="1049" name="Google Shape;1049;p26"/>
          <p:cNvSpPr/>
          <p:nvPr/>
        </p:nvSpPr>
        <p:spPr>
          <a:xfrm>
            <a:off x="7330288" y="1417320"/>
            <a:ext cx="4312768"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7E6FF"/>
              </a:buClr>
              <a:buSzPts val="1050"/>
              <a:buFont typeface="Calibri"/>
              <a:buNone/>
            </a:pPr>
            <a:r>
              <a:rPr lang="en-US" sz="1050">
                <a:solidFill>
                  <a:srgbClr val="D7E6FF"/>
                </a:solidFill>
                <a:latin typeface="Calibri"/>
                <a:ea typeface="Calibri"/>
                <a:cs typeface="Calibri"/>
                <a:sym typeface="Calibri"/>
              </a:rPr>
              <a:t>ZooKeeper leader election, HA NameNode</a:t>
            </a:r>
            <a:endParaRPr sz="1050">
              <a:solidFill>
                <a:schemeClr val="dk1"/>
              </a:solidFill>
              <a:latin typeface="Calibri"/>
              <a:ea typeface="Calibri"/>
              <a:cs typeface="Calibri"/>
              <a:sym typeface="Calibri"/>
            </a:endParaRPr>
          </a:p>
        </p:txBody>
      </p:sp>
      <p:sp>
        <p:nvSpPr>
          <p:cNvPr id="1050" name="Google Shape;1050;p26"/>
          <p:cNvSpPr/>
          <p:nvPr/>
        </p:nvSpPr>
        <p:spPr>
          <a:xfrm>
            <a:off x="3063240" y="2331720"/>
            <a:ext cx="8534095" cy="777240"/>
          </a:xfrm>
          <a:prstGeom prst="roundRect">
            <a:avLst>
              <a:gd name="adj" fmla="val 9412"/>
            </a:avLst>
          </a:prstGeom>
          <a:solidFill>
            <a:srgbClr val="1D3A66"/>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6"/>
          <p:cNvSpPr/>
          <p:nvPr/>
        </p:nvSpPr>
        <p:spPr>
          <a:xfrm>
            <a:off x="3246120" y="2331720"/>
            <a:ext cx="4267048"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Layer 3 — Job / Stage Recovery</a:t>
            </a:r>
            <a:endParaRPr sz="1200">
              <a:solidFill>
                <a:schemeClr val="dk1"/>
              </a:solidFill>
              <a:latin typeface="Calibri"/>
              <a:ea typeface="Calibri"/>
              <a:cs typeface="Calibri"/>
              <a:sym typeface="Calibri"/>
            </a:endParaRPr>
          </a:p>
        </p:txBody>
      </p:sp>
      <p:sp>
        <p:nvSpPr>
          <p:cNvPr id="1052" name="Google Shape;1052;p26"/>
          <p:cNvSpPr/>
          <p:nvPr/>
        </p:nvSpPr>
        <p:spPr>
          <a:xfrm>
            <a:off x="7330288" y="2331720"/>
            <a:ext cx="4084168"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7E6FF"/>
              </a:buClr>
              <a:buSzPts val="1050"/>
              <a:buFont typeface="Calibri"/>
              <a:buNone/>
            </a:pPr>
            <a:r>
              <a:rPr lang="en-US" sz="1050">
                <a:solidFill>
                  <a:srgbClr val="D7E6FF"/>
                </a:solidFill>
                <a:latin typeface="Calibri"/>
                <a:ea typeface="Calibri"/>
                <a:cs typeface="Calibri"/>
                <a:sym typeface="Calibri"/>
              </a:rPr>
              <a:t>Driver restart, DAG re-submission</a:t>
            </a:r>
            <a:endParaRPr sz="1050">
              <a:solidFill>
                <a:schemeClr val="dk1"/>
              </a:solidFill>
              <a:latin typeface="Calibri"/>
              <a:ea typeface="Calibri"/>
              <a:cs typeface="Calibri"/>
              <a:sym typeface="Calibri"/>
            </a:endParaRPr>
          </a:p>
        </p:txBody>
      </p:sp>
      <p:sp>
        <p:nvSpPr>
          <p:cNvPr id="1053" name="Google Shape;1053;p26"/>
          <p:cNvSpPr/>
          <p:nvPr/>
        </p:nvSpPr>
        <p:spPr>
          <a:xfrm>
            <a:off x="3291840" y="3246120"/>
            <a:ext cx="8076895" cy="777240"/>
          </a:xfrm>
          <a:prstGeom prst="roundRect">
            <a:avLst>
              <a:gd name="adj" fmla="val 9412"/>
            </a:avLst>
          </a:prstGeom>
          <a:solidFill>
            <a:srgbClr val="1B7A78"/>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6"/>
          <p:cNvSpPr/>
          <p:nvPr/>
        </p:nvSpPr>
        <p:spPr>
          <a:xfrm>
            <a:off x="3474720" y="3246120"/>
            <a:ext cx="4038448"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Layer 2 — Task Recovery</a:t>
            </a:r>
            <a:endParaRPr sz="1200">
              <a:solidFill>
                <a:schemeClr val="dk1"/>
              </a:solidFill>
              <a:latin typeface="Calibri"/>
              <a:ea typeface="Calibri"/>
              <a:cs typeface="Calibri"/>
              <a:sym typeface="Calibri"/>
            </a:endParaRPr>
          </a:p>
        </p:txBody>
      </p:sp>
      <p:sp>
        <p:nvSpPr>
          <p:cNvPr id="1055" name="Google Shape;1055;p26"/>
          <p:cNvSpPr/>
          <p:nvPr/>
        </p:nvSpPr>
        <p:spPr>
          <a:xfrm>
            <a:off x="7330288" y="3246120"/>
            <a:ext cx="3855568"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7E6FF"/>
              </a:buClr>
              <a:buSzPts val="1050"/>
              <a:buFont typeface="Calibri"/>
              <a:buNone/>
            </a:pPr>
            <a:r>
              <a:rPr lang="en-US" sz="1050">
                <a:solidFill>
                  <a:srgbClr val="D7E6FF"/>
                </a:solidFill>
                <a:latin typeface="Calibri"/>
                <a:ea typeface="Calibri"/>
                <a:cs typeface="Calibri"/>
                <a:sym typeface="Calibri"/>
              </a:rPr>
              <a:t>Re-execution via lineage, task retry</a:t>
            </a:r>
            <a:endParaRPr sz="1050">
              <a:solidFill>
                <a:schemeClr val="dk1"/>
              </a:solidFill>
              <a:latin typeface="Calibri"/>
              <a:ea typeface="Calibri"/>
              <a:cs typeface="Calibri"/>
              <a:sym typeface="Calibri"/>
            </a:endParaRPr>
          </a:p>
        </p:txBody>
      </p:sp>
      <p:sp>
        <p:nvSpPr>
          <p:cNvPr id="1056" name="Google Shape;1056;p26"/>
          <p:cNvSpPr/>
          <p:nvPr/>
        </p:nvSpPr>
        <p:spPr>
          <a:xfrm>
            <a:off x="3520440" y="4160520"/>
            <a:ext cx="7619695" cy="777240"/>
          </a:xfrm>
          <a:prstGeom prst="roundRect">
            <a:avLst>
              <a:gd name="adj" fmla="val 9412"/>
            </a:avLst>
          </a:prstGeom>
          <a:solidFill>
            <a:srgbClr val="D9A441"/>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6"/>
          <p:cNvSpPr/>
          <p:nvPr/>
        </p:nvSpPr>
        <p:spPr>
          <a:xfrm>
            <a:off x="3703320" y="4160520"/>
            <a:ext cx="3809848"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830"/>
              </a:buClr>
              <a:buSzPts val="1200"/>
              <a:buFont typeface="Calibri"/>
              <a:buNone/>
            </a:pPr>
            <a:r>
              <a:rPr lang="en-US" sz="1200" b="1">
                <a:solidFill>
                  <a:srgbClr val="0A1830"/>
                </a:solidFill>
                <a:latin typeface="Calibri"/>
                <a:ea typeface="Calibri"/>
                <a:cs typeface="Calibri"/>
                <a:sym typeface="Calibri"/>
              </a:rPr>
              <a:t>Layer 1 — Data Durability</a:t>
            </a:r>
            <a:endParaRPr sz="1200">
              <a:solidFill>
                <a:schemeClr val="dk1"/>
              </a:solidFill>
              <a:latin typeface="Calibri"/>
              <a:ea typeface="Calibri"/>
              <a:cs typeface="Calibri"/>
              <a:sym typeface="Calibri"/>
            </a:endParaRPr>
          </a:p>
        </p:txBody>
      </p:sp>
      <p:sp>
        <p:nvSpPr>
          <p:cNvPr id="1058" name="Google Shape;1058;p26"/>
          <p:cNvSpPr/>
          <p:nvPr/>
        </p:nvSpPr>
        <p:spPr>
          <a:xfrm>
            <a:off x="7330288" y="4160520"/>
            <a:ext cx="3626968"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830"/>
              </a:buClr>
              <a:buSzPts val="1050"/>
              <a:buFont typeface="Calibri"/>
              <a:buNone/>
            </a:pPr>
            <a:r>
              <a:rPr lang="en-US" sz="1050">
                <a:solidFill>
                  <a:srgbClr val="0A1830"/>
                </a:solidFill>
                <a:latin typeface="Calibri"/>
                <a:ea typeface="Calibri"/>
                <a:cs typeface="Calibri"/>
                <a:sym typeface="Calibri"/>
              </a:rPr>
              <a:t>Replication (3.2) + checkpointing</a:t>
            </a:r>
            <a:endParaRPr sz="1050">
              <a:solidFill>
                <a:schemeClr val="dk1"/>
              </a:solidFill>
              <a:latin typeface="Calibri"/>
              <a:ea typeface="Calibri"/>
              <a:cs typeface="Calibri"/>
              <a:sym typeface="Calibri"/>
            </a:endParaRPr>
          </a:p>
        </p:txBody>
      </p:sp>
      <p:sp>
        <p:nvSpPr>
          <p:cNvPr id="1059" name="Google Shape;1059;p26"/>
          <p:cNvSpPr/>
          <p:nvPr/>
        </p:nvSpPr>
        <p:spPr>
          <a:xfrm>
            <a:off x="2834640" y="5166360"/>
            <a:ext cx="8991295" cy="1188720"/>
          </a:xfrm>
          <a:prstGeom prst="roundRect">
            <a:avLst>
              <a:gd name="adj" fmla="val 6154"/>
            </a:avLst>
          </a:prstGeom>
          <a:solidFill>
            <a:srgbClr val="F4F6F9"/>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6"/>
          <p:cNvSpPr/>
          <p:nvPr/>
        </p:nvSpPr>
        <p:spPr>
          <a:xfrm>
            <a:off x="3017520" y="5257800"/>
            <a:ext cx="8625535" cy="10058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200"/>
              <a:buFont typeface="Calibri"/>
              <a:buNone/>
            </a:pPr>
            <a:r>
              <a:rPr lang="en-US" sz="1200" i="1">
                <a:solidFill>
                  <a:srgbClr val="12294B"/>
                </a:solidFill>
                <a:latin typeface="Calibri"/>
                <a:ea typeface="Calibri"/>
                <a:cs typeface="Calibri"/>
                <a:sym typeface="Calibri"/>
              </a:rPr>
              <a:t>A failure at any layer is contained and recovered WITHOUT cascading upward — provided each layer's assumptions hold. Section 3.8 shows real 2025 incidents where a failure crossed layers unexpectedly.</a:t>
            </a:r>
            <a:endParaRPr sz="12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5"/>
        <p:cNvGrpSpPr/>
        <p:nvPr/>
      </p:nvGrpSpPr>
      <p:grpSpPr>
        <a:xfrm>
          <a:off x="0" y="0"/>
          <a:ext cx="0" cy="0"/>
          <a:chOff x="0" y="0"/>
          <a:chExt cx="0" cy="0"/>
        </a:xfrm>
      </p:grpSpPr>
      <p:sp>
        <p:nvSpPr>
          <p:cNvPr id="1066" name="Google Shape;1066;p27"/>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7"/>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1068" name="Google Shape;1068;p27"/>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1069" name="Google Shape;1069;p27"/>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1070" name="Google Shape;1070;p27"/>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1071" name="Google Shape;1071;p27"/>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1072" name="Google Shape;1072;p27"/>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1073" name="Google Shape;1073;p27"/>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1074" name="Google Shape;1074;p27"/>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1075" name="Google Shape;1075;p27"/>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1076" name="Google Shape;1076;p27"/>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1077" name="Google Shape;1077;p27"/>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1078" name="Google Shape;1078;p27"/>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1079" name="Google Shape;1079;p27"/>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1080" name="Google Shape;1080;p27"/>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1081" name="Google Shape;1081;p27"/>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1082" name="Google Shape;1082;p27"/>
          <p:cNvSpPr/>
          <p:nvPr/>
        </p:nvSpPr>
        <p:spPr>
          <a:xfrm>
            <a:off x="109728" y="4700016"/>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7"/>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1084" name="Google Shape;1084;p27"/>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1085" name="Google Shape;1085;p27"/>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1086" name="Google Shape;1086;p27"/>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1087" name="Google Shape;1087;p27"/>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1088" name="Google Shape;1088;p27"/>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1089" name="Google Shape;1089;p27"/>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3.7 FAULT TOLERANCE</a:t>
            </a:r>
            <a:endParaRPr sz="1200">
              <a:solidFill>
                <a:schemeClr val="dk1"/>
              </a:solidFill>
              <a:latin typeface="Calibri"/>
              <a:ea typeface="Calibri"/>
              <a:cs typeface="Calibri"/>
              <a:sym typeface="Calibri"/>
            </a:endParaRPr>
          </a:p>
        </p:txBody>
      </p:sp>
      <p:sp>
        <p:nvSpPr>
          <p:cNvPr id="1090" name="Google Shape;1090;p27"/>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Checkpoints, Re-execution &amp; Recovery</a:t>
            </a:r>
            <a:endParaRPr sz="2700">
              <a:solidFill>
                <a:schemeClr val="dk1"/>
              </a:solidFill>
              <a:latin typeface="Calibri"/>
              <a:ea typeface="Calibri"/>
              <a:cs typeface="Calibri"/>
              <a:sym typeface="Calibri"/>
            </a:endParaRPr>
          </a:p>
        </p:txBody>
      </p:sp>
      <p:sp>
        <p:nvSpPr>
          <p:cNvPr id="1091" name="Google Shape;1091;p27"/>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1092" name="Google Shape;1092;p27"/>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18</a:t>
            </a:r>
            <a:endParaRPr sz="850">
              <a:solidFill>
                <a:schemeClr val="dk1"/>
              </a:solidFill>
              <a:latin typeface="Calibri"/>
              <a:ea typeface="Calibri"/>
              <a:cs typeface="Calibri"/>
              <a:sym typeface="Calibri"/>
            </a:endParaRPr>
          </a:p>
        </p:txBody>
      </p:sp>
      <p:sp>
        <p:nvSpPr>
          <p:cNvPr id="1093" name="Google Shape;1093;p27"/>
          <p:cNvSpPr/>
          <p:nvPr/>
        </p:nvSpPr>
        <p:spPr>
          <a:xfrm>
            <a:off x="2834640" y="1417320"/>
            <a:ext cx="2814218" cy="3520440"/>
          </a:xfrm>
          <a:prstGeom prst="roundRect">
            <a:avLst>
              <a:gd name="adj" fmla="val 2599"/>
            </a:avLst>
          </a:prstGeom>
          <a:solidFill>
            <a:srgbClr val="FFFFFF"/>
          </a:solidFill>
          <a:ln w="12700" cap="flat" cmpd="sng">
            <a:solidFill>
              <a:srgbClr val="12294B"/>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7"/>
          <p:cNvSpPr/>
          <p:nvPr/>
        </p:nvSpPr>
        <p:spPr>
          <a:xfrm>
            <a:off x="2834640" y="1417320"/>
            <a:ext cx="2814218" cy="502920"/>
          </a:xfrm>
          <a:prstGeom prst="roundRect">
            <a:avLst>
              <a:gd name="adj" fmla="val 14545"/>
            </a:avLst>
          </a:prstGeom>
          <a:solidFill>
            <a:srgbClr val="12294B"/>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7"/>
          <p:cNvSpPr/>
          <p:nvPr/>
        </p:nvSpPr>
        <p:spPr>
          <a:xfrm>
            <a:off x="2834640" y="1417320"/>
            <a:ext cx="2814218"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Checkpointing</a:t>
            </a:r>
            <a:endParaRPr sz="1250">
              <a:solidFill>
                <a:schemeClr val="dk1"/>
              </a:solidFill>
              <a:latin typeface="Calibri"/>
              <a:ea typeface="Calibri"/>
              <a:cs typeface="Calibri"/>
              <a:sym typeface="Calibri"/>
            </a:endParaRPr>
          </a:p>
        </p:txBody>
      </p:sp>
      <p:sp>
        <p:nvSpPr>
          <p:cNvPr id="1096" name="Google Shape;1096;p27"/>
          <p:cNvSpPr/>
          <p:nvPr/>
        </p:nvSpPr>
        <p:spPr>
          <a:xfrm>
            <a:off x="2971800" y="2057400"/>
            <a:ext cx="2539898" cy="1188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Persist state/data to durable storage so recovery is bounded, not lineage-dependent</a:t>
            </a:r>
            <a:endParaRPr sz="1050">
              <a:solidFill>
                <a:schemeClr val="dk1"/>
              </a:solidFill>
              <a:latin typeface="Calibri"/>
              <a:ea typeface="Calibri"/>
              <a:cs typeface="Calibri"/>
              <a:sym typeface="Calibri"/>
            </a:endParaRPr>
          </a:p>
        </p:txBody>
      </p:sp>
      <p:cxnSp>
        <p:nvCxnSpPr>
          <p:cNvPr id="1097" name="Google Shape;1097;p27"/>
          <p:cNvCxnSpPr/>
          <p:nvPr/>
        </p:nvCxnSpPr>
        <p:spPr>
          <a:xfrm>
            <a:off x="3017520" y="3291840"/>
            <a:ext cx="2448458" cy="0"/>
          </a:xfrm>
          <a:prstGeom prst="straightConnector1">
            <a:avLst/>
          </a:prstGeom>
          <a:noFill/>
          <a:ln w="12700" cap="flat" cmpd="sng">
            <a:solidFill>
              <a:srgbClr val="E5E8EE"/>
            </a:solidFill>
            <a:prstDash val="solid"/>
            <a:round/>
            <a:headEnd type="none" w="sm" len="sm"/>
            <a:tailEnd type="none" w="sm" len="sm"/>
          </a:ln>
        </p:spPr>
      </p:cxnSp>
      <p:sp>
        <p:nvSpPr>
          <p:cNvPr id="1098" name="Google Shape;1098;p27"/>
          <p:cNvSpPr/>
          <p:nvPr/>
        </p:nvSpPr>
        <p:spPr>
          <a:xfrm>
            <a:off x="2971800" y="3383280"/>
            <a:ext cx="2539898" cy="14630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1000"/>
              <a:buFont typeface="Calibri"/>
              <a:buNone/>
            </a:pPr>
            <a:r>
              <a:rPr lang="en-US" sz="1000" i="1">
                <a:solidFill>
                  <a:srgbClr val="12294B"/>
                </a:solidFill>
                <a:latin typeface="Calibri"/>
                <a:ea typeface="Calibri"/>
                <a:cs typeface="Calibri"/>
                <a:sym typeface="Calibri"/>
              </a:rPr>
              <a:t>HDFS block replication; Spark RDD.checkpoint(); Structured Streaming checkpoints</a:t>
            </a:r>
            <a:endParaRPr sz="1000">
              <a:solidFill>
                <a:schemeClr val="dk1"/>
              </a:solidFill>
              <a:latin typeface="Calibri"/>
              <a:ea typeface="Calibri"/>
              <a:cs typeface="Calibri"/>
              <a:sym typeface="Calibri"/>
            </a:endParaRPr>
          </a:p>
        </p:txBody>
      </p:sp>
      <p:sp>
        <p:nvSpPr>
          <p:cNvPr id="1099" name="Google Shape;1099;p27"/>
          <p:cNvSpPr/>
          <p:nvPr/>
        </p:nvSpPr>
        <p:spPr>
          <a:xfrm>
            <a:off x="5923178" y="1417320"/>
            <a:ext cx="2814218" cy="3520440"/>
          </a:xfrm>
          <a:prstGeom prst="roundRect">
            <a:avLst>
              <a:gd name="adj" fmla="val 2599"/>
            </a:avLst>
          </a:prstGeom>
          <a:solidFill>
            <a:srgbClr val="FFFFFF"/>
          </a:solidFill>
          <a:ln w="12700" cap="flat" cmpd="sng">
            <a:solidFill>
              <a:srgbClr val="1B7A78"/>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7"/>
          <p:cNvSpPr/>
          <p:nvPr/>
        </p:nvSpPr>
        <p:spPr>
          <a:xfrm>
            <a:off x="5923178" y="1417320"/>
            <a:ext cx="2814218" cy="502920"/>
          </a:xfrm>
          <a:prstGeom prst="roundRect">
            <a:avLst>
              <a:gd name="adj" fmla="val 14545"/>
            </a:avLst>
          </a:prstGeom>
          <a:solidFill>
            <a:srgbClr val="1B7A78"/>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7"/>
          <p:cNvSpPr/>
          <p:nvPr/>
        </p:nvSpPr>
        <p:spPr>
          <a:xfrm>
            <a:off x="5923178" y="1417320"/>
            <a:ext cx="2814218"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Re-execution</a:t>
            </a:r>
            <a:endParaRPr sz="1250">
              <a:solidFill>
                <a:schemeClr val="dk1"/>
              </a:solidFill>
              <a:latin typeface="Calibri"/>
              <a:ea typeface="Calibri"/>
              <a:cs typeface="Calibri"/>
              <a:sym typeface="Calibri"/>
            </a:endParaRPr>
          </a:p>
        </p:txBody>
      </p:sp>
      <p:sp>
        <p:nvSpPr>
          <p:cNvPr id="1102" name="Google Shape;1102;p27"/>
          <p:cNvSpPr/>
          <p:nvPr/>
        </p:nvSpPr>
        <p:spPr>
          <a:xfrm>
            <a:off x="6060338" y="2057400"/>
            <a:ext cx="2539898" cy="1188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Recompute ONLY the lost partition by replaying recorded transformations (lineage)</a:t>
            </a:r>
            <a:endParaRPr sz="1050">
              <a:solidFill>
                <a:schemeClr val="dk1"/>
              </a:solidFill>
              <a:latin typeface="Calibri"/>
              <a:ea typeface="Calibri"/>
              <a:cs typeface="Calibri"/>
              <a:sym typeface="Calibri"/>
            </a:endParaRPr>
          </a:p>
        </p:txBody>
      </p:sp>
      <p:cxnSp>
        <p:nvCxnSpPr>
          <p:cNvPr id="1103" name="Google Shape;1103;p27"/>
          <p:cNvCxnSpPr/>
          <p:nvPr/>
        </p:nvCxnSpPr>
        <p:spPr>
          <a:xfrm>
            <a:off x="6106058" y="3291840"/>
            <a:ext cx="2448458" cy="0"/>
          </a:xfrm>
          <a:prstGeom prst="straightConnector1">
            <a:avLst/>
          </a:prstGeom>
          <a:noFill/>
          <a:ln w="12700" cap="flat" cmpd="sng">
            <a:solidFill>
              <a:srgbClr val="E5E8EE"/>
            </a:solidFill>
            <a:prstDash val="solid"/>
            <a:round/>
            <a:headEnd type="none" w="sm" len="sm"/>
            <a:tailEnd type="none" w="sm" len="sm"/>
          </a:ln>
        </p:spPr>
      </p:cxnSp>
      <p:sp>
        <p:nvSpPr>
          <p:cNvPr id="1104" name="Google Shape;1104;p27"/>
          <p:cNvSpPr/>
          <p:nvPr/>
        </p:nvSpPr>
        <p:spPr>
          <a:xfrm>
            <a:off x="6060338" y="3383280"/>
            <a:ext cx="2539898" cy="14630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B7A78"/>
              </a:buClr>
              <a:buSzPts val="1000"/>
              <a:buFont typeface="Calibri"/>
              <a:buNone/>
            </a:pPr>
            <a:r>
              <a:rPr lang="en-US" sz="1000" i="1">
                <a:solidFill>
                  <a:srgbClr val="1B7A78"/>
                </a:solidFill>
                <a:latin typeface="Calibri"/>
                <a:ea typeface="Calibri"/>
                <a:cs typeface="Calibri"/>
                <a:sym typeface="Calibri"/>
              </a:rPr>
              <a:t>Spark RDD lineage graph; idempotent MapReduce task retry</a:t>
            </a:r>
            <a:endParaRPr sz="1000">
              <a:solidFill>
                <a:schemeClr val="dk1"/>
              </a:solidFill>
              <a:latin typeface="Calibri"/>
              <a:ea typeface="Calibri"/>
              <a:cs typeface="Calibri"/>
              <a:sym typeface="Calibri"/>
            </a:endParaRPr>
          </a:p>
        </p:txBody>
      </p:sp>
      <p:sp>
        <p:nvSpPr>
          <p:cNvPr id="1105" name="Google Shape;1105;p27"/>
          <p:cNvSpPr/>
          <p:nvPr/>
        </p:nvSpPr>
        <p:spPr>
          <a:xfrm>
            <a:off x="9011717" y="1417320"/>
            <a:ext cx="2814218" cy="3520440"/>
          </a:xfrm>
          <a:prstGeom prst="roundRect">
            <a:avLst>
              <a:gd name="adj" fmla="val 2599"/>
            </a:avLst>
          </a:prstGeom>
          <a:solidFill>
            <a:srgbClr val="FFFFFF"/>
          </a:solidFill>
          <a:ln w="12700" cap="flat" cmpd="sng">
            <a:solidFill>
              <a:srgbClr val="D9A441"/>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7"/>
          <p:cNvSpPr/>
          <p:nvPr/>
        </p:nvSpPr>
        <p:spPr>
          <a:xfrm>
            <a:off x="9011717" y="1417320"/>
            <a:ext cx="2814218" cy="502920"/>
          </a:xfrm>
          <a:prstGeom prst="roundRect">
            <a:avLst>
              <a:gd name="adj" fmla="val 14545"/>
            </a:avLst>
          </a:prstGeom>
          <a:solidFill>
            <a:srgbClr val="D9A441"/>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7"/>
          <p:cNvSpPr/>
          <p:nvPr/>
        </p:nvSpPr>
        <p:spPr>
          <a:xfrm>
            <a:off x="9011717" y="1417320"/>
            <a:ext cx="2814218"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830"/>
              </a:buClr>
              <a:buSzPts val="1250"/>
              <a:buFont typeface="Calibri"/>
              <a:buNone/>
            </a:pPr>
            <a:r>
              <a:rPr lang="en-US" sz="1250" b="1">
                <a:solidFill>
                  <a:srgbClr val="0A1830"/>
                </a:solidFill>
                <a:latin typeface="Calibri"/>
                <a:ea typeface="Calibri"/>
                <a:cs typeface="Calibri"/>
                <a:sym typeface="Calibri"/>
              </a:rPr>
              <a:t>Recovery</a:t>
            </a:r>
            <a:endParaRPr sz="1250">
              <a:solidFill>
                <a:schemeClr val="dk1"/>
              </a:solidFill>
              <a:latin typeface="Calibri"/>
              <a:ea typeface="Calibri"/>
              <a:cs typeface="Calibri"/>
              <a:sym typeface="Calibri"/>
            </a:endParaRPr>
          </a:p>
        </p:txBody>
      </p:sp>
      <p:sp>
        <p:nvSpPr>
          <p:cNvPr id="1108" name="Google Shape;1108;p27"/>
          <p:cNvSpPr/>
          <p:nvPr/>
        </p:nvSpPr>
        <p:spPr>
          <a:xfrm>
            <a:off x="9148877" y="2057400"/>
            <a:ext cx="2539898" cy="1188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Cluster coordination layer itself survives failure via standby + consensus</a:t>
            </a:r>
            <a:endParaRPr sz="1050">
              <a:solidFill>
                <a:schemeClr val="dk1"/>
              </a:solidFill>
              <a:latin typeface="Calibri"/>
              <a:ea typeface="Calibri"/>
              <a:cs typeface="Calibri"/>
              <a:sym typeface="Calibri"/>
            </a:endParaRPr>
          </a:p>
        </p:txBody>
      </p:sp>
      <p:cxnSp>
        <p:nvCxnSpPr>
          <p:cNvPr id="1109" name="Google Shape;1109;p27"/>
          <p:cNvCxnSpPr/>
          <p:nvPr/>
        </p:nvCxnSpPr>
        <p:spPr>
          <a:xfrm>
            <a:off x="9194597" y="3291840"/>
            <a:ext cx="2448458" cy="0"/>
          </a:xfrm>
          <a:prstGeom prst="straightConnector1">
            <a:avLst/>
          </a:prstGeom>
          <a:noFill/>
          <a:ln w="12700" cap="flat" cmpd="sng">
            <a:solidFill>
              <a:srgbClr val="E5E8EE"/>
            </a:solidFill>
            <a:prstDash val="solid"/>
            <a:round/>
            <a:headEnd type="none" w="sm" len="sm"/>
            <a:tailEnd type="none" w="sm" len="sm"/>
          </a:ln>
        </p:spPr>
      </p:cxnSp>
      <p:sp>
        <p:nvSpPr>
          <p:cNvPr id="1110" name="Google Shape;1110;p27"/>
          <p:cNvSpPr/>
          <p:nvPr/>
        </p:nvSpPr>
        <p:spPr>
          <a:xfrm>
            <a:off x="9148877" y="3383280"/>
            <a:ext cx="2539898" cy="14630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8A5E15"/>
              </a:buClr>
              <a:buSzPts val="1000"/>
              <a:buFont typeface="Calibri"/>
              <a:buNone/>
            </a:pPr>
            <a:r>
              <a:rPr lang="en-US" sz="1000" i="1">
                <a:solidFill>
                  <a:srgbClr val="8A5E15"/>
                </a:solidFill>
                <a:latin typeface="Calibri"/>
                <a:ea typeface="Calibri"/>
                <a:cs typeface="Calibri"/>
                <a:sym typeface="Calibri"/>
              </a:rPr>
              <a:t>HDFS HA NameNode, YARN RM HA, ZooKeeper leader election</a:t>
            </a:r>
            <a:endParaRPr sz="1000">
              <a:solidFill>
                <a:schemeClr val="dk1"/>
              </a:solidFill>
              <a:latin typeface="Calibri"/>
              <a:ea typeface="Calibri"/>
              <a:cs typeface="Calibri"/>
              <a:sym typeface="Calibri"/>
            </a:endParaRPr>
          </a:p>
        </p:txBody>
      </p:sp>
      <p:sp>
        <p:nvSpPr>
          <p:cNvPr id="1111" name="Google Shape;1111;p27"/>
          <p:cNvSpPr/>
          <p:nvPr/>
        </p:nvSpPr>
        <p:spPr>
          <a:xfrm>
            <a:off x="2834640" y="5120640"/>
            <a:ext cx="8991295" cy="1005840"/>
          </a:xfrm>
          <a:prstGeom prst="roundRect">
            <a:avLst>
              <a:gd name="adj" fmla="val 7273"/>
            </a:avLst>
          </a:prstGeom>
          <a:solidFill>
            <a:srgbClr val="F4F6F9"/>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7"/>
          <p:cNvSpPr/>
          <p:nvPr/>
        </p:nvSpPr>
        <p:spPr>
          <a:xfrm>
            <a:off x="3017520" y="5212080"/>
            <a:ext cx="8625535"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150"/>
              <a:buFont typeface="Calibri"/>
              <a:buNone/>
            </a:pPr>
            <a:r>
              <a:rPr lang="en-US" sz="1150" b="1">
                <a:solidFill>
                  <a:srgbClr val="12294B"/>
                </a:solidFill>
                <a:latin typeface="Calibri"/>
                <a:ea typeface="Calibri"/>
                <a:cs typeface="Calibri"/>
                <a:sym typeface="Calibri"/>
              </a:rPr>
              <a:t>Trade-off:  </a:t>
            </a:r>
            <a:r>
              <a:rPr lang="en-US" sz="1150">
                <a:solidFill>
                  <a:srgbClr val="1A1A1A"/>
                </a:solidFill>
                <a:latin typeface="Calibri"/>
                <a:ea typeface="Calibri"/>
                <a:cs typeface="Calibri"/>
                <a:sym typeface="Calibri"/>
              </a:rPr>
              <a:t>lineage-based re-execution costs nothing until a failure happens, but recovery time grows with lineage depth. Checkpointing costs I/O continuously but guarantees bounded, fast recovery.</a:t>
            </a:r>
            <a:endParaRPr sz="115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7"/>
        <p:cNvGrpSpPr/>
        <p:nvPr/>
      </p:nvGrpSpPr>
      <p:grpSpPr>
        <a:xfrm>
          <a:off x="0" y="0"/>
          <a:ext cx="0" cy="0"/>
          <a:chOff x="0" y="0"/>
          <a:chExt cx="0" cy="0"/>
        </a:xfrm>
      </p:grpSpPr>
      <p:sp>
        <p:nvSpPr>
          <p:cNvPr id="1118" name="Google Shape;1118;p28"/>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8"/>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1120" name="Google Shape;1120;p28"/>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1121" name="Google Shape;1121;p28"/>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1122" name="Google Shape;1122;p28"/>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1123" name="Google Shape;1123;p28"/>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1124" name="Google Shape;1124;p28"/>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1125" name="Google Shape;1125;p28"/>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1126" name="Google Shape;1126;p28"/>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1127" name="Google Shape;1127;p28"/>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1128" name="Google Shape;1128;p28"/>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1129" name="Google Shape;1129;p28"/>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1130" name="Google Shape;1130;p28"/>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1131" name="Google Shape;1131;p28"/>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1132" name="Google Shape;1132;p28"/>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1133" name="Google Shape;1133;p28"/>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1134" name="Google Shape;1134;p28"/>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1135" name="Google Shape;1135;p28"/>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1136" name="Google Shape;1136;p28"/>
          <p:cNvSpPr/>
          <p:nvPr/>
        </p:nvSpPr>
        <p:spPr>
          <a:xfrm>
            <a:off x="109728" y="5262372"/>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8"/>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1138" name="Google Shape;1138;p28"/>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1139" name="Google Shape;1139;p28"/>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1140" name="Google Shape;1140;p28"/>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1141" name="Google Shape;1141;p28"/>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3.8 CASE STUDIES</a:t>
            </a:r>
            <a:endParaRPr sz="1200">
              <a:solidFill>
                <a:schemeClr val="dk1"/>
              </a:solidFill>
              <a:latin typeface="Calibri"/>
              <a:ea typeface="Calibri"/>
              <a:cs typeface="Calibri"/>
              <a:sym typeface="Calibri"/>
            </a:endParaRPr>
          </a:p>
        </p:txBody>
      </p:sp>
      <p:sp>
        <p:nvSpPr>
          <p:cNvPr id="1142" name="Google Shape;1142;p28"/>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Case Study — AWS us-east-1 Outage (20 Oct 2025)</a:t>
            </a:r>
            <a:endParaRPr sz="2700">
              <a:solidFill>
                <a:schemeClr val="dk1"/>
              </a:solidFill>
              <a:latin typeface="Calibri"/>
              <a:ea typeface="Calibri"/>
              <a:cs typeface="Calibri"/>
              <a:sym typeface="Calibri"/>
            </a:endParaRPr>
          </a:p>
        </p:txBody>
      </p:sp>
      <p:sp>
        <p:nvSpPr>
          <p:cNvPr id="1143" name="Google Shape;1143;p28"/>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1144" name="Google Shape;1144;p28"/>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19</a:t>
            </a:r>
            <a:endParaRPr sz="850">
              <a:solidFill>
                <a:schemeClr val="dk1"/>
              </a:solidFill>
              <a:latin typeface="Calibri"/>
              <a:ea typeface="Calibri"/>
              <a:cs typeface="Calibri"/>
              <a:sym typeface="Calibri"/>
            </a:endParaRPr>
          </a:p>
        </p:txBody>
      </p:sp>
      <p:sp>
        <p:nvSpPr>
          <p:cNvPr id="1145" name="Google Shape;1145;p28"/>
          <p:cNvSpPr/>
          <p:nvPr/>
        </p:nvSpPr>
        <p:spPr>
          <a:xfrm>
            <a:off x="2834640" y="1371600"/>
            <a:ext cx="8991295" cy="548640"/>
          </a:xfrm>
          <a:prstGeom prst="roundRect">
            <a:avLst>
              <a:gd name="adj" fmla="val 13333"/>
            </a:avLst>
          </a:prstGeom>
          <a:solidFill>
            <a:srgbClr val="B5462A"/>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8"/>
          <p:cNvSpPr/>
          <p:nvPr/>
        </p:nvSpPr>
        <p:spPr>
          <a:xfrm>
            <a:off x="3017520" y="1371600"/>
            <a:ext cx="8625535"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Root cause: DNS-resolution fault in the internal DynamoDB endpoint, us-east-1 (N. Virginia)</a:t>
            </a:r>
            <a:endParaRPr sz="1250">
              <a:solidFill>
                <a:schemeClr val="dk1"/>
              </a:solidFill>
              <a:latin typeface="Calibri"/>
              <a:ea typeface="Calibri"/>
              <a:cs typeface="Calibri"/>
              <a:sym typeface="Calibri"/>
            </a:endParaRPr>
          </a:p>
        </p:txBody>
      </p:sp>
      <p:sp>
        <p:nvSpPr>
          <p:cNvPr id="1147" name="Google Shape;1147;p28"/>
          <p:cNvSpPr/>
          <p:nvPr/>
        </p:nvSpPr>
        <p:spPr>
          <a:xfrm>
            <a:off x="2834640" y="2148840"/>
            <a:ext cx="2814218" cy="914400"/>
          </a:xfrm>
          <a:prstGeom prst="roundRect">
            <a:avLst>
              <a:gd name="adj" fmla="val 8000"/>
            </a:avLst>
          </a:prstGeom>
          <a:solidFill>
            <a:srgbClr val="B5462A"/>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8"/>
          <p:cNvSpPr/>
          <p:nvPr/>
        </p:nvSpPr>
        <p:spPr>
          <a:xfrm>
            <a:off x="2834640" y="2148840"/>
            <a:ext cx="2814218"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DynamoDB</a:t>
            </a:r>
            <a:endParaRPr sz="11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DNS failure</a:t>
            </a:r>
            <a:endParaRPr sz="1100">
              <a:solidFill>
                <a:schemeClr val="dk1"/>
              </a:solidFill>
              <a:latin typeface="Calibri"/>
              <a:ea typeface="Calibri"/>
              <a:cs typeface="Calibri"/>
              <a:sym typeface="Calibri"/>
            </a:endParaRPr>
          </a:p>
        </p:txBody>
      </p:sp>
      <p:sp>
        <p:nvSpPr>
          <p:cNvPr id="1149" name="Google Shape;1149;p28"/>
          <p:cNvSpPr/>
          <p:nvPr/>
        </p:nvSpPr>
        <p:spPr>
          <a:xfrm>
            <a:off x="5676290" y="2514600"/>
            <a:ext cx="219456" cy="164592"/>
          </a:xfrm>
          <a:prstGeom prst="rightArrow">
            <a:avLst>
              <a:gd name="adj1" fmla="val 50000"/>
              <a:gd name="adj2" fmla="val 50000"/>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8"/>
          <p:cNvSpPr/>
          <p:nvPr/>
        </p:nvSpPr>
        <p:spPr>
          <a:xfrm>
            <a:off x="5923178" y="2148840"/>
            <a:ext cx="2814218" cy="914400"/>
          </a:xfrm>
          <a:prstGeom prst="roundRect">
            <a:avLst>
              <a:gd name="adj" fmla="val 8000"/>
            </a:avLst>
          </a:prstGeom>
          <a:solidFill>
            <a:srgbClr val="D9A441"/>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8"/>
          <p:cNvSpPr/>
          <p:nvPr/>
        </p:nvSpPr>
        <p:spPr>
          <a:xfrm>
            <a:off x="5923178" y="2148840"/>
            <a:ext cx="2814218"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830"/>
              </a:buClr>
              <a:buSzPts val="1100"/>
              <a:buFont typeface="Calibri"/>
              <a:buNone/>
            </a:pPr>
            <a:r>
              <a:rPr lang="en-US" sz="1100" b="1">
                <a:solidFill>
                  <a:srgbClr val="0A1830"/>
                </a:solidFill>
                <a:latin typeface="Calibri"/>
                <a:ea typeface="Calibri"/>
                <a:cs typeface="Calibri"/>
                <a:sym typeface="Calibri"/>
              </a:rPr>
              <a:t>Cascades into</a:t>
            </a:r>
            <a:endParaRPr sz="1100">
              <a:solidFill>
                <a:schemeClr val="dk1"/>
              </a:solidFill>
              <a:latin typeface="Calibri"/>
              <a:ea typeface="Calibri"/>
              <a:cs typeface="Calibri"/>
              <a:sym typeface="Calibri"/>
            </a:endParaRPr>
          </a:p>
          <a:p>
            <a:pPr marL="0" marR="0" lvl="0" indent="0" algn="ctr" rtl="0">
              <a:spcBef>
                <a:spcPts val="0"/>
              </a:spcBef>
              <a:spcAft>
                <a:spcPts val="0"/>
              </a:spcAft>
              <a:buClr>
                <a:srgbClr val="0A1830"/>
              </a:buClr>
              <a:buSzPts val="1100"/>
              <a:buFont typeface="Calibri"/>
              <a:buNone/>
            </a:pPr>
            <a:r>
              <a:rPr lang="en-US" sz="1100" b="1">
                <a:solidFill>
                  <a:srgbClr val="0A1830"/>
                </a:solidFill>
                <a:latin typeface="Calibri"/>
                <a:ea typeface="Calibri"/>
                <a:cs typeface="Calibri"/>
                <a:sym typeface="Calibri"/>
              </a:rPr>
              <a:t>EC2 / Lambda / SQS</a:t>
            </a:r>
            <a:endParaRPr sz="1100">
              <a:solidFill>
                <a:schemeClr val="dk1"/>
              </a:solidFill>
              <a:latin typeface="Calibri"/>
              <a:ea typeface="Calibri"/>
              <a:cs typeface="Calibri"/>
              <a:sym typeface="Calibri"/>
            </a:endParaRPr>
          </a:p>
        </p:txBody>
      </p:sp>
      <p:sp>
        <p:nvSpPr>
          <p:cNvPr id="1152" name="Google Shape;1152;p28"/>
          <p:cNvSpPr/>
          <p:nvPr/>
        </p:nvSpPr>
        <p:spPr>
          <a:xfrm>
            <a:off x="8764829" y="2514600"/>
            <a:ext cx="219456" cy="164592"/>
          </a:xfrm>
          <a:prstGeom prst="rightArrow">
            <a:avLst>
              <a:gd name="adj1" fmla="val 50000"/>
              <a:gd name="adj2" fmla="val 50000"/>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8"/>
          <p:cNvSpPr/>
          <p:nvPr/>
        </p:nvSpPr>
        <p:spPr>
          <a:xfrm>
            <a:off x="9011717" y="2148840"/>
            <a:ext cx="2814218" cy="914400"/>
          </a:xfrm>
          <a:prstGeom prst="roundRect">
            <a:avLst>
              <a:gd name="adj" fmla="val 8000"/>
            </a:avLst>
          </a:prstGeom>
          <a:solidFill>
            <a:srgbClr val="12294B"/>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8"/>
          <p:cNvSpPr/>
          <p:nvPr/>
        </p:nvSpPr>
        <p:spPr>
          <a:xfrm>
            <a:off x="9011717" y="2148840"/>
            <a:ext cx="2814218"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Dependent apps</a:t>
            </a:r>
            <a:endParaRPr sz="11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disrupted worldwide</a:t>
            </a:r>
            <a:endParaRPr sz="1100">
              <a:solidFill>
                <a:schemeClr val="dk1"/>
              </a:solidFill>
              <a:latin typeface="Calibri"/>
              <a:ea typeface="Calibri"/>
              <a:cs typeface="Calibri"/>
              <a:sym typeface="Calibri"/>
            </a:endParaRPr>
          </a:p>
        </p:txBody>
      </p:sp>
      <p:sp>
        <p:nvSpPr>
          <p:cNvPr id="1155" name="Google Shape;1155;p28"/>
          <p:cNvSpPr/>
          <p:nvPr/>
        </p:nvSpPr>
        <p:spPr>
          <a:xfrm>
            <a:off x="2834640" y="3246120"/>
            <a:ext cx="8991295"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200"/>
              <a:buFont typeface="Calibri"/>
              <a:buNone/>
            </a:pPr>
            <a:r>
              <a:rPr lang="en-US" sz="1200" i="1">
                <a:solidFill>
                  <a:srgbClr val="1A1A1A"/>
                </a:solidFill>
                <a:latin typeface="Calibri"/>
                <a:ea typeface="Calibri"/>
                <a:cs typeface="Calibri"/>
                <a:sym typeface="Calibri"/>
              </a:rPr>
              <a:t>Visible impact: widespread disruption to Pinterest, Snapchat, Duolingo, and many other platforms.</a:t>
            </a:r>
            <a:endParaRPr sz="1200">
              <a:solidFill>
                <a:schemeClr val="dk1"/>
              </a:solidFill>
              <a:latin typeface="Calibri"/>
              <a:ea typeface="Calibri"/>
              <a:cs typeface="Calibri"/>
              <a:sym typeface="Calibri"/>
            </a:endParaRPr>
          </a:p>
        </p:txBody>
      </p:sp>
      <p:sp>
        <p:nvSpPr>
          <p:cNvPr id="1156" name="Google Shape;1156;p28"/>
          <p:cNvSpPr/>
          <p:nvPr/>
        </p:nvSpPr>
        <p:spPr>
          <a:xfrm>
            <a:off x="2834640" y="3749040"/>
            <a:ext cx="8991295" cy="2331720"/>
          </a:xfrm>
          <a:prstGeom prst="roundRect">
            <a:avLst>
              <a:gd name="adj" fmla="val 3137"/>
            </a:avLst>
          </a:prstGeom>
          <a:solidFill>
            <a:srgbClr val="F4F6F9"/>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8"/>
          <p:cNvSpPr/>
          <p:nvPr/>
        </p:nvSpPr>
        <p:spPr>
          <a:xfrm>
            <a:off x="3017520" y="3858768"/>
            <a:ext cx="8625535"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300"/>
              <a:buFont typeface="Calibri"/>
              <a:buNone/>
            </a:pPr>
            <a:r>
              <a:rPr lang="en-US" sz="1300" b="1">
                <a:solidFill>
                  <a:srgbClr val="12294B"/>
                </a:solidFill>
                <a:latin typeface="Calibri"/>
                <a:ea typeface="Calibri"/>
                <a:cs typeface="Calibri"/>
                <a:sym typeface="Calibri"/>
              </a:rPr>
              <a:t>Classroom connection to Section 3.7</a:t>
            </a:r>
            <a:endParaRPr sz="1300">
              <a:solidFill>
                <a:schemeClr val="dk1"/>
              </a:solidFill>
              <a:latin typeface="Calibri"/>
              <a:ea typeface="Calibri"/>
              <a:cs typeface="Calibri"/>
              <a:sym typeface="Calibri"/>
            </a:endParaRPr>
          </a:p>
        </p:txBody>
      </p:sp>
      <p:sp>
        <p:nvSpPr>
          <p:cNvPr id="1158" name="Google Shape;1158;p28"/>
          <p:cNvSpPr/>
          <p:nvPr/>
        </p:nvSpPr>
        <p:spPr>
          <a:xfrm>
            <a:off x="3017520" y="4224528"/>
            <a:ext cx="8625535" cy="1737360"/>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1A1A1A"/>
              </a:buClr>
              <a:buSzPts val="1150"/>
              <a:buFont typeface="Calibri"/>
              <a:buChar char="▪"/>
            </a:pPr>
            <a:r>
              <a:rPr lang="en-US" sz="1150">
                <a:solidFill>
                  <a:srgbClr val="1A1A1A"/>
                </a:solidFill>
                <a:latin typeface="Calibri"/>
                <a:ea typeface="Calibri"/>
                <a:cs typeface="Calibri"/>
                <a:sym typeface="Calibri"/>
              </a:rPr>
              <a:t>A region is a fault-isolation boundary for the DATA plane, but often NOT for the CONTROL plane</a:t>
            </a:r>
            <a:endParaRPr sz="1150">
              <a:solidFill>
                <a:schemeClr val="dk1"/>
              </a:solidFill>
              <a:latin typeface="Calibri"/>
              <a:ea typeface="Calibri"/>
              <a:cs typeface="Calibri"/>
              <a:sym typeface="Calibri"/>
            </a:endParaRPr>
          </a:p>
          <a:p>
            <a:pPr marL="203200" marR="0" lvl="0" indent="-203200" algn="l" rtl="0">
              <a:lnSpc>
                <a:spcPct val="108000"/>
              </a:lnSpc>
              <a:spcBef>
                <a:spcPts val="700"/>
              </a:spcBef>
              <a:spcAft>
                <a:spcPts val="0"/>
              </a:spcAft>
              <a:buClr>
                <a:srgbClr val="1A1A1A"/>
              </a:buClr>
              <a:buSzPts val="1150"/>
              <a:buFont typeface="Calibri"/>
              <a:buChar char="▪"/>
            </a:pPr>
            <a:r>
              <a:rPr lang="en-US" sz="1150">
                <a:solidFill>
                  <a:srgbClr val="1A1A1A"/>
                </a:solidFill>
                <a:latin typeface="Calibri"/>
                <a:ea typeface="Calibri"/>
                <a:cs typeface="Calibri"/>
                <a:sym typeface="Calibri"/>
              </a:rPr>
              <a:t>Services in every region can depend on us-east-1's control-plane components — "multi-region" did not fully protect dependents</a:t>
            </a:r>
            <a:endParaRPr sz="1150">
              <a:solidFill>
                <a:schemeClr val="dk1"/>
              </a:solidFill>
              <a:latin typeface="Calibri"/>
              <a:ea typeface="Calibri"/>
              <a:cs typeface="Calibri"/>
              <a:sym typeface="Calibri"/>
            </a:endParaRPr>
          </a:p>
          <a:p>
            <a:pPr marL="203200" marR="0" lvl="0" indent="-203200" algn="l" rtl="0">
              <a:lnSpc>
                <a:spcPct val="108000"/>
              </a:lnSpc>
              <a:spcBef>
                <a:spcPts val="700"/>
              </a:spcBef>
              <a:spcAft>
                <a:spcPts val="0"/>
              </a:spcAft>
              <a:buClr>
                <a:srgbClr val="1A1A1A"/>
              </a:buClr>
              <a:buSzPts val="1150"/>
              <a:buFont typeface="Calibri"/>
              <a:buChar char="▪"/>
            </a:pPr>
            <a:r>
              <a:rPr lang="en-US" sz="1150">
                <a:solidFill>
                  <a:srgbClr val="1A1A1A"/>
                </a:solidFill>
                <a:latin typeface="Calibri"/>
                <a:ea typeface="Calibri"/>
                <a:cs typeface="Calibri"/>
                <a:sym typeface="Calibri"/>
              </a:rPr>
              <a:t>This is a real Layer-1 (data-service) failure cascading upward into Layer-3/4 coordination failures — exactly what checkpointing/recovery design must anticipate</a:t>
            </a:r>
            <a:endParaRPr sz="115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3"/>
        <p:cNvGrpSpPr/>
        <p:nvPr/>
      </p:nvGrpSpPr>
      <p:grpSpPr>
        <a:xfrm>
          <a:off x="0" y="0"/>
          <a:ext cx="0" cy="0"/>
          <a:chOff x="0" y="0"/>
          <a:chExt cx="0" cy="0"/>
        </a:xfrm>
      </p:grpSpPr>
      <p:sp>
        <p:nvSpPr>
          <p:cNvPr id="1164" name="Google Shape;1164;p29"/>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9"/>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1166" name="Google Shape;1166;p29"/>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1167" name="Google Shape;1167;p29"/>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1168" name="Google Shape;1168;p29"/>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1169" name="Google Shape;1169;p29"/>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1170" name="Google Shape;1170;p29"/>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1171" name="Google Shape;1171;p29"/>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1172" name="Google Shape;1172;p29"/>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1173" name="Google Shape;1173;p29"/>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1174" name="Google Shape;1174;p29"/>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1175" name="Google Shape;1175;p29"/>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1176" name="Google Shape;1176;p29"/>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1177" name="Google Shape;1177;p29"/>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1178" name="Google Shape;1178;p29"/>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1179" name="Google Shape;1179;p29"/>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1180" name="Google Shape;1180;p29"/>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1181" name="Google Shape;1181;p29"/>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1182" name="Google Shape;1182;p29"/>
          <p:cNvSpPr/>
          <p:nvPr/>
        </p:nvSpPr>
        <p:spPr>
          <a:xfrm>
            <a:off x="109728" y="5262372"/>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9"/>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1184" name="Google Shape;1184;p29"/>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1185" name="Google Shape;1185;p29"/>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1186" name="Google Shape;1186;p29"/>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1187" name="Google Shape;1187;p29"/>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3.8 CASE STUDIES</a:t>
            </a:r>
            <a:endParaRPr sz="1200">
              <a:solidFill>
                <a:schemeClr val="dk1"/>
              </a:solidFill>
              <a:latin typeface="Calibri"/>
              <a:ea typeface="Calibri"/>
              <a:cs typeface="Calibri"/>
              <a:sym typeface="Calibri"/>
            </a:endParaRPr>
          </a:p>
        </p:txBody>
      </p:sp>
      <p:sp>
        <p:nvSpPr>
          <p:cNvPr id="1188" name="Google Shape;1188;p29"/>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More 2025 Outages &amp; Industry Figures</a:t>
            </a:r>
            <a:endParaRPr sz="2700">
              <a:solidFill>
                <a:schemeClr val="dk1"/>
              </a:solidFill>
              <a:latin typeface="Calibri"/>
              <a:ea typeface="Calibri"/>
              <a:cs typeface="Calibri"/>
              <a:sym typeface="Calibri"/>
            </a:endParaRPr>
          </a:p>
        </p:txBody>
      </p:sp>
      <p:sp>
        <p:nvSpPr>
          <p:cNvPr id="1189" name="Google Shape;1189;p29"/>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1190" name="Google Shape;1190;p29"/>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20</a:t>
            </a:r>
            <a:endParaRPr sz="850">
              <a:solidFill>
                <a:schemeClr val="dk1"/>
              </a:solidFill>
              <a:latin typeface="Calibri"/>
              <a:ea typeface="Calibri"/>
              <a:cs typeface="Calibri"/>
              <a:sym typeface="Calibri"/>
            </a:endParaRPr>
          </a:p>
        </p:txBody>
      </p:sp>
      <p:sp>
        <p:nvSpPr>
          <p:cNvPr id="1191" name="Google Shape;1191;p29"/>
          <p:cNvSpPr/>
          <p:nvPr/>
        </p:nvSpPr>
        <p:spPr>
          <a:xfrm>
            <a:off x="2834640" y="1371600"/>
            <a:ext cx="4312768" cy="1965960"/>
          </a:xfrm>
          <a:prstGeom prst="roundRect">
            <a:avLst>
              <a:gd name="adj" fmla="val 3721"/>
            </a:avLst>
          </a:prstGeom>
          <a:solidFill>
            <a:srgbClr val="FFFFFF"/>
          </a:solidFill>
          <a:ln w="12700" cap="flat" cmpd="sng">
            <a:solidFill>
              <a:srgbClr val="D7DCE4"/>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9"/>
          <p:cNvSpPr/>
          <p:nvPr/>
        </p:nvSpPr>
        <p:spPr>
          <a:xfrm>
            <a:off x="2971800" y="1481328"/>
            <a:ext cx="4038448"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200"/>
              <a:buFont typeface="Calibri"/>
              <a:buNone/>
            </a:pPr>
            <a:r>
              <a:rPr lang="en-US" sz="1200" b="1">
                <a:solidFill>
                  <a:srgbClr val="12294B"/>
                </a:solidFill>
                <a:latin typeface="Calibri"/>
                <a:ea typeface="Calibri"/>
                <a:cs typeface="Calibri"/>
                <a:sym typeface="Calibri"/>
              </a:rPr>
              <a:t>Azure Front Door — 29 Oct 2025</a:t>
            </a:r>
            <a:endParaRPr sz="1200">
              <a:solidFill>
                <a:schemeClr val="dk1"/>
              </a:solidFill>
              <a:latin typeface="Calibri"/>
              <a:ea typeface="Calibri"/>
              <a:cs typeface="Calibri"/>
              <a:sym typeface="Calibri"/>
            </a:endParaRPr>
          </a:p>
        </p:txBody>
      </p:sp>
      <p:sp>
        <p:nvSpPr>
          <p:cNvPr id="1193" name="Google Shape;1193;p29"/>
          <p:cNvSpPr/>
          <p:nvPr/>
        </p:nvSpPr>
        <p:spPr>
          <a:xfrm>
            <a:off x="2971800" y="1810512"/>
            <a:ext cx="4038448" cy="14173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Shared global edge/routing layer degraded. Every app behind Front Door was affected simultaneously — regardless of backend distribution.</a:t>
            </a:r>
            <a:endParaRPr sz="1050">
              <a:solidFill>
                <a:schemeClr val="dk1"/>
              </a:solidFill>
              <a:latin typeface="Calibri"/>
              <a:ea typeface="Calibri"/>
              <a:cs typeface="Calibri"/>
              <a:sym typeface="Calibri"/>
            </a:endParaRPr>
          </a:p>
        </p:txBody>
      </p:sp>
      <p:sp>
        <p:nvSpPr>
          <p:cNvPr id="1194" name="Google Shape;1194;p29"/>
          <p:cNvSpPr/>
          <p:nvPr/>
        </p:nvSpPr>
        <p:spPr>
          <a:xfrm>
            <a:off x="7513168" y="1371600"/>
            <a:ext cx="4312768" cy="1965960"/>
          </a:xfrm>
          <a:prstGeom prst="roundRect">
            <a:avLst>
              <a:gd name="adj" fmla="val 3721"/>
            </a:avLst>
          </a:prstGeom>
          <a:solidFill>
            <a:srgbClr val="FFFFFF"/>
          </a:solidFill>
          <a:ln w="12700" cap="flat" cmpd="sng">
            <a:solidFill>
              <a:srgbClr val="D7DCE4"/>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9"/>
          <p:cNvSpPr/>
          <p:nvPr/>
        </p:nvSpPr>
        <p:spPr>
          <a:xfrm>
            <a:off x="7650328" y="1481328"/>
            <a:ext cx="4038448"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200"/>
              <a:buFont typeface="Calibri"/>
              <a:buNone/>
            </a:pPr>
            <a:r>
              <a:rPr lang="en-US" sz="1200" b="1">
                <a:solidFill>
                  <a:srgbClr val="12294B"/>
                </a:solidFill>
                <a:latin typeface="Calibri"/>
                <a:ea typeface="Calibri"/>
                <a:cs typeface="Calibri"/>
                <a:sym typeface="Calibri"/>
              </a:rPr>
              <a:t>Google Cloud IAM — 12 Jun 2025</a:t>
            </a:r>
            <a:endParaRPr sz="1200">
              <a:solidFill>
                <a:schemeClr val="dk1"/>
              </a:solidFill>
              <a:latin typeface="Calibri"/>
              <a:ea typeface="Calibri"/>
              <a:cs typeface="Calibri"/>
              <a:sym typeface="Calibri"/>
            </a:endParaRPr>
          </a:p>
        </p:txBody>
      </p:sp>
      <p:sp>
        <p:nvSpPr>
          <p:cNvPr id="1196" name="Google Shape;1196;p29"/>
          <p:cNvSpPr/>
          <p:nvPr/>
        </p:nvSpPr>
        <p:spPr>
          <a:xfrm>
            <a:off x="7650328" y="1810512"/>
            <a:ext cx="4038448" cy="14173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180+ minutes of disruption after an IAM failure blocked credential issuance — hit Spotify, Discord, Shopify, OpenAI, and GitHub.</a:t>
            </a:r>
            <a:endParaRPr sz="1050">
              <a:solidFill>
                <a:schemeClr val="dk1"/>
              </a:solidFill>
              <a:latin typeface="Calibri"/>
              <a:ea typeface="Calibri"/>
              <a:cs typeface="Calibri"/>
              <a:sym typeface="Calibri"/>
            </a:endParaRPr>
          </a:p>
        </p:txBody>
      </p:sp>
      <p:sp>
        <p:nvSpPr>
          <p:cNvPr id="1197" name="Google Shape;1197;p29"/>
          <p:cNvSpPr/>
          <p:nvPr/>
        </p:nvSpPr>
        <p:spPr>
          <a:xfrm>
            <a:off x="2834640" y="35204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350"/>
              <a:buFont typeface="Calibri"/>
              <a:buNone/>
            </a:pPr>
            <a:r>
              <a:rPr lang="en-US" sz="1350" b="1">
                <a:solidFill>
                  <a:srgbClr val="12294B"/>
                </a:solidFill>
                <a:latin typeface="Calibri"/>
                <a:ea typeface="Calibri"/>
                <a:cs typeface="Calibri"/>
                <a:sym typeface="Calibri"/>
              </a:rPr>
              <a:t>Industry Figures, 2025–2026</a:t>
            </a:r>
            <a:endParaRPr sz="1350">
              <a:solidFill>
                <a:schemeClr val="dk1"/>
              </a:solidFill>
              <a:latin typeface="Calibri"/>
              <a:ea typeface="Calibri"/>
              <a:cs typeface="Calibri"/>
              <a:sym typeface="Calibri"/>
            </a:endParaRPr>
          </a:p>
        </p:txBody>
      </p:sp>
      <p:graphicFrame>
        <p:nvGraphicFramePr>
          <p:cNvPr id="1198" name="Google Shape;1198;p29"/>
          <p:cNvGraphicFramePr/>
          <p:nvPr/>
        </p:nvGraphicFramePr>
        <p:xfrm>
          <a:off x="2834640" y="3840480"/>
          <a:ext cx="329184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1199" name="Google Shape;1199;p29"/>
          <p:cNvSpPr/>
          <p:nvPr/>
        </p:nvSpPr>
        <p:spPr>
          <a:xfrm>
            <a:off x="6400800" y="3840480"/>
            <a:ext cx="5425135" cy="2148840"/>
          </a:xfrm>
          <a:prstGeom prst="roundRect">
            <a:avLst>
              <a:gd name="adj" fmla="val 3404"/>
            </a:avLst>
          </a:prstGeom>
          <a:solidFill>
            <a:srgbClr val="F4F6F9"/>
          </a:solidFill>
          <a:ln w="12700" cap="flat" cmpd="sng">
            <a:solidFill>
              <a:srgbClr val="E2E6EC"/>
            </a:solidFill>
            <a:prstDash val="solid"/>
            <a:round/>
            <a:headEnd type="none" w="sm" len="sm"/>
            <a:tailEnd type="none" w="sm" len="sm"/>
          </a:ln>
          <a:effectLst>
            <a:outerShdw blurRad="76200" dist="25400" dir="5400000" algn="bl" rotWithShape="0">
              <a:srgbClr val="9AA5B5">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9"/>
          <p:cNvSpPr/>
          <p:nvPr/>
        </p:nvSpPr>
        <p:spPr>
          <a:xfrm>
            <a:off x="6583680" y="3977640"/>
            <a:ext cx="5059375" cy="1920240"/>
          </a:xfrm>
          <a:prstGeom prst="rect">
            <a:avLst/>
          </a:prstGeom>
          <a:noFill/>
          <a:ln>
            <a:noFill/>
          </a:ln>
        </p:spPr>
        <p:txBody>
          <a:bodyPr spcFirstLastPara="1" wrap="square" lIns="91425" tIns="45700" rIns="91425" bIns="45700" anchor="t" anchorCtr="0">
            <a:noAutofit/>
          </a:bodyPr>
          <a:lstStyle/>
          <a:p>
            <a:pPr marL="203200" marR="0" lvl="0" indent="-203200" algn="l" rtl="0">
              <a:lnSpc>
                <a:spcPct val="108000"/>
              </a:lnSpc>
              <a:spcBef>
                <a:spcPts val="0"/>
              </a:spcBef>
              <a:spcAft>
                <a:spcPts val="0"/>
              </a:spcAft>
              <a:buClr>
                <a:srgbClr val="1A1A1A"/>
              </a:buClr>
              <a:buSzPts val="1050"/>
              <a:buFont typeface="Calibri"/>
              <a:buChar char="▪"/>
            </a:pPr>
            <a:r>
              <a:rPr lang="en-US" sz="1050">
                <a:solidFill>
                  <a:srgbClr val="1A1A1A"/>
                </a:solidFill>
                <a:latin typeface="Calibri"/>
                <a:ea typeface="Calibri"/>
                <a:cs typeface="Calibri"/>
                <a:sym typeface="Calibri"/>
              </a:rPr>
              <a:t>18,700+ companies run Apache Spark in production worldwide (2026)</a:t>
            </a:r>
            <a:endParaRPr sz="105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050"/>
              <a:buFont typeface="Calibri"/>
              <a:buChar char="▪"/>
            </a:pPr>
            <a:r>
              <a:rPr lang="en-US" sz="1050">
                <a:solidFill>
                  <a:srgbClr val="1A1A1A"/>
                </a:solidFill>
                <a:latin typeface="Calibri"/>
                <a:ea typeface="Calibri"/>
                <a:cs typeface="Calibri"/>
                <a:sym typeface="Calibri"/>
              </a:rPr>
              <a:t>100% of surveyed enterprises reported an outage-related revenue loss in 2025 (Cockroach Labs)</a:t>
            </a:r>
            <a:endParaRPr sz="1050">
              <a:solidFill>
                <a:schemeClr val="dk1"/>
              </a:solidFill>
              <a:latin typeface="Calibri"/>
              <a:ea typeface="Calibri"/>
              <a:cs typeface="Calibri"/>
              <a:sym typeface="Calibri"/>
            </a:endParaRPr>
          </a:p>
          <a:p>
            <a:pPr marL="203200" marR="0" lvl="0" indent="-203200" algn="l" rtl="0">
              <a:lnSpc>
                <a:spcPct val="108000"/>
              </a:lnSpc>
              <a:spcBef>
                <a:spcPts val="800"/>
              </a:spcBef>
              <a:spcAft>
                <a:spcPts val="0"/>
              </a:spcAft>
              <a:buClr>
                <a:srgbClr val="1A1A1A"/>
              </a:buClr>
              <a:buSzPts val="1050"/>
              <a:buFont typeface="Calibri"/>
              <a:buChar char="▪"/>
            </a:pPr>
            <a:r>
              <a:rPr lang="en-US" sz="1050">
                <a:solidFill>
                  <a:srgbClr val="1A1A1A"/>
                </a:solidFill>
                <a:latin typeface="Calibri"/>
                <a:ea typeface="Calibri"/>
                <a:cs typeface="Calibri"/>
                <a:sym typeface="Calibri"/>
              </a:rPr>
              <a:t>Yet &lt;33% perform regular failover testing — theory/practice gap</a:t>
            </a:r>
            <a:endParaRPr sz="105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5"/>
        <p:cNvGrpSpPr/>
        <p:nvPr/>
      </p:nvGrpSpPr>
      <p:grpSpPr>
        <a:xfrm>
          <a:off x="0" y="0"/>
          <a:ext cx="0" cy="0"/>
          <a:chOff x="0" y="0"/>
          <a:chExt cx="0" cy="0"/>
        </a:xfrm>
      </p:grpSpPr>
      <p:sp>
        <p:nvSpPr>
          <p:cNvPr id="1206" name="Google Shape;1206;p30"/>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0"/>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1208" name="Google Shape;1208;p30"/>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1209" name="Google Shape;1209;p30"/>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1210" name="Google Shape;1210;p30"/>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3.1</a:t>
            </a:r>
            <a:endParaRPr sz="1600">
              <a:solidFill>
                <a:schemeClr val="lt1"/>
              </a:solidFill>
              <a:latin typeface="Calibri"/>
              <a:ea typeface="Calibri"/>
              <a:cs typeface="Calibri"/>
              <a:sym typeface="Calibri"/>
            </a:endParaRPr>
          </a:p>
        </p:txBody>
      </p:sp>
      <p:sp>
        <p:nvSpPr>
          <p:cNvPr id="1211" name="Google Shape;1211;p30"/>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Parallelism &amp; its Types</a:t>
            </a:r>
            <a:endParaRPr sz="1400">
              <a:solidFill>
                <a:schemeClr val="lt1"/>
              </a:solidFill>
              <a:latin typeface="Calibri"/>
              <a:ea typeface="Calibri"/>
              <a:cs typeface="Calibri"/>
              <a:sym typeface="Calibri"/>
            </a:endParaRPr>
          </a:p>
        </p:txBody>
      </p:sp>
      <p:sp>
        <p:nvSpPr>
          <p:cNvPr id="1212" name="Google Shape;1212;p30"/>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3.2</a:t>
            </a:r>
            <a:endParaRPr sz="1600">
              <a:solidFill>
                <a:schemeClr val="lt1"/>
              </a:solidFill>
              <a:latin typeface="Calibri"/>
              <a:ea typeface="Calibri"/>
              <a:cs typeface="Calibri"/>
              <a:sym typeface="Calibri"/>
            </a:endParaRPr>
          </a:p>
        </p:txBody>
      </p:sp>
      <p:sp>
        <p:nvSpPr>
          <p:cNvPr id="1213" name="Google Shape;1213;p30"/>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Partitioning</a:t>
            </a:r>
            <a:endParaRPr sz="1400">
              <a:solidFill>
                <a:schemeClr val="lt1"/>
              </a:solidFill>
              <a:latin typeface="Calibri"/>
              <a:ea typeface="Calibri"/>
              <a:cs typeface="Calibri"/>
              <a:sym typeface="Calibri"/>
            </a:endParaRPr>
          </a:p>
        </p:txBody>
      </p:sp>
      <p:sp>
        <p:nvSpPr>
          <p:cNvPr id="1214" name="Google Shape;1214;p30"/>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3.3</a:t>
            </a:r>
            <a:endParaRPr sz="1600">
              <a:solidFill>
                <a:schemeClr val="lt1"/>
              </a:solidFill>
              <a:latin typeface="Calibri"/>
              <a:ea typeface="Calibri"/>
              <a:cs typeface="Calibri"/>
              <a:sym typeface="Calibri"/>
            </a:endParaRPr>
          </a:p>
        </p:txBody>
      </p:sp>
      <p:sp>
        <p:nvSpPr>
          <p:cNvPr id="1215" name="Google Shape;1215;p30"/>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Data Processing Ops</a:t>
            </a:r>
            <a:endParaRPr sz="1400">
              <a:solidFill>
                <a:schemeClr val="lt1"/>
              </a:solidFill>
              <a:latin typeface="Calibri"/>
              <a:ea typeface="Calibri"/>
              <a:cs typeface="Calibri"/>
              <a:sym typeface="Calibri"/>
            </a:endParaRPr>
          </a:p>
        </p:txBody>
      </p:sp>
      <p:sp>
        <p:nvSpPr>
          <p:cNvPr id="1216" name="Google Shape;1216;p30"/>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3.4</a:t>
            </a:r>
            <a:endParaRPr sz="1600">
              <a:solidFill>
                <a:schemeClr val="lt1"/>
              </a:solidFill>
              <a:latin typeface="Calibri"/>
              <a:ea typeface="Calibri"/>
              <a:cs typeface="Calibri"/>
              <a:sym typeface="Calibri"/>
            </a:endParaRPr>
          </a:p>
        </p:txBody>
      </p:sp>
      <p:sp>
        <p:nvSpPr>
          <p:cNvPr id="1217" name="Google Shape;1217;p30"/>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Query Optimization</a:t>
            </a:r>
            <a:endParaRPr sz="1400">
              <a:solidFill>
                <a:schemeClr val="lt1"/>
              </a:solidFill>
              <a:latin typeface="Calibri"/>
              <a:ea typeface="Calibri"/>
              <a:cs typeface="Calibri"/>
              <a:sym typeface="Calibri"/>
            </a:endParaRPr>
          </a:p>
        </p:txBody>
      </p:sp>
      <p:sp>
        <p:nvSpPr>
          <p:cNvPr id="1218" name="Google Shape;1218;p30"/>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3.5</a:t>
            </a:r>
            <a:endParaRPr sz="1600">
              <a:solidFill>
                <a:schemeClr val="lt1"/>
              </a:solidFill>
              <a:latin typeface="Calibri"/>
              <a:ea typeface="Calibri"/>
              <a:cs typeface="Calibri"/>
              <a:sym typeface="Calibri"/>
            </a:endParaRPr>
          </a:p>
        </p:txBody>
      </p:sp>
      <p:sp>
        <p:nvSpPr>
          <p:cNvPr id="1219" name="Google Shape;1219;p30"/>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Cluster Resource Mgmt</a:t>
            </a:r>
            <a:endParaRPr sz="1400">
              <a:solidFill>
                <a:schemeClr val="lt1"/>
              </a:solidFill>
              <a:latin typeface="Calibri"/>
              <a:ea typeface="Calibri"/>
              <a:cs typeface="Calibri"/>
              <a:sym typeface="Calibri"/>
            </a:endParaRPr>
          </a:p>
        </p:txBody>
      </p:sp>
      <p:sp>
        <p:nvSpPr>
          <p:cNvPr id="1220" name="Google Shape;1220;p30"/>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3.6</a:t>
            </a:r>
            <a:endParaRPr sz="1600">
              <a:solidFill>
                <a:schemeClr val="lt1"/>
              </a:solidFill>
              <a:latin typeface="Calibri"/>
              <a:ea typeface="Calibri"/>
              <a:cs typeface="Calibri"/>
              <a:sym typeface="Calibri"/>
            </a:endParaRPr>
          </a:p>
        </p:txBody>
      </p:sp>
      <p:sp>
        <p:nvSpPr>
          <p:cNvPr id="1221" name="Google Shape;1221;p30"/>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Load Balancing</a:t>
            </a:r>
            <a:endParaRPr sz="1400">
              <a:solidFill>
                <a:schemeClr val="lt1"/>
              </a:solidFill>
              <a:latin typeface="Calibri"/>
              <a:ea typeface="Calibri"/>
              <a:cs typeface="Calibri"/>
              <a:sym typeface="Calibri"/>
            </a:endParaRPr>
          </a:p>
        </p:txBody>
      </p:sp>
      <p:sp>
        <p:nvSpPr>
          <p:cNvPr id="1222" name="Google Shape;1222;p30"/>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3.7</a:t>
            </a:r>
            <a:endParaRPr sz="1600">
              <a:solidFill>
                <a:schemeClr val="lt1"/>
              </a:solidFill>
              <a:latin typeface="Calibri"/>
              <a:ea typeface="Calibri"/>
              <a:cs typeface="Calibri"/>
              <a:sym typeface="Calibri"/>
            </a:endParaRPr>
          </a:p>
        </p:txBody>
      </p:sp>
      <p:sp>
        <p:nvSpPr>
          <p:cNvPr id="1223" name="Google Shape;1223;p30"/>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Fault Tolerance</a:t>
            </a:r>
            <a:endParaRPr sz="1400">
              <a:solidFill>
                <a:schemeClr val="lt1"/>
              </a:solidFill>
              <a:latin typeface="Calibri"/>
              <a:ea typeface="Calibri"/>
              <a:cs typeface="Calibri"/>
              <a:sym typeface="Calibri"/>
            </a:endParaRPr>
          </a:p>
        </p:txBody>
      </p:sp>
      <p:sp>
        <p:nvSpPr>
          <p:cNvPr id="1224" name="Google Shape;1224;p30"/>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3.8</a:t>
            </a:r>
            <a:endParaRPr sz="1600">
              <a:solidFill>
                <a:schemeClr val="lt1"/>
              </a:solidFill>
              <a:latin typeface="Calibri"/>
              <a:ea typeface="Calibri"/>
              <a:cs typeface="Calibri"/>
              <a:sym typeface="Calibri"/>
            </a:endParaRPr>
          </a:p>
        </p:txBody>
      </p:sp>
      <p:sp>
        <p:nvSpPr>
          <p:cNvPr id="1225" name="Google Shape;1225;p30"/>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Case Studies</a:t>
            </a:r>
            <a:endParaRPr sz="1400">
              <a:solidFill>
                <a:schemeClr val="lt1"/>
              </a:solidFill>
              <a:latin typeface="Calibri"/>
              <a:ea typeface="Calibri"/>
              <a:cs typeface="Calibri"/>
              <a:sym typeface="Calibri"/>
            </a:endParaRPr>
          </a:p>
        </p:txBody>
      </p:sp>
      <p:sp>
        <p:nvSpPr>
          <p:cNvPr id="1226" name="Google Shape;1226;p30"/>
          <p:cNvSpPr/>
          <p:nvPr/>
        </p:nvSpPr>
        <p:spPr>
          <a:xfrm>
            <a:off x="109728" y="5824728"/>
            <a:ext cx="2295144" cy="489204"/>
          </a:xfrm>
          <a:prstGeom prst="rect">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0"/>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alibri"/>
              <a:buNone/>
            </a:pPr>
            <a:r>
              <a:rPr lang="en-US" sz="1600" b="1">
                <a:solidFill>
                  <a:schemeClr val="lt1"/>
                </a:solidFill>
                <a:latin typeface="Calibri"/>
                <a:ea typeface="Calibri"/>
                <a:cs typeface="Calibri"/>
                <a:sym typeface="Calibri"/>
              </a:rPr>
              <a:t>3.9</a:t>
            </a:r>
            <a:endParaRPr sz="1600">
              <a:solidFill>
                <a:schemeClr val="lt1"/>
              </a:solidFill>
              <a:latin typeface="Calibri"/>
              <a:ea typeface="Calibri"/>
              <a:cs typeface="Calibri"/>
              <a:sym typeface="Calibri"/>
            </a:endParaRPr>
          </a:p>
        </p:txBody>
      </p:sp>
      <p:sp>
        <p:nvSpPr>
          <p:cNvPr id="1228" name="Google Shape;1228;p30"/>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Summary &amp; Review</a:t>
            </a:r>
            <a:endParaRPr sz="1400">
              <a:solidFill>
                <a:schemeClr val="lt1"/>
              </a:solidFill>
              <a:latin typeface="Calibri"/>
              <a:ea typeface="Calibri"/>
              <a:cs typeface="Calibri"/>
              <a:sym typeface="Calibri"/>
            </a:endParaRPr>
          </a:p>
        </p:txBody>
      </p:sp>
      <p:sp>
        <p:nvSpPr>
          <p:cNvPr id="1229" name="Google Shape;1229;p30"/>
          <p:cNvSpPr/>
          <p:nvPr/>
        </p:nvSpPr>
        <p:spPr>
          <a:xfrm>
            <a:off x="2834640" y="320040"/>
            <a:ext cx="8991295"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A78"/>
              </a:buClr>
              <a:buSzPts val="1200"/>
              <a:buFont typeface="Calibri"/>
              <a:buNone/>
            </a:pPr>
            <a:r>
              <a:rPr lang="en-US" sz="1200" b="1">
                <a:solidFill>
                  <a:srgbClr val="1B7A78"/>
                </a:solidFill>
                <a:latin typeface="Calibri"/>
                <a:ea typeface="Calibri"/>
                <a:cs typeface="Calibri"/>
                <a:sym typeface="Calibri"/>
              </a:rPr>
              <a:t>3.9 SUMMARY</a:t>
            </a:r>
            <a:endParaRPr sz="1200">
              <a:solidFill>
                <a:schemeClr val="dk1"/>
              </a:solidFill>
              <a:latin typeface="Calibri"/>
              <a:ea typeface="Calibri"/>
              <a:cs typeface="Calibri"/>
              <a:sym typeface="Calibri"/>
            </a:endParaRPr>
          </a:p>
        </p:txBody>
      </p:sp>
      <p:sp>
        <p:nvSpPr>
          <p:cNvPr id="1230" name="Google Shape;1230;p30"/>
          <p:cNvSpPr/>
          <p:nvPr/>
        </p:nvSpPr>
        <p:spPr>
          <a:xfrm>
            <a:off x="2834640" y="566928"/>
            <a:ext cx="8991295" cy="6583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2294B"/>
              </a:buClr>
              <a:buSzPts val="2700"/>
              <a:buFont typeface="Calibri"/>
              <a:buNone/>
            </a:pPr>
            <a:r>
              <a:rPr lang="en-US" sz="2700" b="1">
                <a:solidFill>
                  <a:srgbClr val="12294B"/>
                </a:solidFill>
                <a:latin typeface="Calibri"/>
                <a:ea typeface="Calibri"/>
                <a:cs typeface="Calibri"/>
                <a:sym typeface="Calibri"/>
              </a:rPr>
              <a:t>Unit 3 Recap</a:t>
            </a:r>
            <a:endParaRPr sz="2700">
              <a:solidFill>
                <a:schemeClr val="dk1"/>
              </a:solidFill>
              <a:latin typeface="Calibri"/>
              <a:ea typeface="Calibri"/>
              <a:cs typeface="Calibri"/>
              <a:sym typeface="Calibri"/>
            </a:endParaRPr>
          </a:p>
        </p:txBody>
      </p:sp>
      <p:sp>
        <p:nvSpPr>
          <p:cNvPr id="1231" name="Google Shape;1231;p30"/>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1232" name="Google Shape;1232;p30"/>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21</a:t>
            </a:r>
            <a:endParaRPr sz="850">
              <a:solidFill>
                <a:schemeClr val="dk1"/>
              </a:solidFill>
              <a:latin typeface="Calibri"/>
              <a:ea typeface="Calibri"/>
              <a:cs typeface="Calibri"/>
              <a:sym typeface="Calibri"/>
            </a:endParaRPr>
          </a:p>
        </p:txBody>
      </p:sp>
      <p:sp>
        <p:nvSpPr>
          <p:cNvPr id="1233" name="Google Shape;1233;p30"/>
          <p:cNvSpPr/>
          <p:nvPr/>
        </p:nvSpPr>
        <p:spPr>
          <a:xfrm>
            <a:off x="2834640" y="1353312"/>
            <a:ext cx="8991295" cy="443484"/>
          </a:xfrm>
          <a:prstGeom prst="roundRect">
            <a:avLst>
              <a:gd name="adj" fmla="val 16495"/>
            </a:avLst>
          </a:prstGeom>
          <a:solidFill>
            <a:srgbClr val="F4F6F9"/>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0"/>
          <p:cNvSpPr/>
          <p:nvPr/>
        </p:nvSpPr>
        <p:spPr>
          <a:xfrm>
            <a:off x="2944368" y="1419606"/>
            <a:ext cx="594360" cy="310896"/>
          </a:xfrm>
          <a:prstGeom prst="roundRect">
            <a:avLst>
              <a:gd name="adj" fmla="val 17647"/>
            </a:avLst>
          </a:prstGeom>
          <a:solidFill>
            <a:srgbClr val="1B7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0"/>
          <p:cNvSpPr/>
          <p:nvPr/>
        </p:nvSpPr>
        <p:spPr>
          <a:xfrm>
            <a:off x="2944368" y="1419606"/>
            <a:ext cx="594360" cy="3108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3.1</a:t>
            </a:r>
            <a:endParaRPr sz="1100">
              <a:solidFill>
                <a:schemeClr val="dk1"/>
              </a:solidFill>
              <a:latin typeface="Calibri"/>
              <a:ea typeface="Calibri"/>
              <a:cs typeface="Calibri"/>
              <a:sym typeface="Calibri"/>
            </a:endParaRPr>
          </a:p>
        </p:txBody>
      </p:sp>
      <p:sp>
        <p:nvSpPr>
          <p:cNvPr id="1236" name="Google Shape;1236;p30"/>
          <p:cNvSpPr/>
          <p:nvPr/>
        </p:nvSpPr>
        <p:spPr>
          <a:xfrm>
            <a:off x="3657600" y="1353312"/>
            <a:ext cx="2103120"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150"/>
              <a:buFont typeface="Calibri"/>
              <a:buNone/>
            </a:pPr>
            <a:r>
              <a:rPr lang="en-US" sz="1150" b="1">
                <a:solidFill>
                  <a:srgbClr val="12294B"/>
                </a:solidFill>
                <a:latin typeface="Calibri"/>
                <a:ea typeface="Calibri"/>
                <a:cs typeface="Calibri"/>
                <a:sym typeface="Calibri"/>
              </a:rPr>
              <a:t>Parallelism</a:t>
            </a:r>
            <a:endParaRPr sz="1150">
              <a:solidFill>
                <a:schemeClr val="dk1"/>
              </a:solidFill>
              <a:latin typeface="Calibri"/>
              <a:ea typeface="Calibri"/>
              <a:cs typeface="Calibri"/>
              <a:sym typeface="Calibri"/>
            </a:endParaRPr>
          </a:p>
        </p:txBody>
      </p:sp>
      <p:sp>
        <p:nvSpPr>
          <p:cNvPr id="1237" name="Google Shape;1237;p30"/>
          <p:cNvSpPr/>
          <p:nvPr/>
        </p:nvSpPr>
        <p:spPr>
          <a:xfrm>
            <a:off x="5852160" y="1353312"/>
            <a:ext cx="5882335"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Bit/ILP/Data/Task/Pipeline; Amdahl's Law bounds speed-up</a:t>
            </a:r>
            <a:endParaRPr sz="1050">
              <a:solidFill>
                <a:schemeClr val="dk1"/>
              </a:solidFill>
              <a:latin typeface="Calibri"/>
              <a:ea typeface="Calibri"/>
              <a:cs typeface="Calibri"/>
              <a:sym typeface="Calibri"/>
            </a:endParaRPr>
          </a:p>
        </p:txBody>
      </p:sp>
      <p:sp>
        <p:nvSpPr>
          <p:cNvPr id="1238" name="Google Shape;1238;p30"/>
          <p:cNvSpPr/>
          <p:nvPr/>
        </p:nvSpPr>
        <p:spPr>
          <a:xfrm>
            <a:off x="2834640" y="1869948"/>
            <a:ext cx="8991295" cy="443484"/>
          </a:xfrm>
          <a:prstGeom prst="roundRect">
            <a:avLst>
              <a:gd name="adj" fmla="val 16495"/>
            </a:avLst>
          </a:prstGeom>
          <a:solidFill>
            <a:srgbClr val="F4F6F9"/>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0"/>
          <p:cNvSpPr/>
          <p:nvPr/>
        </p:nvSpPr>
        <p:spPr>
          <a:xfrm>
            <a:off x="2944368" y="1936242"/>
            <a:ext cx="594360" cy="310896"/>
          </a:xfrm>
          <a:prstGeom prst="roundRect">
            <a:avLst>
              <a:gd name="adj" fmla="val 17647"/>
            </a:avLst>
          </a:prstGeom>
          <a:solidFill>
            <a:srgbClr val="1B7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0"/>
          <p:cNvSpPr/>
          <p:nvPr/>
        </p:nvSpPr>
        <p:spPr>
          <a:xfrm>
            <a:off x="2944368" y="1936242"/>
            <a:ext cx="594360" cy="3108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3.2</a:t>
            </a:r>
            <a:endParaRPr sz="1100">
              <a:solidFill>
                <a:schemeClr val="dk1"/>
              </a:solidFill>
              <a:latin typeface="Calibri"/>
              <a:ea typeface="Calibri"/>
              <a:cs typeface="Calibri"/>
              <a:sym typeface="Calibri"/>
            </a:endParaRPr>
          </a:p>
        </p:txBody>
      </p:sp>
      <p:sp>
        <p:nvSpPr>
          <p:cNvPr id="1241" name="Google Shape;1241;p30"/>
          <p:cNvSpPr/>
          <p:nvPr/>
        </p:nvSpPr>
        <p:spPr>
          <a:xfrm>
            <a:off x="3657600" y="1869948"/>
            <a:ext cx="2103120"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150"/>
              <a:buFont typeface="Calibri"/>
              <a:buNone/>
            </a:pPr>
            <a:r>
              <a:rPr lang="en-US" sz="1150" b="1">
                <a:solidFill>
                  <a:srgbClr val="12294B"/>
                </a:solidFill>
                <a:latin typeface="Calibri"/>
                <a:ea typeface="Calibri"/>
                <a:cs typeface="Calibri"/>
                <a:sym typeface="Calibri"/>
              </a:rPr>
              <a:t>Partitioning</a:t>
            </a:r>
            <a:endParaRPr sz="1150">
              <a:solidFill>
                <a:schemeClr val="dk1"/>
              </a:solidFill>
              <a:latin typeface="Calibri"/>
              <a:ea typeface="Calibri"/>
              <a:cs typeface="Calibri"/>
              <a:sym typeface="Calibri"/>
            </a:endParaRPr>
          </a:p>
        </p:txBody>
      </p:sp>
      <p:sp>
        <p:nvSpPr>
          <p:cNvPr id="1242" name="Google Shape;1242;p30"/>
          <p:cNvSpPr/>
          <p:nvPr/>
        </p:nvSpPr>
        <p:spPr>
          <a:xfrm>
            <a:off x="5852160" y="1869948"/>
            <a:ext cx="5882335"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Horizontal/Vertical/Hash + data-locality-aware placement</a:t>
            </a:r>
            <a:endParaRPr sz="1050">
              <a:solidFill>
                <a:schemeClr val="dk1"/>
              </a:solidFill>
              <a:latin typeface="Calibri"/>
              <a:ea typeface="Calibri"/>
              <a:cs typeface="Calibri"/>
              <a:sym typeface="Calibri"/>
            </a:endParaRPr>
          </a:p>
        </p:txBody>
      </p:sp>
      <p:sp>
        <p:nvSpPr>
          <p:cNvPr id="1243" name="Google Shape;1243;p30"/>
          <p:cNvSpPr/>
          <p:nvPr/>
        </p:nvSpPr>
        <p:spPr>
          <a:xfrm>
            <a:off x="2834640" y="2386584"/>
            <a:ext cx="8991295" cy="443484"/>
          </a:xfrm>
          <a:prstGeom prst="roundRect">
            <a:avLst>
              <a:gd name="adj" fmla="val 16495"/>
            </a:avLst>
          </a:prstGeom>
          <a:solidFill>
            <a:srgbClr val="F4F6F9"/>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0"/>
          <p:cNvSpPr/>
          <p:nvPr/>
        </p:nvSpPr>
        <p:spPr>
          <a:xfrm>
            <a:off x="2944368" y="2452878"/>
            <a:ext cx="594360" cy="310896"/>
          </a:xfrm>
          <a:prstGeom prst="roundRect">
            <a:avLst>
              <a:gd name="adj" fmla="val 17647"/>
            </a:avLst>
          </a:prstGeom>
          <a:solidFill>
            <a:srgbClr val="1B7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0"/>
          <p:cNvSpPr/>
          <p:nvPr/>
        </p:nvSpPr>
        <p:spPr>
          <a:xfrm>
            <a:off x="2944368" y="2452878"/>
            <a:ext cx="594360" cy="3108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3.3</a:t>
            </a:r>
            <a:endParaRPr sz="1100">
              <a:solidFill>
                <a:schemeClr val="dk1"/>
              </a:solidFill>
              <a:latin typeface="Calibri"/>
              <a:ea typeface="Calibri"/>
              <a:cs typeface="Calibri"/>
              <a:sym typeface="Calibri"/>
            </a:endParaRPr>
          </a:p>
        </p:txBody>
      </p:sp>
      <p:sp>
        <p:nvSpPr>
          <p:cNvPr id="1246" name="Google Shape;1246;p30"/>
          <p:cNvSpPr/>
          <p:nvPr/>
        </p:nvSpPr>
        <p:spPr>
          <a:xfrm>
            <a:off x="3657600" y="2386584"/>
            <a:ext cx="2103120"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150"/>
              <a:buFont typeface="Calibri"/>
              <a:buNone/>
            </a:pPr>
            <a:r>
              <a:rPr lang="en-US" sz="1150" b="1">
                <a:solidFill>
                  <a:srgbClr val="12294B"/>
                </a:solidFill>
                <a:latin typeface="Calibri"/>
                <a:ea typeface="Calibri"/>
                <a:cs typeface="Calibri"/>
                <a:sym typeface="Calibri"/>
              </a:rPr>
              <a:t>Processing Ops</a:t>
            </a:r>
            <a:endParaRPr sz="1150">
              <a:solidFill>
                <a:schemeClr val="dk1"/>
              </a:solidFill>
              <a:latin typeface="Calibri"/>
              <a:ea typeface="Calibri"/>
              <a:cs typeface="Calibri"/>
              <a:sym typeface="Calibri"/>
            </a:endParaRPr>
          </a:p>
        </p:txBody>
      </p:sp>
      <p:sp>
        <p:nvSpPr>
          <p:cNvPr id="1247" name="Google Shape;1247;p30"/>
          <p:cNvSpPr/>
          <p:nvPr/>
        </p:nvSpPr>
        <p:spPr>
          <a:xfrm>
            <a:off x="5852160" y="2386584"/>
            <a:ext cx="5882335"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Combiners for aggregation; broadcast/shuffle/bucketed joins</a:t>
            </a:r>
            <a:endParaRPr sz="1050">
              <a:solidFill>
                <a:schemeClr val="dk1"/>
              </a:solidFill>
              <a:latin typeface="Calibri"/>
              <a:ea typeface="Calibri"/>
              <a:cs typeface="Calibri"/>
              <a:sym typeface="Calibri"/>
            </a:endParaRPr>
          </a:p>
        </p:txBody>
      </p:sp>
      <p:sp>
        <p:nvSpPr>
          <p:cNvPr id="1248" name="Google Shape;1248;p30"/>
          <p:cNvSpPr/>
          <p:nvPr/>
        </p:nvSpPr>
        <p:spPr>
          <a:xfrm>
            <a:off x="2834640" y="2903220"/>
            <a:ext cx="8991295" cy="443484"/>
          </a:xfrm>
          <a:prstGeom prst="roundRect">
            <a:avLst>
              <a:gd name="adj" fmla="val 16495"/>
            </a:avLst>
          </a:prstGeom>
          <a:solidFill>
            <a:srgbClr val="F4F6F9"/>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0"/>
          <p:cNvSpPr/>
          <p:nvPr/>
        </p:nvSpPr>
        <p:spPr>
          <a:xfrm>
            <a:off x="2944368" y="2969514"/>
            <a:ext cx="594360" cy="310896"/>
          </a:xfrm>
          <a:prstGeom prst="roundRect">
            <a:avLst>
              <a:gd name="adj" fmla="val 17647"/>
            </a:avLst>
          </a:prstGeom>
          <a:solidFill>
            <a:srgbClr val="1B7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0"/>
          <p:cNvSpPr/>
          <p:nvPr/>
        </p:nvSpPr>
        <p:spPr>
          <a:xfrm>
            <a:off x="2944368" y="2969514"/>
            <a:ext cx="594360" cy="3108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3.4</a:t>
            </a:r>
            <a:endParaRPr sz="1100">
              <a:solidFill>
                <a:schemeClr val="dk1"/>
              </a:solidFill>
              <a:latin typeface="Calibri"/>
              <a:ea typeface="Calibri"/>
              <a:cs typeface="Calibri"/>
              <a:sym typeface="Calibri"/>
            </a:endParaRPr>
          </a:p>
        </p:txBody>
      </p:sp>
      <p:sp>
        <p:nvSpPr>
          <p:cNvPr id="1251" name="Google Shape;1251;p30"/>
          <p:cNvSpPr/>
          <p:nvPr/>
        </p:nvSpPr>
        <p:spPr>
          <a:xfrm>
            <a:off x="3657600" y="2903220"/>
            <a:ext cx="2103120"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150"/>
              <a:buFont typeface="Calibri"/>
              <a:buNone/>
            </a:pPr>
            <a:r>
              <a:rPr lang="en-US" sz="1150" b="1">
                <a:solidFill>
                  <a:srgbClr val="12294B"/>
                </a:solidFill>
                <a:latin typeface="Calibri"/>
                <a:ea typeface="Calibri"/>
                <a:cs typeface="Calibri"/>
                <a:sym typeface="Calibri"/>
              </a:rPr>
              <a:t>Query Optimization</a:t>
            </a:r>
            <a:endParaRPr sz="1150">
              <a:solidFill>
                <a:schemeClr val="dk1"/>
              </a:solidFill>
              <a:latin typeface="Calibri"/>
              <a:ea typeface="Calibri"/>
              <a:cs typeface="Calibri"/>
              <a:sym typeface="Calibri"/>
            </a:endParaRPr>
          </a:p>
        </p:txBody>
      </p:sp>
      <p:sp>
        <p:nvSpPr>
          <p:cNvPr id="1252" name="Google Shape;1252;p30"/>
          <p:cNvSpPr/>
          <p:nvPr/>
        </p:nvSpPr>
        <p:spPr>
          <a:xfrm>
            <a:off x="5852160" y="2903220"/>
            <a:ext cx="5882335"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Pushdown, pruning, cost-based + adaptive (AQE) planning</a:t>
            </a:r>
            <a:endParaRPr sz="1050">
              <a:solidFill>
                <a:schemeClr val="dk1"/>
              </a:solidFill>
              <a:latin typeface="Calibri"/>
              <a:ea typeface="Calibri"/>
              <a:cs typeface="Calibri"/>
              <a:sym typeface="Calibri"/>
            </a:endParaRPr>
          </a:p>
        </p:txBody>
      </p:sp>
      <p:sp>
        <p:nvSpPr>
          <p:cNvPr id="1253" name="Google Shape;1253;p30"/>
          <p:cNvSpPr/>
          <p:nvPr/>
        </p:nvSpPr>
        <p:spPr>
          <a:xfrm>
            <a:off x="2834640" y="3419856"/>
            <a:ext cx="8991295" cy="443484"/>
          </a:xfrm>
          <a:prstGeom prst="roundRect">
            <a:avLst>
              <a:gd name="adj" fmla="val 16495"/>
            </a:avLst>
          </a:prstGeom>
          <a:solidFill>
            <a:srgbClr val="F4F6F9"/>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0"/>
          <p:cNvSpPr/>
          <p:nvPr/>
        </p:nvSpPr>
        <p:spPr>
          <a:xfrm>
            <a:off x="2944368" y="3486150"/>
            <a:ext cx="594360" cy="310896"/>
          </a:xfrm>
          <a:prstGeom prst="roundRect">
            <a:avLst>
              <a:gd name="adj" fmla="val 17647"/>
            </a:avLst>
          </a:prstGeom>
          <a:solidFill>
            <a:srgbClr val="1B7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0"/>
          <p:cNvSpPr/>
          <p:nvPr/>
        </p:nvSpPr>
        <p:spPr>
          <a:xfrm>
            <a:off x="2944368" y="3486150"/>
            <a:ext cx="594360" cy="3108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3.5</a:t>
            </a:r>
            <a:endParaRPr sz="1100">
              <a:solidFill>
                <a:schemeClr val="dk1"/>
              </a:solidFill>
              <a:latin typeface="Calibri"/>
              <a:ea typeface="Calibri"/>
              <a:cs typeface="Calibri"/>
              <a:sym typeface="Calibri"/>
            </a:endParaRPr>
          </a:p>
        </p:txBody>
      </p:sp>
      <p:sp>
        <p:nvSpPr>
          <p:cNvPr id="1256" name="Google Shape;1256;p30"/>
          <p:cNvSpPr/>
          <p:nvPr/>
        </p:nvSpPr>
        <p:spPr>
          <a:xfrm>
            <a:off x="3657600" y="3419856"/>
            <a:ext cx="2103120"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150"/>
              <a:buFont typeface="Calibri"/>
              <a:buNone/>
            </a:pPr>
            <a:r>
              <a:rPr lang="en-US" sz="1150" b="1">
                <a:solidFill>
                  <a:srgbClr val="12294B"/>
                </a:solidFill>
                <a:latin typeface="Calibri"/>
                <a:ea typeface="Calibri"/>
                <a:cs typeface="Calibri"/>
                <a:sym typeface="Calibri"/>
              </a:rPr>
              <a:t>Resource Mgmt</a:t>
            </a:r>
            <a:endParaRPr sz="1150">
              <a:solidFill>
                <a:schemeClr val="dk1"/>
              </a:solidFill>
              <a:latin typeface="Calibri"/>
              <a:ea typeface="Calibri"/>
              <a:cs typeface="Calibri"/>
              <a:sym typeface="Calibri"/>
            </a:endParaRPr>
          </a:p>
        </p:txBody>
      </p:sp>
      <p:sp>
        <p:nvSpPr>
          <p:cNvPr id="1257" name="Google Shape;1257;p30"/>
          <p:cNvSpPr/>
          <p:nvPr/>
        </p:nvSpPr>
        <p:spPr>
          <a:xfrm>
            <a:off x="5852160" y="3419856"/>
            <a:ext cx="5882335"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Fair vs Capacity scheduling; static vs dynamic allocation</a:t>
            </a:r>
            <a:endParaRPr sz="1050">
              <a:solidFill>
                <a:schemeClr val="dk1"/>
              </a:solidFill>
              <a:latin typeface="Calibri"/>
              <a:ea typeface="Calibri"/>
              <a:cs typeface="Calibri"/>
              <a:sym typeface="Calibri"/>
            </a:endParaRPr>
          </a:p>
        </p:txBody>
      </p:sp>
      <p:sp>
        <p:nvSpPr>
          <p:cNvPr id="1258" name="Google Shape;1258;p30"/>
          <p:cNvSpPr/>
          <p:nvPr/>
        </p:nvSpPr>
        <p:spPr>
          <a:xfrm>
            <a:off x="2834640" y="3936492"/>
            <a:ext cx="8991295" cy="443484"/>
          </a:xfrm>
          <a:prstGeom prst="roundRect">
            <a:avLst>
              <a:gd name="adj" fmla="val 16495"/>
            </a:avLst>
          </a:prstGeom>
          <a:solidFill>
            <a:srgbClr val="F4F6F9"/>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0"/>
          <p:cNvSpPr/>
          <p:nvPr/>
        </p:nvSpPr>
        <p:spPr>
          <a:xfrm>
            <a:off x="2944368" y="4002786"/>
            <a:ext cx="594360" cy="310896"/>
          </a:xfrm>
          <a:prstGeom prst="roundRect">
            <a:avLst>
              <a:gd name="adj" fmla="val 17647"/>
            </a:avLst>
          </a:prstGeom>
          <a:solidFill>
            <a:srgbClr val="1B7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0"/>
          <p:cNvSpPr/>
          <p:nvPr/>
        </p:nvSpPr>
        <p:spPr>
          <a:xfrm>
            <a:off x="2944368" y="4002786"/>
            <a:ext cx="594360" cy="3108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3.6</a:t>
            </a:r>
            <a:endParaRPr sz="1100">
              <a:solidFill>
                <a:schemeClr val="dk1"/>
              </a:solidFill>
              <a:latin typeface="Calibri"/>
              <a:ea typeface="Calibri"/>
              <a:cs typeface="Calibri"/>
              <a:sym typeface="Calibri"/>
            </a:endParaRPr>
          </a:p>
        </p:txBody>
      </p:sp>
      <p:sp>
        <p:nvSpPr>
          <p:cNvPr id="1261" name="Google Shape;1261;p30"/>
          <p:cNvSpPr/>
          <p:nvPr/>
        </p:nvSpPr>
        <p:spPr>
          <a:xfrm>
            <a:off x="3657600" y="3936492"/>
            <a:ext cx="2103120"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150"/>
              <a:buFont typeface="Calibri"/>
              <a:buNone/>
            </a:pPr>
            <a:r>
              <a:rPr lang="en-US" sz="1150" b="1">
                <a:solidFill>
                  <a:srgbClr val="12294B"/>
                </a:solidFill>
                <a:latin typeface="Calibri"/>
                <a:ea typeface="Calibri"/>
                <a:cs typeface="Calibri"/>
                <a:sym typeface="Calibri"/>
              </a:rPr>
              <a:t>Load Balancing</a:t>
            </a:r>
            <a:endParaRPr sz="1150">
              <a:solidFill>
                <a:schemeClr val="dk1"/>
              </a:solidFill>
              <a:latin typeface="Calibri"/>
              <a:ea typeface="Calibri"/>
              <a:cs typeface="Calibri"/>
              <a:sym typeface="Calibri"/>
            </a:endParaRPr>
          </a:p>
        </p:txBody>
      </p:sp>
      <p:sp>
        <p:nvSpPr>
          <p:cNvPr id="1262" name="Google Shape;1262;p30"/>
          <p:cNvSpPr/>
          <p:nvPr/>
        </p:nvSpPr>
        <p:spPr>
          <a:xfrm>
            <a:off x="5852160" y="3936492"/>
            <a:ext cx="5882335"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Static vs dynamic; speculative execution; skew mitigation</a:t>
            </a:r>
            <a:endParaRPr sz="1050">
              <a:solidFill>
                <a:schemeClr val="dk1"/>
              </a:solidFill>
              <a:latin typeface="Calibri"/>
              <a:ea typeface="Calibri"/>
              <a:cs typeface="Calibri"/>
              <a:sym typeface="Calibri"/>
            </a:endParaRPr>
          </a:p>
        </p:txBody>
      </p:sp>
      <p:sp>
        <p:nvSpPr>
          <p:cNvPr id="1263" name="Google Shape;1263;p30"/>
          <p:cNvSpPr/>
          <p:nvPr/>
        </p:nvSpPr>
        <p:spPr>
          <a:xfrm>
            <a:off x="2834640" y="4453128"/>
            <a:ext cx="8991295" cy="443484"/>
          </a:xfrm>
          <a:prstGeom prst="roundRect">
            <a:avLst>
              <a:gd name="adj" fmla="val 16495"/>
            </a:avLst>
          </a:prstGeom>
          <a:solidFill>
            <a:srgbClr val="F4F6F9"/>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0"/>
          <p:cNvSpPr/>
          <p:nvPr/>
        </p:nvSpPr>
        <p:spPr>
          <a:xfrm>
            <a:off x="2944368" y="4519422"/>
            <a:ext cx="594360" cy="310896"/>
          </a:xfrm>
          <a:prstGeom prst="roundRect">
            <a:avLst>
              <a:gd name="adj" fmla="val 17647"/>
            </a:avLst>
          </a:prstGeom>
          <a:solidFill>
            <a:srgbClr val="1B7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0"/>
          <p:cNvSpPr/>
          <p:nvPr/>
        </p:nvSpPr>
        <p:spPr>
          <a:xfrm>
            <a:off x="2944368" y="4519422"/>
            <a:ext cx="594360" cy="3108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3.7</a:t>
            </a:r>
            <a:endParaRPr sz="1100">
              <a:solidFill>
                <a:schemeClr val="dk1"/>
              </a:solidFill>
              <a:latin typeface="Calibri"/>
              <a:ea typeface="Calibri"/>
              <a:cs typeface="Calibri"/>
              <a:sym typeface="Calibri"/>
            </a:endParaRPr>
          </a:p>
        </p:txBody>
      </p:sp>
      <p:sp>
        <p:nvSpPr>
          <p:cNvPr id="1266" name="Google Shape;1266;p30"/>
          <p:cNvSpPr/>
          <p:nvPr/>
        </p:nvSpPr>
        <p:spPr>
          <a:xfrm>
            <a:off x="3657600" y="4453128"/>
            <a:ext cx="2103120"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2294B"/>
              </a:buClr>
              <a:buSzPts val="1150"/>
              <a:buFont typeface="Calibri"/>
              <a:buNone/>
            </a:pPr>
            <a:r>
              <a:rPr lang="en-US" sz="1150" b="1">
                <a:solidFill>
                  <a:srgbClr val="12294B"/>
                </a:solidFill>
                <a:latin typeface="Calibri"/>
                <a:ea typeface="Calibri"/>
                <a:cs typeface="Calibri"/>
                <a:sym typeface="Calibri"/>
              </a:rPr>
              <a:t>Fault Tolerance</a:t>
            </a:r>
            <a:endParaRPr sz="1150">
              <a:solidFill>
                <a:schemeClr val="dk1"/>
              </a:solidFill>
              <a:latin typeface="Calibri"/>
              <a:ea typeface="Calibri"/>
              <a:cs typeface="Calibri"/>
              <a:sym typeface="Calibri"/>
            </a:endParaRPr>
          </a:p>
        </p:txBody>
      </p:sp>
      <p:sp>
        <p:nvSpPr>
          <p:cNvPr id="1267" name="Google Shape;1267;p30"/>
          <p:cNvSpPr/>
          <p:nvPr/>
        </p:nvSpPr>
        <p:spPr>
          <a:xfrm>
            <a:off x="5852160" y="4453128"/>
            <a:ext cx="5882335" cy="4434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1A"/>
              </a:buClr>
              <a:buSzPts val="1050"/>
              <a:buFont typeface="Calibri"/>
              <a:buNone/>
            </a:pPr>
            <a:r>
              <a:rPr lang="en-US" sz="1050">
                <a:solidFill>
                  <a:srgbClr val="1A1A1A"/>
                </a:solidFill>
                <a:latin typeface="Calibri"/>
                <a:ea typeface="Calibri"/>
                <a:cs typeface="Calibri"/>
                <a:sym typeface="Calibri"/>
              </a:rPr>
              <a:t>Checkpointing, lineage re-execution, coordination recovery</a:t>
            </a:r>
            <a:endParaRPr sz="1050">
              <a:solidFill>
                <a:schemeClr val="dk1"/>
              </a:solidFill>
              <a:latin typeface="Calibri"/>
              <a:ea typeface="Calibri"/>
              <a:cs typeface="Calibri"/>
              <a:sym typeface="Calibri"/>
            </a:endParaRPr>
          </a:p>
        </p:txBody>
      </p:sp>
      <p:sp>
        <p:nvSpPr>
          <p:cNvPr id="1268" name="Google Shape;1268;p30"/>
          <p:cNvSpPr/>
          <p:nvPr/>
        </p:nvSpPr>
        <p:spPr>
          <a:xfrm>
            <a:off x="2834640" y="5106924"/>
            <a:ext cx="8991295" cy="777240"/>
          </a:xfrm>
          <a:prstGeom prst="roundRect">
            <a:avLst>
              <a:gd name="adj" fmla="val 9412"/>
            </a:avLst>
          </a:prstGeom>
          <a:solidFill>
            <a:srgbClr val="12294B"/>
          </a:solidFill>
          <a:ln w="12700" cap="flat" cmpd="sng">
            <a:solidFill>
              <a:srgbClr val="E2E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0"/>
          <p:cNvSpPr/>
          <p:nvPr/>
        </p:nvSpPr>
        <p:spPr>
          <a:xfrm>
            <a:off x="3017520" y="5170932"/>
            <a:ext cx="8625535"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50"/>
              <a:buFont typeface="Calibri"/>
              <a:buNone/>
            </a:pPr>
            <a:r>
              <a:rPr lang="en-US" sz="1150" i="1">
                <a:solidFill>
                  <a:srgbClr val="FFFFFF"/>
                </a:solidFill>
                <a:latin typeface="Calibri"/>
                <a:ea typeface="Calibri"/>
                <a:cs typeface="Calibri"/>
                <a:sym typeface="Calibri"/>
              </a:rPr>
              <a:t>Golden thread: every technique in this unit exists to minimize network communication and to survive the failures that WILL happen at cluster scale.</a:t>
            </a:r>
            <a:endParaRPr sz="115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74"/>
        <p:cNvGrpSpPr/>
        <p:nvPr/>
      </p:nvGrpSpPr>
      <p:grpSpPr>
        <a:xfrm>
          <a:off x="0" y="0"/>
          <a:ext cx="0" cy="0"/>
          <a:chOff x="0" y="0"/>
          <a:chExt cx="0" cy="0"/>
        </a:xfrm>
      </p:grpSpPr>
      <p:sp>
        <p:nvSpPr>
          <p:cNvPr id="1275" name="Google Shape;1275;p31"/>
          <p:cNvSpPr/>
          <p:nvPr/>
        </p:nvSpPr>
        <p:spPr>
          <a:xfrm>
            <a:off x="0" y="0"/>
            <a:ext cx="2514600" cy="6858000"/>
          </a:xfrm>
          <a:prstGeom prst="rect">
            <a:avLst/>
          </a:prstGeom>
          <a:solidFill>
            <a:srgbClr val="0A1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1"/>
          <p:cNvSpPr/>
          <p:nvPr/>
        </p:nvSpPr>
        <p:spPr>
          <a:xfrm>
            <a:off x="228600" y="256032"/>
            <a:ext cx="2057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A441"/>
              </a:buClr>
              <a:buSzPts val="1200"/>
              <a:buFont typeface="Calibri"/>
              <a:buNone/>
            </a:pPr>
            <a:r>
              <a:rPr lang="en-US" sz="1200" b="1">
                <a:solidFill>
                  <a:srgbClr val="D9A441"/>
                </a:solidFill>
                <a:latin typeface="Calibri"/>
                <a:ea typeface="Calibri"/>
                <a:cs typeface="Calibri"/>
                <a:sym typeface="Calibri"/>
              </a:rPr>
              <a:t>UNIT 3</a:t>
            </a:r>
            <a:endParaRPr sz="1200">
              <a:solidFill>
                <a:schemeClr val="dk1"/>
              </a:solidFill>
              <a:latin typeface="Calibri"/>
              <a:ea typeface="Calibri"/>
              <a:cs typeface="Calibri"/>
              <a:sym typeface="Calibri"/>
            </a:endParaRPr>
          </a:p>
        </p:txBody>
      </p:sp>
      <p:sp>
        <p:nvSpPr>
          <p:cNvPr id="1277" name="Google Shape;1277;p31"/>
          <p:cNvSpPr/>
          <p:nvPr/>
        </p:nvSpPr>
        <p:spPr>
          <a:xfrm>
            <a:off x="228600" y="502920"/>
            <a:ext cx="205740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Parallel &amp; Distributed</a:t>
            </a:r>
            <a:endParaRPr sz="125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Data Processing</a:t>
            </a:r>
            <a:endParaRPr sz="1250">
              <a:solidFill>
                <a:schemeClr val="dk1"/>
              </a:solidFill>
              <a:latin typeface="Calibri"/>
              <a:ea typeface="Calibri"/>
              <a:cs typeface="Calibri"/>
              <a:sym typeface="Calibri"/>
            </a:endParaRPr>
          </a:p>
        </p:txBody>
      </p:sp>
      <p:cxnSp>
        <p:nvCxnSpPr>
          <p:cNvPr id="1278" name="Google Shape;1278;p31"/>
          <p:cNvCxnSpPr/>
          <p:nvPr/>
        </p:nvCxnSpPr>
        <p:spPr>
          <a:xfrm>
            <a:off x="228600" y="1170432"/>
            <a:ext cx="2057400" cy="0"/>
          </a:xfrm>
          <a:prstGeom prst="straightConnector1">
            <a:avLst/>
          </a:prstGeom>
          <a:noFill/>
          <a:ln w="12700" cap="flat" cmpd="sng">
            <a:solidFill>
              <a:srgbClr val="1D3A66"/>
            </a:solidFill>
            <a:prstDash val="solid"/>
            <a:round/>
            <a:headEnd type="none" w="sm" len="sm"/>
            <a:tailEnd type="none" w="sm" len="sm"/>
          </a:ln>
        </p:spPr>
      </p:cxnSp>
      <p:sp>
        <p:nvSpPr>
          <p:cNvPr id="1279" name="Google Shape;1279;p31"/>
          <p:cNvSpPr/>
          <p:nvPr/>
        </p:nvSpPr>
        <p:spPr>
          <a:xfrm>
            <a:off x="256032" y="135331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100"/>
              <a:buFont typeface="Calibri"/>
              <a:buNone/>
            </a:pPr>
            <a:r>
              <a:rPr lang="en-US" sz="1100" b="1">
                <a:solidFill>
                  <a:srgbClr val="9FB0CC"/>
                </a:solidFill>
                <a:latin typeface="Calibri"/>
                <a:ea typeface="Calibri"/>
                <a:cs typeface="Calibri"/>
                <a:sym typeface="Calibri"/>
              </a:rPr>
              <a:t>3.1</a:t>
            </a:r>
            <a:endParaRPr sz="1100">
              <a:solidFill>
                <a:schemeClr val="dk1"/>
              </a:solidFill>
              <a:latin typeface="Calibri"/>
              <a:ea typeface="Calibri"/>
              <a:cs typeface="Calibri"/>
              <a:sym typeface="Calibri"/>
            </a:endParaRPr>
          </a:p>
        </p:txBody>
      </p:sp>
      <p:sp>
        <p:nvSpPr>
          <p:cNvPr id="1280" name="Google Shape;1280;p31"/>
          <p:cNvSpPr/>
          <p:nvPr/>
        </p:nvSpPr>
        <p:spPr>
          <a:xfrm>
            <a:off x="685800" y="135331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050"/>
              <a:buFont typeface="Calibri"/>
              <a:buNone/>
            </a:pPr>
            <a:r>
              <a:rPr lang="en-US" sz="1050">
                <a:solidFill>
                  <a:srgbClr val="9FB0CC"/>
                </a:solidFill>
                <a:latin typeface="Calibri"/>
                <a:ea typeface="Calibri"/>
                <a:cs typeface="Calibri"/>
                <a:sym typeface="Calibri"/>
              </a:rPr>
              <a:t>Parallelism &amp; its Types</a:t>
            </a:r>
            <a:endParaRPr sz="1050">
              <a:solidFill>
                <a:schemeClr val="dk1"/>
              </a:solidFill>
              <a:latin typeface="Calibri"/>
              <a:ea typeface="Calibri"/>
              <a:cs typeface="Calibri"/>
              <a:sym typeface="Calibri"/>
            </a:endParaRPr>
          </a:p>
        </p:txBody>
      </p:sp>
      <p:sp>
        <p:nvSpPr>
          <p:cNvPr id="1281" name="Google Shape;1281;p31"/>
          <p:cNvSpPr/>
          <p:nvPr/>
        </p:nvSpPr>
        <p:spPr>
          <a:xfrm>
            <a:off x="256032" y="191566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100"/>
              <a:buFont typeface="Calibri"/>
              <a:buNone/>
            </a:pPr>
            <a:r>
              <a:rPr lang="en-US" sz="1100" b="1">
                <a:solidFill>
                  <a:srgbClr val="9FB0CC"/>
                </a:solidFill>
                <a:latin typeface="Calibri"/>
                <a:ea typeface="Calibri"/>
                <a:cs typeface="Calibri"/>
                <a:sym typeface="Calibri"/>
              </a:rPr>
              <a:t>3.2</a:t>
            </a:r>
            <a:endParaRPr sz="1100">
              <a:solidFill>
                <a:schemeClr val="dk1"/>
              </a:solidFill>
              <a:latin typeface="Calibri"/>
              <a:ea typeface="Calibri"/>
              <a:cs typeface="Calibri"/>
              <a:sym typeface="Calibri"/>
            </a:endParaRPr>
          </a:p>
        </p:txBody>
      </p:sp>
      <p:sp>
        <p:nvSpPr>
          <p:cNvPr id="1282" name="Google Shape;1282;p31"/>
          <p:cNvSpPr/>
          <p:nvPr/>
        </p:nvSpPr>
        <p:spPr>
          <a:xfrm>
            <a:off x="685800" y="191566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050"/>
              <a:buFont typeface="Calibri"/>
              <a:buNone/>
            </a:pPr>
            <a:r>
              <a:rPr lang="en-US" sz="1050">
                <a:solidFill>
                  <a:srgbClr val="9FB0CC"/>
                </a:solidFill>
                <a:latin typeface="Calibri"/>
                <a:ea typeface="Calibri"/>
                <a:cs typeface="Calibri"/>
                <a:sym typeface="Calibri"/>
              </a:rPr>
              <a:t>Data Partitioning</a:t>
            </a:r>
            <a:endParaRPr sz="1050">
              <a:solidFill>
                <a:schemeClr val="dk1"/>
              </a:solidFill>
              <a:latin typeface="Calibri"/>
              <a:ea typeface="Calibri"/>
              <a:cs typeface="Calibri"/>
              <a:sym typeface="Calibri"/>
            </a:endParaRPr>
          </a:p>
        </p:txBody>
      </p:sp>
      <p:sp>
        <p:nvSpPr>
          <p:cNvPr id="1283" name="Google Shape;1283;p31"/>
          <p:cNvSpPr/>
          <p:nvPr/>
        </p:nvSpPr>
        <p:spPr>
          <a:xfrm>
            <a:off x="256032" y="247802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100"/>
              <a:buFont typeface="Calibri"/>
              <a:buNone/>
            </a:pPr>
            <a:r>
              <a:rPr lang="en-US" sz="1100" b="1">
                <a:solidFill>
                  <a:srgbClr val="9FB0CC"/>
                </a:solidFill>
                <a:latin typeface="Calibri"/>
                <a:ea typeface="Calibri"/>
                <a:cs typeface="Calibri"/>
                <a:sym typeface="Calibri"/>
              </a:rPr>
              <a:t>3.3</a:t>
            </a:r>
            <a:endParaRPr sz="1100">
              <a:solidFill>
                <a:schemeClr val="dk1"/>
              </a:solidFill>
              <a:latin typeface="Calibri"/>
              <a:ea typeface="Calibri"/>
              <a:cs typeface="Calibri"/>
              <a:sym typeface="Calibri"/>
            </a:endParaRPr>
          </a:p>
        </p:txBody>
      </p:sp>
      <p:sp>
        <p:nvSpPr>
          <p:cNvPr id="1284" name="Google Shape;1284;p31"/>
          <p:cNvSpPr/>
          <p:nvPr/>
        </p:nvSpPr>
        <p:spPr>
          <a:xfrm>
            <a:off x="685800" y="247802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050"/>
              <a:buFont typeface="Calibri"/>
              <a:buNone/>
            </a:pPr>
            <a:r>
              <a:rPr lang="en-US" sz="1050">
                <a:solidFill>
                  <a:srgbClr val="9FB0CC"/>
                </a:solidFill>
                <a:latin typeface="Calibri"/>
                <a:ea typeface="Calibri"/>
                <a:cs typeface="Calibri"/>
                <a:sym typeface="Calibri"/>
              </a:rPr>
              <a:t>Data Processing Ops</a:t>
            </a:r>
            <a:endParaRPr sz="1050">
              <a:solidFill>
                <a:schemeClr val="dk1"/>
              </a:solidFill>
              <a:latin typeface="Calibri"/>
              <a:ea typeface="Calibri"/>
              <a:cs typeface="Calibri"/>
              <a:sym typeface="Calibri"/>
            </a:endParaRPr>
          </a:p>
        </p:txBody>
      </p:sp>
      <p:sp>
        <p:nvSpPr>
          <p:cNvPr id="1285" name="Google Shape;1285;p31"/>
          <p:cNvSpPr/>
          <p:nvPr/>
        </p:nvSpPr>
        <p:spPr>
          <a:xfrm>
            <a:off x="256032" y="304038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100"/>
              <a:buFont typeface="Calibri"/>
              <a:buNone/>
            </a:pPr>
            <a:r>
              <a:rPr lang="en-US" sz="1100" b="1">
                <a:solidFill>
                  <a:srgbClr val="9FB0CC"/>
                </a:solidFill>
                <a:latin typeface="Calibri"/>
                <a:ea typeface="Calibri"/>
                <a:cs typeface="Calibri"/>
                <a:sym typeface="Calibri"/>
              </a:rPr>
              <a:t>3.4</a:t>
            </a:r>
            <a:endParaRPr sz="1100">
              <a:solidFill>
                <a:schemeClr val="dk1"/>
              </a:solidFill>
              <a:latin typeface="Calibri"/>
              <a:ea typeface="Calibri"/>
              <a:cs typeface="Calibri"/>
              <a:sym typeface="Calibri"/>
            </a:endParaRPr>
          </a:p>
        </p:txBody>
      </p:sp>
      <p:sp>
        <p:nvSpPr>
          <p:cNvPr id="1286" name="Google Shape;1286;p31"/>
          <p:cNvSpPr/>
          <p:nvPr/>
        </p:nvSpPr>
        <p:spPr>
          <a:xfrm>
            <a:off x="685800" y="304038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050"/>
              <a:buFont typeface="Calibri"/>
              <a:buNone/>
            </a:pPr>
            <a:r>
              <a:rPr lang="en-US" sz="1050">
                <a:solidFill>
                  <a:srgbClr val="9FB0CC"/>
                </a:solidFill>
                <a:latin typeface="Calibri"/>
                <a:ea typeface="Calibri"/>
                <a:cs typeface="Calibri"/>
                <a:sym typeface="Calibri"/>
              </a:rPr>
              <a:t>Query Optimization</a:t>
            </a:r>
            <a:endParaRPr sz="1050">
              <a:solidFill>
                <a:schemeClr val="dk1"/>
              </a:solidFill>
              <a:latin typeface="Calibri"/>
              <a:ea typeface="Calibri"/>
              <a:cs typeface="Calibri"/>
              <a:sym typeface="Calibri"/>
            </a:endParaRPr>
          </a:p>
        </p:txBody>
      </p:sp>
      <p:sp>
        <p:nvSpPr>
          <p:cNvPr id="1287" name="Google Shape;1287;p31"/>
          <p:cNvSpPr/>
          <p:nvPr/>
        </p:nvSpPr>
        <p:spPr>
          <a:xfrm>
            <a:off x="256032" y="3602736"/>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100"/>
              <a:buFont typeface="Calibri"/>
              <a:buNone/>
            </a:pPr>
            <a:r>
              <a:rPr lang="en-US" sz="1100" b="1">
                <a:solidFill>
                  <a:srgbClr val="9FB0CC"/>
                </a:solidFill>
                <a:latin typeface="Calibri"/>
                <a:ea typeface="Calibri"/>
                <a:cs typeface="Calibri"/>
                <a:sym typeface="Calibri"/>
              </a:rPr>
              <a:t>3.5</a:t>
            </a:r>
            <a:endParaRPr sz="1100">
              <a:solidFill>
                <a:schemeClr val="dk1"/>
              </a:solidFill>
              <a:latin typeface="Calibri"/>
              <a:ea typeface="Calibri"/>
              <a:cs typeface="Calibri"/>
              <a:sym typeface="Calibri"/>
            </a:endParaRPr>
          </a:p>
        </p:txBody>
      </p:sp>
      <p:sp>
        <p:nvSpPr>
          <p:cNvPr id="1288" name="Google Shape;1288;p31"/>
          <p:cNvSpPr/>
          <p:nvPr/>
        </p:nvSpPr>
        <p:spPr>
          <a:xfrm>
            <a:off x="685800" y="3602736"/>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050"/>
              <a:buFont typeface="Calibri"/>
              <a:buNone/>
            </a:pPr>
            <a:r>
              <a:rPr lang="en-US" sz="1050">
                <a:solidFill>
                  <a:srgbClr val="9FB0CC"/>
                </a:solidFill>
                <a:latin typeface="Calibri"/>
                <a:ea typeface="Calibri"/>
                <a:cs typeface="Calibri"/>
                <a:sym typeface="Calibri"/>
              </a:rPr>
              <a:t>Cluster Resource Mgmt</a:t>
            </a:r>
            <a:endParaRPr sz="1050">
              <a:solidFill>
                <a:schemeClr val="dk1"/>
              </a:solidFill>
              <a:latin typeface="Calibri"/>
              <a:ea typeface="Calibri"/>
              <a:cs typeface="Calibri"/>
              <a:sym typeface="Calibri"/>
            </a:endParaRPr>
          </a:p>
        </p:txBody>
      </p:sp>
      <p:sp>
        <p:nvSpPr>
          <p:cNvPr id="1289" name="Google Shape;1289;p31"/>
          <p:cNvSpPr/>
          <p:nvPr/>
        </p:nvSpPr>
        <p:spPr>
          <a:xfrm>
            <a:off x="256032" y="4165092"/>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100"/>
              <a:buFont typeface="Calibri"/>
              <a:buNone/>
            </a:pPr>
            <a:r>
              <a:rPr lang="en-US" sz="1100" b="1">
                <a:solidFill>
                  <a:srgbClr val="9FB0CC"/>
                </a:solidFill>
                <a:latin typeface="Calibri"/>
                <a:ea typeface="Calibri"/>
                <a:cs typeface="Calibri"/>
                <a:sym typeface="Calibri"/>
              </a:rPr>
              <a:t>3.6</a:t>
            </a:r>
            <a:endParaRPr sz="1100">
              <a:solidFill>
                <a:schemeClr val="dk1"/>
              </a:solidFill>
              <a:latin typeface="Calibri"/>
              <a:ea typeface="Calibri"/>
              <a:cs typeface="Calibri"/>
              <a:sym typeface="Calibri"/>
            </a:endParaRPr>
          </a:p>
        </p:txBody>
      </p:sp>
      <p:sp>
        <p:nvSpPr>
          <p:cNvPr id="1290" name="Google Shape;1290;p31"/>
          <p:cNvSpPr/>
          <p:nvPr/>
        </p:nvSpPr>
        <p:spPr>
          <a:xfrm>
            <a:off x="685800" y="4165092"/>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050"/>
              <a:buFont typeface="Calibri"/>
              <a:buNone/>
            </a:pPr>
            <a:r>
              <a:rPr lang="en-US" sz="1050">
                <a:solidFill>
                  <a:srgbClr val="9FB0CC"/>
                </a:solidFill>
                <a:latin typeface="Calibri"/>
                <a:ea typeface="Calibri"/>
                <a:cs typeface="Calibri"/>
                <a:sym typeface="Calibri"/>
              </a:rPr>
              <a:t>Load Balancing</a:t>
            </a:r>
            <a:endParaRPr sz="1050">
              <a:solidFill>
                <a:schemeClr val="dk1"/>
              </a:solidFill>
              <a:latin typeface="Calibri"/>
              <a:ea typeface="Calibri"/>
              <a:cs typeface="Calibri"/>
              <a:sym typeface="Calibri"/>
            </a:endParaRPr>
          </a:p>
        </p:txBody>
      </p:sp>
      <p:sp>
        <p:nvSpPr>
          <p:cNvPr id="1291" name="Google Shape;1291;p31"/>
          <p:cNvSpPr/>
          <p:nvPr/>
        </p:nvSpPr>
        <p:spPr>
          <a:xfrm>
            <a:off x="256032" y="4727448"/>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100"/>
              <a:buFont typeface="Calibri"/>
              <a:buNone/>
            </a:pPr>
            <a:r>
              <a:rPr lang="en-US" sz="1100" b="1">
                <a:solidFill>
                  <a:srgbClr val="9FB0CC"/>
                </a:solidFill>
                <a:latin typeface="Calibri"/>
                <a:ea typeface="Calibri"/>
                <a:cs typeface="Calibri"/>
                <a:sym typeface="Calibri"/>
              </a:rPr>
              <a:t>3.7</a:t>
            </a:r>
            <a:endParaRPr sz="1100">
              <a:solidFill>
                <a:schemeClr val="dk1"/>
              </a:solidFill>
              <a:latin typeface="Calibri"/>
              <a:ea typeface="Calibri"/>
              <a:cs typeface="Calibri"/>
              <a:sym typeface="Calibri"/>
            </a:endParaRPr>
          </a:p>
        </p:txBody>
      </p:sp>
      <p:sp>
        <p:nvSpPr>
          <p:cNvPr id="1292" name="Google Shape;1292;p31"/>
          <p:cNvSpPr/>
          <p:nvPr/>
        </p:nvSpPr>
        <p:spPr>
          <a:xfrm>
            <a:off x="685800" y="4727448"/>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050"/>
              <a:buFont typeface="Calibri"/>
              <a:buNone/>
            </a:pPr>
            <a:r>
              <a:rPr lang="en-US" sz="1050">
                <a:solidFill>
                  <a:srgbClr val="9FB0CC"/>
                </a:solidFill>
                <a:latin typeface="Calibri"/>
                <a:ea typeface="Calibri"/>
                <a:cs typeface="Calibri"/>
                <a:sym typeface="Calibri"/>
              </a:rPr>
              <a:t>Fault Tolerance</a:t>
            </a:r>
            <a:endParaRPr sz="1050">
              <a:solidFill>
                <a:schemeClr val="dk1"/>
              </a:solidFill>
              <a:latin typeface="Calibri"/>
              <a:ea typeface="Calibri"/>
              <a:cs typeface="Calibri"/>
              <a:sym typeface="Calibri"/>
            </a:endParaRPr>
          </a:p>
        </p:txBody>
      </p:sp>
      <p:sp>
        <p:nvSpPr>
          <p:cNvPr id="1293" name="Google Shape;1293;p31"/>
          <p:cNvSpPr/>
          <p:nvPr/>
        </p:nvSpPr>
        <p:spPr>
          <a:xfrm>
            <a:off x="256032" y="5289804"/>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100"/>
              <a:buFont typeface="Calibri"/>
              <a:buNone/>
            </a:pPr>
            <a:r>
              <a:rPr lang="en-US" sz="1100" b="1">
                <a:solidFill>
                  <a:srgbClr val="9FB0CC"/>
                </a:solidFill>
                <a:latin typeface="Calibri"/>
                <a:ea typeface="Calibri"/>
                <a:cs typeface="Calibri"/>
                <a:sym typeface="Calibri"/>
              </a:rPr>
              <a:t>3.8</a:t>
            </a:r>
            <a:endParaRPr sz="1100">
              <a:solidFill>
                <a:schemeClr val="dk1"/>
              </a:solidFill>
              <a:latin typeface="Calibri"/>
              <a:ea typeface="Calibri"/>
              <a:cs typeface="Calibri"/>
              <a:sym typeface="Calibri"/>
            </a:endParaRPr>
          </a:p>
        </p:txBody>
      </p:sp>
      <p:sp>
        <p:nvSpPr>
          <p:cNvPr id="1294" name="Google Shape;1294;p31"/>
          <p:cNvSpPr/>
          <p:nvPr/>
        </p:nvSpPr>
        <p:spPr>
          <a:xfrm>
            <a:off x="685800" y="5289804"/>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050"/>
              <a:buFont typeface="Calibri"/>
              <a:buNone/>
            </a:pPr>
            <a:r>
              <a:rPr lang="en-US" sz="1050">
                <a:solidFill>
                  <a:srgbClr val="9FB0CC"/>
                </a:solidFill>
                <a:latin typeface="Calibri"/>
                <a:ea typeface="Calibri"/>
                <a:cs typeface="Calibri"/>
                <a:sym typeface="Calibri"/>
              </a:rPr>
              <a:t>Case Studies</a:t>
            </a:r>
            <a:endParaRPr sz="1050">
              <a:solidFill>
                <a:schemeClr val="dk1"/>
              </a:solidFill>
              <a:latin typeface="Calibri"/>
              <a:ea typeface="Calibri"/>
              <a:cs typeface="Calibri"/>
              <a:sym typeface="Calibri"/>
            </a:endParaRPr>
          </a:p>
        </p:txBody>
      </p:sp>
      <p:sp>
        <p:nvSpPr>
          <p:cNvPr id="1295" name="Google Shape;1295;p31"/>
          <p:cNvSpPr/>
          <p:nvPr/>
        </p:nvSpPr>
        <p:spPr>
          <a:xfrm>
            <a:off x="256032" y="5852160"/>
            <a:ext cx="45720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100"/>
              <a:buFont typeface="Calibri"/>
              <a:buNone/>
            </a:pPr>
            <a:r>
              <a:rPr lang="en-US" sz="1100" b="1">
                <a:solidFill>
                  <a:srgbClr val="9FB0CC"/>
                </a:solidFill>
                <a:latin typeface="Calibri"/>
                <a:ea typeface="Calibri"/>
                <a:cs typeface="Calibri"/>
                <a:sym typeface="Calibri"/>
              </a:rPr>
              <a:t>3.9</a:t>
            </a:r>
            <a:endParaRPr sz="1100">
              <a:solidFill>
                <a:schemeClr val="dk1"/>
              </a:solidFill>
              <a:latin typeface="Calibri"/>
              <a:ea typeface="Calibri"/>
              <a:cs typeface="Calibri"/>
              <a:sym typeface="Calibri"/>
            </a:endParaRPr>
          </a:p>
        </p:txBody>
      </p:sp>
      <p:sp>
        <p:nvSpPr>
          <p:cNvPr id="1296" name="Google Shape;1296;p31"/>
          <p:cNvSpPr/>
          <p:nvPr/>
        </p:nvSpPr>
        <p:spPr>
          <a:xfrm>
            <a:off x="685800" y="5852160"/>
            <a:ext cx="1645920" cy="47091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FB0CC"/>
              </a:buClr>
              <a:buSzPts val="1050"/>
              <a:buFont typeface="Calibri"/>
              <a:buNone/>
            </a:pPr>
            <a:r>
              <a:rPr lang="en-US" sz="1050">
                <a:solidFill>
                  <a:srgbClr val="9FB0CC"/>
                </a:solidFill>
                <a:latin typeface="Calibri"/>
                <a:ea typeface="Calibri"/>
                <a:cs typeface="Calibri"/>
                <a:sym typeface="Calibri"/>
              </a:rPr>
              <a:t>Summary &amp; Review</a:t>
            </a:r>
            <a:endParaRPr sz="1050">
              <a:solidFill>
                <a:schemeClr val="dk1"/>
              </a:solidFill>
              <a:latin typeface="Calibri"/>
              <a:ea typeface="Calibri"/>
              <a:cs typeface="Calibri"/>
              <a:sym typeface="Calibri"/>
            </a:endParaRPr>
          </a:p>
        </p:txBody>
      </p:sp>
      <p:sp>
        <p:nvSpPr>
          <p:cNvPr id="1297" name="Google Shape;1297;p31"/>
          <p:cNvSpPr/>
          <p:nvPr/>
        </p:nvSpPr>
        <p:spPr>
          <a:xfrm>
            <a:off x="6017327" y="1588770"/>
            <a:ext cx="2077279"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4800"/>
              <a:buFont typeface="Calibri"/>
              <a:buNone/>
            </a:pPr>
            <a:r>
              <a:rPr lang="en-US" sz="4800" b="1">
                <a:solidFill>
                  <a:schemeClr val="dk1"/>
                </a:solidFill>
                <a:latin typeface="Calibri"/>
                <a:ea typeface="Calibri"/>
                <a:cs typeface="Calibri"/>
                <a:sym typeface="Calibri"/>
              </a:rPr>
              <a:t>Thanks</a:t>
            </a:r>
            <a:endParaRPr sz="4800">
              <a:solidFill>
                <a:schemeClr val="dk1"/>
              </a:solidFill>
              <a:latin typeface="Calibri"/>
              <a:ea typeface="Calibri"/>
              <a:cs typeface="Calibri"/>
              <a:sym typeface="Calibri"/>
            </a:endParaRPr>
          </a:p>
        </p:txBody>
      </p:sp>
      <p:sp>
        <p:nvSpPr>
          <p:cNvPr id="1298" name="Google Shape;1298;p31"/>
          <p:cNvSpPr/>
          <p:nvPr/>
        </p:nvSpPr>
        <p:spPr>
          <a:xfrm>
            <a:off x="2834640" y="4353339"/>
            <a:ext cx="8991295" cy="492981"/>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00000"/>
              </a:buClr>
              <a:buSzPts val="1800"/>
              <a:buFont typeface="Calibri"/>
              <a:buNone/>
            </a:pPr>
            <a:r>
              <a:rPr lang="en-US" sz="1800">
                <a:solidFill>
                  <a:srgbClr val="C00000"/>
                </a:solidFill>
                <a:latin typeface="Calibri"/>
                <a:ea typeface="Calibri"/>
                <a:cs typeface="Calibri"/>
                <a:sym typeface="Calibri"/>
              </a:rPr>
              <a:t>Prof. Pinal M. Hansora    </a:t>
            </a:r>
            <a:endParaRPr/>
          </a:p>
          <a:p>
            <a:pPr marL="0" marR="0" lvl="0" indent="0" algn="l" rtl="0">
              <a:spcBef>
                <a:spcPts val="0"/>
              </a:spcBef>
              <a:spcAft>
                <a:spcPts val="0"/>
              </a:spcAft>
              <a:buClr>
                <a:srgbClr val="C00000"/>
              </a:buClr>
              <a:buSzPts val="1800"/>
              <a:buFont typeface="Calibri"/>
              <a:buNone/>
            </a:pPr>
            <a:r>
              <a:rPr lang="en-US" sz="1800">
                <a:solidFill>
                  <a:srgbClr val="C00000"/>
                </a:solidFill>
                <a:latin typeface="Calibri"/>
                <a:ea typeface="Calibri"/>
                <a:cs typeface="Calibri"/>
                <a:sym typeface="Calibri"/>
              </a:rPr>
              <a:t>Department of Computer Science &amp; Engineering   </a:t>
            </a:r>
            <a:endParaRPr/>
          </a:p>
          <a:p>
            <a:pPr marL="0" marR="0" lvl="0" indent="0" algn="l" rtl="0">
              <a:spcBef>
                <a:spcPts val="0"/>
              </a:spcBef>
              <a:spcAft>
                <a:spcPts val="0"/>
              </a:spcAft>
              <a:buClr>
                <a:srgbClr val="C00000"/>
              </a:buClr>
              <a:buSzPts val="1800"/>
              <a:buFont typeface="Calibri"/>
              <a:buNone/>
            </a:pPr>
            <a:r>
              <a:rPr lang="en-US" sz="1800">
                <a:solidFill>
                  <a:srgbClr val="C00000"/>
                </a:solidFill>
                <a:latin typeface="Calibri"/>
                <a:ea typeface="Calibri"/>
                <a:cs typeface="Calibri"/>
                <a:sym typeface="Calibri"/>
              </a:rPr>
              <a:t>CSPIT, CHARUSAT University</a:t>
            </a:r>
            <a:endParaRPr sz="1800">
              <a:solidFill>
                <a:srgbClr val="C00000"/>
              </a:solidFill>
              <a:latin typeface="Calibri"/>
              <a:ea typeface="Calibri"/>
              <a:cs typeface="Calibri"/>
              <a:sym typeface="Calibri"/>
            </a:endParaRPr>
          </a:p>
        </p:txBody>
      </p:sp>
      <p:sp>
        <p:nvSpPr>
          <p:cNvPr id="1299" name="Google Shape;1299;p31"/>
          <p:cNvSpPr/>
          <p:nvPr/>
        </p:nvSpPr>
        <p:spPr>
          <a:xfrm>
            <a:off x="2834640" y="6537960"/>
            <a:ext cx="8442655"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CSUE301 · Big Data Analytics · CHARUSAT</a:t>
            </a:r>
            <a:endParaRPr sz="850">
              <a:solidFill>
                <a:schemeClr val="dk1"/>
              </a:solidFill>
              <a:latin typeface="Calibri"/>
              <a:ea typeface="Calibri"/>
              <a:cs typeface="Calibri"/>
              <a:sym typeface="Calibri"/>
            </a:endParaRPr>
          </a:p>
        </p:txBody>
      </p:sp>
      <p:sp>
        <p:nvSpPr>
          <p:cNvPr id="1300" name="Google Shape;1300;p31"/>
          <p:cNvSpPr/>
          <p:nvPr/>
        </p:nvSpPr>
        <p:spPr>
          <a:xfrm>
            <a:off x="11643055" y="6537960"/>
            <a:ext cx="365760" cy="25603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A93A3"/>
              </a:buClr>
              <a:buSzPts val="850"/>
              <a:buFont typeface="Calibri"/>
              <a:buNone/>
            </a:pPr>
            <a:r>
              <a:rPr lang="en-US" sz="850">
                <a:solidFill>
                  <a:srgbClr val="8A93A3"/>
                </a:solidFill>
                <a:latin typeface="Calibri"/>
                <a:ea typeface="Calibri"/>
                <a:cs typeface="Calibri"/>
                <a:sym typeface="Calibri"/>
              </a:rPr>
              <a:t>22</a:t>
            </a:r>
            <a:endParaRPr sz="850">
              <a:solidFill>
                <a:schemeClr val="dk1"/>
              </a:solidFill>
              <a:latin typeface="Calibri"/>
              <a:ea typeface="Calibri"/>
              <a:cs typeface="Calibri"/>
              <a:sym typeface="Calibri"/>
            </a:endParaRPr>
          </a:p>
        </p:txBody>
      </p:sp>
      <p:pic>
        <p:nvPicPr>
          <p:cNvPr id="1301" name="Google Shape;1301;p31"/>
          <p:cNvPicPr preferRelativeResize="0"/>
          <p:nvPr/>
        </p:nvPicPr>
        <p:blipFill rotWithShape="1">
          <a:blip r:embed="rId3">
            <a:alphaModFix/>
          </a:blip>
          <a:srcRect/>
          <a:stretch/>
        </p:blipFill>
        <p:spPr>
          <a:xfrm>
            <a:off x="2944368" y="5166360"/>
            <a:ext cx="823784" cy="8237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TotalTime>
  <Words>4287</Words>
  <Application>Microsoft Office PowerPoint</Application>
  <PresentationFormat>Widescreen</PresentationFormat>
  <Paragraphs>1093</Paragraphs>
  <Slides>31</Slides>
  <Notes>31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Courier New</vt:lpstr>
      <vt:lpstr>Calibri</vt:lpstr>
      <vt:lpstr>Google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PptxGenJS</dc:creator>
  <cp:lastModifiedBy>CHARUSAT</cp:lastModifiedBy>
  <cp:revision>7</cp:revision>
  <dcterms:created xsi:type="dcterms:W3CDTF">2026-08-11T04:14:37Z</dcterms:created>
  <dcterms:modified xsi:type="dcterms:W3CDTF">2026-08-31T10:42:08Z</dcterms:modified>
</cp:coreProperties>
</file>