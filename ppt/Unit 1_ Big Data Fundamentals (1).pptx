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1.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7" r:id="rId2"/>
    <p:sldId id="283" r:id="rId3"/>
    <p:sldId id="259" r:id="rId4"/>
    <p:sldId id="260" r:id="rId5"/>
    <p:sldId id="261" r:id="rId6"/>
    <p:sldId id="262" r:id="rId7"/>
    <p:sldId id="304" r:id="rId8"/>
    <p:sldId id="286" r:id="rId9"/>
    <p:sldId id="305" r:id="rId10"/>
    <p:sldId id="306" r:id="rId11"/>
    <p:sldId id="323" r:id="rId12"/>
    <p:sldId id="307" r:id="rId13"/>
    <p:sldId id="308" r:id="rId14"/>
    <p:sldId id="309" r:id="rId15"/>
    <p:sldId id="312" r:id="rId16"/>
    <p:sldId id="324" r:id="rId17"/>
    <p:sldId id="311" r:id="rId18"/>
    <p:sldId id="313" r:id="rId19"/>
    <p:sldId id="325" r:id="rId20"/>
    <p:sldId id="326" r:id="rId21"/>
    <p:sldId id="327" r:id="rId22"/>
    <p:sldId id="328" r:id="rId23"/>
    <p:sldId id="314" r:id="rId24"/>
    <p:sldId id="315" r:id="rId25"/>
    <p:sldId id="330" r:id="rId26"/>
    <p:sldId id="316" r:id="rId27"/>
    <p:sldId id="331" r:id="rId28"/>
    <p:sldId id="317" r:id="rId29"/>
    <p:sldId id="318" r:id="rId30"/>
    <p:sldId id="319" r:id="rId31"/>
    <p:sldId id="320" r:id="rId32"/>
    <p:sldId id="322" r:id="rId33"/>
    <p:sldId id="321" r:id="rId34"/>
    <p:sldId id="310" r:id="rId35"/>
  </p:sldIdLst>
  <p:sldSz cx="16256000" cy="9144000"/>
  <p:notesSz cx="9144000" cy="16256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4" d="100"/>
          <a:sy n="64" d="100"/>
        </p:scale>
        <p:origin x="466"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IN"/>
              <a:t>Figure: Performance Characteristics Comparison</a:t>
            </a:r>
          </a:p>
        </c:rich>
      </c:tx>
      <c:layout/>
      <c:overlay val="0"/>
    </c:title>
    <c:autoTitleDeleted val="0"/>
    <c:plotArea>
      <c:layout/>
      <c:barChart>
        <c:barDir val="bar"/>
        <c:grouping val="clustered"/>
        <c:varyColors val="0"/>
        <c:ser>
          <c:idx val="0"/>
          <c:order val="0"/>
          <c:tx>
            <c:strRef>
              <c:f>Sheet1!$B$1</c:f>
              <c:strCache>
                <c:ptCount val="1"/>
                <c:pt idx="0">
                  <c:v>Batch Processing</c:v>
                </c:pt>
              </c:strCache>
            </c:strRef>
          </c:tx>
          <c:spPr>
            <a:solidFill>
              <a:srgbClr val="005C82"/>
            </a:solidFill>
            <a:effectLst/>
          </c:spPr>
          <c:invertIfNegative val="0"/>
          <c:dLbls>
            <c:numFmt formatCode="#,##0" sourceLinked="0"/>
            <c:spPr>
              <a:noFill/>
              <a:ln>
                <a:noFill/>
              </a:ln>
              <a:effectLst/>
            </c:sp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0"/>
              </c:ext>
            </c:extLst>
          </c:dLbls>
          <c:cat>
            <c:strRef>
              <c:f>Sheet1!$A$2:$A$5</c:f>
              <c:strCache>
                <c:ptCount val="4"/>
                <c:pt idx="0">
                  <c:v>Latency</c:v>
                </c:pt>
                <c:pt idx="1">
                  <c:v>Throughput</c:v>
                </c:pt>
                <c:pt idx="2">
                  <c:v>Scalability</c:v>
                </c:pt>
                <c:pt idx="3">
                  <c:v>Complexity</c:v>
                </c:pt>
              </c:strCache>
            </c:strRef>
          </c:cat>
          <c:val>
            <c:numRef>
              <c:f>Sheet1!$B$2:$B$5</c:f>
              <c:numCache>
                <c:formatCode>General</c:formatCode>
                <c:ptCount val="4"/>
                <c:pt idx="0">
                  <c:v>30</c:v>
                </c:pt>
                <c:pt idx="1">
                  <c:v>95</c:v>
                </c:pt>
                <c:pt idx="2">
                  <c:v>90</c:v>
                </c:pt>
                <c:pt idx="3">
                  <c:v>60</c:v>
                </c:pt>
              </c:numCache>
            </c:numRef>
          </c:val>
          <c:extLst xmlns:c16r2="http://schemas.microsoft.com/office/drawing/2015/06/chart">
            <c:ext xmlns:c16="http://schemas.microsoft.com/office/drawing/2014/chart" uri="{C3380CC4-5D6E-409C-BE32-E72D297353CC}">
              <c16:uniqueId val="{00000000-3CD8-42CB-9E54-89EEB22DC151}"/>
            </c:ext>
          </c:extLst>
        </c:ser>
        <c:ser>
          <c:idx val="1"/>
          <c:order val="1"/>
          <c:tx>
            <c:strRef>
              <c:f>Sheet1!$C$1</c:f>
              <c:strCache>
                <c:ptCount val="1"/>
                <c:pt idx="0">
                  <c:v>Stream Processing</c:v>
                </c:pt>
              </c:strCache>
            </c:strRef>
          </c:tx>
          <c:spPr>
            <a:solidFill>
              <a:srgbClr val="00ACC1"/>
            </a:solidFill>
            <a:effectLst/>
          </c:spPr>
          <c:invertIfNegative val="0"/>
          <c:dLbls>
            <c:numFmt formatCode="#,##0" sourceLinked="0"/>
            <c:spPr>
              <a:noFill/>
              <a:ln>
                <a:noFill/>
              </a:ln>
              <a:effectLst/>
            </c:sp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0"/>
              </c:ext>
            </c:extLst>
          </c:dLbls>
          <c:cat>
            <c:strRef>
              <c:f>Sheet1!$A$2:$A$5</c:f>
              <c:strCache>
                <c:ptCount val="4"/>
                <c:pt idx="0">
                  <c:v>Latency</c:v>
                </c:pt>
                <c:pt idx="1">
                  <c:v>Throughput</c:v>
                </c:pt>
                <c:pt idx="2">
                  <c:v>Scalability</c:v>
                </c:pt>
                <c:pt idx="3">
                  <c:v>Complexity</c:v>
                </c:pt>
              </c:strCache>
            </c:strRef>
          </c:cat>
          <c:val>
            <c:numRef>
              <c:f>Sheet1!$C$2:$C$5</c:f>
              <c:numCache>
                <c:formatCode>General</c:formatCode>
                <c:ptCount val="4"/>
                <c:pt idx="0">
                  <c:v>85</c:v>
                </c:pt>
                <c:pt idx="1">
                  <c:v>70</c:v>
                </c:pt>
                <c:pt idx="2">
                  <c:v>85</c:v>
                </c:pt>
                <c:pt idx="3">
                  <c:v>75</c:v>
                </c:pt>
              </c:numCache>
            </c:numRef>
          </c:val>
          <c:extLst xmlns:c16r2="http://schemas.microsoft.com/office/drawing/2015/06/chart">
            <c:ext xmlns:c16="http://schemas.microsoft.com/office/drawing/2014/chart" uri="{C3380CC4-5D6E-409C-BE32-E72D297353CC}">
              <c16:uniqueId val="{00000001-3CD8-42CB-9E54-89EEB22DC151}"/>
            </c:ext>
          </c:extLst>
        </c:ser>
        <c:ser>
          <c:idx val="2"/>
          <c:order val="2"/>
          <c:tx>
            <c:strRef>
              <c:f>Sheet1!$D$1</c:f>
              <c:strCache>
                <c:ptCount val="1"/>
                <c:pt idx="0">
                  <c:v>Real-Time</c:v>
                </c:pt>
              </c:strCache>
            </c:strRef>
          </c:tx>
          <c:spPr>
            <a:solidFill>
              <a:srgbClr val="B0BEC5"/>
            </a:solidFill>
            <a:effectLst/>
          </c:spPr>
          <c:invertIfNegative val="0"/>
          <c:dLbls>
            <c:numFmt formatCode="#,##0" sourceLinked="0"/>
            <c:spPr>
              <a:noFill/>
              <a:ln>
                <a:noFill/>
              </a:ln>
              <a:effectLst/>
            </c:sp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0"/>
              </c:ext>
            </c:extLst>
          </c:dLbls>
          <c:cat>
            <c:strRef>
              <c:f>Sheet1!$A$2:$A$5</c:f>
              <c:strCache>
                <c:ptCount val="4"/>
                <c:pt idx="0">
                  <c:v>Latency</c:v>
                </c:pt>
                <c:pt idx="1">
                  <c:v>Throughput</c:v>
                </c:pt>
                <c:pt idx="2">
                  <c:v>Scalability</c:v>
                </c:pt>
                <c:pt idx="3">
                  <c:v>Complexity</c:v>
                </c:pt>
              </c:strCache>
            </c:strRef>
          </c:cat>
          <c:val>
            <c:numRef>
              <c:f>Sheet1!$D$2:$D$5</c:f>
              <c:numCache>
                <c:formatCode>General</c:formatCode>
                <c:ptCount val="4"/>
                <c:pt idx="0">
                  <c:v>95</c:v>
                </c:pt>
                <c:pt idx="1">
                  <c:v>60</c:v>
                </c:pt>
                <c:pt idx="2">
                  <c:v>75</c:v>
                </c:pt>
                <c:pt idx="3">
                  <c:v>90</c:v>
                </c:pt>
              </c:numCache>
            </c:numRef>
          </c:val>
          <c:extLst xmlns:c16r2="http://schemas.microsoft.com/office/drawing/2015/06/chart">
            <c:ext xmlns:c16="http://schemas.microsoft.com/office/drawing/2014/chart" uri="{C3380CC4-5D6E-409C-BE32-E72D297353CC}">
              <c16:uniqueId val="{00000002-3CD8-42CB-9E54-89EEB22DC151}"/>
            </c:ext>
          </c:extLst>
        </c:ser>
        <c:dLbls>
          <c:showLegendKey val="0"/>
          <c:showVal val="1"/>
          <c:showCatName val="0"/>
          <c:showSerName val="0"/>
          <c:showPercent val="0"/>
          <c:showBubbleSize val="0"/>
        </c:dLbls>
        <c:gapWidth val="67"/>
        <c:axId val="401945520"/>
        <c:axId val="401951400"/>
      </c:barChart>
      <c:catAx>
        <c:axId val="401945520"/>
        <c:scaling>
          <c:orientation val="minMax"/>
        </c:scaling>
        <c:delete val="0"/>
        <c:axPos val="l"/>
        <c:majorGridlines>
          <c:spPr>
            <a:ln w="12700" cap="flat">
              <a:solidFill>
                <a:srgbClr val="E0F4FA"/>
              </a:solidFill>
              <a:prstDash val="dot"/>
              <a:round/>
            </a:ln>
          </c:spPr>
        </c:majorGridlines>
        <c:numFmt formatCode="General" sourceLinked="1"/>
        <c:majorTickMark val="out"/>
        <c:minorTickMark val="none"/>
        <c:tickLblPos val="nextTo"/>
        <c:spPr>
          <a:ln w="12700" cap="flat">
            <a:solidFill>
              <a:srgbClr val="888888"/>
            </a:solidFill>
            <a:prstDash val="solid"/>
            <a:round/>
          </a:ln>
        </c:spPr>
        <c:crossAx val="401951400"/>
        <c:crosses val="autoZero"/>
        <c:auto val="1"/>
        <c:lblAlgn val="ctr"/>
        <c:lblOffset val="100"/>
        <c:noMultiLvlLbl val="1"/>
      </c:catAx>
      <c:valAx>
        <c:axId val="401951400"/>
        <c:scaling>
          <c:orientation val="minMax"/>
        </c:scaling>
        <c:delete val="0"/>
        <c:axPos val="b"/>
        <c:majorGridlines>
          <c:spPr>
            <a:ln w="12700" cap="flat">
              <a:solidFill>
                <a:srgbClr val="E0E6F1"/>
              </a:solidFill>
              <a:prstDash val="solid"/>
              <a:round/>
            </a:ln>
          </c:spPr>
        </c:majorGridlines>
        <c:numFmt formatCode="General" sourceLinked="0"/>
        <c:majorTickMark val="out"/>
        <c:minorTickMark val="none"/>
        <c:tickLblPos val="low"/>
        <c:spPr>
          <a:ln w="12700" cap="flat">
            <a:solidFill>
              <a:srgbClr val="888888"/>
            </a:solidFill>
            <a:prstDash val="solid"/>
            <a:round/>
          </a:ln>
        </c:spPr>
        <c:crossAx val="401945520"/>
        <c:crosses val="autoZero"/>
        <c:crossBetween val="between"/>
      </c:valAx>
      <c:spPr>
        <a:noFill/>
        <a:ln>
          <a:noFill/>
        </a:ln>
        <a:effectLst/>
      </c:spPr>
    </c:plotArea>
    <c:legend>
      <c:legendPos val="b"/>
      <c:layout/>
      <c:overlay val="0"/>
    </c:legend>
    <c:plotVisOnly val="1"/>
    <c:dispBlanksAs val="span"/>
    <c:showDLblsOverMax val="1"/>
  </c:chart>
  <c:spPr>
    <a:noFill/>
    <a:ln>
      <a:noFill/>
    </a:ln>
    <a:effectLst/>
  </c:spPr>
  <c:txPr>
    <a:bodyPr/>
    <a:lstStyle/>
    <a:p>
      <a:pPr>
        <a:defRPr sz="16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3316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895678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2066257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5746941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6262404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0336174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2974695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2515573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158134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8798438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1528062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3305295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4363389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629383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1121708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6091728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8371226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3769243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5835796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3933215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40464886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5880823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7564104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32937079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4788322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26498148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5690400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4814641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Google Shape;19;p23"/>
          <p:cNvPicPr preferRelativeResize="0"/>
          <p:nvPr userDrawn="1"/>
        </p:nvPicPr>
        <p:blipFill rotWithShape="1">
          <a:blip r:embed="rId3">
            <a:alphaModFix/>
          </a:blip>
          <a:srcRect/>
          <a:stretch/>
        </p:blipFill>
        <p:spPr>
          <a:xfrm>
            <a:off x="179326" y="160642"/>
            <a:ext cx="2917442" cy="584884"/>
          </a:xfrm>
          <a:prstGeom prst="rect">
            <a:avLst/>
          </a:prstGeom>
          <a:noFill/>
          <a:ln>
            <a:noFill/>
          </a:ln>
        </p:spPr>
      </p:pic>
      <p:sp>
        <p:nvSpPr>
          <p:cNvPr id="4" name="Shape 0"/>
          <p:cNvSpPr/>
          <p:nvPr userDrawn="1"/>
        </p:nvSpPr>
        <p:spPr>
          <a:xfrm>
            <a:off x="-9144" y="1227582"/>
            <a:ext cx="2410968" cy="7916418"/>
          </a:xfrm>
          <a:prstGeom prst="rect">
            <a:avLst/>
          </a:prstGeom>
          <a:solidFill>
            <a:srgbClr val="005C82"/>
          </a:solidFill>
          <a:ln/>
        </p:spPr>
      </p:sp>
      <p:sp>
        <p:nvSpPr>
          <p:cNvPr id="5" name="Text 3"/>
          <p:cNvSpPr/>
          <p:nvPr userDrawn="1"/>
        </p:nvSpPr>
        <p:spPr>
          <a:xfrm>
            <a:off x="152400" y="1290066"/>
            <a:ext cx="2082800" cy="1016000"/>
          </a:xfrm>
          <a:prstGeom prst="rect">
            <a:avLst/>
          </a:prstGeom>
          <a:noFill/>
          <a:ln/>
        </p:spPr>
        <p:txBody>
          <a:bodyPr wrap="none" lIns="0" tIns="0" rIns="0" bIns="0" rtlCol="0" anchor="ctr"/>
          <a:lstStyle/>
          <a:p>
            <a:pPr algn="l">
              <a:lnSpc>
                <a:spcPct val="120000"/>
              </a:lnSpc>
            </a:pPr>
            <a:r>
              <a:rPr lang="en-US" sz="1600" b="1" dirty="0">
                <a:solidFill>
                  <a:srgbClr val="FFC000"/>
                </a:solidFill>
                <a:latin typeface="Arial Black" panose="020B0A04020102020204" pitchFamily="34" charset="0"/>
                <a:ea typeface="Quattrocento Sans" pitchFamily="34" charset="-122"/>
                <a:cs typeface="Quattrocento Sans" pitchFamily="34" charset="-120"/>
              </a:rPr>
              <a:t>01 Big Data Basics</a:t>
            </a:r>
            <a:endParaRPr lang="en-US" sz="1600" dirty="0">
              <a:solidFill>
                <a:srgbClr val="FFC000"/>
              </a:solidFill>
              <a:latin typeface="Arial Black" panose="020B0A04020102020204" pitchFamily="34" charset="0"/>
            </a:endParaRPr>
          </a:p>
        </p:txBody>
      </p:sp>
      <p:sp>
        <p:nvSpPr>
          <p:cNvPr id="6" name="Text 4"/>
          <p:cNvSpPr/>
          <p:nvPr userDrawn="1"/>
        </p:nvSpPr>
        <p:spPr>
          <a:xfrm>
            <a:off x="152400" y="2234692"/>
            <a:ext cx="2082800" cy="1016000"/>
          </a:xfrm>
          <a:prstGeom prst="rect">
            <a:avLst/>
          </a:prstGeom>
          <a:noFill/>
          <a:ln/>
        </p:spPr>
        <p:txBody>
          <a:bodyPr wrap="none" lIns="0" tIns="0" rIns="0" bIns="0" rtlCol="0" anchor="ctr"/>
          <a:lstStyle/>
          <a:p>
            <a:pPr algn="l">
              <a:lnSpc>
                <a:spcPct val="120000"/>
              </a:lnSpc>
            </a:pPr>
            <a:r>
              <a:rPr lang="en-US" sz="1600" b="1" dirty="0">
                <a:solidFill>
                  <a:srgbClr val="FFC000"/>
                </a:solidFill>
                <a:latin typeface="Arial Black" panose="020B0A04020102020204" pitchFamily="34" charset="0"/>
                <a:ea typeface="Quattrocento Sans" pitchFamily="34" charset="-122"/>
                <a:cs typeface="Quattrocento Sans" pitchFamily="34" charset="-120"/>
              </a:rPr>
              <a:t>02 Data Life Cycle</a:t>
            </a:r>
            <a:endParaRPr lang="en-US" sz="1600" b="1" dirty="0">
              <a:solidFill>
                <a:srgbClr val="FFC000"/>
              </a:solidFill>
              <a:latin typeface="Arial Black" panose="020B0A04020102020204" pitchFamily="34" charset="0"/>
            </a:endParaRPr>
          </a:p>
        </p:txBody>
      </p:sp>
      <p:sp>
        <p:nvSpPr>
          <p:cNvPr id="7" name="Text 5"/>
          <p:cNvSpPr/>
          <p:nvPr userDrawn="1"/>
        </p:nvSpPr>
        <p:spPr>
          <a:xfrm>
            <a:off x="71628" y="3339084"/>
            <a:ext cx="2082800" cy="1016000"/>
          </a:xfrm>
          <a:prstGeom prst="rect">
            <a:avLst/>
          </a:prstGeom>
          <a:noFill/>
          <a:ln/>
        </p:spPr>
        <p:txBody>
          <a:bodyPr wrap="none" lIns="0" tIns="0" rIns="0" bIns="0" rtlCol="0" anchor="ctr"/>
          <a:lstStyle/>
          <a:p>
            <a:pPr algn="l">
              <a:lnSpc>
                <a:spcPct val="120000"/>
              </a:lnSpc>
            </a:pPr>
            <a:r>
              <a:rPr lang="en-US" sz="1600" b="1" dirty="0" smtClean="0">
                <a:solidFill>
                  <a:srgbClr val="FFC000"/>
                </a:solidFill>
                <a:latin typeface="Arial Black" panose="020B0A04020102020204" pitchFamily="34" charset="0"/>
                <a:ea typeface="Quattrocento Sans" pitchFamily="34" charset="-122"/>
                <a:cs typeface="Quattrocento Sans" pitchFamily="34" charset="-120"/>
              </a:rPr>
              <a:t> 03</a:t>
            </a:r>
            <a:r>
              <a:rPr lang="en-US" sz="1200" dirty="0" smtClean="0">
                <a:solidFill>
                  <a:srgbClr val="FFFFFF"/>
                </a:solidFill>
                <a:latin typeface="Arial Black" panose="020B0A04020102020204" pitchFamily="34" charset="0"/>
                <a:ea typeface="Quattrocento Sans" pitchFamily="34" charset="-122"/>
                <a:cs typeface="Quattrocento Sans" pitchFamily="34" charset="-120"/>
              </a:rPr>
              <a:t> </a:t>
            </a:r>
            <a:r>
              <a:rPr lang="en-US" sz="1600" b="1" dirty="0">
                <a:solidFill>
                  <a:srgbClr val="FFC000"/>
                </a:solidFill>
                <a:latin typeface="Arial Black" panose="020B0A04020102020204" pitchFamily="34" charset="0"/>
                <a:ea typeface="Quattrocento Sans" pitchFamily="34" charset="-122"/>
                <a:cs typeface="Quattrocento Sans" pitchFamily="34" charset="-120"/>
              </a:rPr>
              <a:t>Computing</a:t>
            </a:r>
            <a:r>
              <a:rPr lang="en-US" sz="1200" dirty="0">
                <a:solidFill>
                  <a:srgbClr val="FFFFFF"/>
                </a:solidFill>
                <a:latin typeface="Arial Black" panose="020B0A04020102020204" pitchFamily="34" charset="0"/>
                <a:ea typeface="Quattrocento Sans" pitchFamily="34" charset="-122"/>
                <a:cs typeface="Quattrocento Sans" pitchFamily="34" charset="-120"/>
              </a:rPr>
              <a:t> </a:t>
            </a:r>
            <a:endParaRPr lang="en-US" sz="1200" dirty="0" smtClean="0">
              <a:solidFill>
                <a:srgbClr val="FFFFFF"/>
              </a:solidFill>
              <a:latin typeface="Arial Black" panose="020B0A04020102020204" pitchFamily="34" charset="0"/>
              <a:ea typeface="Quattrocento Sans" pitchFamily="34" charset="-122"/>
              <a:cs typeface="Quattrocento Sans" pitchFamily="34" charset="-120"/>
            </a:endParaRPr>
          </a:p>
          <a:p>
            <a:pPr algn="l">
              <a:lnSpc>
                <a:spcPct val="120000"/>
              </a:lnSpc>
            </a:pPr>
            <a:r>
              <a:rPr lang="en-US" sz="1200" b="1" dirty="0">
                <a:solidFill>
                  <a:srgbClr val="FFFFFF"/>
                </a:solidFill>
                <a:latin typeface="Arial Black" panose="020B0A04020102020204" pitchFamily="34" charset="0"/>
                <a:ea typeface="Quattrocento Sans" pitchFamily="34" charset="-122"/>
                <a:cs typeface="Quattrocento Sans" pitchFamily="34" charset="-120"/>
              </a:rPr>
              <a:t> </a:t>
            </a:r>
            <a:r>
              <a:rPr lang="en-US" sz="1200" b="1" dirty="0" smtClean="0">
                <a:solidFill>
                  <a:srgbClr val="FFFFFF"/>
                </a:solidFill>
                <a:latin typeface="Arial Black" panose="020B0A04020102020204" pitchFamily="34" charset="0"/>
                <a:ea typeface="Quattrocento Sans" pitchFamily="34" charset="-122"/>
                <a:cs typeface="Quattrocento Sans" pitchFamily="34" charset="-120"/>
              </a:rPr>
              <a:t>     </a:t>
            </a:r>
            <a:r>
              <a:rPr lang="en-US" sz="1600" b="1" dirty="0" smtClean="0">
                <a:solidFill>
                  <a:srgbClr val="FFC000"/>
                </a:solidFill>
                <a:latin typeface="Arial Black" panose="020B0A04020102020204" pitchFamily="34" charset="0"/>
                <a:ea typeface="Quattrocento Sans" pitchFamily="34" charset="-122"/>
                <a:cs typeface="Quattrocento Sans" pitchFamily="34" charset="-120"/>
              </a:rPr>
              <a:t>Models</a:t>
            </a:r>
            <a:endParaRPr lang="en-US" sz="1600" b="1" dirty="0">
              <a:solidFill>
                <a:srgbClr val="FFC000"/>
              </a:solidFill>
              <a:latin typeface="Arial Black" panose="020B0A04020102020204" pitchFamily="34" charset="0"/>
              <a:ea typeface="Quattrocento Sans" pitchFamily="34" charset="-122"/>
              <a:cs typeface="Quattrocento Sans" pitchFamily="34" charset="-120"/>
            </a:endParaRPr>
          </a:p>
        </p:txBody>
      </p:sp>
      <p:sp>
        <p:nvSpPr>
          <p:cNvPr id="8" name="Text 6"/>
          <p:cNvSpPr/>
          <p:nvPr userDrawn="1"/>
        </p:nvSpPr>
        <p:spPr>
          <a:xfrm>
            <a:off x="101600" y="4395216"/>
            <a:ext cx="2082800" cy="1016000"/>
          </a:xfrm>
          <a:prstGeom prst="rect">
            <a:avLst/>
          </a:prstGeom>
          <a:noFill/>
          <a:ln/>
        </p:spPr>
        <p:txBody>
          <a:bodyPr wrap="none" lIns="0" tIns="0" rIns="0" bIns="0" rtlCol="0" anchor="ctr"/>
          <a:lstStyle/>
          <a:p>
            <a:pPr algn="l">
              <a:lnSpc>
                <a:spcPct val="120000"/>
              </a:lnSpc>
            </a:pPr>
            <a:r>
              <a:rPr lang="en-US" sz="1600" b="1" dirty="0">
                <a:solidFill>
                  <a:srgbClr val="FFC000"/>
                </a:solidFill>
                <a:latin typeface="Arial Black" panose="020B0A04020102020204" pitchFamily="34" charset="0"/>
                <a:ea typeface="Quattrocento Sans" pitchFamily="34" charset="-122"/>
                <a:cs typeface="Quattrocento Sans" pitchFamily="34" charset="-120"/>
              </a:rPr>
              <a:t>04</a:t>
            </a:r>
            <a:r>
              <a:rPr lang="en-US" sz="1200" dirty="0">
                <a:solidFill>
                  <a:srgbClr val="FFFFFF"/>
                </a:solidFill>
                <a:latin typeface="Arial Black" panose="020B0A04020102020204" pitchFamily="34" charset="0"/>
                <a:ea typeface="Quattrocento Sans" pitchFamily="34" charset="-122"/>
                <a:cs typeface="Quattrocento Sans" pitchFamily="34" charset="-120"/>
              </a:rPr>
              <a:t> </a:t>
            </a:r>
            <a:r>
              <a:rPr lang="en-US" sz="1600" b="1" dirty="0">
                <a:solidFill>
                  <a:srgbClr val="FFC000"/>
                </a:solidFill>
                <a:latin typeface="Arial Black" panose="020B0A04020102020204" pitchFamily="34" charset="0"/>
                <a:ea typeface="Quattrocento Sans" pitchFamily="34" charset="-122"/>
                <a:cs typeface="Quattrocento Sans" pitchFamily="34" charset="-120"/>
              </a:rPr>
              <a:t>Architecture</a:t>
            </a:r>
          </a:p>
        </p:txBody>
      </p:sp>
      <p:sp>
        <p:nvSpPr>
          <p:cNvPr id="9" name="Text 7"/>
          <p:cNvSpPr/>
          <p:nvPr userDrawn="1"/>
        </p:nvSpPr>
        <p:spPr>
          <a:xfrm>
            <a:off x="101600" y="5435600"/>
            <a:ext cx="2082800" cy="1016000"/>
          </a:xfrm>
          <a:prstGeom prst="rect">
            <a:avLst/>
          </a:prstGeom>
          <a:noFill/>
          <a:ln/>
        </p:spPr>
        <p:txBody>
          <a:bodyPr wrap="none" lIns="0" tIns="0" rIns="0" bIns="0" rtlCol="0" anchor="ctr"/>
          <a:lstStyle/>
          <a:p>
            <a:pPr algn="l">
              <a:lnSpc>
                <a:spcPct val="120000"/>
              </a:lnSpc>
            </a:pPr>
            <a:r>
              <a:rPr lang="en-US" sz="1600" b="1" dirty="0">
                <a:solidFill>
                  <a:srgbClr val="FFC000"/>
                </a:solidFill>
                <a:latin typeface="Arial Black" panose="020B0A04020102020204" pitchFamily="34" charset="0"/>
                <a:ea typeface="Quattrocento Sans" pitchFamily="34" charset="-122"/>
                <a:cs typeface="Quattrocento Sans" pitchFamily="34" charset="-120"/>
              </a:rPr>
              <a:t>05 Performance</a:t>
            </a:r>
            <a:endParaRPr lang="en-US" sz="1600" b="1" dirty="0">
              <a:solidFill>
                <a:srgbClr val="FFC000"/>
              </a:solidFill>
              <a:latin typeface="Arial Black" panose="020B0A04020102020204" pitchFamily="34" charset="0"/>
            </a:endParaRPr>
          </a:p>
        </p:txBody>
      </p:sp>
      <p:sp>
        <p:nvSpPr>
          <p:cNvPr id="10" name="Text 8"/>
          <p:cNvSpPr/>
          <p:nvPr userDrawn="1"/>
        </p:nvSpPr>
        <p:spPr>
          <a:xfrm>
            <a:off x="101600" y="6604000"/>
            <a:ext cx="2082800" cy="1016000"/>
          </a:xfrm>
          <a:prstGeom prst="rect">
            <a:avLst/>
          </a:prstGeom>
          <a:noFill/>
          <a:ln/>
        </p:spPr>
        <p:txBody>
          <a:bodyPr wrap="none" lIns="0" tIns="0" rIns="0" bIns="0" rtlCol="0" anchor="ctr"/>
          <a:lstStyle/>
          <a:p>
            <a:pPr algn="l">
              <a:lnSpc>
                <a:spcPct val="120000"/>
              </a:lnSpc>
            </a:pPr>
            <a:r>
              <a:rPr lang="en-US" sz="1600" b="1" dirty="0">
                <a:solidFill>
                  <a:srgbClr val="FFC000"/>
                </a:solidFill>
                <a:latin typeface="Arial Black" panose="020B0A04020102020204" pitchFamily="34" charset="0"/>
                <a:ea typeface="Quattrocento Sans" pitchFamily="34" charset="-122"/>
                <a:cs typeface="Quattrocento Sans" pitchFamily="34" charset="-120"/>
              </a:rPr>
              <a:t>06 CAP &amp; </a:t>
            </a:r>
            <a:endParaRPr lang="en-US" sz="1600" b="1" dirty="0" smtClean="0">
              <a:solidFill>
                <a:srgbClr val="FFC000"/>
              </a:solidFill>
              <a:latin typeface="Arial Black" panose="020B0A04020102020204" pitchFamily="34" charset="0"/>
              <a:ea typeface="Quattrocento Sans" pitchFamily="34" charset="-122"/>
              <a:cs typeface="Quattrocento Sans" pitchFamily="34" charset="-120"/>
            </a:endParaRPr>
          </a:p>
          <a:p>
            <a:pPr algn="l">
              <a:lnSpc>
                <a:spcPct val="120000"/>
              </a:lnSpc>
            </a:pPr>
            <a:r>
              <a:rPr lang="en-US" sz="1600" b="1" dirty="0">
                <a:solidFill>
                  <a:srgbClr val="FFC000"/>
                </a:solidFill>
                <a:latin typeface="Arial Black" panose="020B0A04020102020204" pitchFamily="34" charset="0"/>
                <a:ea typeface="Quattrocento Sans" pitchFamily="34" charset="-122"/>
                <a:cs typeface="Quattrocento Sans" pitchFamily="34" charset="-120"/>
              </a:rPr>
              <a:t> </a:t>
            </a:r>
            <a:r>
              <a:rPr lang="en-US" sz="1600" b="1" dirty="0" smtClean="0">
                <a:solidFill>
                  <a:srgbClr val="FFC000"/>
                </a:solidFill>
                <a:latin typeface="Arial Black" panose="020B0A04020102020204" pitchFamily="34" charset="0"/>
                <a:ea typeface="Quattrocento Sans" pitchFamily="34" charset="-122"/>
                <a:cs typeface="Quattrocento Sans" pitchFamily="34" charset="-120"/>
              </a:rPr>
              <a:t>    Trade-offs</a:t>
            </a:r>
            <a:endParaRPr lang="en-US" sz="1600" b="1" dirty="0">
              <a:solidFill>
                <a:srgbClr val="FFC000"/>
              </a:solidFill>
              <a:latin typeface="Arial Black" panose="020B0A04020102020204" pitchFamily="34" charset="0"/>
            </a:endParaRPr>
          </a:p>
        </p:txBody>
      </p:sp>
      <p:sp>
        <p:nvSpPr>
          <p:cNvPr id="11" name="Text 9"/>
          <p:cNvSpPr/>
          <p:nvPr userDrawn="1"/>
        </p:nvSpPr>
        <p:spPr>
          <a:xfrm>
            <a:off x="101600" y="7772400"/>
            <a:ext cx="2022856" cy="1016000"/>
          </a:xfrm>
          <a:prstGeom prst="rect">
            <a:avLst/>
          </a:prstGeom>
          <a:noFill/>
          <a:ln/>
        </p:spPr>
        <p:txBody>
          <a:bodyPr wrap="none" lIns="0" tIns="0" rIns="0" bIns="0" rtlCol="0" anchor="ctr"/>
          <a:lstStyle/>
          <a:p>
            <a:pPr algn="l">
              <a:lnSpc>
                <a:spcPct val="120000"/>
              </a:lnSpc>
            </a:pPr>
            <a:r>
              <a:rPr lang="en-US" sz="1600" b="1" dirty="0">
                <a:solidFill>
                  <a:srgbClr val="FFC000"/>
                </a:solidFill>
                <a:latin typeface="Arial Black" panose="020B0A04020102020204" pitchFamily="34" charset="0"/>
                <a:ea typeface="Quattrocento Sans" pitchFamily="34" charset="-122"/>
                <a:cs typeface="Quattrocento Sans" pitchFamily="34" charset="-120"/>
              </a:rPr>
              <a:t>07 Responsible AI</a:t>
            </a:r>
            <a:endParaRPr lang="en-US" sz="1600" b="1" dirty="0">
              <a:solidFill>
                <a:srgbClr val="FFC000"/>
              </a:solidFill>
              <a:latin typeface="Arial Black" panose="020B0A040201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jpeg"/><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5RWnUeVUNLI" TargetMode="External"/><Relationship Id="rId7" Type="http://schemas.openxmlformats.org/officeDocument/2006/relationships/hyperlink" Target="https://www.itpro.com/technology/big-data"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hyperlink" Target="https://innowise.com/blog/big-data-trends/" TargetMode="External"/><Relationship Id="rId5" Type="http://schemas.openxmlformats.org/officeDocument/2006/relationships/hyperlink" Target="https://www.dbta.com/Categories/Big-Data-520.aspx" TargetMode="External"/><Relationship Id="rId4" Type="http://schemas.openxmlformats.org/officeDocument/2006/relationships/hyperlink" Target="https://www.youtube.com/watch?v=2anI9xxSG44&amp;t=10"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hyperlink" Target="https://en.wikipedia.org/wiki/MapReduce" TargetMode="External"/><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microsoft.com/office/2007/relationships/hdphoto" Target="../media/hdphoto2.wdp"/></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hyperlink" Target="https://www.ibm.com/products/watsonx-orchestrate" TargetMode="External"/><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0" y="1183640"/>
            <a:ext cx="4214191" cy="7960360"/>
          </a:xfrm>
          <a:prstGeom prst="rect">
            <a:avLst/>
          </a:prstGeom>
          <a:gradFill flip="none" rotWithShape="1">
            <a:gsLst>
              <a:gs pos="0">
                <a:srgbClr val="004060"/>
              </a:gs>
              <a:gs pos="100000">
                <a:srgbClr val="005C82"/>
              </a:gs>
            </a:gsLst>
            <a:lin ang="10800000" scaled="1"/>
          </a:gradFill>
          <a:ln/>
        </p:spPr>
      </p:sp>
      <p:sp>
        <p:nvSpPr>
          <p:cNvPr id="35" name="Text 33"/>
          <p:cNvSpPr/>
          <p:nvPr/>
        </p:nvSpPr>
        <p:spPr>
          <a:xfrm>
            <a:off x="15240000" y="8636000"/>
            <a:ext cx="635000" cy="304800"/>
          </a:xfrm>
          <a:prstGeom prst="rect">
            <a:avLst/>
          </a:prstGeom>
          <a:noFill/>
          <a:ln/>
        </p:spPr>
        <p:txBody>
          <a:bodyPr wrap="none" lIns="0" tIns="0" rIns="0" bIns="0" rtlCol="0" anchor="ctr"/>
          <a:lstStyle/>
          <a:p>
            <a:pPr algn="r">
              <a:lnSpc>
                <a:spcPct val="120000"/>
              </a:lnSpc>
            </a:pPr>
            <a:r>
              <a:rPr lang="en-US" sz="1400" dirty="0">
                <a:solidFill>
                  <a:srgbClr val="005C82"/>
                </a:solidFill>
                <a:latin typeface="Quattrocento Sans" pitchFamily="34" charset="0"/>
                <a:ea typeface="Quattrocento Sans" pitchFamily="34" charset="-122"/>
                <a:cs typeface="Quattrocento Sans" pitchFamily="34" charset="-120"/>
              </a:rPr>
              <a:t>2</a:t>
            </a:r>
            <a:endParaRPr lang="en-US" sz="1400" dirty="0"/>
          </a:p>
        </p:txBody>
      </p:sp>
      <p:pic>
        <p:nvPicPr>
          <p:cNvPr id="1026" name="Picture 2" descr="Big Data Hadoop Concept"/>
          <p:cNvPicPr>
            <a:picLocks noChangeAspect="1" noChangeArrowheads="1"/>
          </p:cNvPicPr>
          <p:nvPr/>
        </p:nvPicPr>
        <p:blipFill rotWithShape="1">
          <a:blip r:embed="rId3">
            <a:extLst>
              <a:ext uri="{28A0092B-C50C-407E-A947-70E740481C1C}">
                <a14:useLocalDpi xmlns:a14="http://schemas.microsoft.com/office/drawing/2010/main" val="0"/>
              </a:ext>
            </a:extLst>
          </a:blip>
          <a:srcRect b="10767"/>
          <a:stretch/>
        </p:blipFill>
        <p:spPr bwMode="auto">
          <a:xfrm>
            <a:off x="6293828" y="4608046"/>
            <a:ext cx="5529244" cy="375407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36" name="Google Shape;110;p1"/>
          <p:cNvSpPr txBox="1">
            <a:spLocks/>
          </p:cNvSpPr>
          <p:nvPr/>
        </p:nvSpPr>
        <p:spPr>
          <a:xfrm>
            <a:off x="2079637" y="1925806"/>
            <a:ext cx="13323340" cy="2682240"/>
          </a:xfrm>
          <a:prstGeom prst="rect">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0800000" scaled="1"/>
            <a:tileRect/>
          </a:gradFill>
        </p:spPr>
        <p:style>
          <a:lnRef idx="0">
            <a:scrgbClr r="0" g="0" b="0"/>
          </a:lnRef>
          <a:fillRef idx="0">
            <a:scrgbClr r="0" g="0" b="0"/>
          </a:fillRef>
          <a:effectRef idx="0">
            <a:scrgbClr r="0" g="0" b="0"/>
          </a:effectRef>
          <a:fontRef idx="minor">
            <a:schemeClr val="lt1"/>
          </a:fontRef>
        </p:style>
        <p:txBody>
          <a:bodyPr spcFirstLastPara="1" wrap="square" lIns="121900" tIns="60933" rIns="121900" bIns="60933" anchor="b" anchorCtr="0">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7200" b="1" dirty="0" smtClean="0">
                <a:solidFill>
                  <a:srgbClr val="FF0000"/>
                </a:solidFill>
              </a:rPr>
              <a:t>UNIT-1</a:t>
            </a:r>
            <a:r>
              <a:rPr lang="en-US" sz="5333" b="1" dirty="0" smtClean="0"/>
              <a:t/>
            </a:r>
            <a:br>
              <a:rPr lang="en-US" sz="5333" b="1" dirty="0" smtClean="0"/>
            </a:br>
            <a:r>
              <a:rPr lang="en-IN" dirty="0" smtClean="0"/>
              <a:t> </a:t>
            </a:r>
            <a:r>
              <a:rPr lang="en-IN" sz="8000" b="1" dirty="0" smtClean="0"/>
              <a:t>Big Data</a:t>
            </a:r>
            <a:r>
              <a:rPr lang="en-IN" sz="5400" dirty="0" smtClean="0"/>
              <a:t> </a:t>
            </a:r>
            <a:r>
              <a:rPr lang="en-IN" sz="8000" b="1" dirty="0"/>
              <a:t>Fundamentals </a:t>
            </a:r>
            <a:r>
              <a:rPr lang="en-IN" sz="8800" dirty="0" smtClean="0"/>
              <a:t>	</a:t>
            </a:r>
            <a:endParaRPr lang="en-IN" sz="7200" dirty="0"/>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0" y="1183640"/>
            <a:ext cx="4826000" cy="7960360"/>
          </a:xfrm>
          <a:prstGeom prst="rect">
            <a:avLst/>
          </a:prstGeom>
          <a:gradFill flip="none" rotWithShape="1">
            <a:gsLst>
              <a:gs pos="0">
                <a:srgbClr val="004060"/>
              </a:gs>
              <a:gs pos="100000">
                <a:srgbClr val="005C82"/>
              </a:gs>
            </a:gsLst>
            <a:lin ang="10800000" scaled="1"/>
          </a:gradFill>
          <a:ln/>
        </p:spPr>
      </p:sp>
      <p:sp>
        <p:nvSpPr>
          <p:cNvPr id="5" name="Text 3"/>
          <p:cNvSpPr/>
          <p:nvPr/>
        </p:nvSpPr>
        <p:spPr>
          <a:xfrm>
            <a:off x="1016000" y="2807772"/>
            <a:ext cx="4064000" cy="762000"/>
          </a:xfrm>
          <a:prstGeom prst="rect">
            <a:avLst/>
          </a:prstGeom>
          <a:noFill/>
          <a:ln/>
        </p:spPr>
        <p:txBody>
          <a:bodyPr wrap="none" lIns="0" tIns="0" rIns="0" bIns="0" rtlCol="0" anchor="ctr"/>
          <a:lstStyle/>
          <a:p>
            <a:pPr algn="l">
              <a:lnSpc>
                <a:spcPct val="120000"/>
              </a:lnSpc>
            </a:pPr>
            <a:r>
              <a:rPr lang="en-US" sz="4600" b="1" dirty="0">
                <a:solidFill>
                  <a:srgbClr val="FFFFFF"/>
                </a:solidFill>
                <a:latin typeface="Quattrocento Sans" pitchFamily="34" charset="0"/>
                <a:ea typeface="Quattrocento Sans" pitchFamily="34" charset="-122"/>
                <a:cs typeface="Quattrocento Sans" pitchFamily="34" charset="-120"/>
              </a:rPr>
              <a:t>Contents</a:t>
            </a:r>
            <a:endParaRPr lang="en-US" sz="4600" dirty="0"/>
          </a:p>
        </p:txBody>
      </p:sp>
      <p:sp>
        <p:nvSpPr>
          <p:cNvPr id="6" name="Text 4"/>
          <p:cNvSpPr/>
          <p:nvPr/>
        </p:nvSpPr>
        <p:spPr>
          <a:xfrm>
            <a:off x="1041400" y="3665644"/>
            <a:ext cx="4064000" cy="304800"/>
          </a:xfrm>
          <a:prstGeom prst="rect">
            <a:avLst/>
          </a:prstGeom>
          <a:noFill/>
          <a:ln/>
        </p:spPr>
        <p:txBody>
          <a:bodyPr wrap="none" lIns="0" tIns="0" rIns="0" bIns="0" rtlCol="0" anchor="t"/>
          <a:lstStyle/>
          <a:p>
            <a:pPr algn="l">
              <a:lnSpc>
                <a:spcPct val="120000"/>
              </a:lnSpc>
            </a:pPr>
            <a:r>
              <a:rPr lang="en-US" sz="1400" kern="0" spc="300" dirty="0">
                <a:solidFill>
                  <a:srgbClr val="00ACC1"/>
                </a:solidFill>
                <a:latin typeface="Quattrocento Sans" pitchFamily="34" charset="0"/>
                <a:ea typeface="Quattrocento Sans" pitchFamily="34" charset="-122"/>
                <a:cs typeface="Quattrocento Sans" pitchFamily="34" charset="-120"/>
              </a:rPr>
              <a:t>TABLE OF CONTENTS</a:t>
            </a:r>
            <a:endParaRPr lang="en-US" sz="1400" dirty="0"/>
          </a:p>
        </p:txBody>
      </p:sp>
      <p:sp>
        <p:nvSpPr>
          <p:cNvPr id="7" name="Shape 5"/>
          <p:cNvSpPr/>
          <p:nvPr/>
        </p:nvSpPr>
        <p:spPr>
          <a:xfrm>
            <a:off x="1736035" y="2776645"/>
            <a:ext cx="1016000" cy="25400"/>
          </a:xfrm>
          <a:prstGeom prst="rect">
            <a:avLst/>
          </a:prstGeom>
          <a:solidFill>
            <a:srgbClr val="00ACC1"/>
          </a:solidFill>
          <a:ln/>
        </p:spPr>
      </p:sp>
      <p:sp>
        <p:nvSpPr>
          <p:cNvPr id="8" name="Shape 6"/>
          <p:cNvSpPr/>
          <p:nvPr/>
        </p:nvSpPr>
        <p:spPr>
          <a:xfrm>
            <a:off x="5257800" y="1270000"/>
            <a:ext cx="177800" cy="177800"/>
          </a:xfrm>
          <a:prstGeom prst="diamond">
            <a:avLst/>
          </a:prstGeom>
          <a:solidFill>
            <a:srgbClr val="005C82"/>
          </a:solidFill>
          <a:ln/>
        </p:spPr>
      </p:sp>
      <p:sp>
        <p:nvSpPr>
          <p:cNvPr id="9" name="Text 7"/>
          <p:cNvSpPr/>
          <p:nvPr/>
        </p:nvSpPr>
        <p:spPr>
          <a:xfrm>
            <a:off x="5588000" y="1168400"/>
            <a:ext cx="9906000" cy="355600"/>
          </a:xfrm>
          <a:prstGeom prst="rect">
            <a:avLst/>
          </a:prstGeom>
          <a:noFill/>
          <a:ln/>
        </p:spPr>
        <p:txBody>
          <a:bodyPr wrap="none" lIns="0" tIns="0" rIns="0" bIns="0" rtlCol="0" anchor="ctr"/>
          <a:lstStyle/>
          <a:p>
            <a:pPr algn="l">
              <a:lnSpc>
                <a:spcPct val="120000"/>
              </a:lnSpc>
            </a:pPr>
            <a:r>
              <a:rPr lang="en-US" sz="2400" b="1" spc="300" dirty="0">
                <a:solidFill>
                  <a:schemeClr val="accent5">
                    <a:lumMod val="50000"/>
                  </a:schemeClr>
                </a:solidFill>
                <a:latin typeface="Quattrocento Sans" pitchFamily="34" charset="0"/>
                <a:ea typeface="Quattrocento Sans" pitchFamily="34" charset="-122"/>
                <a:cs typeface="Quattrocento Sans" pitchFamily="34" charset="-120"/>
              </a:rPr>
              <a:t>1. Characteristics &amp; Challenges of Big Data</a:t>
            </a:r>
            <a:endParaRPr lang="en-US" sz="2400" b="1" spc="300" dirty="0">
              <a:solidFill>
                <a:schemeClr val="accent5">
                  <a:lumMod val="50000"/>
                </a:schemeClr>
              </a:solidFill>
            </a:endParaRPr>
          </a:p>
        </p:txBody>
      </p:sp>
      <p:sp>
        <p:nvSpPr>
          <p:cNvPr id="10" name="Text 8"/>
          <p:cNvSpPr/>
          <p:nvPr/>
        </p:nvSpPr>
        <p:spPr>
          <a:xfrm>
            <a:off x="5588000" y="1549400"/>
            <a:ext cx="9906000" cy="254000"/>
          </a:xfrm>
          <a:prstGeom prst="rect">
            <a:avLst/>
          </a:prstGeom>
          <a:noFill/>
          <a:ln/>
        </p:spPr>
        <p:txBody>
          <a:bodyPr wrap="none" lIns="0" tIns="0" rIns="0" bIns="0" rtlCol="0" anchor="t"/>
          <a:lstStyle/>
          <a:p>
            <a:pPr algn="l">
              <a:lnSpc>
                <a:spcPct val="120000"/>
              </a:lnSpc>
            </a:pPr>
            <a:r>
              <a:rPr lang="en-US" sz="1400" b="1" spc="300" dirty="0">
                <a:solidFill>
                  <a:schemeClr val="accent5">
                    <a:lumMod val="50000"/>
                  </a:schemeClr>
                </a:solidFill>
                <a:latin typeface="Quattrocento Sans" pitchFamily="34" charset="0"/>
                <a:ea typeface="Quattrocento Sans" pitchFamily="34" charset="-122"/>
                <a:cs typeface="Quattrocento Sans" pitchFamily="34" charset="-120"/>
              </a:rPr>
              <a:t>The 5 V's, Data Quality, Implementation Challenges</a:t>
            </a:r>
            <a:endParaRPr lang="en-US" sz="1400" b="1" spc="300" dirty="0">
              <a:solidFill>
                <a:schemeClr val="accent5">
                  <a:lumMod val="50000"/>
                </a:schemeClr>
              </a:solidFill>
            </a:endParaRPr>
          </a:p>
        </p:txBody>
      </p:sp>
      <p:sp>
        <p:nvSpPr>
          <p:cNvPr id="11" name="Shape 9"/>
          <p:cNvSpPr/>
          <p:nvPr/>
        </p:nvSpPr>
        <p:spPr>
          <a:xfrm>
            <a:off x="5080000" y="1879600"/>
            <a:ext cx="10668000" cy="12700"/>
          </a:xfrm>
          <a:prstGeom prst="rect">
            <a:avLst/>
          </a:prstGeom>
          <a:solidFill>
            <a:srgbClr val="E0F4FA"/>
          </a:solidFill>
          <a:ln/>
        </p:spPr>
      </p:sp>
      <p:sp>
        <p:nvSpPr>
          <p:cNvPr id="12" name="Shape 10"/>
          <p:cNvSpPr/>
          <p:nvPr/>
        </p:nvSpPr>
        <p:spPr>
          <a:xfrm>
            <a:off x="5257800" y="2133600"/>
            <a:ext cx="177800" cy="177800"/>
          </a:xfrm>
          <a:prstGeom prst="diamond">
            <a:avLst/>
          </a:prstGeom>
          <a:solidFill>
            <a:srgbClr val="005C82"/>
          </a:solidFill>
          <a:ln/>
        </p:spPr>
      </p:sp>
      <p:sp>
        <p:nvSpPr>
          <p:cNvPr id="13" name="Text 11"/>
          <p:cNvSpPr/>
          <p:nvPr/>
        </p:nvSpPr>
        <p:spPr>
          <a:xfrm>
            <a:off x="5588000" y="2032000"/>
            <a:ext cx="9906000" cy="355600"/>
          </a:xfrm>
          <a:prstGeom prst="rect">
            <a:avLst/>
          </a:prstGeom>
          <a:noFill/>
          <a:ln/>
        </p:spPr>
        <p:txBody>
          <a:bodyPr wrap="none" lIns="0" tIns="0" rIns="0" bIns="0" rtlCol="0" anchor="ctr"/>
          <a:lstStyle/>
          <a:p>
            <a:pPr algn="l">
              <a:lnSpc>
                <a:spcPct val="120000"/>
              </a:lnSpc>
            </a:pPr>
            <a:r>
              <a:rPr lang="en-US" sz="2400" b="1" spc="300" dirty="0">
                <a:solidFill>
                  <a:schemeClr val="accent5">
                    <a:lumMod val="50000"/>
                  </a:schemeClr>
                </a:solidFill>
                <a:latin typeface="Quattrocento Sans" pitchFamily="34" charset="0"/>
                <a:ea typeface="Quattrocento Sans" pitchFamily="34" charset="-122"/>
                <a:cs typeface="Quattrocento Sans" pitchFamily="34" charset="-120"/>
              </a:rPr>
              <a:t>2. Data Life Cycle in Large-Scale Systems</a:t>
            </a:r>
            <a:endParaRPr lang="en-US" sz="2400" b="1" spc="300" dirty="0">
              <a:solidFill>
                <a:schemeClr val="accent5">
                  <a:lumMod val="50000"/>
                </a:schemeClr>
              </a:solidFill>
            </a:endParaRPr>
          </a:p>
        </p:txBody>
      </p:sp>
      <p:sp>
        <p:nvSpPr>
          <p:cNvPr id="14" name="Text 12"/>
          <p:cNvSpPr/>
          <p:nvPr/>
        </p:nvSpPr>
        <p:spPr>
          <a:xfrm>
            <a:off x="5588000" y="2413000"/>
            <a:ext cx="9906000" cy="254000"/>
          </a:xfrm>
          <a:prstGeom prst="rect">
            <a:avLst/>
          </a:prstGeom>
          <a:noFill/>
          <a:ln/>
        </p:spPr>
        <p:txBody>
          <a:bodyPr wrap="none" lIns="0" tIns="0" rIns="0" bIns="0" rtlCol="0" anchor="t"/>
          <a:lstStyle/>
          <a:p>
            <a:pPr algn="l">
              <a:lnSpc>
                <a:spcPct val="120000"/>
              </a:lnSpc>
            </a:pPr>
            <a:r>
              <a:rPr lang="en-US" sz="1400" b="1" spc="300" dirty="0">
                <a:solidFill>
                  <a:schemeClr val="accent5">
                    <a:lumMod val="50000"/>
                  </a:schemeClr>
                </a:solidFill>
                <a:latin typeface="Quattrocento Sans" pitchFamily="34" charset="0"/>
                <a:ea typeface="Quattrocento Sans" pitchFamily="34" charset="-122"/>
                <a:cs typeface="Quattrocento Sans" pitchFamily="34" charset="-120"/>
              </a:rPr>
              <a:t>Generation, Ingestion, Storage, Processing, Analysis, Visualization, Archival</a:t>
            </a:r>
            <a:endParaRPr lang="en-US" sz="1400" b="1" spc="300" dirty="0">
              <a:solidFill>
                <a:schemeClr val="accent5">
                  <a:lumMod val="50000"/>
                </a:schemeClr>
              </a:solidFill>
            </a:endParaRPr>
          </a:p>
        </p:txBody>
      </p:sp>
      <p:sp>
        <p:nvSpPr>
          <p:cNvPr id="15" name="Shape 13"/>
          <p:cNvSpPr/>
          <p:nvPr/>
        </p:nvSpPr>
        <p:spPr>
          <a:xfrm>
            <a:off x="5080000" y="2743200"/>
            <a:ext cx="10668000" cy="12700"/>
          </a:xfrm>
          <a:prstGeom prst="rect">
            <a:avLst/>
          </a:prstGeom>
          <a:solidFill>
            <a:srgbClr val="E0F4FA"/>
          </a:solidFill>
          <a:ln/>
        </p:spPr>
      </p:sp>
      <p:sp>
        <p:nvSpPr>
          <p:cNvPr id="16" name="Shape 14"/>
          <p:cNvSpPr/>
          <p:nvPr/>
        </p:nvSpPr>
        <p:spPr>
          <a:xfrm>
            <a:off x="5257800" y="2997200"/>
            <a:ext cx="177800" cy="177800"/>
          </a:xfrm>
          <a:prstGeom prst="diamond">
            <a:avLst/>
          </a:prstGeom>
          <a:solidFill>
            <a:srgbClr val="005C82"/>
          </a:solidFill>
          <a:ln/>
        </p:spPr>
      </p:sp>
      <p:sp>
        <p:nvSpPr>
          <p:cNvPr id="17" name="Text 15"/>
          <p:cNvSpPr/>
          <p:nvPr/>
        </p:nvSpPr>
        <p:spPr>
          <a:xfrm>
            <a:off x="5588000" y="2895600"/>
            <a:ext cx="9906000" cy="355600"/>
          </a:xfrm>
          <a:prstGeom prst="rect">
            <a:avLst/>
          </a:prstGeom>
          <a:noFill/>
          <a:ln/>
        </p:spPr>
        <p:txBody>
          <a:bodyPr wrap="none" lIns="0" tIns="0" rIns="0" bIns="0" rtlCol="0" anchor="ctr"/>
          <a:lstStyle/>
          <a:p>
            <a:pPr algn="l">
              <a:lnSpc>
                <a:spcPct val="120000"/>
              </a:lnSpc>
            </a:pPr>
            <a:r>
              <a:rPr lang="en-US" sz="2400" b="1" spc="300" dirty="0">
                <a:solidFill>
                  <a:schemeClr val="accent5">
                    <a:lumMod val="50000"/>
                  </a:schemeClr>
                </a:solidFill>
                <a:latin typeface="Quattrocento Sans" pitchFamily="34" charset="0"/>
                <a:ea typeface="Quattrocento Sans" pitchFamily="34" charset="-122"/>
                <a:cs typeface="Quattrocento Sans" pitchFamily="34" charset="-120"/>
              </a:rPr>
              <a:t>3. Distributed Computing Models</a:t>
            </a:r>
            <a:endParaRPr lang="en-US" sz="2400" b="1" spc="300" dirty="0">
              <a:solidFill>
                <a:schemeClr val="accent5">
                  <a:lumMod val="50000"/>
                </a:schemeClr>
              </a:solidFill>
            </a:endParaRPr>
          </a:p>
        </p:txBody>
      </p:sp>
      <p:sp>
        <p:nvSpPr>
          <p:cNvPr id="18" name="Text 16"/>
          <p:cNvSpPr/>
          <p:nvPr/>
        </p:nvSpPr>
        <p:spPr>
          <a:xfrm>
            <a:off x="5588000" y="3276600"/>
            <a:ext cx="9906000" cy="254000"/>
          </a:xfrm>
          <a:prstGeom prst="rect">
            <a:avLst/>
          </a:prstGeom>
          <a:noFill/>
          <a:ln/>
        </p:spPr>
        <p:txBody>
          <a:bodyPr wrap="none" lIns="0" tIns="0" rIns="0" bIns="0" rtlCol="0" anchor="t"/>
          <a:lstStyle/>
          <a:p>
            <a:pPr algn="l">
              <a:lnSpc>
                <a:spcPct val="120000"/>
              </a:lnSpc>
            </a:pPr>
            <a:r>
              <a:rPr lang="en-US" sz="1400" b="1" spc="300" dirty="0">
                <a:solidFill>
                  <a:schemeClr val="accent5">
                    <a:lumMod val="50000"/>
                  </a:schemeClr>
                </a:solidFill>
                <a:latin typeface="Quattrocento Sans" pitchFamily="34" charset="0"/>
                <a:ea typeface="Quattrocento Sans" pitchFamily="34" charset="-122"/>
                <a:cs typeface="Quattrocento Sans" pitchFamily="34" charset="-120"/>
              </a:rPr>
              <a:t>Shared-Nothing, BSP, Stream Processing, Graph Processing, MapReduce</a:t>
            </a:r>
            <a:endParaRPr lang="en-US" sz="1400" b="1" spc="300" dirty="0">
              <a:solidFill>
                <a:schemeClr val="accent5">
                  <a:lumMod val="50000"/>
                </a:schemeClr>
              </a:solidFill>
            </a:endParaRPr>
          </a:p>
        </p:txBody>
      </p:sp>
      <p:sp>
        <p:nvSpPr>
          <p:cNvPr id="19" name="Shape 17"/>
          <p:cNvSpPr/>
          <p:nvPr/>
        </p:nvSpPr>
        <p:spPr>
          <a:xfrm>
            <a:off x="5080000" y="3606800"/>
            <a:ext cx="10668000" cy="12700"/>
          </a:xfrm>
          <a:prstGeom prst="rect">
            <a:avLst/>
          </a:prstGeom>
          <a:solidFill>
            <a:srgbClr val="E0F4FA"/>
          </a:solidFill>
          <a:ln/>
        </p:spPr>
      </p:sp>
      <p:sp>
        <p:nvSpPr>
          <p:cNvPr id="20" name="Shape 18"/>
          <p:cNvSpPr/>
          <p:nvPr/>
        </p:nvSpPr>
        <p:spPr>
          <a:xfrm>
            <a:off x="5257800" y="3860800"/>
            <a:ext cx="177800" cy="177800"/>
          </a:xfrm>
          <a:prstGeom prst="diamond">
            <a:avLst/>
          </a:prstGeom>
          <a:solidFill>
            <a:srgbClr val="005C82"/>
          </a:solidFill>
          <a:ln/>
        </p:spPr>
      </p:sp>
      <p:sp>
        <p:nvSpPr>
          <p:cNvPr id="21" name="Text 19"/>
          <p:cNvSpPr/>
          <p:nvPr/>
        </p:nvSpPr>
        <p:spPr>
          <a:xfrm>
            <a:off x="5588000" y="3759200"/>
            <a:ext cx="9906000" cy="355600"/>
          </a:xfrm>
          <a:prstGeom prst="rect">
            <a:avLst/>
          </a:prstGeom>
          <a:noFill/>
          <a:ln/>
        </p:spPr>
        <p:txBody>
          <a:bodyPr wrap="none" lIns="0" tIns="0" rIns="0" bIns="0" rtlCol="0" anchor="ctr"/>
          <a:lstStyle/>
          <a:p>
            <a:pPr algn="l">
              <a:lnSpc>
                <a:spcPct val="120000"/>
              </a:lnSpc>
            </a:pPr>
            <a:r>
              <a:rPr lang="en-US" sz="2400" b="1" spc="300" dirty="0">
                <a:solidFill>
                  <a:schemeClr val="accent5">
                    <a:lumMod val="50000"/>
                  </a:schemeClr>
                </a:solidFill>
                <a:latin typeface="Quattrocento Sans" pitchFamily="34" charset="0"/>
                <a:ea typeface="Quattrocento Sans" pitchFamily="34" charset="-122"/>
                <a:cs typeface="Quattrocento Sans" pitchFamily="34" charset="-120"/>
              </a:rPr>
              <a:t>4. Big Data Architecture</a:t>
            </a:r>
            <a:endParaRPr lang="en-US" sz="2400" b="1" spc="300" dirty="0">
              <a:solidFill>
                <a:schemeClr val="accent5">
                  <a:lumMod val="50000"/>
                </a:schemeClr>
              </a:solidFill>
            </a:endParaRPr>
          </a:p>
        </p:txBody>
      </p:sp>
      <p:sp>
        <p:nvSpPr>
          <p:cNvPr id="22" name="Text 20"/>
          <p:cNvSpPr/>
          <p:nvPr/>
        </p:nvSpPr>
        <p:spPr>
          <a:xfrm>
            <a:off x="5588000" y="4140200"/>
            <a:ext cx="9906000" cy="254000"/>
          </a:xfrm>
          <a:prstGeom prst="rect">
            <a:avLst/>
          </a:prstGeom>
          <a:noFill/>
          <a:ln/>
        </p:spPr>
        <p:txBody>
          <a:bodyPr wrap="none" lIns="0" tIns="0" rIns="0" bIns="0" rtlCol="0" anchor="t"/>
          <a:lstStyle/>
          <a:p>
            <a:pPr algn="l">
              <a:lnSpc>
                <a:spcPct val="120000"/>
              </a:lnSpc>
            </a:pPr>
            <a:r>
              <a:rPr lang="en-US" sz="1400" b="1" spc="300" dirty="0">
                <a:solidFill>
                  <a:schemeClr val="accent5">
                    <a:lumMod val="50000"/>
                  </a:schemeClr>
                </a:solidFill>
                <a:latin typeface="Quattrocento Sans" pitchFamily="34" charset="0"/>
                <a:ea typeface="Quattrocento Sans" pitchFamily="34" charset="-122"/>
                <a:cs typeface="Quattrocento Sans" pitchFamily="34" charset="-120"/>
              </a:rPr>
              <a:t>Layered, Stream, Lambda, Kappa, Data Lake</a:t>
            </a:r>
            <a:endParaRPr lang="en-US" sz="1400" b="1" spc="300" dirty="0">
              <a:solidFill>
                <a:schemeClr val="accent5">
                  <a:lumMod val="50000"/>
                </a:schemeClr>
              </a:solidFill>
            </a:endParaRPr>
          </a:p>
        </p:txBody>
      </p:sp>
      <p:sp>
        <p:nvSpPr>
          <p:cNvPr id="23" name="Shape 21"/>
          <p:cNvSpPr/>
          <p:nvPr/>
        </p:nvSpPr>
        <p:spPr>
          <a:xfrm>
            <a:off x="5080000" y="4470400"/>
            <a:ext cx="10668000" cy="12700"/>
          </a:xfrm>
          <a:prstGeom prst="rect">
            <a:avLst/>
          </a:prstGeom>
          <a:solidFill>
            <a:srgbClr val="E0F4FA"/>
          </a:solidFill>
          <a:ln/>
        </p:spPr>
      </p:sp>
      <p:sp>
        <p:nvSpPr>
          <p:cNvPr id="24" name="Shape 22"/>
          <p:cNvSpPr/>
          <p:nvPr/>
        </p:nvSpPr>
        <p:spPr>
          <a:xfrm>
            <a:off x="5257800" y="4724400"/>
            <a:ext cx="177800" cy="177800"/>
          </a:xfrm>
          <a:prstGeom prst="diamond">
            <a:avLst/>
          </a:prstGeom>
          <a:solidFill>
            <a:srgbClr val="005C82"/>
          </a:solidFill>
          <a:ln/>
        </p:spPr>
      </p:sp>
      <p:sp>
        <p:nvSpPr>
          <p:cNvPr id="25" name="Text 23"/>
          <p:cNvSpPr/>
          <p:nvPr/>
        </p:nvSpPr>
        <p:spPr>
          <a:xfrm>
            <a:off x="5588000" y="4622800"/>
            <a:ext cx="9906000" cy="355600"/>
          </a:xfrm>
          <a:prstGeom prst="rect">
            <a:avLst/>
          </a:prstGeom>
          <a:noFill/>
          <a:ln/>
        </p:spPr>
        <p:txBody>
          <a:bodyPr wrap="none" lIns="0" tIns="0" rIns="0" bIns="0" rtlCol="0" anchor="ctr"/>
          <a:lstStyle/>
          <a:p>
            <a:pPr algn="l">
              <a:lnSpc>
                <a:spcPct val="120000"/>
              </a:lnSpc>
            </a:pPr>
            <a:r>
              <a:rPr lang="en-US" sz="2400" b="1" spc="300" dirty="0">
                <a:solidFill>
                  <a:schemeClr val="accent5">
                    <a:lumMod val="50000"/>
                  </a:schemeClr>
                </a:solidFill>
                <a:latin typeface="Quattrocento Sans" pitchFamily="34" charset="0"/>
                <a:ea typeface="Quattrocento Sans" pitchFamily="34" charset="-122"/>
                <a:cs typeface="Quattrocento Sans" pitchFamily="34" charset="-120"/>
              </a:rPr>
              <a:t>5. Performance Metrics</a:t>
            </a:r>
            <a:endParaRPr lang="en-US" sz="2400" b="1" spc="300" dirty="0">
              <a:solidFill>
                <a:schemeClr val="accent5">
                  <a:lumMod val="50000"/>
                </a:schemeClr>
              </a:solidFill>
            </a:endParaRPr>
          </a:p>
        </p:txBody>
      </p:sp>
      <p:sp>
        <p:nvSpPr>
          <p:cNvPr id="26" name="Text 24"/>
          <p:cNvSpPr/>
          <p:nvPr/>
        </p:nvSpPr>
        <p:spPr>
          <a:xfrm>
            <a:off x="5588000" y="5003800"/>
            <a:ext cx="9906000" cy="254000"/>
          </a:xfrm>
          <a:prstGeom prst="rect">
            <a:avLst/>
          </a:prstGeom>
          <a:noFill/>
          <a:ln/>
        </p:spPr>
        <p:txBody>
          <a:bodyPr wrap="none" lIns="0" tIns="0" rIns="0" bIns="0" rtlCol="0" anchor="t"/>
          <a:lstStyle/>
          <a:p>
            <a:pPr algn="l">
              <a:lnSpc>
                <a:spcPct val="120000"/>
              </a:lnSpc>
            </a:pPr>
            <a:r>
              <a:rPr lang="en-US" sz="1400" b="1" spc="300" dirty="0">
                <a:solidFill>
                  <a:schemeClr val="accent5">
                    <a:lumMod val="50000"/>
                  </a:schemeClr>
                </a:solidFill>
                <a:latin typeface="Quattrocento Sans" pitchFamily="34" charset="0"/>
                <a:ea typeface="Quattrocento Sans" pitchFamily="34" charset="-122"/>
                <a:cs typeface="Quattrocento Sans" pitchFamily="34" charset="-120"/>
              </a:rPr>
              <a:t>Latency, Throughput, Scalability, Resource Utilization</a:t>
            </a:r>
            <a:endParaRPr lang="en-US" sz="1400" b="1" spc="300" dirty="0">
              <a:solidFill>
                <a:schemeClr val="accent5">
                  <a:lumMod val="50000"/>
                </a:schemeClr>
              </a:solidFill>
            </a:endParaRPr>
          </a:p>
        </p:txBody>
      </p:sp>
      <p:sp>
        <p:nvSpPr>
          <p:cNvPr id="27" name="Shape 25"/>
          <p:cNvSpPr/>
          <p:nvPr/>
        </p:nvSpPr>
        <p:spPr>
          <a:xfrm>
            <a:off x="5080000" y="5334000"/>
            <a:ext cx="10668000" cy="12700"/>
          </a:xfrm>
          <a:prstGeom prst="rect">
            <a:avLst/>
          </a:prstGeom>
          <a:solidFill>
            <a:srgbClr val="E0F4FA"/>
          </a:solidFill>
          <a:ln/>
        </p:spPr>
      </p:sp>
      <p:sp>
        <p:nvSpPr>
          <p:cNvPr id="28" name="Shape 26"/>
          <p:cNvSpPr/>
          <p:nvPr/>
        </p:nvSpPr>
        <p:spPr>
          <a:xfrm>
            <a:off x="5257800" y="5588000"/>
            <a:ext cx="177800" cy="177800"/>
          </a:xfrm>
          <a:prstGeom prst="diamond">
            <a:avLst/>
          </a:prstGeom>
          <a:solidFill>
            <a:srgbClr val="005C82"/>
          </a:solidFill>
          <a:ln/>
        </p:spPr>
      </p:sp>
      <p:sp>
        <p:nvSpPr>
          <p:cNvPr id="29" name="Text 27"/>
          <p:cNvSpPr/>
          <p:nvPr/>
        </p:nvSpPr>
        <p:spPr>
          <a:xfrm>
            <a:off x="5588000" y="5486400"/>
            <a:ext cx="9906000" cy="355600"/>
          </a:xfrm>
          <a:prstGeom prst="rect">
            <a:avLst/>
          </a:prstGeom>
          <a:noFill/>
          <a:ln/>
        </p:spPr>
        <p:txBody>
          <a:bodyPr wrap="none" lIns="0" tIns="0" rIns="0" bIns="0" rtlCol="0" anchor="ctr"/>
          <a:lstStyle/>
          <a:p>
            <a:pPr algn="l">
              <a:lnSpc>
                <a:spcPct val="120000"/>
              </a:lnSpc>
            </a:pPr>
            <a:r>
              <a:rPr lang="en-US" sz="2400" b="1" spc="300" dirty="0">
                <a:solidFill>
                  <a:schemeClr val="accent5">
                    <a:lumMod val="50000"/>
                  </a:schemeClr>
                </a:solidFill>
                <a:latin typeface="Quattrocento Sans" pitchFamily="34" charset="0"/>
                <a:ea typeface="Quattrocento Sans" pitchFamily="34" charset="-122"/>
                <a:cs typeface="Quattrocento Sans" pitchFamily="34" charset="-120"/>
              </a:rPr>
              <a:t>6. CAP Theorem &amp; Cost Trade-offs</a:t>
            </a:r>
            <a:endParaRPr lang="en-US" sz="2400" b="1" spc="300" dirty="0">
              <a:solidFill>
                <a:schemeClr val="accent5">
                  <a:lumMod val="50000"/>
                </a:schemeClr>
              </a:solidFill>
            </a:endParaRPr>
          </a:p>
        </p:txBody>
      </p:sp>
      <p:sp>
        <p:nvSpPr>
          <p:cNvPr id="30" name="Text 28"/>
          <p:cNvSpPr/>
          <p:nvPr/>
        </p:nvSpPr>
        <p:spPr>
          <a:xfrm>
            <a:off x="5588000" y="5867400"/>
            <a:ext cx="9906000" cy="254000"/>
          </a:xfrm>
          <a:prstGeom prst="rect">
            <a:avLst/>
          </a:prstGeom>
          <a:noFill/>
          <a:ln/>
        </p:spPr>
        <p:txBody>
          <a:bodyPr wrap="none" lIns="0" tIns="0" rIns="0" bIns="0" rtlCol="0" anchor="t"/>
          <a:lstStyle/>
          <a:p>
            <a:pPr algn="l">
              <a:lnSpc>
                <a:spcPct val="120000"/>
              </a:lnSpc>
            </a:pPr>
            <a:r>
              <a:rPr lang="en-US" sz="1400" b="1" spc="300" dirty="0">
                <a:solidFill>
                  <a:schemeClr val="accent5">
                    <a:lumMod val="50000"/>
                  </a:schemeClr>
                </a:solidFill>
                <a:latin typeface="Quattrocento Sans" pitchFamily="34" charset="0"/>
                <a:ea typeface="Quattrocento Sans" pitchFamily="34" charset="-122"/>
                <a:cs typeface="Quattrocento Sans" pitchFamily="34" charset="-120"/>
              </a:rPr>
              <a:t>Consistency, Availability, Partition Tolerance, Storage vs Computation</a:t>
            </a:r>
            <a:endParaRPr lang="en-US" sz="1400" b="1" spc="300" dirty="0">
              <a:solidFill>
                <a:schemeClr val="accent5">
                  <a:lumMod val="50000"/>
                </a:schemeClr>
              </a:solidFill>
            </a:endParaRPr>
          </a:p>
        </p:txBody>
      </p:sp>
      <p:sp>
        <p:nvSpPr>
          <p:cNvPr id="31" name="Shape 29"/>
          <p:cNvSpPr/>
          <p:nvPr/>
        </p:nvSpPr>
        <p:spPr>
          <a:xfrm>
            <a:off x="5080000" y="6197600"/>
            <a:ext cx="10668000" cy="12700"/>
          </a:xfrm>
          <a:prstGeom prst="rect">
            <a:avLst/>
          </a:prstGeom>
          <a:solidFill>
            <a:srgbClr val="E0F4FA"/>
          </a:solidFill>
          <a:ln/>
        </p:spPr>
      </p:sp>
      <p:sp>
        <p:nvSpPr>
          <p:cNvPr id="32" name="Shape 30"/>
          <p:cNvSpPr/>
          <p:nvPr/>
        </p:nvSpPr>
        <p:spPr>
          <a:xfrm>
            <a:off x="5257800" y="6451600"/>
            <a:ext cx="177800" cy="177800"/>
          </a:xfrm>
          <a:prstGeom prst="diamond">
            <a:avLst/>
          </a:prstGeom>
          <a:solidFill>
            <a:srgbClr val="005C82"/>
          </a:solidFill>
          <a:ln/>
        </p:spPr>
      </p:sp>
      <p:sp>
        <p:nvSpPr>
          <p:cNvPr id="33" name="Text 31"/>
          <p:cNvSpPr/>
          <p:nvPr/>
        </p:nvSpPr>
        <p:spPr>
          <a:xfrm>
            <a:off x="5588000" y="6350000"/>
            <a:ext cx="9906000" cy="355600"/>
          </a:xfrm>
          <a:prstGeom prst="rect">
            <a:avLst/>
          </a:prstGeom>
          <a:noFill/>
          <a:ln/>
        </p:spPr>
        <p:txBody>
          <a:bodyPr wrap="none" lIns="0" tIns="0" rIns="0" bIns="0" rtlCol="0" anchor="ctr"/>
          <a:lstStyle/>
          <a:p>
            <a:pPr algn="l">
              <a:lnSpc>
                <a:spcPct val="120000"/>
              </a:lnSpc>
            </a:pPr>
            <a:r>
              <a:rPr lang="en-US" sz="2400" b="1" spc="300" dirty="0">
                <a:solidFill>
                  <a:schemeClr val="accent5">
                    <a:lumMod val="50000"/>
                  </a:schemeClr>
                </a:solidFill>
                <a:latin typeface="Quattrocento Sans" pitchFamily="34" charset="0"/>
                <a:ea typeface="Quattrocento Sans" pitchFamily="34" charset="-122"/>
                <a:cs typeface="Quattrocento Sans" pitchFamily="34" charset="-120"/>
              </a:rPr>
              <a:t>7. Responsible AI &amp; Data Governance</a:t>
            </a:r>
            <a:endParaRPr lang="en-US" sz="2400" b="1" spc="300" dirty="0">
              <a:solidFill>
                <a:schemeClr val="accent5">
                  <a:lumMod val="50000"/>
                </a:schemeClr>
              </a:solidFill>
            </a:endParaRPr>
          </a:p>
        </p:txBody>
      </p:sp>
      <p:sp>
        <p:nvSpPr>
          <p:cNvPr id="34" name="Text 32"/>
          <p:cNvSpPr/>
          <p:nvPr/>
        </p:nvSpPr>
        <p:spPr>
          <a:xfrm>
            <a:off x="5588000" y="6731000"/>
            <a:ext cx="9906000" cy="254000"/>
          </a:xfrm>
          <a:prstGeom prst="rect">
            <a:avLst/>
          </a:prstGeom>
          <a:noFill/>
          <a:ln/>
        </p:spPr>
        <p:txBody>
          <a:bodyPr wrap="none" lIns="0" tIns="0" rIns="0" bIns="0" rtlCol="0" anchor="t"/>
          <a:lstStyle/>
          <a:p>
            <a:pPr algn="l">
              <a:lnSpc>
                <a:spcPct val="120000"/>
              </a:lnSpc>
            </a:pPr>
            <a:r>
              <a:rPr lang="en-US" sz="1400" b="1" spc="300" dirty="0">
                <a:solidFill>
                  <a:schemeClr val="accent5">
                    <a:lumMod val="50000"/>
                  </a:schemeClr>
                </a:solidFill>
                <a:latin typeface="Quattrocento Sans" pitchFamily="34" charset="0"/>
                <a:ea typeface="Quattrocento Sans" pitchFamily="34" charset="-122"/>
                <a:cs typeface="Quattrocento Sans" pitchFamily="34" charset="-120"/>
              </a:rPr>
              <a:t>Governance Principles, Responsible AI, Big Data Pipeline Ethics</a:t>
            </a:r>
            <a:endParaRPr lang="en-US" sz="1400" b="1" spc="300" dirty="0">
              <a:solidFill>
                <a:schemeClr val="accent5">
                  <a:lumMod val="50000"/>
                </a:schemeClr>
              </a:solidFill>
            </a:endParaRPr>
          </a:p>
        </p:txBody>
      </p:sp>
      <p:sp>
        <p:nvSpPr>
          <p:cNvPr id="35" name="Text 33"/>
          <p:cNvSpPr/>
          <p:nvPr/>
        </p:nvSpPr>
        <p:spPr>
          <a:xfrm>
            <a:off x="15240000" y="8636000"/>
            <a:ext cx="635000" cy="304800"/>
          </a:xfrm>
          <a:prstGeom prst="rect">
            <a:avLst/>
          </a:prstGeom>
          <a:noFill/>
          <a:ln/>
        </p:spPr>
        <p:txBody>
          <a:bodyPr wrap="none" lIns="0" tIns="0" rIns="0" bIns="0" rtlCol="0" anchor="ctr"/>
          <a:lstStyle/>
          <a:p>
            <a:pPr algn="r">
              <a:lnSpc>
                <a:spcPct val="120000"/>
              </a:lnSpc>
            </a:pPr>
            <a:r>
              <a:rPr lang="en-US" sz="1400" dirty="0">
                <a:solidFill>
                  <a:srgbClr val="005C82"/>
                </a:solidFill>
                <a:latin typeface="Quattrocento Sans" pitchFamily="34" charset="0"/>
                <a:ea typeface="Quattrocento Sans" pitchFamily="34" charset="-122"/>
                <a:cs typeface="Quattrocento Sans" pitchFamily="34" charset="-120"/>
              </a:rPr>
              <a:t>2</a:t>
            </a:r>
            <a:endParaRPr lang="en-US" sz="1400" dirty="0"/>
          </a:p>
        </p:txBody>
      </p:sp>
      <p:pic>
        <p:nvPicPr>
          <p:cNvPr id="36" name="Picture 4" descr="Big Data — Understanding Hadoop: Architecture, Features, Challenges, &amp;  Applications. | by raw-hitt | 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470939"/>
            <a:ext cx="4826000" cy="3695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8142679"/>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0" y="1290066"/>
            <a:ext cx="2286000" cy="7916418"/>
          </a:xfrm>
          <a:prstGeom prst="rect">
            <a:avLst/>
          </a:prstGeom>
          <a:solidFill>
            <a:srgbClr val="005C82"/>
          </a:solidFill>
          <a:ln/>
        </p:spPr>
      </p:sp>
      <p:sp>
        <p:nvSpPr>
          <p:cNvPr id="5" name="Text 3"/>
          <p:cNvSpPr/>
          <p:nvPr/>
        </p:nvSpPr>
        <p:spPr>
          <a:xfrm>
            <a:off x="152400" y="1290066"/>
            <a:ext cx="2082800" cy="1016000"/>
          </a:xfrm>
          <a:prstGeom prst="rect">
            <a:avLst/>
          </a:prstGeom>
          <a:noFill/>
          <a:ln/>
        </p:spPr>
        <p:txBody>
          <a:bodyPr wrap="none" lIns="0" tIns="0" rIns="0" bIns="0" rtlCol="0" anchor="ctr"/>
          <a:lstStyle/>
          <a:p>
            <a:pPr algn="l">
              <a:lnSpc>
                <a:spcPct val="120000"/>
              </a:lnSpc>
            </a:pPr>
            <a:r>
              <a:rPr lang="en-US" sz="1600" b="1" dirty="0">
                <a:solidFill>
                  <a:srgbClr val="FFC000"/>
                </a:solidFill>
                <a:latin typeface="Arial Black" panose="020B0A04020102020204" pitchFamily="34" charset="0"/>
                <a:ea typeface="Quattrocento Sans" pitchFamily="34" charset="-122"/>
                <a:cs typeface="Quattrocento Sans" pitchFamily="34" charset="-120"/>
              </a:rPr>
              <a:t>01 Big Data Basics</a:t>
            </a:r>
            <a:endParaRPr lang="en-US" sz="1600" dirty="0">
              <a:solidFill>
                <a:srgbClr val="FFC000"/>
              </a:solidFill>
              <a:latin typeface="Arial Black" panose="020B0A04020102020204" pitchFamily="34" charset="0"/>
            </a:endParaRPr>
          </a:p>
        </p:txBody>
      </p:sp>
      <p:sp>
        <p:nvSpPr>
          <p:cNvPr id="6" name="Text 4"/>
          <p:cNvSpPr/>
          <p:nvPr/>
        </p:nvSpPr>
        <p:spPr>
          <a:xfrm>
            <a:off x="152400" y="2234692"/>
            <a:ext cx="2082800" cy="1016000"/>
          </a:xfrm>
          <a:prstGeom prst="rect">
            <a:avLst/>
          </a:prstGeom>
          <a:noFill/>
          <a:ln/>
        </p:spPr>
        <p:txBody>
          <a:bodyPr wrap="none" lIns="0" tIns="0" rIns="0" bIns="0" rtlCol="0" anchor="ctr"/>
          <a:lstStyle/>
          <a:p>
            <a:pPr algn="l">
              <a:lnSpc>
                <a:spcPct val="120000"/>
              </a:lnSpc>
            </a:pPr>
            <a:r>
              <a:rPr lang="en-US" sz="1600" b="1" dirty="0">
                <a:solidFill>
                  <a:srgbClr val="FFC000"/>
                </a:solidFill>
                <a:latin typeface="Arial Black" panose="020B0A04020102020204" pitchFamily="34" charset="0"/>
                <a:ea typeface="Quattrocento Sans" pitchFamily="34" charset="-122"/>
                <a:cs typeface="Quattrocento Sans" pitchFamily="34" charset="-120"/>
              </a:rPr>
              <a:t>02 Data Life Cycle</a:t>
            </a:r>
            <a:endParaRPr lang="en-US" sz="1600" b="1" dirty="0">
              <a:solidFill>
                <a:srgbClr val="FFC000"/>
              </a:solidFill>
              <a:latin typeface="Arial Black" panose="020B0A04020102020204" pitchFamily="34" charset="0"/>
            </a:endParaRPr>
          </a:p>
        </p:txBody>
      </p:sp>
      <p:sp>
        <p:nvSpPr>
          <p:cNvPr id="7" name="Text 5"/>
          <p:cNvSpPr/>
          <p:nvPr/>
        </p:nvSpPr>
        <p:spPr>
          <a:xfrm>
            <a:off x="71628" y="3339084"/>
            <a:ext cx="2082800" cy="1016000"/>
          </a:xfrm>
          <a:prstGeom prst="rect">
            <a:avLst/>
          </a:prstGeom>
          <a:noFill/>
          <a:ln/>
        </p:spPr>
        <p:txBody>
          <a:bodyPr wrap="none" lIns="0" tIns="0" rIns="0" bIns="0" rtlCol="0" anchor="ctr"/>
          <a:lstStyle/>
          <a:p>
            <a:pPr algn="l">
              <a:lnSpc>
                <a:spcPct val="120000"/>
              </a:lnSpc>
            </a:pPr>
            <a:r>
              <a:rPr lang="en-US" sz="1600" b="1" dirty="0" smtClean="0">
                <a:solidFill>
                  <a:srgbClr val="FFC000"/>
                </a:solidFill>
                <a:latin typeface="Arial Black" panose="020B0A04020102020204" pitchFamily="34" charset="0"/>
                <a:ea typeface="Quattrocento Sans" pitchFamily="34" charset="-122"/>
                <a:cs typeface="Quattrocento Sans" pitchFamily="34" charset="-120"/>
              </a:rPr>
              <a:t> 03</a:t>
            </a:r>
            <a:r>
              <a:rPr lang="en-US" sz="1200" dirty="0" smtClean="0">
                <a:solidFill>
                  <a:srgbClr val="FFFFFF"/>
                </a:solidFill>
                <a:latin typeface="Arial Black" panose="020B0A04020102020204" pitchFamily="34" charset="0"/>
                <a:ea typeface="Quattrocento Sans" pitchFamily="34" charset="-122"/>
                <a:cs typeface="Quattrocento Sans" pitchFamily="34" charset="-120"/>
              </a:rPr>
              <a:t> </a:t>
            </a:r>
            <a:r>
              <a:rPr lang="en-US" sz="1600" b="1" dirty="0">
                <a:solidFill>
                  <a:srgbClr val="FFC000"/>
                </a:solidFill>
                <a:latin typeface="Arial Black" panose="020B0A04020102020204" pitchFamily="34" charset="0"/>
                <a:ea typeface="Quattrocento Sans" pitchFamily="34" charset="-122"/>
                <a:cs typeface="Quattrocento Sans" pitchFamily="34" charset="-120"/>
              </a:rPr>
              <a:t>Computing</a:t>
            </a:r>
            <a:r>
              <a:rPr lang="en-US" sz="1200" dirty="0">
                <a:solidFill>
                  <a:srgbClr val="FFFFFF"/>
                </a:solidFill>
                <a:latin typeface="Arial Black" panose="020B0A04020102020204" pitchFamily="34" charset="0"/>
                <a:ea typeface="Quattrocento Sans" pitchFamily="34" charset="-122"/>
                <a:cs typeface="Quattrocento Sans" pitchFamily="34" charset="-120"/>
              </a:rPr>
              <a:t> </a:t>
            </a:r>
            <a:endParaRPr lang="en-US" sz="1200" dirty="0" smtClean="0">
              <a:solidFill>
                <a:srgbClr val="FFFFFF"/>
              </a:solidFill>
              <a:latin typeface="Arial Black" panose="020B0A04020102020204" pitchFamily="34" charset="0"/>
              <a:ea typeface="Quattrocento Sans" pitchFamily="34" charset="-122"/>
              <a:cs typeface="Quattrocento Sans" pitchFamily="34" charset="-120"/>
            </a:endParaRPr>
          </a:p>
          <a:p>
            <a:pPr algn="l">
              <a:lnSpc>
                <a:spcPct val="120000"/>
              </a:lnSpc>
            </a:pPr>
            <a:r>
              <a:rPr lang="en-US" sz="1200" b="1" dirty="0">
                <a:solidFill>
                  <a:srgbClr val="FFFFFF"/>
                </a:solidFill>
                <a:latin typeface="Arial Black" panose="020B0A04020102020204" pitchFamily="34" charset="0"/>
                <a:ea typeface="Quattrocento Sans" pitchFamily="34" charset="-122"/>
                <a:cs typeface="Quattrocento Sans" pitchFamily="34" charset="-120"/>
              </a:rPr>
              <a:t> </a:t>
            </a:r>
            <a:r>
              <a:rPr lang="en-US" sz="1200" b="1" dirty="0" smtClean="0">
                <a:solidFill>
                  <a:srgbClr val="FFFFFF"/>
                </a:solidFill>
                <a:latin typeface="Arial Black" panose="020B0A04020102020204" pitchFamily="34" charset="0"/>
                <a:ea typeface="Quattrocento Sans" pitchFamily="34" charset="-122"/>
                <a:cs typeface="Quattrocento Sans" pitchFamily="34" charset="-120"/>
              </a:rPr>
              <a:t>     </a:t>
            </a:r>
            <a:r>
              <a:rPr lang="en-US" sz="1600" b="1" dirty="0" smtClean="0">
                <a:solidFill>
                  <a:srgbClr val="FFC000"/>
                </a:solidFill>
                <a:latin typeface="Arial Black" panose="020B0A04020102020204" pitchFamily="34" charset="0"/>
                <a:ea typeface="Quattrocento Sans" pitchFamily="34" charset="-122"/>
                <a:cs typeface="Quattrocento Sans" pitchFamily="34" charset="-120"/>
              </a:rPr>
              <a:t>Models</a:t>
            </a:r>
            <a:endParaRPr lang="en-US" sz="1600" b="1" dirty="0">
              <a:solidFill>
                <a:srgbClr val="FFC000"/>
              </a:solidFill>
              <a:latin typeface="Arial Black" panose="020B0A04020102020204" pitchFamily="34" charset="0"/>
              <a:ea typeface="Quattrocento Sans" pitchFamily="34" charset="-122"/>
              <a:cs typeface="Quattrocento Sans" pitchFamily="34" charset="-120"/>
            </a:endParaRPr>
          </a:p>
        </p:txBody>
      </p:sp>
      <p:sp>
        <p:nvSpPr>
          <p:cNvPr id="8" name="Text 6"/>
          <p:cNvSpPr/>
          <p:nvPr/>
        </p:nvSpPr>
        <p:spPr>
          <a:xfrm>
            <a:off x="101600" y="4395216"/>
            <a:ext cx="2082800" cy="1016000"/>
          </a:xfrm>
          <a:prstGeom prst="rect">
            <a:avLst/>
          </a:prstGeom>
          <a:noFill/>
          <a:ln/>
        </p:spPr>
        <p:txBody>
          <a:bodyPr wrap="none" lIns="0" tIns="0" rIns="0" bIns="0" rtlCol="0" anchor="ctr"/>
          <a:lstStyle/>
          <a:p>
            <a:pPr algn="l">
              <a:lnSpc>
                <a:spcPct val="120000"/>
              </a:lnSpc>
            </a:pPr>
            <a:r>
              <a:rPr lang="en-US" sz="1600" b="1" dirty="0">
                <a:solidFill>
                  <a:srgbClr val="FFC000"/>
                </a:solidFill>
                <a:latin typeface="Arial Black" panose="020B0A04020102020204" pitchFamily="34" charset="0"/>
                <a:ea typeface="Quattrocento Sans" pitchFamily="34" charset="-122"/>
                <a:cs typeface="Quattrocento Sans" pitchFamily="34" charset="-120"/>
              </a:rPr>
              <a:t>04</a:t>
            </a:r>
            <a:r>
              <a:rPr lang="en-US" sz="1200" dirty="0">
                <a:solidFill>
                  <a:srgbClr val="FFFFFF"/>
                </a:solidFill>
                <a:latin typeface="Arial Black" panose="020B0A04020102020204" pitchFamily="34" charset="0"/>
                <a:ea typeface="Quattrocento Sans" pitchFamily="34" charset="-122"/>
                <a:cs typeface="Quattrocento Sans" pitchFamily="34" charset="-120"/>
              </a:rPr>
              <a:t> </a:t>
            </a:r>
            <a:r>
              <a:rPr lang="en-US" sz="1600" b="1" dirty="0">
                <a:solidFill>
                  <a:srgbClr val="FFC000"/>
                </a:solidFill>
                <a:latin typeface="Arial Black" panose="020B0A04020102020204" pitchFamily="34" charset="0"/>
                <a:ea typeface="Quattrocento Sans" pitchFamily="34" charset="-122"/>
                <a:cs typeface="Quattrocento Sans" pitchFamily="34" charset="-120"/>
              </a:rPr>
              <a:t>Architecture</a:t>
            </a:r>
          </a:p>
        </p:txBody>
      </p:sp>
      <p:sp>
        <p:nvSpPr>
          <p:cNvPr id="9" name="Text 7"/>
          <p:cNvSpPr/>
          <p:nvPr/>
        </p:nvSpPr>
        <p:spPr>
          <a:xfrm>
            <a:off x="101600" y="5435600"/>
            <a:ext cx="2082800" cy="1016000"/>
          </a:xfrm>
          <a:prstGeom prst="rect">
            <a:avLst/>
          </a:prstGeom>
          <a:noFill/>
          <a:ln/>
        </p:spPr>
        <p:txBody>
          <a:bodyPr wrap="none" lIns="0" tIns="0" rIns="0" bIns="0" rtlCol="0" anchor="ctr"/>
          <a:lstStyle/>
          <a:p>
            <a:pPr algn="l">
              <a:lnSpc>
                <a:spcPct val="120000"/>
              </a:lnSpc>
            </a:pPr>
            <a:r>
              <a:rPr lang="en-US" sz="1600" b="1" dirty="0">
                <a:solidFill>
                  <a:srgbClr val="FFC000"/>
                </a:solidFill>
                <a:latin typeface="Arial Black" panose="020B0A04020102020204" pitchFamily="34" charset="0"/>
                <a:ea typeface="Quattrocento Sans" pitchFamily="34" charset="-122"/>
                <a:cs typeface="Quattrocento Sans" pitchFamily="34" charset="-120"/>
              </a:rPr>
              <a:t>05 Performance</a:t>
            </a:r>
            <a:endParaRPr lang="en-US" sz="1600" b="1" dirty="0">
              <a:solidFill>
                <a:srgbClr val="FFC000"/>
              </a:solidFill>
              <a:latin typeface="Arial Black" panose="020B0A04020102020204" pitchFamily="34" charset="0"/>
            </a:endParaRPr>
          </a:p>
        </p:txBody>
      </p:sp>
      <p:sp>
        <p:nvSpPr>
          <p:cNvPr id="10" name="Text 8"/>
          <p:cNvSpPr/>
          <p:nvPr/>
        </p:nvSpPr>
        <p:spPr>
          <a:xfrm>
            <a:off x="101600" y="6604000"/>
            <a:ext cx="2082800" cy="1016000"/>
          </a:xfrm>
          <a:prstGeom prst="rect">
            <a:avLst/>
          </a:prstGeom>
          <a:noFill/>
          <a:ln/>
        </p:spPr>
        <p:txBody>
          <a:bodyPr wrap="none" lIns="0" tIns="0" rIns="0" bIns="0" rtlCol="0" anchor="ctr"/>
          <a:lstStyle/>
          <a:p>
            <a:pPr algn="l">
              <a:lnSpc>
                <a:spcPct val="120000"/>
              </a:lnSpc>
            </a:pPr>
            <a:r>
              <a:rPr lang="en-US" sz="1600" b="1" dirty="0">
                <a:solidFill>
                  <a:srgbClr val="FFC000"/>
                </a:solidFill>
                <a:latin typeface="Arial Black" panose="020B0A04020102020204" pitchFamily="34" charset="0"/>
                <a:ea typeface="Quattrocento Sans" pitchFamily="34" charset="-122"/>
                <a:cs typeface="Quattrocento Sans" pitchFamily="34" charset="-120"/>
              </a:rPr>
              <a:t>06 CAP &amp; </a:t>
            </a:r>
            <a:endParaRPr lang="en-US" sz="1600" b="1" dirty="0" smtClean="0">
              <a:solidFill>
                <a:srgbClr val="FFC000"/>
              </a:solidFill>
              <a:latin typeface="Arial Black" panose="020B0A04020102020204" pitchFamily="34" charset="0"/>
              <a:ea typeface="Quattrocento Sans" pitchFamily="34" charset="-122"/>
              <a:cs typeface="Quattrocento Sans" pitchFamily="34" charset="-120"/>
            </a:endParaRPr>
          </a:p>
          <a:p>
            <a:pPr algn="l">
              <a:lnSpc>
                <a:spcPct val="120000"/>
              </a:lnSpc>
            </a:pPr>
            <a:r>
              <a:rPr lang="en-US" sz="1600" b="1" dirty="0">
                <a:solidFill>
                  <a:srgbClr val="FFC000"/>
                </a:solidFill>
                <a:latin typeface="Arial Black" panose="020B0A04020102020204" pitchFamily="34" charset="0"/>
                <a:ea typeface="Quattrocento Sans" pitchFamily="34" charset="-122"/>
                <a:cs typeface="Quattrocento Sans" pitchFamily="34" charset="-120"/>
              </a:rPr>
              <a:t> </a:t>
            </a:r>
            <a:r>
              <a:rPr lang="en-US" sz="1600" b="1" dirty="0" smtClean="0">
                <a:solidFill>
                  <a:srgbClr val="FFC000"/>
                </a:solidFill>
                <a:latin typeface="Arial Black" panose="020B0A04020102020204" pitchFamily="34" charset="0"/>
                <a:ea typeface="Quattrocento Sans" pitchFamily="34" charset="-122"/>
                <a:cs typeface="Quattrocento Sans" pitchFamily="34" charset="-120"/>
              </a:rPr>
              <a:t>    Trade-offs</a:t>
            </a:r>
            <a:endParaRPr lang="en-US" sz="1600" b="1" dirty="0">
              <a:solidFill>
                <a:srgbClr val="FFC000"/>
              </a:solidFill>
              <a:latin typeface="Arial Black" panose="020B0A04020102020204" pitchFamily="34" charset="0"/>
            </a:endParaRPr>
          </a:p>
        </p:txBody>
      </p:sp>
      <p:sp>
        <p:nvSpPr>
          <p:cNvPr id="11" name="Text 9"/>
          <p:cNvSpPr/>
          <p:nvPr/>
        </p:nvSpPr>
        <p:spPr>
          <a:xfrm>
            <a:off x="101600" y="7772400"/>
            <a:ext cx="2022856" cy="1016000"/>
          </a:xfrm>
          <a:prstGeom prst="rect">
            <a:avLst/>
          </a:prstGeom>
          <a:noFill/>
          <a:ln/>
        </p:spPr>
        <p:txBody>
          <a:bodyPr wrap="none" lIns="0" tIns="0" rIns="0" bIns="0" rtlCol="0" anchor="ctr"/>
          <a:lstStyle/>
          <a:p>
            <a:pPr algn="l">
              <a:lnSpc>
                <a:spcPct val="120000"/>
              </a:lnSpc>
            </a:pPr>
            <a:r>
              <a:rPr lang="en-US" sz="1600" b="1" dirty="0">
                <a:solidFill>
                  <a:srgbClr val="FFC000"/>
                </a:solidFill>
                <a:latin typeface="Arial Black" panose="020B0A04020102020204" pitchFamily="34" charset="0"/>
                <a:ea typeface="Quattrocento Sans" pitchFamily="34" charset="-122"/>
                <a:cs typeface="Quattrocento Sans" pitchFamily="34" charset="-120"/>
              </a:rPr>
              <a:t>07 Responsible AI</a:t>
            </a:r>
            <a:endParaRPr lang="en-US" sz="1600" b="1" dirty="0">
              <a:solidFill>
                <a:srgbClr val="FFC000"/>
              </a:solidFill>
              <a:latin typeface="Arial Black" panose="020B0A04020102020204" pitchFamily="34" charset="0"/>
            </a:endParaRPr>
          </a:p>
        </p:txBody>
      </p:sp>
      <p:sp>
        <p:nvSpPr>
          <p:cNvPr id="16" name="Text 14"/>
          <p:cNvSpPr/>
          <p:nvPr/>
        </p:nvSpPr>
        <p:spPr>
          <a:xfrm>
            <a:off x="2540000" y="905371"/>
            <a:ext cx="13208000" cy="457200"/>
          </a:xfrm>
          <a:prstGeom prst="rect">
            <a:avLst/>
          </a:prstGeom>
          <a:noFill/>
          <a:ln/>
        </p:spPr>
        <p:txBody>
          <a:bodyPr wrap="none" lIns="0" tIns="0" rIns="0" bIns="0" rtlCol="0" anchor="t"/>
          <a:lstStyle/>
          <a:p>
            <a:pPr algn="l">
              <a:lnSpc>
                <a:spcPct val="120000"/>
              </a:lnSpc>
            </a:pPr>
            <a:r>
              <a:rPr lang="en-US" sz="2400" b="1" dirty="0" smtClean="0">
                <a:solidFill>
                  <a:srgbClr val="005C82"/>
                </a:solidFill>
                <a:latin typeface="Quattrocento Sans" pitchFamily="34" charset="0"/>
                <a:ea typeface="Quattrocento Sans" pitchFamily="34" charset="-122"/>
                <a:cs typeface="Quattrocento Sans" pitchFamily="34" charset="-120"/>
              </a:rPr>
              <a:t>1. The </a:t>
            </a:r>
            <a:r>
              <a:rPr lang="en-US" sz="2400" b="1" dirty="0">
                <a:solidFill>
                  <a:srgbClr val="005C82"/>
                </a:solidFill>
                <a:latin typeface="Quattrocento Sans" pitchFamily="34" charset="0"/>
                <a:ea typeface="Quattrocento Sans" pitchFamily="34" charset="-122"/>
                <a:cs typeface="Quattrocento Sans" pitchFamily="34" charset="-120"/>
              </a:rPr>
              <a:t>5 V's of Big Data</a:t>
            </a:r>
            <a:endParaRPr lang="en-US" sz="2400" dirty="0"/>
          </a:p>
        </p:txBody>
      </p:sp>
      <p:sp>
        <p:nvSpPr>
          <p:cNvPr id="17" name="Shape 15"/>
          <p:cNvSpPr/>
          <p:nvPr/>
        </p:nvSpPr>
        <p:spPr>
          <a:xfrm>
            <a:off x="2540000" y="1394321"/>
            <a:ext cx="13208000" cy="12700"/>
          </a:xfrm>
          <a:prstGeom prst="rect">
            <a:avLst/>
          </a:prstGeom>
          <a:solidFill>
            <a:srgbClr val="B0BEC5"/>
          </a:solidFill>
          <a:ln/>
        </p:spPr>
      </p:sp>
      <p:sp>
        <p:nvSpPr>
          <p:cNvPr id="18" name="Shape 16"/>
          <p:cNvSpPr/>
          <p:nvPr/>
        </p:nvSpPr>
        <p:spPr>
          <a:xfrm>
            <a:off x="2540000" y="1878584"/>
            <a:ext cx="2489200" cy="2921000"/>
          </a:xfrm>
          <a:prstGeom prst="roundRect">
            <a:avLst>
              <a:gd name="adj" fmla="val 4000"/>
            </a:avLst>
          </a:prstGeom>
          <a:solidFill>
            <a:srgbClr val="005C82"/>
          </a:solidFill>
          <a:ln/>
        </p:spPr>
      </p:sp>
      <p:sp>
        <p:nvSpPr>
          <p:cNvPr id="19" name="Shape 17"/>
          <p:cNvSpPr/>
          <p:nvPr/>
        </p:nvSpPr>
        <p:spPr>
          <a:xfrm>
            <a:off x="3454400" y="2030984"/>
            <a:ext cx="406400" cy="406400"/>
          </a:xfrm>
          <a:custGeom>
            <a:avLst/>
            <a:gdLst/>
            <a:ahLst/>
            <a:cxnLst/>
            <a:rect l="l" t="t" r="r" b="b"/>
            <a:pathLst>
              <a:path w="406400" h="406400">
                <a:moveTo>
                  <a:pt x="406400" y="163354"/>
                </a:moveTo>
                <a:cubicBezTo>
                  <a:pt x="392974" y="171133"/>
                  <a:pt x="377553" y="177403"/>
                  <a:pt x="361496" y="182404"/>
                </a:cubicBezTo>
                <a:cubicBezTo>
                  <a:pt x="318861" y="195739"/>
                  <a:pt x="262890" y="203200"/>
                  <a:pt x="203200" y="203200"/>
                </a:cubicBezTo>
                <a:cubicBezTo>
                  <a:pt x="143510" y="203200"/>
                  <a:pt x="87449" y="195659"/>
                  <a:pt x="44904" y="182404"/>
                </a:cubicBezTo>
                <a:cubicBezTo>
                  <a:pt x="28938" y="177403"/>
                  <a:pt x="13426" y="171133"/>
                  <a:pt x="0" y="163354"/>
                </a:cubicBezTo>
                <a:lnTo>
                  <a:pt x="0" y="228600"/>
                </a:lnTo>
                <a:cubicBezTo>
                  <a:pt x="0" y="263684"/>
                  <a:pt x="90986" y="292100"/>
                  <a:pt x="203200" y="292100"/>
                </a:cubicBezTo>
                <a:cubicBezTo>
                  <a:pt x="315414" y="292100"/>
                  <a:pt x="406400" y="263684"/>
                  <a:pt x="406400" y="228600"/>
                </a:cubicBezTo>
                <a:lnTo>
                  <a:pt x="406400" y="163354"/>
                </a:lnTo>
                <a:close/>
                <a:moveTo>
                  <a:pt x="406400" y="101600"/>
                </a:moveTo>
                <a:lnTo>
                  <a:pt x="406400" y="63500"/>
                </a:lnTo>
                <a:cubicBezTo>
                  <a:pt x="406400" y="28416"/>
                  <a:pt x="315414" y="0"/>
                  <a:pt x="203200" y="0"/>
                </a:cubicBezTo>
                <a:cubicBezTo>
                  <a:pt x="90986" y="0"/>
                  <a:pt x="0" y="28416"/>
                  <a:pt x="0" y="63500"/>
                </a:cubicBezTo>
                <a:lnTo>
                  <a:pt x="0" y="101600"/>
                </a:lnTo>
                <a:cubicBezTo>
                  <a:pt x="0" y="136684"/>
                  <a:pt x="90986" y="165100"/>
                  <a:pt x="203200" y="165100"/>
                </a:cubicBezTo>
                <a:cubicBezTo>
                  <a:pt x="315414" y="165100"/>
                  <a:pt x="406400" y="136684"/>
                  <a:pt x="406400" y="101600"/>
                </a:cubicBezTo>
                <a:close/>
                <a:moveTo>
                  <a:pt x="361496" y="309404"/>
                </a:moveTo>
                <a:cubicBezTo>
                  <a:pt x="318951" y="322659"/>
                  <a:pt x="262981" y="330200"/>
                  <a:pt x="203200" y="330200"/>
                </a:cubicBezTo>
                <a:cubicBezTo>
                  <a:pt x="143419" y="330200"/>
                  <a:pt x="87449" y="322659"/>
                  <a:pt x="44904" y="309404"/>
                </a:cubicBezTo>
                <a:cubicBezTo>
                  <a:pt x="28938" y="304403"/>
                  <a:pt x="13426" y="298133"/>
                  <a:pt x="0" y="290354"/>
                </a:cubicBezTo>
                <a:lnTo>
                  <a:pt x="0" y="342900"/>
                </a:lnTo>
                <a:cubicBezTo>
                  <a:pt x="0" y="377984"/>
                  <a:pt x="90986" y="406400"/>
                  <a:pt x="203200" y="406400"/>
                </a:cubicBezTo>
                <a:cubicBezTo>
                  <a:pt x="315414" y="406400"/>
                  <a:pt x="406400" y="377984"/>
                  <a:pt x="406400" y="342900"/>
                </a:cubicBezTo>
                <a:lnTo>
                  <a:pt x="406400" y="290354"/>
                </a:lnTo>
                <a:cubicBezTo>
                  <a:pt x="392974" y="298133"/>
                  <a:pt x="377553" y="304403"/>
                  <a:pt x="361496" y="309404"/>
                </a:cubicBezTo>
                <a:close/>
              </a:path>
            </a:pathLst>
          </a:custGeom>
          <a:solidFill>
            <a:srgbClr val="FFFFFF"/>
          </a:solidFill>
          <a:ln/>
        </p:spPr>
      </p:sp>
      <p:sp>
        <p:nvSpPr>
          <p:cNvPr id="20" name="Text 18"/>
          <p:cNvSpPr/>
          <p:nvPr/>
        </p:nvSpPr>
        <p:spPr>
          <a:xfrm>
            <a:off x="2641600" y="2513584"/>
            <a:ext cx="2286000" cy="355600"/>
          </a:xfrm>
          <a:prstGeom prst="rect">
            <a:avLst/>
          </a:prstGeom>
          <a:noFill/>
          <a:ln/>
        </p:spPr>
        <p:txBody>
          <a:bodyPr wrap="none" lIns="0" tIns="0" rIns="0" bIns="0" rtlCol="0" anchor="ctr"/>
          <a:lstStyle/>
          <a:p>
            <a:pPr algn="ctr">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Volume</a:t>
            </a:r>
            <a:endParaRPr lang="en-US" sz="1800" dirty="0"/>
          </a:p>
        </p:txBody>
      </p:sp>
      <p:sp>
        <p:nvSpPr>
          <p:cNvPr id="21" name="Text 19"/>
          <p:cNvSpPr/>
          <p:nvPr/>
        </p:nvSpPr>
        <p:spPr>
          <a:xfrm>
            <a:off x="2641600" y="2894584"/>
            <a:ext cx="2286000" cy="1778000"/>
          </a:xfrm>
          <a:prstGeom prst="rect">
            <a:avLst/>
          </a:prstGeom>
          <a:noFill/>
          <a:ln/>
        </p:spPr>
        <p:txBody>
          <a:bodyPr wrap="square" lIns="0" tIns="0" rIns="0" bIns="0" rtlCol="0" anchor="t"/>
          <a:lstStyle/>
          <a:p>
            <a:pPr algn="ctr">
              <a:lnSpc>
                <a:spcPct val="150000"/>
              </a:lnSpc>
            </a:pPr>
            <a:r>
              <a:rPr lang="en-US" sz="1300" dirty="0">
                <a:solidFill>
                  <a:srgbClr val="FFFFFF"/>
                </a:solidFill>
                <a:latin typeface="Quattrocento Sans" pitchFamily="34" charset="0"/>
                <a:ea typeface="Quattrocento Sans" pitchFamily="34" charset="-122"/>
                <a:cs typeface="Quattrocento Sans" pitchFamily="34" charset="-120"/>
              </a:rPr>
              <a:t>Enormous size of data</a:t>
            </a:r>
            <a:endParaRPr lang="en-US" sz="1300" dirty="0"/>
          </a:p>
          <a:p>
            <a:pPr algn="ctr">
              <a:lnSpc>
                <a:spcPct val="150000"/>
              </a:lnSpc>
              <a:spcBef>
                <a:spcPts val="400"/>
              </a:spcBef>
            </a:pPr>
            <a:r>
              <a:rPr lang="en-US" sz="1300" dirty="0">
                <a:solidFill>
                  <a:srgbClr val="FFFFFF"/>
                </a:solidFill>
                <a:latin typeface="Quattrocento Sans" pitchFamily="34" charset="0"/>
                <a:ea typeface="Quattrocento Sans" pitchFamily="34" charset="-122"/>
                <a:cs typeface="Quattrocento Sans" pitchFamily="34" charset="-120"/>
              </a:rPr>
              <a:t>NYSE: 1TB/day</a:t>
            </a:r>
            <a:endParaRPr lang="en-US" sz="1300" dirty="0"/>
          </a:p>
          <a:p>
            <a:pPr algn="ctr">
              <a:lnSpc>
                <a:spcPct val="150000"/>
              </a:lnSpc>
            </a:pPr>
            <a:r>
              <a:rPr lang="en-US" sz="1300" dirty="0">
                <a:solidFill>
                  <a:srgbClr val="FFFFFF"/>
                </a:solidFill>
                <a:latin typeface="Quattrocento Sans" pitchFamily="34" charset="0"/>
                <a:ea typeface="Quattrocento Sans" pitchFamily="34" charset="-122"/>
                <a:cs typeface="Quattrocento Sans" pitchFamily="34" charset="-120"/>
              </a:rPr>
              <a:t>Facebook: 500+ TB/day</a:t>
            </a:r>
            <a:endParaRPr lang="en-US" sz="1300" dirty="0"/>
          </a:p>
          <a:p>
            <a:pPr algn="ctr">
              <a:lnSpc>
                <a:spcPct val="150000"/>
              </a:lnSpc>
            </a:pPr>
            <a:r>
              <a:rPr lang="en-US" sz="1300" dirty="0">
                <a:solidFill>
                  <a:srgbClr val="FFFFFF"/>
                </a:solidFill>
                <a:latin typeface="Quattrocento Sans" pitchFamily="34" charset="0"/>
                <a:ea typeface="Quattrocento Sans" pitchFamily="34" charset="-122"/>
                <a:cs typeface="Quattrocento Sans" pitchFamily="34" charset="-120"/>
              </a:rPr>
              <a:t>Jet engine: 10+ TB/30min</a:t>
            </a:r>
            <a:endParaRPr lang="en-US" sz="1300" dirty="0"/>
          </a:p>
        </p:txBody>
      </p:sp>
      <p:sp>
        <p:nvSpPr>
          <p:cNvPr id="22" name="Shape 20"/>
          <p:cNvSpPr/>
          <p:nvPr/>
        </p:nvSpPr>
        <p:spPr>
          <a:xfrm>
            <a:off x="5181600" y="1878584"/>
            <a:ext cx="2489200" cy="2921000"/>
          </a:xfrm>
          <a:prstGeom prst="roundRect">
            <a:avLst>
              <a:gd name="adj" fmla="val 4000"/>
            </a:avLst>
          </a:prstGeom>
          <a:solidFill>
            <a:srgbClr val="007AA8"/>
          </a:solidFill>
          <a:ln/>
        </p:spPr>
      </p:sp>
      <p:sp>
        <p:nvSpPr>
          <p:cNvPr id="23" name="Shape 21"/>
          <p:cNvSpPr/>
          <p:nvPr/>
        </p:nvSpPr>
        <p:spPr>
          <a:xfrm>
            <a:off x="6096000" y="2030984"/>
            <a:ext cx="406400" cy="406400"/>
          </a:xfrm>
          <a:custGeom>
            <a:avLst/>
            <a:gdLst/>
            <a:ahLst/>
            <a:cxnLst/>
            <a:rect l="l" t="t" r="r" b="b"/>
            <a:pathLst>
              <a:path w="406400" h="406400">
                <a:moveTo>
                  <a:pt x="184547" y="4128"/>
                </a:moveTo>
                <a:cubicBezTo>
                  <a:pt x="196374" y="-1349"/>
                  <a:pt x="210026" y="-1349"/>
                  <a:pt x="221853" y="4128"/>
                </a:cubicBezTo>
                <a:lnTo>
                  <a:pt x="395367" y="84296"/>
                </a:lnTo>
                <a:cubicBezTo>
                  <a:pt x="402114" y="87392"/>
                  <a:pt x="406400" y="94139"/>
                  <a:pt x="406400" y="101600"/>
                </a:cubicBezTo>
                <a:cubicBezTo>
                  <a:pt x="406400" y="109061"/>
                  <a:pt x="402114" y="115808"/>
                  <a:pt x="395367" y="118904"/>
                </a:cubicBezTo>
                <a:lnTo>
                  <a:pt x="221853" y="199073"/>
                </a:lnTo>
                <a:cubicBezTo>
                  <a:pt x="210026" y="204549"/>
                  <a:pt x="196374" y="204549"/>
                  <a:pt x="184547" y="199073"/>
                </a:cubicBezTo>
                <a:lnTo>
                  <a:pt x="11033" y="118904"/>
                </a:lnTo>
                <a:cubicBezTo>
                  <a:pt x="4286" y="115729"/>
                  <a:pt x="0" y="108982"/>
                  <a:pt x="0" y="101600"/>
                </a:cubicBezTo>
                <a:cubicBezTo>
                  <a:pt x="0" y="94218"/>
                  <a:pt x="4286" y="87392"/>
                  <a:pt x="11033" y="84296"/>
                </a:cubicBezTo>
                <a:lnTo>
                  <a:pt x="184547" y="4128"/>
                </a:lnTo>
                <a:close/>
                <a:moveTo>
                  <a:pt x="38179" y="173355"/>
                </a:moveTo>
                <a:lnTo>
                  <a:pt x="168593" y="233601"/>
                </a:lnTo>
                <a:cubicBezTo>
                  <a:pt x="190579" y="243761"/>
                  <a:pt x="215900" y="243761"/>
                  <a:pt x="237887" y="233601"/>
                </a:cubicBezTo>
                <a:lnTo>
                  <a:pt x="368300" y="173355"/>
                </a:lnTo>
                <a:lnTo>
                  <a:pt x="395367" y="185896"/>
                </a:lnTo>
                <a:cubicBezTo>
                  <a:pt x="402114" y="188992"/>
                  <a:pt x="406400" y="195739"/>
                  <a:pt x="406400" y="203200"/>
                </a:cubicBezTo>
                <a:cubicBezTo>
                  <a:pt x="406400" y="210661"/>
                  <a:pt x="402114" y="217408"/>
                  <a:pt x="395367" y="220504"/>
                </a:cubicBezTo>
                <a:lnTo>
                  <a:pt x="221853" y="300673"/>
                </a:lnTo>
                <a:cubicBezTo>
                  <a:pt x="210026" y="306149"/>
                  <a:pt x="196374" y="306149"/>
                  <a:pt x="184547" y="300673"/>
                </a:cubicBezTo>
                <a:lnTo>
                  <a:pt x="11033" y="220504"/>
                </a:lnTo>
                <a:cubicBezTo>
                  <a:pt x="4286" y="217329"/>
                  <a:pt x="0" y="210582"/>
                  <a:pt x="0" y="203200"/>
                </a:cubicBezTo>
                <a:cubicBezTo>
                  <a:pt x="0" y="195818"/>
                  <a:pt x="4286" y="188992"/>
                  <a:pt x="11033" y="185896"/>
                </a:cubicBezTo>
                <a:lnTo>
                  <a:pt x="38100" y="173355"/>
                </a:lnTo>
                <a:close/>
                <a:moveTo>
                  <a:pt x="11033" y="287496"/>
                </a:moveTo>
                <a:lnTo>
                  <a:pt x="38100" y="274955"/>
                </a:lnTo>
                <a:lnTo>
                  <a:pt x="168513" y="335201"/>
                </a:lnTo>
                <a:cubicBezTo>
                  <a:pt x="190500" y="345361"/>
                  <a:pt x="215821" y="345361"/>
                  <a:pt x="237808" y="335201"/>
                </a:cubicBezTo>
                <a:lnTo>
                  <a:pt x="368221" y="274955"/>
                </a:lnTo>
                <a:lnTo>
                  <a:pt x="395288" y="287496"/>
                </a:lnTo>
                <a:cubicBezTo>
                  <a:pt x="402034" y="290592"/>
                  <a:pt x="406321" y="297339"/>
                  <a:pt x="406321" y="304800"/>
                </a:cubicBezTo>
                <a:cubicBezTo>
                  <a:pt x="406321" y="312261"/>
                  <a:pt x="402034" y="319008"/>
                  <a:pt x="395288" y="322104"/>
                </a:cubicBezTo>
                <a:lnTo>
                  <a:pt x="221774" y="402273"/>
                </a:lnTo>
                <a:cubicBezTo>
                  <a:pt x="209947" y="407749"/>
                  <a:pt x="196294" y="407749"/>
                  <a:pt x="184468" y="402273"/>
                </a:cubicBezTo>
                <a:lnTo>
                  <a:pt x="11033" y="322104"/>
                </a:lnTo>
                <a:cubicBezTo>
                  <a:pt x="4286" y="318929"/>
                  <a:pt x="0" y="312182"/>
                  <a:pt x="0" y="304800"/>
                </a:cubicBezTo>
                <a:cubicBezTo>
                  <a:pt x="0" y="297418"/>
                  <a:pt x="4286" y="290592"/>
                  <a:pt x="11033" y="287496"/>
                </a:cubicBezTo>
                <a:close/>
              </a:path>
            </a:pathLst>
          </a:custGeom>
          <a:solidFill>
            <a:srgbClr val="FFFFFF"/>
          </a:solidFill>
          <a:ln/>
        </p:spPr>
      </p:sp>
      <p:sp>
        <p:nvSpPr>
          <p:cNvPr id="24" name="Text 22"/>
          <p:cNvSpPr/>
          <p:nvPr/>
        </p:nvSpPr>
        <p:spPr>
          <a:xfrm>
            <a:off x="5283200" y="2513584"/>
            <a:ext cx="2286000" cy="355600"/>
          </a:xfrm>
          <a:prstGeom prst="rect">
            <a:avLst/>
          </a:prstGeom>
          <a:noFill/>
          <a:ln/>
        </p:spPr>
        <p:txBody>
          <a:bodyPr wrap="none" lIns="0" tIns="0" rIns="0" bIns="0" rtlCol="0" anchor="ctr"/>
          <a:lstStyle/>
          <a:p>
            <a:pPr algn="ctr">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Variety</a:t>
            </a:r>
            <a:endParaRPr lang="en-US" sz="1800" dirty="0"/>
          </a:p>
        </p:txBody>
      </p:sp>
      <p:sp>
        <p:nvSpPr>
          <p:cNvPr id="25" name="Text 23"/>
          <p:cNvSpPr/>
          <p:nvPr/>
        </p:nvSpPr>
        <p:spPr>
          <a:xfrm>
            <a:off x="5283200" y="2894584"/>
            <a:ext cx="2286000" cy="1778000"/>
          </a:xfrm>
          <a:prstGeom prst="rect">
            <a:avLst/>
          </a:prstGeom>
          <a:noFill/>
          <a:ln/>
        </p:spPr>
        <p:txBody>
          <a:bodyPr wrap="square" lIns="0" tIns="0" rIns="0" bIns="0" rtlCol="0" anchor="t"/>
          <a:lstStyle/>
          <a:p>
            <a:pPr algn="ctr">
              <a:lnSpc>
                <a:spcPct val="150000"/>
              </a:lnSpc>
            </a:pPr>
            <a:r>
              <a:rPr lang="en-US" sz="1300" dirty="0">
                <a:solidFill>
                  <a:srgbClr val="FFFFFF"/>
                </a:solidFill>
                <a:latin typeface="Quattrocento Sans" pitchFamily="34" charset="0"/>
                <a:ea typeface="Quattrocento Sans" pitchFamily="34" charset="-122"/>
                <a:cs typeface="Quattrocento Sans" pitchFamily="34" charset="-120"/>
              </a:rPr>
              <a:t>Different data types</a:t>
            </a:r>
            <a:endParaRPr lang="en-US" sz="1300" dirty="0"/>
          </a:p>
          <a:p>
            <a:pPr algn="ctr">
              <a:lnSpc>
                <a:spcPct val="150000"/>
              </a:lnSpc>
              <a:spcBef>
                <a:spcPts val="400"/>
              </a:spcBef>
            </a:pPr>
            <a:r>
              <a:rPr lang="en-US" sz="1300" b="1" dirty="0">
                <a:solidFill>
                  <a:srgbClr val="FFFFFF"/>
                </a:solidFill>
                <a:latin typeface="Quattrocento Sans" pitchFamily="34" charset="0"/>
                <a:ea typeface="Quattrocento Sans" pitchFamily="34" charset="-122"/>
                <a:cs typeface="Quattrocento Sans" pitchFamily="34" charset="-120"/>
              </a:rPr>
              <a:t>Structured:</a:t>
            </a:r>
            <a:r>
              <a:rPr lang="en-US" sz="1300" dirty="0">
                <a:solidFill>
                  <a:srgbClr val="FFFFFF"/>
                </a:solidFill>
                <a:latin typeface="Quattrocento Sans" pitchFamily="34" charset="0"/>
                <a:ea typeface="Quattrocento Sans" pitchFamily="34" charset="-122"/>
                <a:cs typeface="Quattrocento Sans" pitchFamily="34" charset="-120"/>
              </a:rPr>
              <a:t> SQL tables</a:t>
            </a:r>
            <a:endParaRPr lang="en-US" sz="1300" dirty="0"/>
          </a:p>
          <a:p>
            <a:pPr algn="ctr">
              <a:lnSpc>
                <a:spcPct val="150000"/>
              </a:lnSpc>
            </a:pPr>
            <a:r>
              <a:rPr lang="en-US" sz="1300" b="1" dirty="0">
                <a:solidFill>
                  <a:srgbClr val="FFFFFF"/>
                </a:solidFill>
                <a:latin typeface="Quattrocento Sans" pitchFamily="34" charset="0"/>
                <a:ea typeface="Quattrocento Sans" pitchFamily="34" charset="-122"/>
                <a:cs typeface="Quattrocento Sans" pitchFamily="34" charset="-120"/>
              </a:rPr>
              <a:t>Unstructured:</a:t>
            </a:r>
            <a:r>
              <a:rPr lang="en-US" sz="1300" dirty="0">
                <a:solidFill>
                  <a:srgbClr val="FFFFFF"/>
                </a:solidFill>
                <a:latin typeface="Quattrocento Sans" pitchFamily="34" charset="0"/>
                <a:ea typeface="Quattrocento Sans" pitchFamily="34" charset="-122"/>
                <a:cs typeface="Quattrocento Sans" pitchFamily="34" charset="-120"/>
              </a:rPr>
              <a:t> images, videos</a:t>
            </a:r>
            <a:endParaRPr lang="en-US" sz="1300" dirty="0"/>
          </a:p>
          <a:p>
            <a:pPr algn="ctr">
              <a:lnSpc>
                <a:spcPct val="150000"/>
              </a:lnSpc>
            </a:pPr>
            <a:r>
              <a:rPr lang="en-US" sz="1300" b="1" dirty="0">
                <a:solidFill>
                  <a:srgbClr val="FFFFFF"/>
                </a:solidFill>
                <a:latin typeface="Quattrocento Sans" pitchFamily="34" charset="0"/>
                <a:ea typeface="Quattrocento Sans" pitchFamily="34" charset="-122"/>
                <a:cs typeface="Quattrocento Sans" pitchFamily="34" charset="-120"/>
              </a:rPr>
              <a:t>Semi-structured:</a:t>
            </a:r>
            <a:r>
              <a:rPr lang="en-US" sz="1300" dirty="0">
                <a:solidFill>
                  <a:srgbClr val="FFFFFF"/>
                </a:solidFill>
                <a:latin typeface="Quattrocento Sans" pitchFamily="34" charset="0"/>
                <a:ea typeface="Quattrocento Sans" pitchFamily="34" charset="-122"/>
                <a:cs typeface="Quattrocento Sans" pitchFamily="34" charset="-120"/>
              </a:rPr>
              <a:t> XML, JSON</a:t>
            </a:r>
            <a:endParaRPr lang="en-US" sz="1300" dirty="0"/>
          </a:p>
        </p:txBody>
      </p:sp>
      <p:sp>
        <p:nvSpPr>
          <p:cNvPr id="26" name="Shape 24"/>
          <p:cNvSpPr/>
          <p:nvPr/>
        </p:nvSpPr>
        <p:spPr>
          <a:xfrm>
            <a:off x="7823200" y="1878584"/>
            <a:ext cx="2489200" cy="2921000"/>
          </a:xfrm>
          <a:prstGeom prst="roundRect">
            <a:avLst>
              <a:gd name="adj" fmla="val 4000"/>
            </a:avLst>
          </a:prstGeom>
          <a:solidFill>
            <a:srgbClr val="00ACC1"/>
          </a:solidFill>
          <a:ln/>
        </p:spPr>
      </p:sp>
      <p:sp>
        <p:nvSpPr>
          <p:cNvPr id="27" name="Shape 25"/>
          <p:cNvSpPr/>
          <p:nvPr/>
        </p:nvSpPr>
        <p:spPr>
          <a:xfrm>
            <a:off x="8737600" y="2030984"/>
            <a:ext cx="406400" cy="406400"/>
          </a:xfrm>
          <a:custGeom>
            <a:avLst/>
            <a:gdLst/>
            <a:ahLst/>
            <a:cxnLst/>
            <a:rect l="l" t="t" r="r" b="b"/>
            <a:pathLst>
              <a:path w="406400" h="406400">
                <a:moveTo>
                  <a:pt x="307340" y="-7858"/>
                </a:moveTo>
                <a:cubicBezTo>
                  <a:pt x="318135" y="-1032"/>
                  <a:pt x="322126" y="11351"/>
                  <a:pt x="317228" y="22146"/>
                </a:cubicBezTo>
                <a:lnTo>
                  <a:pt x="246108" y="177800"/>
                </a:lnTo>
                <a:lnTo>
                  <a:pt x="377371" y="177800"/>
                </a:lnTo>
                <a:cubicBezTo>
                  <a:pt x="389618" y="177800"/>
                  <a:pt x="400504" y="184468"/>
                  <a:pt x="404676" y="194548"/>
                </a:cubicBezTo>
                <a:cubicBezTo>
                  <a:pt x="408849" y="204629"/>
                  <a:pt x="405311" y="215900"/>
                  <a:pt x="395968" y="222726"/>
                </a:cubicBezTo>
                <a:lnTo>
                  <a:pt x="134711" y="413226"/>
                </a:lnTo>
                <a:cubicBezTo>
                  <a:pt x="124460" y="420688"/>
                  <a:pt x="109855" y="421084"/>
                  <a:pt x="99060" y="414258"/>
                </a:cubicBezTo>
                <a:cubicBezTo>
                  <a:pt x="88265" y="407432"/>
                  <a:pt x="84274" y="395049"/>
                  <a:pt x="89172" y="384254"/>
                </a:cubicBezTo>
                <a:lnTo>
                  <a:pt x="160292" y="228600"/>
                </a:lnTo>
                <a:lnTo>
                  <a:pt x="29029" y="228600"/>
                </a:lnTo>
                <a:cubicBezTo>
                  <a:pt x="16782" y="228600"/>
                  <a:pt x="5896" y="221933"/>
                  <a:pt x="1724" y="211852"/>
                </a:cubicBezTo>
                <a:cubicBezTo>
                  <a:pt x="-2449" y="201771"/>
                  <a:pt x="1089" y="190500"/>
                  <a:pt x="10432" y="183674"/>
                </a:cubicBezTo>
                <a:lnTo>
                  <a:pt x="271689" y="-6826"/>
                </a:lnTo>
                <a:cubicBezTo>
                  <a:pt x="281940" y="-14288"/>
                  <a:pt x="296545" y="-14684"/>
                  <a:pt x="307340" y="-7858"/>
                </a:cubicBezTo>
                <a:close/>
              </a:path>
            </a:pathLst>
          </a:custGeom>
          <a:solidFill>
            <a:srgbClr val="FFFFFF"/>
          </a:solidFill>
          <a:ln/>
        </p:spPr>
      </p:sp>
      <p:sp>
        <p:nvSpPr>
          <p:cNvPr id="28" name="Text 26"/>
          <p:cNvSpPr/>
          <p:nvPr/>
        </p:nvSpPr>
        <p:spPr>
          <a:xfrm>
            <a:off x="7924800" y="2513584"/>
            <a:ext cx="2286000" cy="355600"/>
          </a:xfrm>
          <a:prstGeom prst="rect">
            <a:avLst/>
          </a:prstGeom>
          <a:noFill/>
          <a:ln/>
        </p:spPr>
        <p:txBody>
          <a:bodyPr wrap="none" lIns="0" tIns="0" rIns="0" bIns="0" rtlCol="0" anchor="ctr"/>
          <a:lstStyle/>
          <a:p>
            <a:pPr algn="ctr">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Velocity</a:t>
            </a:r>
            <a:endParaRPr lang="en-US" sz="1800" dirty="0"/>
          </a:p>
        </p:txBody>
      </p:sp>
      <p:sp>
        <p:nvSpPr>
          <p:cNvPr id="29" name="Text 27"/>
          <p:cNvSpPr/>
          <p:nvPr/>
        </p:nvSpPr>
        <p:spPr>
          <a:xfrm>
            <a:off x="7924800" y="2894584"/>
            <a:ext cx="2286000" cy="1778000"/>
          </a:xfrm>
          <a:prstGeom prst="rect">
            <a:avLst/>
          </a:prstGeom>
          <a:noFill/>
          <a:ln/>
        </p:spPr>
        <p:txBody>
          <a:bodyPr wrap="square" lIns="0" tIns="0" rIns="0" bIns="0" rtlCol="0" anchor="t"/>
          <a:lstStyle/>
          <a:p>
            <a:pPr algn="ctr">
              <a:lnSpc>
                <a:spcPct val="150000"/>
              </a:lnSpc>
            </a:pPr>
            <a:r>
              <a:rPr lang="en-US" sz="1300" dirty="0">
                <a:solidFill>
                  <a:srgbClr val="FFFFFF"/>
                </a:solidFill>
                <a:latin typeface="Quattrocento Sans" pitchFamily="34" charset="0"/>
                <a:ea typeface="Quattrocento Sans" pitchFamily="34" charset="-122"/>
                <a:cs typeface="Quattrocento Sans" pitchFamily="34" charset="-120"/>
              </a:rPr>
              <a:t>Speed of data creation</a:t>
            </a:r>
            <a:endParaRPr lang="en-US" sz="1300" dirty="0"/>
          </a:p>
          <a:p>
            <a:pPr algn="ctr">
              <a:lnSpc>
                <a:spcPct val="150000"/>
              </a:lnSpc>
              <a:spcBef>
                <a:spcPts val="400"/>
              </a:spcBef>
            </a:pPr>
            <a:r>
              <a:rPr lang="en-US" sz="1300" dirty="0">
                <a:solidFill>
                  <a:srgbClr val="FFFFFF"/>
                </a:solidFill>
                <a:latin typeface="Quattrocento Sans" pitchFamily="34" charset="0"/>
                <a:ea typeface="Quattrocento Sans" pitchFamily="34" charset="-122"/>
                <a:cs typeface="Quattrocento Sans" pitchFamily="34" charset="-120"/>
              </a:rPr>
              <a:t>Real-time streaming</a:t>
            </a:r>
            <a:endParaRPr lang="en-US" sz="1300" dirty="0"/>
          </a:p>
          <a:p>
            <a:pPr algn="ctr">
              <a:lnSpc>
                <a:spcPct val="150000"/>
              </a:lnSpc>
            </a:pPr>
            <a:r>
              <a:rPr lang="en-US" sz="1300" dirty="0">
                <a:solidFill>
                  <a:srgbClr val="FFFFFF"/>
                </a:solidFill>
                <a:latin typeface="Quattrocento Sans" pitchFamily="34" charset="0"/>
                <a:ea typeface="Quattrocento Sans" pitchFamily="34" charset="-122"/>
                <a:cs typeface="Quattrocento Sans" pitchFamily="34" charset="-120"/>
              </a:rPr>
              <a:t>Application logs</a:t>
            </a:r>
            <a:endParaRPr lang="en-US" sz="1300" dirty="0"/>
          </a:p>
          <a:p>
            <a:pPr algn="ctr">
              <a:lnSpc>
                <a:spcPct val="150000"/>
              </a:lnSpc>
            </a:pPr>
            <a:r>
              <a:rPr lang="en-US" sz="1300" dirty="0">
                <a:solidFill>
                  <a:srgbClr val="FFFFFF"/>
                </a:solidFill>
                <a:latin typeface="Quattrocento Sans" pitchFamily="34" charset="0"/>
                <a:ea typeface="Quattrocento Sans" pitchFamily="34" charset="-122"/>
                <a:cs typeface="Quattrocento Sans" pitchFamily="34" charset="-120"/>
              </a:rPr>
              <a:t>Social media, sensors</a:t>
            </a:r>
            <a:endParaRPr lang="en-US" sz="1300" dirty="0"/>
          </a:p>
        </p:txBody>
      </p:sp>
      <p:sp>
        <p:nvSpPr>
          <p:cNvPr id="30" name="Shape 28"/>
          <p:cNvSpPr/>
          <p:nvPr/>
        </p:nvSpPr>
        <p:spPr>
          <a:xfrm>
            <a:off x="10464800" y="1878584"/>
            <a:ext cx="2489200" cy="2921000"/>
          </a:xfrm>
          <a:prstGeom prst="roundRect">
            <a:avLst>
              <a:gd name="adj" fmla="val 4000"/>
            </a:avLst>
          </a:prstGeom>
          <a:solidFill>
            <a:srgbClr val="007AA8"/>
          </a:solidFill>
          <a:ln/>
        </p:spPr>
      </p:sp>
      <p:sp>
        <p:nvSpPr>
          <p:cNvPr id="31" name="Shape 29"/>
          <p:cNvSpPr/>
          <p:nvPr/>
        </p:nvSpPr>
        <p:spPr>
          <a:xfrm>
            <a:off x="11379200" y="2030984"/>
            <a:ext cx="406400" cy="406400"/>
          </a:xfrm>
          <a:custGeom>
            <a:avLst/>
            <a:gdLst/>
            <a:ahLst/>
            <a:cxnLst/>
            <a:rect l="l" t="t" r="r" b="b"/>
            <a:pathLst>
              <a:path w="406400" h="406400">
                <a:moveTo>
                  <a:pt x="203200" y="0"/>
                </a:moveTo>
                <a:cubicBezTo>
                  <a:pt x="206851" y="0"/>
                  <a:pt x="210503" y="794"/>
                  <a:pt x="213836" y="2302"/>
                </a:cubicBezTo>
                <a:lnTo>
                  <a:pt x="363379" y="65723"/>
                </a:lnTo>
                <a:cubicBezTo>
                  <a:pt x="380841" y="73104"/>
                  <a:pt x="393859" y="90329"/>
                  <a:pt x="393779" y="111125"/>
                </a:cubicBezTo>
                <a:cubicBezTo>
                  <a:pt x="393383" y="189865"/>
                  <a:pt x="360998" y="333931"/>
                  <a:pt x="224234" y="399415"/>
                </a:cubicBezTo>
                <a:cubicBezTo>
                  <a:pt x="210979" y="405765"/>
                  <a:pt x="195580" y="405765"/>
                  <a:pt x="182324" y="399415"/>
                </a:cubicBezTo>
                <a:cubicBezTo>
                  <a:pt x="45482" y="333931"/>
                  <a:pt x="13176" y="189865"/>
                  <a:pt x="12779" y="111125"/>
                </a:cubicBezTo>
                <a:cubicBezTo>
                  <a:pt x="12700" y="90329"/>
                  <a:pt x="25717" y="73104"/>
                  <a:pt x="43180" y="65723"/>
                </a:cubicBezTo>
                <a:lnTo>
                  <a:pt x="192643" y="2302"/>
                </a:lnTo>
                <a:cubicBezTo>
                  <a:pt x="195977" y="794"/>
                  <a:pt x="199549" y="0"/>
                  <a:pt x="203200" y="0"/>
                </a:cubicBezTo>
                <a:close/>
                <a:moveTo>
                  <a:pt x="203200" y="53022"/>
                </a:moveTo>
                <a:lnTo>
                  <a:pt x="203200" y="353139"/>
                </a:lnTo>
                <a:cubicBezTo>
                  <a:pt x="312738" y="300117"/>
                  <a:pt x="342186" y="182642"/>
                  <a:pt x="342900" y="112316"/>
                </a:cubicBezTo>
                <a:lnTo>
                  <a:pt x="203200" y="53102"/>
                </a:lnTo>
                <a:lnTo>
                  <a:pt x="203200" y="53102"/>
                </a:lnTo>
                <a:close/>
              </a:path>
            </a:pathLst>
          </a:custGeom>
          <a:solidFill>
            <a:srgbClr val="FFFFFF"/>
          </a:solidFill>
          <a:ln/>
        </p:spPr>
      </p:sp>
      <p:sp>
        <p:nvSpPr>
          <p:cNvPr id="32" name="Text 30"/>
          <p:cNvSpPr/>
          <p:nvPr/>
        </p:nvSpPr>
        <p:spPr>
          <a:xfrm>
            <a:off x="10566400" y="2513584"/>
            <a:ext cx="2286000" cy="355600"/>
          </a:xfrm>
          <a:prstGeom prst="rect">
            <a:avLst/>
          </a:prstGeom>
          <a:noFill/>
          <a:ln/>
        </p:spPr>
        <p:txBody>
          <a:bodyPr wrap="none" lIns="0" tIns="0" rIns="0" bIns="0" rtlCol="0" anchor="ctr"/>
          <a:lstStyle/>
          <a:p>
            <a:pPr algn="ctr">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Veracity</a:t>
            </a:r>
            <a:endParaRPr lang="en-US" sz="1800" dirty="0"/>
          </a:p>
        </p:txBody>
      </p:sp>
      <p:sp>
        <p:nvSpPr>
          <p:cNvPr id="33" name="Text 31"/>
          <p:cNvSpPr/>
          <p:nvPr/>
        </p:nvSpPr>
        <p:spPr>
          <a:xfrm>
            <a:off x="10566400" y="2894584"/>
            <a:ext cx="2286000" cy="1778000"/>
          </a:xfrm>
          <a:prstGeom prst="rect">
            <a:avLst/>
          </a:prstGeom>
          <a:noFill/>
          <a:ln/>
        </p:spPr>
        <p:txBody>
          <a:bodyPr wrap="square" lIns="0" tIns="0" rIns="0" bIns="0" rtlCol="0" anchor="t"/>
          <a:lstStyle/>
          <a:p>
            <a:pPr algn="ctr">
              <a:lnSpc>
                <a:spcPct val="150000"/>
              </a:lnSpc>
            </a:pPr>
            <a:r>
              <a:rPr lang="en-US" sz="1300" dirty="0">
                <a:solidFill>
                  <a:srgbClr val="FFFFFF"/>
                </a:solidFill>
                <a:latin typeface="Quattrocento Sans" pitchFamily="34" charset="0"/>
                <a:ea typeface="Quattrocento Sans" pitchFamily="34" charset="-122"/>
                <a:cs typeface="Quattrocento Sans" pitchFamily="34" charset="-120"/>
              </a:rPr>
              <a:t>Data reliability &amp; quality</a:t>
            </a:r>
            <a:endParaRPr lang="en-US" sz="1300" dirty="0"/>
          </a:p>
          <a:p>
            <a:pPr algn="ctr">
              <a:lnSpc>
                <a:spcPct val="150000"/>
              </a:lnSpc>
              <a:spcBef>
                <a:spcPts val="400"/>
              </a:spcBef>
            </a:pPr>
            <a:r>
              <a:rPr lang="en-US" sz="1300" dirty="0">
                <a:solidFill>
                  <a:srgbClr val="FFFFFF"/>
                </a:solidFill>
                <a:latin typeface="Quattrocento Sans" pitchFamily="34" charset="0"/>
                <a:ea typeface="Quattrocento Sans" pitchFamily="34" charset="-122"/>
                <a:cs typeface="Quattrocento Sans" pitchFamily="34" charset="-120"/>
              </a:rPr>
              <a:t>Filtering &amp; cleaning</a:t>
            </a:r>
            <a:endParaRPr lang="en-US" sz="1300" dirty="0"/>
          </a:p>
          <a:p>
            <a:pPr algn="ctr">
              <a:lnSpc>
                <a:spcPct val="150000"/>
              </a:lnSpc>
            </a:pPr>
            <a:r>
              <a:rPr lang="en-US" sz="1300" dirty="0">
                <a:solidFill>
                  <a:srgbClr val="FFFFFF"/>
                </a:solidFill>
                <a:latin typeface="Quattrocento Sans" pitchFamily="34" charset="0"/>
                <a:ea typeface="Quattrocento Sans" pitchFamily="34" charset="-122"/>
                <a:cs typeface="Quattrocento Sans" pitchFamily="34" charset="-120"/>
              </a:rPr>
              <a:t>Quality assurance</a:t>
            </a:r>
            <a:endParaRPr lang="en-US" sz="1300" dirty="0"/>
          </a:p>
          <a:p>
            <a:pPr algn="ctr">
              <a:lnSpc>
                <a:spcPct val="150000"/>
              </a:lnSpc>
            </a:pPr>
            <a:r>
              <a:rPr lang="en-US" sz="1300" dirty="0">
                <a:solidFill>
                  <a:srgbClr val="FFFFFF"/>
                </a:solidFill>
                <a:latin typeface="Quattrocento Sans" pitchFamily="34" charset="0"/>
                <a:ea typeface="Quattrocento Sans" pitchFamily="34" charset="-122"/>
                <a:cs typeface="Quattrocento Sans" pitchFamily="34" charset="-120"/>
              </a:rPr>
              <a:t>Trustworthiness</a:t>
            </a:r>
            <a:endParaRPr lang="en-US" sz="1300" dirty="0"/>
          </a:p>
        </p:txBody>
      </p:sp>
      <p:sp>
        <p:nvSpPr>
          <p:cNvPr id="34" name="Shape 32"/>
          <p:cNvSpPr/>
          <p:nvPr/>
        </p:nvSpPr>
        <p:spPr>
          <a:xfrm>
            <a:off x="13106400" y="1878584"/>
            <a:ext cx="2641600" cy="2921000"/>
          </a:xfrm>
          <a:prstGeom prst="roundRect">
            <a:avLst>
              <a:gd name="adj" fmla="val 4000"/>
            </a:avLst>
          </a:prstGeom>
          <a:solidFill>
            <a:srgbClr val="004060"/>
          </a:solidFill>
          <a:ln/>
        </p:spPr>
      </p:sp>
      <p:sp>
        <p:nvSpPr>
          <p:cNvPr id="35" name="Shape 33"/>
          <p:cNvSpPr/>
          <p:nvPr/>
        </p:nvSpPr>
        <p:spPr>
          <a:xfrm>
            <a:off x="14122400" y="2030984"/>
            <a:ext cx="406400" cy="406400"/>
          </a:xfrm>
          <a:custGeom>
            <a:avLst/>
            <a:gdLst/>
            <a:ahLst/>
            <a:cxnLst/>
            <a:rect l="l" t="t" r="r" b="b"/>
            <a:pathLst>
              <a:path w="406400" h="406400">
                <a:moveTo>
                  <a:pt x="92631" y="26829"/>
                </a:moveTo>
                <a:cubicBezTo>
                  <a:pt x="96203" y="21987"/>
                  <a:pt x="101918" y="19050"/>
                  <a:pt x="107950" y="19050"/>
                </a:cubicBezTo>
                <a:lnTo>
                  <a:pt x="298450" y="19050"/>
                </a:lnTo>
                <a:cubicBezTo>
                  <a:pt x="304483" y="19050"/>
                  <a:pt x="310198" y="21908"/>
                  <a:pt x="313769" y="26829"/>
                </a:cubicBezTo>
                <a:lnTo>
                  <a:pt x="402669" y="147479"/>
                </a:lnTo>
                <a:cubicBezTo>
                  <a:pt x="408067" y="154781"/>
                  <a:pt x="407511" y="164862"/>
                  <a:pt x="401479" y="171609"/>
                </a:cubicBezTo>
                <a:lnTo>
                  <a:pt x="217329" y="374809"/>
                </a:lnTo>
                <a:cubicBezTo>
                  <a:pt x="213757" y="378778"/>
                  <a:pt x="208598" y="381079"/>
                  <a:pt x="203200" y="381079"/>
                </a:cubicBezTo>
                <a:cubicBezTo>
                  <a:pt x="197802" y="381079"/>
                  <a:pt x="192723" y="378778"/>
                  <a:pt x="189071" y="374809"/>
                </a:cubicBezTo>
                <a:lnTo>
                  <a:pt x="4921" y="171609"/>
                </a:lnTo>
                <a:cubicBezTo>
                  <a:pt x="-1191" y="164862"/>
                  <a:pt x="-1667" y="154781"/>
                  <a:pt x="3731" y="147479"/>
                </a:cubicBezTo>
                <a:lnTo>
                  <a:pt x="92631" y="26829"/>
                </a:lnTo>
                <a:close/>
                <a:moveTo>
                  <a:pt x="123190" y="58420"/>
                </a:moveTo>
                <a:cubicBezTo>
                  <a:pt x="120571" y="60404"/>
                  <a:pt x="119856" y="63976"/>
                  <a:pt x="121523" y="66754"/>
                </a:cubicBezTo>
                <a:lnTo>
                  <a:pt x="167084" y="142716"/>
                </a:lnTo>
                <a:lnTo>
                  <a:pt x="50244" y="152400"/>
                </a:lnTo>
                <a:cubicBezTo>
                  <a:pt x="46990" y="152638"/>
                  <a:pt x="44450" y="155416"/>
                  <a:pt x="44450" y="158750"/>
                </a:cubicBezTo>
                <a:cubicBezTo>
                  <a:pt x="44450" y="162084"/>
                  <a:pt x="46990" y="164783"/>
                  <a:pt x="50244" y="165100"/>
                </a:cubicBezTo>
                <a:lnTo>
                  <a:pt x="202644" y="177800"/>
                </a:lnTo>
                <a:cubicBezTo>
                  <a:pt x="202962" y="177800"/>
                  <a:pt x="203359" y="177800"/>
                  <a:pt x="203676" y="177800"/>
                </a:cubicBezTo>
                <a:lnTo>
                  <a:pt x="356076" y="165100"/>
                </a:lnTo>
                <a:cubicBezTo>
                  <a:pt x="359331" y="164862"/>
                  <a:pt x="361871" y="162084"/>
                  <a:pt x="361871" y="158750"/>
                </a:cubicBezTo>
                <a:cubicBezTo>
                  <a:pt x="361871" y="155416"/>
                  <a:pt x="359331" y="152718"/>
                  <a:pt x="356076" y="152400"/>
                </a:cubicBezTo>
                <a:lnTo>
                  <a:pt x="239236" y="142637"/>
                </a:lnTo>
                <a:lnTo>
                  <a:pt x="284798" y="66754"/>
                </a:lnTo>
                <a:cubicBezTo>
                  <a:pt x="286464" y="63976"/>
                  <a:pt x="285750" y="60325"/>
                  <a:pt x="283131" y="58420"/>
                </a:cubicBezTo>
                <a:cubicBezTo>
                  <a:pt x="280511" y="56515"/>
                  <a:pt x="276860" y="56832"/>
                  <a:pt x="274638" y="59214"/>
                </a:cubicBezTo>
                <a:lnTo>
                  <a:pt x="203200" y="136684"/>
                </a:lnTo>
                <a:lnTo>
                  <a:pt x="131683" y="59214"/>
                </a:lnTo>
                <a:cubicBezTo>
                  <a:pt x="129461" y="56832"/>
                  <a:pt x="125809" y="56515"/>
                  <a:pt x="123190" y="58420"/>
                </a:cubicBezTo>
                <a:close/>
              </a:path>
            </a:pathLst>
          </a:custGeom>
          <a:solidFill>
            <a:srgbClr val="FFFFFF"/>
          </a:solidFill>
          <a:ln/>
        </p:spPr>
      </p:sp>
      <p:sp>
        <p:nvSpPr>
          <p:cNvPr id="36" name="Text 34"/>
          <p:cNvSpPr/>
          <p:nvPr/>
        </p:nvSpPr>
        <p:spPr>
          <a:xfrm>
            <a:off x="13208000" y="2513584"/>
            <a:ext cx="2438400" cy="355600"/>
          </a:xfrm>
          <a:prstGeom prst="rect">
            <a:avLst/>
          </a:prstGeom>
          <a:noFill/>
          <a:ln/>
        </p:spPr>
        <p:txBody>
          <a:bodyPr wrap="none" lIns="0" tIns="0" rIns="0" bIns="0" rtlCol="0" anchor="ctr"/>
          <a:lstStyle/>
          <a:p>
            <a:pPr algn="ctr">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Value</a:t>
            </a:r>
            <a:endParaRPr lang="en-US" sz="1800" dirty="0"/>
          </a:p>
        </p:txBody>
      </p:sp>
      <p:sp>
        <p:nvSpPr>
          <p:cNvPr id="37" name="Text 35"/>
          <p:cNvSpPr/>
          <p:nvPr/>
        </p:nvSpPr>
        <p:spPr>
          <a:xfrm>
            <a:off x="13208000" y="2894584"/>
            <a:ext cx="2438400" cy="1778000"/>
          </a:xfrm>
          <a:prstGeom prst="rect">
            <a:avLst/>
          </a:prstGeom>
          <a:noFill/>
          <a:ln/>
        </p:spPr>
        <p:txBody>
          <a:bodyPr wrap="square" lIns="0" tIns="0" rIns="0" bIns="0" rtlCol="0" anchor="t"/>
          <a:lstStyle/>
          <a:p>
            <a:pPr algn="ctr">
              <a:lnSpc>
                <a:spcPct val="150000"/>
              </a:lnSpc>
            </a:pPr>
            <a:r>
              <a:rPr lang="en-US" sz="1300" dirty="0">
                <a:solidFill>
                  <a:srgbClr val="FFFFFF"/>
                </a:solidFill>
                <a:latin typeface="Quattrocento Sans" pitchFamily="34" charset="0"/>
                <a:ea typeface="Quattrocento Sans" pitchFamily="34" charset="-122"/>
                <a:cs typeface="Quattrocento Sans" pitchFamily="34" charset="-120"/>
              </a:rPr>
              <a:t>Actionable insights</a:t>
            </a:r>
            <a:endParaRPr lang="en-US" sz="1300" dirty="0"/>
          </a:p>
          <a:p>
            <a:pPr algn="ctr">
              <a:lnSpc>
                <a:spcPct val="150000"/>
              </a:lnSpc>
              <a:spcBef>
                <a:spcPts val="400"/>
              </a:spcBef>
            </a:pPr>
            <a:r>
              <a:rPr lang="en-US" sz="1300" dirty="0">
                <a:solidFill>
                  <a:srgbClr val="FFFFFF"/>
                </a:solidFill>
                <a:latin typeface="Quattrocento Sans" pitchFamily="34" charset="0"/>
                <a:ea typeface="Quattrocento Sans" pitchFamily="34" charset="-122"/>
                <a:cs typeface="Quattrocento Sans" pitchFamily="34" charset="-120"/>
              </a:rPr>
              <a:t>Not just storage</a:t>
            </a:r>
            <a:endParaRPr lang="en-US" sz="1300" dirty="0"/>
          </a:p>
          <a:p>
            <a:pPr algn="ctr">
              <a:lnSpc>
                <a:spcPct val="150000"/>
              </a:lnSpc>
            </a:pPr>
            <a:r>
              <a:rPr lang="en-US" sz="1300" dirty="0">
                <a:solidFill>
                  <a:srgbClr val="FFFFFF"/>
                </a:solidFill>
                <a:latin typeface="Quattrocento Sans" pitchFamily="34" charset="0"/>
                <a:ea typeface="Quattrocento Sans" pitchFamily="34" charset="-122"/>
                <a:cs typeface="Quattrocento Sans" pitchFamily="34" charset="-120"/>
              </a:rPr>
              <a:t>Process &amp; analyze</a:t>
            </a:r>
            <a:endParaRPr lang="en-US" sz="1300" dirty="0"/>
          </a:p>
          <a:p>
            <a:pPr algn="ctr">
              <a:lnSpc>
                <a:spcPct val="150000"/>
              </a:lnSpc>
            </a:pPr>
            <a:r>
              <a:rPr lang="en-US" sz="1300" dirty="0">
                <a:solidFill>
                  <a:srgbClr val="FFFFFF"/>
                </a:solidFill>
                <a:latin typeface="Quattrocento Sans" pitchFamily="34" charset="0"/>
                <a:ea typeface="Quattrocento Sans" pitchFamily="34" charset="-122"/>
                <a:cs typeface="Quattrocento Sans" pitchFamily="34" charset="-120"/>
              </a:rPr>
              <a:t>Business value</a:t>
            </a:r>
            <a:endParaRPr lang="en-US" sz="1300" dirty="0"/>
          </a:p>
        </p:txBody>
      </p:sp>
      <p:sp>
        <p:nvSpPr>
          <p:cNvPr id="40" name="Text 38"/>
          <p:cNvSpPr/>
          <p:nvPr/>
        </p:nvSpPr>
        <p:spPr>
          <a:xfrm>
            <a:off x="3048000" y="5104384"/>
            <a:ext cx="12496800" cy="1549400"/>
          </a:xfrm>
          <a:prstGeom prst="rect">
            <a:avLst/>
          </a:prstGeom>
          <a:noFill/>
          <a:ln/>
        </p:spPr>
        <p:txBody>
          <a:bodyPr wrap="square" lIns="0" tIns="0" rIns="0" bIns="0" rtlCol="0" anchor="t"/>
          <a:lstStyle/>
          <a:p>
            <a:pPr algn="ctr">
              <a:lnSpc>
                <a:spcPct val="150000"/>
              </a:lnSpc>
            </a:pPr>
            <a:endParaRPr lang="en-US" sz="2000" dirty="0">
              <a:latin typeface="Bahnschrift" panose="020B0502040204020203" pitchFamily="34" charset="0"/>
            </a:endParaRPr>
          </a:p>
        </p:txBody>
      </p:sp>
      <p:pic>
        <p:nvPicPr>
          <p:cNvPr id="5122" name="Picture 2" descr="5 Vs of Big Data - TechVidva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1861" y="4964685"/>
            <a:ext cx="6990875" cy="366105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819400" y="5248275"/>
            <a:ext cx="4724400" cy="2585323"/>
          </a:xfrm>
          <a:prstGeom prst="rect">
            <a:avLst/>
          </a:prstGeom>
        </p:spPr>
        <p:txBody>
          <a:bodyPr wrap="square">
            <a:spAutoFit/>
          </a:bodyPr>
          <a:lstStyle/>
          <a:p>
            <a:pPr algn="just">
              <a:lnSpc>
                <a:spcPct val="150000"/>
              </a:lnSpc>
            </a:pPr>
            <a:r>
              <a:rPr lang="en-US" dirty="0" smtClean="0">
                <a:ln w="0"/>
                <a:effectLst>
                  <a:outerShdw blurRad="38100" dist="19050" dir="2700000" algn="tl" rotWithShape="0">
                    <a:schemeClr val="dk1">
                      <a:alpha val="40000"/>
                    </a:schemeClr>
                  </a:outerShdw>
                </a:effectLst>
                <a:latin typeface="Bahnschrift" panose="020B0502040204020203" pitchFamily="34" charset="0"/>
                <a:ea typeface="Quattrocento Sans" pitchFamily="34" charset="-122"/>
                <a:cs typeface="Quattrocento Sans" pitchFamily="34" charset="-120"/>
              </a:rPr>
              <a:t>Big </a:t>
            </a:r>
            <a:r>
              <a:rPr lang="en-US" dirty="0">
                <a:ln w="0"/>
                <a:effectLst>
                  <a:outerShdw blurRad="38100" dist="19050" dir="2700000" algn="tl" rotWithShape="0">
                    <a:schemeClr val="dk1">
                      <a:alpha val="40000"/>
                    </a:schemeClr>
                  </a:outerShdw>
                </a:effectLst>
                <a:latin typeface="Bahnschrift" panose="020B0502040204020203" pitchFamily="34" charset="0"/>
                <a:ea typeface="Quattrocento Sans" pitchFamily="34" charset="-122"/>
                <a:cs typeface="Quattrocento Sans" pitchFamily="34" charset="-120"/>
              </a:rPr>
              <a:t>Data is a collection of data that is huge in volume, growing exponentially with time. It is data with such large size and complexity that traditional data management tools cannot store or process it efficiently.</a:t>
            </a:r>
            <a:endParaRPr lang="en-US" dirty="0">
              <a:ln w="0"/>
              <a:effectLst>
                <a:outerShdw blurRad="38100" dist="19050" dir="2700000" algn="tl" rotWithShape="0">
                  <a:schemeClr val="dk1">
                    <a:alpha val="40000"/>
                  </a:schemeClr>
                </a:outerShdw>
              </a:effectLst>
              <a:latin typeface="Bahnschrift" panose="020B0502040204020203" pitchFamily="34" charset="0"/>
            </a:endParaRPr>
          </a:p>
        </p:txBody>
      </p:sp>
      <p:sp>
        <p:nvSpPr>
          <p:cNvPr id="12" name="Rounded Rectangle 11"/>
          <p:cNvSpPr/>
          <p:nvPr/>
        </p:nvSpPr>
        <p:spPr>
          <a:xfrm>
            <a:off x="71628" y="1536192"/>
            <a:ext cx="2214372" cy="494792"/>
          </a:xfrm>
          <a:prstGeom prst="roundRect">
            <a:avLst/>
          </a:prstGeom>
          <a:solidFill>
            <a:srgbClr val="FF000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arn(inVertical)">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barn(inVertical)">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barn(inVertical)">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barn(inVertical)">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barn(inVertical)">
                                      <p:cBhvr>
                                        <p:cTn id="2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4FAFE"/>
        </a:solidFill>
        <a:effectLst/>
      </p:bgPr>
    </p:bg>
    <p:spTree>
      <p:nvGrpSpPr>
        <p:cNvPr id="1" name=""/>
        <p:cNvGrpSpPr/>
        <p:nvPr/>
      </p:nvGrpSpPr>
      <p:grpSpPr>
        <a:xfrm>
          <a:off x="0" y="0"/>
          <a:ext cx="0" cy="0"/>
          <a:chOff x="0" y="0"/>
          <a:chExt cx="0" cy="0"/>
        </a:xfrm>
      </p:grpSpPr>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sp>
      <p:sp>
        <p:nvSpPr>
          <p:cNvPr id="12" name="Shape 10"/>
          <p:cNvSpPr/>
          <p:nvPr/>
        </p:nvSpPr>
        <p:spPr>
          <a:xfrm>
            <a:off x="1066800" y="8864600"/>
            <a:ext cx="152400" cy="152400"/>
          </a:xfrm>
          <a:prstGeom prst="diamond">
            <a:avLst/>
          </a:prstGeom>
          <a:solidFill>
            <a:srgbClr val="00ACC1"/>
          </a:solidFill>
          <a:ln/>
        </p:spPr>
      </p:sp>
      <p:sp>
        <p:nvSpPr>
          <p:cNvPr id="15" name="Text 13"/>
          <p:cNvSpPr/>
          <p:nvPr/>
        </p:nvSpPr>
        <p:spPr>
          <a:xfrm>
            <a:off x="15621000" y="0"/>
            <a:ext cx="635000" cy="635000"/>
          </a:xfrm>
          <a:prstGeom prst="rect">
            <a:avLst/>
          </a:prstGeom>
          <a:noFill/>
          <a:ln/>
        </p:spPr>
        <p:txBody>
          <a:bodyPr wrap="none" lIns="0" tIns="0" rIns="0" bIns="0" rtlCol="0" anchor="ctr"/>
          <a:lstStyle/>
          <a:p>
            <a:pPr algn="r">
              <a:lnSpc>
                <a:spcPct val="120000"/>
              </a:lnSpc>
            </a:pPr>
            <a:r>
              <a:rPr lang="en-US" sz="1400" dirty="0">
                <a:solidFill>
                  <a:srgbClr val="005C82"/>
                </a:solidFill>
                <a:latin typeface="Quattrocento Sans" pitchFamily="34" charset="0"/>
                <a:ea typeface="Quattrocento Sans" pitchFamily="34" charset="-122"/>
                <a:cs typeface="Quattrocento Sans" pitchFamily="34" charset="-120"/>
              </a:rPr>
              <a:t>5</a:t>
            </a:r>
            <a:endParaRPr lang="en-US" sz="1400" dirty="0"/>
          </a:p>
        </p:txBody>
      </p:sp>
      <p:sp>
        <p:nvSpPr>
          <p:cNvPr id="16" name="Text 14"/>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smtClean="0">
                <a:solidFill>
                  <a:srgbClr val="005C82"/>
                </a:solidFill>
                <a:latin typeface="Quattrocento Sans" pitchFamily="34" charset="0"/>
                <a:ea typeface="Quattrocento Sans" pitchFamily="34" charset="-122"/>
                <a:cs typeface="Quattrocento Sans" pitchFamily="34" charset="-120"/>
              </a:rPr>
              <a:t>1. Six </a:t>
            </a:r>
            <a:r>
              <a:rPr lang="en-US" sz="2400" b="1" dirty="0">
                <a:solidFill>
                  <a:srgbClr val="005C82"/>
                </a:solidFill>
                <a:latin typeface="Quattrocento Sans" pitchFamily="34" charset="0"/>
                <a:ea typeface="Quattrocento Sans" pitchFamily="34" charset="-122"/>
                <a:cs typeface="Quattrocento Sans" pitchFamily="34" charset="-120"/>
              </a:rPr>
              <a:t>Key Data Quality Characteristics</a:t>
            </a:r>
            <a:endParaRPr lang="en-US" sz="2400" dirty="0"/>
          </a:p>
        </p:txBody>
      </p:sp>
      <p:sp>
        <p:nvSpPr>
          <p:cNvPr id="17" name="Shape 15"/>
          <p:cNvSpPr/>
          <p:nvPr/>
        </p:nvSpPr>
        <p:spPr>
          <a:xfrm>
            <a:off x="2540000" y="1397000"/>
            <a:ext cx="13208000" cy="12700"/>
          </a:xfrm>
          <a:prstGeom prst="rect">
            <a:avLst/>
          </a:prstGeom>
          <a:solidFill>
            <a:srgbClr val="B0BEC5"/>
          </a:solidFill>
          <a:ln/>
        </p:spPr>
      </p:sp>
      <p:graphicFrame>
        <p:nvGraphicFramePr>
          <p:cNvPr id="18" name="Table 0"/>
          <p:cNvGraphicFramePr>
            <a:graphicFrameLocks noGrp="1"/>
          </p:cNvGraphicFramePr>
          <p:nvPr>
            <p:extLst>
              <p:ext uri="{D42A27DB-BD31-4B8C-83A1-F6EECF244321}">
                <p14:modId xmlns:p14="http://schemas.microsoft.com/office/powerpoint/2010/main" val="4127747719"/>
              </p:ext>
            </p:extLst>
          </p:nvPr>
        </p:nvGraphicFramePr>
        <p:xfrm>
          <a:off x="2540000" y="1501140"/>
          <a:ext cx="13208000" cy="4326636"/>
        </p:xfrm>
        <a:graphic>
          <a:graphicData uri="http://schemas.openxmlformats.org/drawingml/2006/table">
            <a:tbl>
              <a:tblPr/>
              <a:tblGrid>
                <a:gridCol w="2905760">
                  <a:extLst>
                    <a:ext uri="{9D8B030D-6E8A-4147-A177-3AD203B41FA5}">
                      <a16:colId xmlns:a16="http://schemas.microsoft.com/office/drawing/2014/main" xmlns="" val="20000"/>
                    </a:ext>
                  </a:extLst>
                </a:gridCol>
                <a:gridCol w="10302240">
                  <a:extLst>
                    <a:ext uri="{9D8B030D-6E8A-4147-A177-3AD203B41FA5}">
                      <a16:colId xmlns:a16="http://schemas.microsoft.com/office/drawing/2014/main" xmlns="" val="20001"/>
                    </a:ext>
                  </a:extLst>
                </a:gridCol>
              </a:tblGrid>
              <a:tr h="518160">
                <a:tc>
                  <a:txBody>
                    <a:bodyPr/>
                    <a:lstStyle/>
                    <a:p>
                      <a:pPr algn="ctr"/>
                      <a:r>
                        <a:rPr lang="en-US" sz="2000" b="1" dirty="0">
                          <a:solidFill>
                            <a:srgbClr val="FFFFFF"/>
                          </a:solidFill>
                        </a:rPr>
                        <a:t>Characteristic</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ctr"/>
                      <a:r>
                        <a:rPr lang="en-US" sz="2000" b="1" dirty="0">
                          <a:solidFill>
                            <a:srgbClr val="FFFFFF"/>
                          </a:solidFill>
                        </a:rPr>
                        <a:t>Description</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extLst>
                  <a:ext uri="{0D108BD9-81ED-4DB2-BD59-A6C34878D82A}">
                    <a16:rowId xmlns:a16="http://schemas.microsoft.com/office/drawing/2014/main" xmlns="" val="10000"/>
                  </a:ext>
                </a:extLst>
              </a:tr>
              <a:tr h="634746">
                <a:tc>
                  <a:txBody>
                    <a:bodyPr/>
                    <a:lstStyle/>
                    <a:p>
                      <a:pPr algn="ctr"/>
                      <a:r>
                        <a:rPr lang="en-US" sz="2000" b="1" dirty="0">
                          <a:solidFill>
                            <a:srgbClr val="333333"/>
                          </a:solidFill>
                        </a:rPr>
                        <a:t>Accuracy</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just"/>
                      <a:r>
                        <a:rPr lang="en-US" sz="2000" dirty="0">
                          <a:solidFill>
                            <a:srgbClr val="333333"/>
                          </a:solidFill>
                        </a:rPr>
                        <a:t>Data should be sufficiently accurate for the intended use and captured only once at the point of activity.</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xmlns="" val="10001"/>
                  </a:ext>
                </a:extLst>
              </a:tr>
              <a:tr h="634746">
                <a:tc>
                  <a:txBody>
                    <a:bodyPr/>
                    <a:lstStyle/>
                    <a:p>
                      <a:pPr algn="ctr"/>
                      <a:r>
                        <a:rPr lang="en-US" sz="2000" b="1" dirty="0">
                          <a:solidFill>
                            <a:srgbClr val="333333"/>
                          </a:solidFill>
                        </a:rPr>
                        <a:t>Validity</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just"/>
                      <a:r>
                        <a:rPr lang="en-US" sz="2000" dirty="0">
                          <a:solidFill>
                            <a:srgbClr val="333333"/>
                          </a:solidFill>
                        </a:rPr>
                        <a:t>Data should be recorded and used in compliance with relevant rules or definitions to ensure consistency.</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extLst>
                  <a:ext uri="{0D108BD9-81ED-4DB2-BD59-A6C34878D82A}">
                    <a16:rowId xmlns:a16="http://schemas.microsoft.com/office/drawing/2014/main" xmlns="" val="10002"/>
                  </a:ext>
                </a:extLst>
              </a:tr>
              <a:tr h="634746">
                <a:tc>
                  <a:txBody>
                    <a:bodyPr/>
                    <a:lstStyle/>
                    <a:p>
                      <a:pPr algn="ctr"/>
                      <a:r>
                        <a:rPr lang="en-US" sz="2000" b="1" dirty="0">
                          <a:solidFill>
                            <a:srgbClr val="333333"/>
                          </a:solidFill>
                        </a:rPr>
                        <a:t>Reliability</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just"/>
                      <a:r>
                        <a:rPr lang="en-US" sz="2000" dirty="0">
                          <a:solidFill>
                            <a:srgbClr val="333333"/>
                          </a:solidFill>
                        </a:rPr>
                        <a:t>Data should reflect stable and consistent collection processes across collection points and over time.</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xmlns="" val="10003"/>
                  </a:ext>
                </a:extLst>
              </a:tr>
              <a:tr h="634746">
                <a:tc>
                  <a:txBody>
                    <a:bodyPr/>
                    <a:lstStyle/>
                    <a:p>
                      <a:pPr algn="ctr"/>
                      <a:r>
                        <a:rPr lang="en-US" sz="2000" b="1" dirty="0">
                          <a:solidFill>
                            <a:srgbClr val="333333"/>
                          </a:solidFill>
                        </a:rPr>
                        <a:t>Timeliness</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just"/>
                      <a:r>
                        <a:rPr lang="en-US" sz="2000" dirty="0">
                          <a:solidFill>
                            <a:srgbClr val="333333"/>
                          </a:solidFill>
                        </a:rPr>
                        <a:t>Data should be captured as quickly as possible after the event and be available within a reasonable time.</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extLst>
                  <a:ext uri="{0D108BD9-81ED-4DB2-BD59-A6C34878D82A}">
                    <a16:rowId xmlns:a16="http://schemas.microsoft.com/office/drawing/2014/main" xmlns="" val="10004"/>
                  </a:ext>
                </a:extLst>
              </a:tr>
              <a:tr h="634746">
                <a:tc>
                  <a:txBody>
                    <a:bodyPr/>
                    <a:lstStyle/>
                    <a:p>
                      <a:pPr algn="ctr"/>
                      <a:r>
                        <a:rPr lang="en-US" sz="2000" b="1" dirty="0">
                          <a:solidFill>
                            <a:srgbClr val="333333"/>
                          </a:solidFill>
                        </a:rPr>
                        <a:t>Relevance</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just"/>
                      <a:r>
                        <a:rPr lang="en-US" sz="2000" dirty="0">
                          <a:solidFill>
                            <a:srgbClr val="333333"/>
                          </a:solidFill>
                        </a:rPr>
                        <a:t>Data captured should be relevant to the purposes for which it is to be used; periodic review required.</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xmlns="" val="10005"/>
                  </a:ext>
                </a:extLst>
              </a:tr>
              <a:tr h="634746">
                <a:tc>
                  <a:txBody>
                    <a:bodyPr/>
                    <a:lstStyle/>
                    <a:p>
                      <a:pPr algn="ctr"/>
                      <a:r>
                        <a:rPr lang="en-US" sz="2000" b="1" dirty="0">
                          <a:solidFill>
                            <a:srgbClr val="333333"/>
                          </a:solidFill>
                        </a:rPr>
                        <a:t>Completeness</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just"/>
                      <a:r>
                        <a:rPr lang="en-US" sz="2000" dirty="0">
                          <a:solidFill>
                            <a:srgbClr val="333333"/>
                          </a:solidFill>
                        </a:rPr>
                        <a:t>Data requirements should be clearly specified based on organizational information needs.</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extLst>
                  <a:ext uri="{0D108BD9-81ED-4DB2-BD59-A6C34878D82A}">
                    <a16:rowId xmlns:a16="http://schemas.microsoft.com/office/drawing/2014/main" xmlns="" val="10006"/>
                  </a:ext>
                </a:extLst>
              </a:tr>
            </a:tbl>
          </a:graphicData>
        </a:graphic>
      </p:graphicFrame>
      <p:sp>
        <p:nvSpPr>
          <p:cNvPr id="8" name="Rounded Rectangle 7"/>
          <p:cNvSpPr/>
          <p:nvPr/>
        </p:nvSpPr>
        <p:spPr>
          <a:xfrm>
            <a:off x="71628" y="1536192"/>
            <a:ext cx="2214372" cy="494792"/>
          </a:xfrm>
          <a:prstGeom prst="roundRect">
            <a:avLst/>
          </a:prstGeom>
          <a:solidFill>
            <a:srgbClr val="FF000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4FAFE"/>
        </a:solidFill>
        <a:effectLst/>
      </p:bgPr>
    </p:bg>
    <p:spTree>
      <p:nvGrpSpPr>
        <p:cNvPr id="1" name=""/>
        <p:cNvGrpSpPr/>
        <p:nvPr/>
      </p:nvGrpSpPr>
      <p:grpSpPr>
        <a:xfrm>
          <a:off x="0" y="0"/>
          <a:ext cx="0" cy="0"/>
          <a:chOff x="0" y="0"/>
          <a:chExt cx="0" cy="0"/>
        </a:xfrm>
      </p:grpSpPr>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sp>
      <p:sp>
        <p:nvSpPr>
          <p:cNvPr id="12" name="Shape 10"/>
          <p:cNvSpPr/>
          <p:nvPr/>
        </p:nvSpPr>
        <p:spPr>
          <a:xfrm>
            <a:off x="1066800" y="8864600"/>
            <a:ext cx="152400" cy="152400"/>
          </a:xfrm>
          <a:prstGeom prst="diamond">
            <a:avLst/>
          </a:prstGeom>
          <a:solidFill>
            <a:srgbClr val="00ACC1"/>
          </a:solidFill>
          <a:ln/>
        </p:spPr>
      </p:sp>
      <p:sp>
        <p:nvSpPr>
          <p:cNvPr id="15" name="Text 13"/>
          <p:cNvSpPr/>
          <p:nvPr/>
        </p:nvSpPr>
        <p:spPr>
          <a:xfrm>
            <a:off x="15621000" y="0"/>
            <a:ext cx="635000" cy="635000"/>
          </a:xfrm>
          <a:prstGeom prst="rect">
            <a:avLst/>
          </a:prstGeom>
          <a:noFill/>
          <a:ln/>
        </p:spPr>
        <p:txBody>
          <a:bodyPr wrap="none" lIns="0" tIns="0" rIns="0" bIns="0" rtlCol="0" anchor="ctr"/>
          <a:lstStyle/>
          <a:p>
            <a:pPr algn="r">
              <a:lnSpc>
                <a:spcPct val="120000"/>
              </a:lnSpc>
            </a:pPr>
            <a:r>
              <a:rPr lang="en-US" sz="1400" dirty="0">
                <a:solidFill>
                  <a:srgbClr val="005C82"/>
                </a:solidFill>
                <a:latin typeface="Quattrocento Sans" pitchFamily="34" charset="0"/>
                <a:ea typeface="Quattrocento Sans" pitchFamily="34" charset="-122"/>
                <a:cs typeface="Quattrocento Sans" pitchFamily="34" charset="-120"/>
              </a:rPr>
              <a:t>6</a:t>
            </a:r>
            <a:endParaRPr lang="en-US" sz="1400" dirty="0"/>
          </a:p>
        </p:txBody>
      </p:sp>
      <p:sp>
        <p:nvSpPr>
          <p:cNvPr id="16" name="Text 14"/>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Challenges of Big Data (Part 1)</a:t>
            </a:r>
            <a:endParaRPr lang="en-US" sz="2400" dirty="0"/>
          </a:p>
        </p:txBody>
      </p:sp>
      <p:sp>
        <p:nvSpPr>
          <p:cNvPr id="17" name="Shape 15"/>
          <p:cNvSpPr/>
          <p:nvPr/>
        </p:nvSpPr>
        <p:spPr>
          <a:xfrm>
            <a:off x="2540000" y="1397000"/>
            <a:ext cx="13208000" cy="12700"/>
          </a:xfrm>
          <a:prstGeom prst="rect">
            <a:avLst/>
          </a:prstGeom>
          <a:solidFill>
            <a:srgbClr val="B0BEC5"/>
          </a:solidFill>
          <a:ln/>
        </p:spPr>
      </p:sp>
      <p:sp>
        <p:nvSpPr>
          <p:cNvPr id="18" name="Shape 16"/>
          <p:cNvSpPr/>
          <p:nvPr/>
        </p:nvSpPr>
        <p:spPr>
          <a:xfrm>
            <a:off x="2540000" y="1600200"/>
            <a:ext cx="177800" cy="177800"/>
          </a:xfrm>
          <a:prstGeom prst="diamond">
            <a:avLst/>
          </a:prstGeom>
          <a:solidFill>
            <a:srgbClr val="005C82"/>
          </a:solidFill>
          <a:ln/>
        </p:spPr>
      </p:sp>
      <p:sp>
        <p:nvSpPr>
          <p:cNvPr id="19" name="Text 17"/>
          <p:cNvSpPr/>
          <p:nvPr/>
        </p:nvSpPr>
        <p:spPr>
          <a:xfrm>
            <a:off x="2870200" y="1524000"/>
            <a:ext cx="12877800" cy="355600"/>
          </a:xfrm>
          <a:prstGeom prst="rect">
            <a:avLst/>
          </a:prstGeom>
          <a:noFill/>
          <a:ln/>
        </p:spPr>
        <p:txBody>
          <a:bodyPr wrap="none" lIns="0" tIns="0" rIns="0" bIns="0" rtlCol="0" anchor="t"/>
          <a:lstStyle/>
          <a:p>
            <a:pPr algn="l">
              <a:lnSpc>
                <a:spcPct val="120000"/>
              </a:lnSpc>
            </a:pPr>
            <a:r>
              <a:rPr lang="en-US" sz="2400" b="1" dirty="0">
                <a:solidFill>
                  <a:schemeClr val="accent2">
                    <a:lumMod val="75000"/>
                  </a:schemeClr>
                </a:solidFill>
                <a:ea typeface="Quattrocento Sans" pitchFamily="34" charset="-122"/>
                <a:cs typeface="Quattrocento Sans" pitchFamily="34" charset="-120"/>
              </a:rPr>
              <a:t>1. Managing Massive Amounts of Data</a:t>
            </a:r>
            <a:endParaRPr lang="en-US" sz="2400" dirty="0">
              <a:solidFill>
                <a:schemeClr val="accent2">
                  <a:lumMod val="75000"/>
                </a:schemeClr>
              </a:solidFill>
            </a:endParaRPr>
          </a:p>
        </p:txBody>
      </p:sp>
      <p:sp>
        <p:nvSpPr>
          <p:cNvPr id="20" name="Text 18"/>
          <p:cNvSpPr/>
          <p:nvPr/>
        </p:nvSpPr>
        <p:spPr>
          <a:xfrm>
            <a:off x="2870200" y="1849783"/>
            <a:ext cx="12877800" cy="660400"/>
          </a:xfrm>
          <a:prstGeom prst="rect">
            <a:avLst/>
          </a:prstGeom>
          <a:noFill/>
          <a:ln/>
        </p:spPr>
        <p:txBody>
          <a:bodyPr wrap="square" lIns="0" tIns="0" rIns="0" bIns="0" rtlCol="0" anchor="t"/>
          <a:lstStyle/>
          <a:p>
            <a:pPr algn="l">
              <a:lnSpc>
                <a:spcPct val="150000"/>
              </a:lnSpc>
            </a:pPr>
            <a:r>
              <a:rPr lang="en-US" dirty="0">
                <a:solidFill>
                  <a:srgbClr val="333333"/>
                </a:solidFill>
                <a:ea typeface="Quattrocento Sans" pitchFamily="34" charset="-122"/>
                <a:cs typeface="Quattrocento Sans" pitchFamily="34" charset="-120"/>
              </a:rPr>
              <a:t>Storage capacity of traditional data centers becomes inadequate. </a:t>
            </a:r>
            <a:endParaRPr lang="en-US" dirty="0" smtClean="0">
              <a:solidFill>
                <a:srgbClr val="333333"/>
              </a:solidFill>
              <a:ea typeface="Quattrocento Sans" pitchFamily="34" charset="-122"/>
              <a:cs typeface="Quattrocento Sans" pitchFamily="34" charset="-120"/>
            </a:endParaRPr>
          </a:p>
          <a:p>
            <a:pPr algn="l">
              <a:lnSpc>
                <a:spcPct val="150000"/>
              </a:lnSpc>
            </a:pPr>
            <a:r>
              <a:rPr lang="en-US" b="1" dirty="0" smtClean="0">
                <a:solidFill>
                  <a:srgbClr val="333333"/>
                </a:solidFill>
                <a:ea typeface="Quattrocento Sans" pitchFamily="34" charset="-122"/>
                <a:cs typeface="Quattrocento Sans" pitchFamily="34" charset="-120"/>
              </a:rPr>
              <a:t>Solution</a:t>
            </a:r>
            <a:r>
              <a:rPr lang="en-US" b="1" dirty="0">
                <a:solidFill>
                  <a:srgbClr val="333333"/>
                </a:solidFill>
                <a:ea typeface="Quattrocento Sans" pitchFamily="34" charset="-122"/>
                <a:cs typeface="Quattrocento Sans" pitchFamily="34" charset="-120"/>
              </a:rPr>
              <a:t>:</a:t>
            </a:r>
            <a:r>
              <a:rPr lang="en-US" dirty="0">
                <a:solidFill>
                  <a:srgbClr val="333333"/>
                </a:solidFill>
                <a:ea typeface="Quattrocento Sans" pitchFamily="34" charset="-122"/>
                <a:cs typeface="Quattrocento Sans" pitchFamily="34" charset="-120"/>
              </a:rPr>
              <a:t> Migrate IT infrastructure to the cloud for dynamic scaling</a:t>
            </a:r>
            <a:r>
              <a:rPr lang="en-US" dirty="0" smtClean="0">
                <a:solidFill>
                  <a:srgbClr val="333333"/>
                </a:solidFill>
                <a:ea typeface="Quattrocento Sans" pitchFamily="34" charset="-122"/>
                <a:cs typeface="Quattrocento Sans" pitchFamily="34" charset="-120"/>
              </a:rPr>
              <a:t>.</a:t>
            </a:r>
          </a:p>
          <a:p>
            <a:pPr algn="l">
              <a:lnSpc>
                <a:spcPct val="150000"/>
              </a:lnSpc>
            </a:pPr>
            <a:endParaRPr lang="en-US" dirty="0"/>
          </a:p>
        </p:txBody>
      </p:sp>
      <p:sp>
        <p:nvSpPr>
          <p:cNvPr id="22" name="Shape 20"/>
          <p:cNvSpPr/>
          <p:nvPr/>
        </p:nvSpPr>
        <p:spPr>
          <a:xfrm>
            <a:off x="2540000" y="2794000"/>
            <a:ext cx="177800" cy="177800"/>
          </a:xfrm>
          <a:prstGeom prst="diamond">
            <a:avLst/>
          </a:prstGeom>
          <a:solidFill>
            <a:srgbClr val="005C82"/>
          </a:solidFill>
          <a:ln/>
        </p:spPr>
      </p:sp>
      <p:sp>
        <p:nvSpPr>
          <p:cNvPr id="23" name="Text 21"/>
          <p:cNvSpPr/>
          <p:nvPr/>
        </p:nvSpPr>
        <p:spPr>
          <a:xfrm>
            <a:off x="2870200" y="2717800"/>
            <a:ext cx="12877800" cy="355600"/>
          </a:xfrm>
          <a:prstGeom prst="rect">
            <a:avLst/>
          </a:prstGeom>
          <a:noFill/>
          <a:ln/>
        </p:spPr>
        <p:txBody>
          <a:bodyPr wrap="none" lIns="0" tIns="0" rIns="0" bIns="0" rtlCol="0" anchor="t"/>
          <a:lstStyle/>
          <a:p>
            <a:pPr algn="l">
              <a:lnSpc>
                <a:spcPct val="120000"/>
              </a:lnSpc>
            </a:pPr>
            <a:r>
              <a:rPr lang="en-US" sz="2400" b="1" dirty="0">
                <a:solidFill>
                  <a:schemeClr val="accent5">
                    <a:lumMod val="50000"/>
                  </a:schemeClr>
                </a:solidFill>
                <a:ea typeface="Quattrocento Sans" pitchFamily="34" charset="-122"/>
                <a:cs typeface="Quattrocento Sans" pitchFamily="34" charset="-120"/>
              </a:rPr>
              <a:t>2. Integrating Data from Multiple Sources</a:t>
            </a:r>
            <a:endParaRPr lang="en-US" sz="2400" dirty="0">
              <a:solidFill>
                <a:schemeClr val="accent5">
                  <a:lumMod val="50000"/>
                </a:schemeClr>
              </a:solidFill>
            </a:endParaRPr>
          </a:p>
        </p:txBody>
      </p:sp>
      <p:sp>
        <p:nvSpPr>
          <p:cNvPr id="24" name="Text 22"/>
          <p:cNvSpPr/>
          <p:nvPr/>
        </p:nvSpPr>
        <p:spPr>
          <a:xfrm>
            <a:off x="2870200" y="3098800"/>
            <a:ext cx="12877800" cy="660400"/>
          </a:xfrm>
          <a:prstGeom prst="rect">
            <a:avLst/>
          </a:prstGeom>
          <a:noFill/>
          <a:ln/>
        </p:spPr>
        <p:txBody>
          <a:bodyPr wrap="square" lIns="0" tIns="0" rIns="0" bIns="0" rtlCol="0" anchor="t"/>
          <a:lstStyle/>
          <a:p>
            <a:pPr algn="l">
              <a:lnSpc>
                <a:spcPct val="150000"/>
              </a:lnSpc>
            </a:pPr>
            <a:r>
              <a:rPr lang="en-US" dirty="0">
                <a:solidFill>
                  <a:srgbClr val="333333"/>
                </a:solidFill>
                <a:ea typeface="Quattrocento Sans" pitchFamily="34" charset="-122"/>
                <a:cs typeface="Quattrocento Sans" pitchFamily="34" charset="-120"/>
              </a:rPr>
              <a:t>Data from analytics, social media, CRM, emails with different structures. </a:t>
            </a:r>
            <a:endParaRPr lang="en-US" dirty="0" smtClean="0">
              <a:solidFill>
                <a:srgbClr val="333333"/>
              </a:solidFill>
              <a:ea typeface="Quattrocento Sans" pitchFamily="34" charset="-122"/>
              <a:cs typeface="Quattrocento Sans" pitchFamily="34" charset="-120"/>
            </a:endParaRPr>
          </a:p>
          <a:p>
            <a:pPr algn="l">
              <a:lnSpc>
                <a:spcPct val="150000"/>
              </a:lnSpc>
            </a:pPr>
            <a:r>
              <a:rPr lang="en-US" b="1" dirty="0" smtClean="0">
                <a:solidFill>
                  <a:srgbClr val="333333"/>
                </a:solidFill>
                <a:ea typeface="Quattrocento Sans" pitchFamily="34" charset="-122"/>
                <a:cs typeface="Quattrocento Sans" pitchFamily="34" charset="-120"/>
              </a:rPr>
              <a:t>Solution</a:t>
            </a:r>
            <a:r>
              <a:rPr lang="en-US" b="1" dirty="0">
                <a:solidFill>
                  <a:srgbClr val="333333"/>
                </a:solidFill>
                <a:ea typeface="Quattrocento Sans" pitchFamily="34" charset="-122"/>
                <a:cs typeface="Quattrocento Sans" pitchFamily="34" charset="-120"/>
              </a:rPr>
              <a:t>:</a:t>
            </a:r>
            <a:r>
              <a:rPr lang="en-US" dirty="0">
                <a:solidFill>
                  <a:srgbClr val="333333"/>
                </a:solidFill>
                <a:ea typeface="Quattrocento Sans" pitchFamily="34" charset="-122"/>
                <a:cs typeface="Quattrocento Sans" pitchFamily="34" charset="-120"/>
              </a:rPr>
              <a:t> Use ETL tools and BI software for unified structure.</a:t>
            </a:r>
            <a:endParaRPr lang="en-US" dirty="0"/>
          </a:p>
        </p:txBody>
      </p:sp>
      <p:sp>
        <p:nvSpPr>
          <p:cNvPr id="26" name="Shape 24"/>
          <p:cNvSpPr/>
          <p:nvPr/>
        </p:nvSpPr>
        <p:spPr>
          <a:xfrm>
            <a:off x="2540000" y="3987800"/>
            <a:ext cx="177800" cy="177800"/>
          </a:xfrm>
          <a:prstGeom prst="diamond">
            <a:avLst/>
          </a:prstGeom>
          <a:solidFill>
            <a:srgbClr val="007AA8"/>
          </a:solidFill>
          <a:ln/>
        </p:spPr>
      </p:sp>
      <p:sp>
        <p:nvSpPr>
          <p:cNvPr id="27" name="Text 25"/>
          <p:cNvSpPr/>
          <p:nvPr/>
        </p:nvSpPr>
        <p:spPr>
          <a:xfrm>
            <a:off x="2870200" y="3911600"/>
            <a:ext cx="12877800" cy="355600"/>
          </a:xfrm>
          <a:prstGeom prst="rect">
            <a:avLst/>
          </a:prstGeom>
          <a:noFill/>
          <a:ln/>
        </p:spPr>
        <p:txBody>
          <a:bodyPr wrap="none" lIns="0" tIns="0" rIns="0" bIns="0" rtlCol="0" anchor="t"/>
          <a:lstStyle/>
          <a:p>
            <a:pPr algn="l">
              <a:lnSpc>
                <a:spcPct val="120000"/>
              </a:lnSpc>
            </a:pPr>
            <a:r>
              <a:rPr lang="en-US" sz="2400" b="1" dirty="0">
                <a:solidFill>
                  <a:schemeClr val="accent6">
                    <a:lumMod val="50000"/>
                  </a:schemeClr>
                </a:solidFill>
                <a:ea typeface="Quattrocento Sans" pitchFamily="34" charset="-122"/>
                <a:cs typeface="Quattrocento Sans" pitchFamily="34" charset="-120"/>
              </a:rPr>
              <a:t>3. Ensuring Data Quality</a:t>
            </a:r>
            <a:endParaRPr lang="en-US" sz="2400" dirty="0">
              <a:solidFill>
                <a:schemeClr val="accent6">
                  <a:lumMod val="50000"/>
                </a:schemeClr>
              </a:solidFill>
            </a:endParaRPr>
          </a:p>
        </p:txBody>
      </p:sp>
      <p:sp>
        <p:nvSpPr>
          <p:cNvPr id="28" name="Text 26"/>
          <p:cNvSpPr/>
          <p:nvPr/>
        </p:nvSpPr>
        <p:spPr>
          <a:xfrm>
            <a:off x="2870200" y="4292600"/>
            <a:ext cx="12877800" cy="660400"/>
          </a:xfrm>
          <a:prstGeom prst="rect">
            <a:avLst/>
          </a:prstGeom>
          <a:noFill/>
          <a:ln/>
        </p:spPr>
        <p:txBody>
          <a:bodyPr wrap="square" lIns="0" tIns="0" rIns="0" bIns="0" rtlCol="0" anchor="t"/>
          <a:lstStyle/>
          <a:p>
            <a:pPr algn="l">
              <a:lnSpc>
                <a:spcPct val="150000"/>
              </a:lnSpc>
            </a:pPr>
            <a:r>
              <a:rPr lang="en-US" dirty="0">
                <a:solidFill>
                  <a:srgbClr val="333333"/>
                </a:solidFill>
                <a:ea typeface="Quattrocento Sans" pitchFamily="34" charset="-122"/>
                <a:cs typeface="Quattrocento Sans" pitchFamily="34" charset="-120"/>
              </a:rPr>
              <a:t>Analytics and ML depend on clean, accurate data. Quality assurance becomes harder as </a:t>
            </a:r>
            <a:endParaRPr lang="en-US" dirty="0" smtClean="0">
              <a:solidFill>
                <a:srgbClr val="333333"/>
              </a:solidFill>
              <a:ea typeface="Quattrocento Sans" pitchFamily="34" charset="-122"/>
              <a:cs typeface="Quattrocento Sans" pitchFamily="34" charset="-120"/>
            </a:endParaRPr>
          </a:p>
          <a:p>
            <a:pPr algn="l">
              <a:lnSpc>
                <a:spcPct val="150000"/>
              </a:lnSpc>
            </a:pPr>
            <a:r>
              <a:rPr lang="en-US" dirty="0" smtClean="0">
                <a:solidFill>
                  <a:srgbClr val="333333"/>
                </a:solidFill>
                <a:ea typeface="Quattrocento Sans" pitchFamily="34" charset="-122"/>
                <a:cs typeface="Quattrocento Sans" pitchFamily="34" charset="-120"/>
              </a:rPr>
              <a:t>sources </a:t>
            </a:r>
            <a:r>
              <a:rPr lang="en-US" dirty="0">
                <a:solidFill>
                  <a:srgbClr val="333333"/>
                </a:solidFill>
                <a:ea typeface="Quattrocento Sans" pitchFamily="34" charset="-122"/>
                <a:cs typeface="Quattrocento Sans" pitchFamily="34" charset="-120"/>
              </a:rPr>
              <a:t>increase. </a:t>
            </a:r>
            <a:r>
              <a:rPr lang="en-US" b="1" dirty="0" smtClean="0">
                <a:solidFill>
                  <a:srgbClr val="333333"/>
                </a:solidFill>
                <a:ea typeface="Quattrocento Sans" pitchFamily="34" charset="-122"/>
                <a:cs typeface="Quattrocento Sans" pitchFamily="34" charset="-120"/>
              </a:rPr>
              <a:t>Solution</a:t>
            </a:r>
            <a:r>
              <a:rPr lang="en-US" b="1" dirty="0">
                <a:solidFill>
                  <a:srgbClr val="333333"/>
                </a:solidFill>
                <a:ea typeface="Quattrocento Sans" pitchFamily="34" charset="-122"/>
                <a:cs typeface="Quattrocento Sans" pitchFamily="34" charset="-120"/>
              </a:rPr>
              <a:t>:</a:t>
            </a:r>
            <a:r>
              <a:rPr lang="en-US" dirty="0">
                <a:solidFill>
                  <a:srgbClr val="333333"/>
                </a:solidFill>
                <a:ea typeface="Quattrocento Sans" pitchFamily="34" charset="-122"/>
                <a:cs typeface="Quattrocento Sans" pitchFamily="34" charset="-120"/>
              </a:rPr>
              <a:t> Data governance applications.</a:t>
            </a:r>
            <a:endParaRPr lang="en-US" dirty="0"/>
          </a:p>
        </p:txBody>
      </p:sp>
      <p:sp>
        <p:nvSpPr>
          <p:cNvPr id="30" name="Shape 28"/>
          <p:cNvSpPr/>
          <p:nvPr/>
        </p:nvSpPr>
        <p:spPr>
          <a:xfrm>
            <a:off x="2540000" y="5181600"/>
            <a:ext cx="177800" cy="177800"/>
          </a:xfrm>
          <a:prstGeom prst="diamond">
            <a:avLst/>
          </a:prstGeom>
          <a:solidFill>
            <a:srgbClr val="00ACC1"/>
          </a:solidFill>
          <a:ln/>
        </p:spPr>
      </p:sp>
      <p:sp>
        <p:nvSpPr>
          <p:cNvPr id="31" name="Text 29"/>
          <p:cNvSpPr/>
          <p:nvPr/>
        </p:nvSpPr>
        <p:spPr>
          <a:xfrm>
            <a:off x="2870200" y="5105400"/>
            <a:ext cx="12877800" cy="355600"/>
          </a:xfrm>
          <a:prstGeom prst="rect">
            <a:avLst/>
          </a:prstGeom>
          <a:noFill/>
          <a:ln/>
        </p:spPr>
        <p:txBody>
          <a:bodyPr wrap="none" lIns="0" tIns="0" rIns="0" bIns="0" rtlCol="0" anchor="t"/>
          <a:lstStyle/>
          <a:p>
            <a:pPr algn="l">
              <a:lnSpc>
                <a:spcPct val="120000"/>
              </a:lnSpc>
            </a:pPr>
            <a:r>
              <a:rPr lang="en-US" sz="2400" b="1" dirty="0">
                <a:solidFill>
                  <a:srgbClr val="C00000"/>
                </a:solidFill>
                <a:ea typeface="Quattrocento Sans" pitchFamily="34" charset="-122"/>
                <a:cs typeface="Quattrocento Sans" pitchFamily="34" charset="-120"/>
              </a:rPr>
              <a:t>4. Keeping Data Secure</a:t>
            </a:r>
            <a:endParaRPr lang="en-US" sz="2400" dirty="0">
              <a:solidFill>
                <a:srgbClr val="C00000"/>
              </a:solidFill>
            </a:endParaRPr>
          </a:p>
        </p:txBody>
      </p:sp>
      <p:sp>
        <p:nvSpPr>
          <p:cNvPr id="32" name="Text 30"/>
          <p:cNvSpPr/>
          <p:nvPr/>
        </p:nvSpPr>
        <p:spPr>
          <a:xfrm>
            <a:off x="2870200" y="5486400"/>
            <a:ext cx="12877800" cy="711200"/>
          </a:xfrm>
          <a:prstGeom prst="rect">
            <a:avLst/>
          </a:prstGeom>
          <a:noFill/>
          <a:ln/>
        </p:spPr>
        <p:txBody>
          <a:bodyPr wrap="square" lIns="0" tIns="0" rIns="0" bIns="0" rtlCol="0" anchor="t"/>
          <a:lstStyle/>
          <a:p>
            <a:pPr algn="l">
              <a:lnSpc>
                <a:spcPct val="150000"/>
              </a:lnSpc>
            </a:pPr>
            <a:r>
              <a:rPr lang="en-US" dirty="0">
                <a:solidFill>
                  <a:srgbClr val="333333"/>
                </a:solidFill>
                <a:ea typeface="Quattrocento Sans" pitchFamily="34" charset="-122"/>
                <a:cs typeface="Quattrocento Sans" pitchFamily="34" charset="-120"/>
              </a:rPr>
              <a:t>Companies handle sensitive financial data, personal info, and proprietary data. </a:t>
            </a:r>
            <a:endParaRPr lang="en-US" dirty="0" smtClean="0">
              <a:solidFill>
                <a:srgbClr val="333333"/>
              </a:solidFill>
              <a:ea typeface="Quattrocento Sans" pitchFamily="34" charset="-122"/>
              <a:cs typeface="Quattrocento Sans" pitchFamily="34" charset="-120"/>
            </a:endParaRPr>
          </a:p>
          <a:p>
            <a:pPr algn="l">
              <a:lnSpc>
                <a:spcPct val="150000"/>
              </a:lnSpc>
            </a:pPr>
            <a:r>
              <a:rPr lang="en-US" b="1" dirty="0" smtClean="0">
                <a:solidFill>
                  <a:srgbClr val="333333"/>
                </a:solidFill>
                <a:ea typeface="Quattrocento Sans" pitchFamily="34" charset="-122"/>
                <a:cs typeface="Quattrocento Sans" pitchFamily="34" charset="-120"/>
              </a:rPr>
              <a:t>Solution</a:t>
            </a:r>
            <a:r>
              <a:rPr lang="en-US" b="1" dirty="0">
                <a:solidFill>
                  <a:srgbClr val="333333"/>
                </a:solidFill>
                <a:ea typeface="Quattrocento Sans" pitchFamily="34" charset="-122"/>
                <a:cs typeface="Quattrocento Sans" pitchFamily="34" charset="-120"/>
              </a:rPr>
              <a:t>:</a:t>
            </a:r>
            <a:r>
              <a:rPr lang="en-US" dirty="0">
                <a:solidFill>
                  <a:srgbClr val="333333"/>
                </a:solidFill>
                <a:ea typeface="Quattrocento Sans" pitchFamily="34" charset="-122"/>
                <a:cs typeface="Quattrocento Sans" pitchFamily="34" charset="-120"/>
              </a:rPr>
              <a:t> Encryption, access controls, endpoint protection, monitoring.</a:t>
            </a:r>
            <a:endParaRPr lang="en-US" dirty="0"/>
          </a:p>
        </p:txBody>
      </p:sp>
      <p:sp>
        <p:nvSpPr>
          <p:cNvPr id="34" name="Shape 16"/>
          <p:cNvSpPr/>
          <p:nvPr/>
        </p:nvSpPr>
        <p:spPr>
          <a:xfrm>
            <a:off x="2540000" y="6520070"/>
            <a:ext cx="177800" cy="177800"/>
          </a:xfrm>
          <a:prstGeom prst="diamond">
            <a:avLst/>
          </a:prstGeom>
          <a:solidFill>
            <a:srgbClr val="005C82"/>
          </a:solidFill>
          <a:ln/>
        </p:spPr>
      </p:sp>
      <p:sp>
        <p:nvSpPr>
          <p:cNvPr id="35" name="Text 17"/>
          <p:cNvSpPr/>
          <p:nvPr/>
        </p:nvSpPr>
        <p:spPr>
          <a:xfrm>
            <a:off x="2870200" y="6443870"/>
            <a:ext cx="12877800" cy="355600"/>
          </a:xfrm>
          <a:prstGeom prst="rect">
            <a:avLst/>
          </a:prstGeom>
          <a:noFill/>
          <a:ln/>
        </p:spPr>
        <p:txBody>
          <a:bodyPr wrap="none" lIns="0" tIns="0" rIns="0" bIns="0" rtlCol="0" anchor="t"/>
          <a:lstStyle/>
          <a:p>
            <a:pPr algn="l">
              <a:lnSpc>
                <a:spcPct val="120000"/>
              </a:lnSpc>
            </a:pPr>
            <a:r>
              <a:rPr lang="en-US" sz="2400" b="1" dirty="0">
                <a:solidFill>
                  <a:schemeClr val="accent2">
                    <a:lumMod val="75000"/>
                  </a:schemeClr>
                </a:solidFill>
                <a:ea typeface="Quattrocento Sans" pitchFamily="34" charset="-122"/>
                <a:cs typeface="Quattrocento Sans" pitchFamily="34" charset="-120"/>
              </a:rPr>
              <a:t>5. Selecting the Right Big Data Tools</a:t>
            </a:r>
            <a:endParaRPr lang="en-US" sz="2400" dirty="0">
              <a:solidFill>
                <a:schemeClr val="accent2">
                  <a:lumMod val="75000"/>
                </a:schemeClr>
              </a:solidFill>
            </a:endParaRPr>
          </a:p>
        </p:txBody>
      </p:sp>
      <p:sp>
        <p:nvSpPr>
          <p:cNvPr id="36" name="Text 18"/>
          <p:cNvSpPr/>
          <p:nvPr/>
        </p:nvSpPr>
        <p:spPr>
          <a:xfrm>
            <a:off x="2870200" y="6824870"/>
            <a:ext cx="12877800" cy="711200"/>
          </a:xfrm>
          <a:prstGeom prst="rect">
            <a:avLst/>
          </a:prstGeom>
          <a:noFill/>
          <a:ln/>
        </p:spPr>
        <p:txBody>
          <a:bodyPr wrap="square" lIns="0" tIns="0" rIns="0" bIns="0" rtlCol="0" anchor="t"/>
          <a:lstStyle/>
          <a:p>
            <a:pPr algn="l">
              <a:lnSpc>
                <a:spcPct val="150000"/>
              </a:lnSpc>
            </a:pPr>
            <a:r>
              <a:rPr lang="en-US" dirty="0">
                <a:solidFill>
                  <a:srgbClr val="333333"/>
                </a:solidFill>
                <a:ea typeface="Quattrocento Sans" pitchFamily="34" charset="-122"/>
                <a:cs typeface="Quattrocento Sans" pitchFamily="34" charset="-120"/>
              </a:rPr>
              <a:t>The wealth of available tools is itself a challenge. </a:t>
            </a:r>
            <a:endParaRPr lang="en-US" dirty="0" smtClean="0">
              <a:solidFill>
                <a:srgbClr val="333333"/>
              </a:solidFill>
              <a:ea typeface="Quattrocento Sans" pitchFamily="34" charset="-122"/>
              <a:cs typeface="Quattrocento Sans" pitchFamily="34" charset="-120"/>
            </a:endParaRPr>
          </a:p>
          <a:p>
            <a:pPr algn="l">
              <a:lnSpc>
                <a:spcPct val="150000"/>
              </a:lnSpc>
            </a:pPr>
            <a:r>
              <a:rPr lang="en-US" b="1" dirty="0" smtClean="0">
                <a:solidFill>
                  <a:srgbClr val="333333"/>
                </a:solidFill>
                <a:ea typeface="Quattrocento Sans" pitchFamily="34" charset="-122"/>
                <a:cs typeface="Quattrocento Sans" pitchFamily="34" charset="-120"/>
              </a:rPr>
              <a:t>Solution</a:t>
            </a:r>
            <a:r>
              <a:rPr lang="en-US" b="1" dirty="0">
                <a:solidFill>
                  <a:srgbClr val="333333"/>
                </a:solidFill>
                <a:ea typeface="Quattrocento Sans" pitchFamily="34" charset="-122"/>
                <a:cs typeface="Quattrocento Sans" pitchFamily="34" charset="-120"/>
              </a:rPr>
              <a:t>:</a:t>
            </a:r>
            <a:r>
              <a:rPr lang="en-US" dirty="0">
                <a:solidFill>
                  <a:srgbClr val="333333"/>
                </a:solidFill>
                <a:ea typeface="Quattrocento Sans" pitchFamily="34" charset="-122"/>
                <a:cs typeface="Quattrocento Sans" pitchFamily="34" charset="-120"/>
              </a:rPr>
              <a:t> Hire specialists to determine which tools fit needs and configure ETL solutions.</a:t>
            </a:r>
            <a:endParaRPr lang="en-US" dirty="0"/>
          </a:p>
        </p:txBody>
      </p:sp>
      <p:sp>
        <p:nvSpPr>
          <p:cNvPr id="37" name="Shape 19"/>
          <p:cNvSpPr/>
          <p:nvPr/>
        </p:nvSpPr>
        <p:spPr>
          <a:xfrm>
            <a:off x="2540000" y="7536070"/>
            <a:ext cx="13208000" cy="12700"/>
          </a:xfrm>
          <a:prstGeom prst="rect">
            <a:avLst/>
          </a:prstGeom>
          <a:solidFill>
            <a:srgbClr val="E0F4FA"/>
          </a:solidFill>
          <a:ln/>
        </p:spPr>
      </p:sp>
      <p:sp>
        <p:nvSpPr>
          <p:cNvPr id="38" name="Shape 20"/>
          <p:cNvSpPr/>
          <p:nvPr/>
        </p:nvSpPr>
        <p:spPr>
          <a:xfrm>
            <a:off x="2540000" y="7713870"/>
            <a:ext cx="177800" cy="177800"/>
          </a:xfrm>
          <a:prstGeom prst="diamond">
            <a:avLst/>
          </a:prstGeom>
          <a:solidFill>
            <a:srgbClr val="005C82"/>
          </a:solidFill>
          <a:ln/>
        </p:spPr>
      </p:sp>
      <p:sp>
        <p:nvSpPr>
          <p:cNvPr id="39" name="Text 21"/>
          <p:cNvSpPr/>
          <p:nvPr/>
        </p:nvSpPr>
        <p:spPr>
          <a:xfrm>
            <a:off x="2870200" y="7637670"/>
            <a:ext cx="12877800" cy="355600"/>
          </a:xfrm>
          <a:prstGeom prst="rect">
            <a:avLst/>
          </a:prstGeom>
          <a:noFill/>
          <a:ln/>
        </p:spPr>
        <p:txBody>
          <a:bodyPr wrap="none" lIns="0" tIns="0" rIns="0" bIns="0" rtlCol="0" anchor="t"/>
          <a:lstStyle/>
          <a:p>
            <a:pPr algn="l">
              <a:lnSpc>
                <a:spcPct val="120000"/>
              </a:lnSpc>
            </a:pPr>
            <a:r>
              <a:rPr lang="en-US" sz="2400" b="1" dirty="0">
                <a:solidFill>
                  <a:schemeClr val="accent6">
                    <a:lumMod val="50000"/>
                  </a:schemeClr>
                </a:solidFill>
                <a:ea typeface="Quattrocento Sans" pitchFamily="34" charset="-122"/>
                <a:cs typeface="Quattrocento Sans" pitchFamily="34" charset="-120"/>
              </a:rPr>
              <a:t>6. Scaling Systems and Costs Efficiently</a:t>
            </a:r>
            <a:endParaRPr lang="en-US" sz="2400" dirty="0">
              <a:solidFill>
                <a:schemeClr val="accent6">
                  <a:lumMod val="50000"/>
                </a:schemeClr>
              </a:solidFill>
            </a:endParaRPr>
          </a:p>
        </p:txBody>
      </p:sp>
      <p:sp>
        <p:nvSpPr>
          <p:cNvPr id="40" name="Text 22"/>
          <p:cNvSpPr/>
          <p:nvPr/>
        </p:nvSpPr>
        <p:spPr>
          <a:xfrm>
            <a:off x="2870200" y="8084931"/>
            <a:ext cx="7347226" cy="424716"/>
          </a:xfrm>
          <a:prstGeom prst="rect">
            <a:avLst/>
          </a:prstGeom>
          <a:noFill/>
          <a:ln/>
          <a:effectLst>
            <a:softEdge rad="114300"/>
          </a:effectLst>
        </p:spPr>
        <p:txBody>
          <a:bodyPr wrap="square" lIns="0" tIns="0" rIns="0" bIns="0" rtlCol="0" anchor="t"/>
          <a:lstStyle/>
          <a:p>
            <a:pPr algn="l">
              <a:lnSpc>
                <a:spcPct val="150000"/>
              </a:lnSpc>
            </a:pPr>
            <a:r>
              <a:rPr lang="en-US" dirty="0">
                <a:solidFill>
                  <a:srgbClr val="333333"/>
                </a:solidFill>
                <a:ea typeface="Quattrocento Sans" pitchFamily="34" charset="-122"/>
                <a:cs typeface="Quattrocento Sans" pitchFamily="34" charset="-120"/>
              </a:rPr>
              <a:t>Without planning, projects can waste money storing useless data. </a:t>
            </a:r>
            <a:endParaRPr lang="en-US" dirty="0" smtClean="0">
              <a:solidFill>
                <a:srgbClr val="333333"/>
              </a:solidFill>
              <a:ea typeface="Quattrocento Sans" pitchFamily="34" charset="-122"/>
              <a:cs typeface="Quattrocento Sans" pitchFamily="34" charset="-120"/>
            </a:endParaRPr>
          </a:p>
          <a:p>
            <a:pPr algn="l">
              <a:lnSpc>
                <a:spcPct val="150000"/>
              </a:lnSpc>
            </a:pPr>
            <a:r>
              <a:rPr lang="en-US" b="1" dirty="0" smtClean="0">
                <a:solidFill>
                  <a:srgbClr val="333333"/>
                </a:solidFill>
                <a:ea typeface="Quattrocento Sans" pitchFamily="34" charset="-122"/>
                <a:cs typeface="Quattrocento Sans" pitchFamily="34" charset="-120"/>
              </a:rPr>
              <a:t>Solution</a:t>
            </a:r>
            <a:r>
              <a:rPr lang="en-US" b="1" dirty="0">
                <a:solidFill>
                  <a:srgbClr val="333333"/>
                </a:solidFill>
                <a:ea typeface="Quattrocento Sans" pitchFamily="34" charset="-122"/>
                <a:cs typeface="Quattrocento Sans" pitchFamily="34" charset="-120"/>
              </a:rPr>
              <a:t>:</a:t>
            </a:r>
            <a:r>
              <a:rPr lang="en-US" dirty="0">
                <a:solidFill>
                  <a:srgbClr val="333333"/>
                </a:solidFill>
                <a:ea typeface="Quattrocento Sans" pitchFamily="34" charset="-122"/>
                <a:cs typeface="Quattrocento Sans" pitchFamily="34" charset="-120"/>
              </a:rPr>
              <a:t> Start with clear goals, define schemas, create </a:t>
            </a:r>
            <a:r>
              <a:rPr lang="en-US" dirty="0" smtClean="0">
                <a:solidFill>
                  <a:srgbClr val="333333"/>
                </a:solidFill>
                <a:ea typeface="Quattrocento Sans" pitchFamily="34" charset="-122"/>
                <a:cs typeface="Quattrocento Sans" pitchFamily="34" charset="-120"/>
              </a:rPr>
              <a:t>purging policies</a:t>
            </a:r>
            <a:r>
              <a:rPr lang="en-US" dirty="0">
                <a:solidFill>
                  <a:srgbClr val="333333"/>
                </a:solidFill>
                <a:ea typeface="Quattrocento Sans" pitchFamily="34" charset="-122"/>
                <a:cs typeface="Quattrocento Sans" pitchFamily="34" charset="-120"/>
              </a:rPr>
              <a:t>.</a:t>
            </a:r>
            <a:endParaRPr lang="en-US" dirty="0"/>
          </a:p>
        </p:txBody>
      </p:sp>
      <p:pic>
        <p:nvPicPr>
          <p:cNvPr id="4098" name="Picture 2" descr="Top 6 Best Practices in Data Engineering | Nexl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36793" y="3633029"/>
            <a:ext cx="3993793" cy="2306430"/>
          </a:xfrm>
          <a:prstGeom prst="rect">
            <a:avLst/>
          </a:prstGeom>
          <a:noFill/>
          <a:effectLst>
            <a:softEdge rad="25400"/>
          </a:effectLst>
          <a:extLst>
            <a:ext uri="{909E8E84-426E-40DD-AFC4-6F175D3DCCD1}">
              <a14:hiddenFill xmlns:a14="http://schemas.microsoft.com/office/drawing/2010/main">
                <a:solidFill>
                  <a:srgbClr val="FFFFFF"/>
                </a:solidFill>
              </a14:hiddenFill>
            </a:ext>
          </a:extLst>
        </p:spPr>
      </p:pic>
      <p:pic>
        <p:nvPicPr>
          <p:cNvPr id="49" name="Picture 2" descr="What Is Cloud Storage and How Does It Work? Definition &amp; Meani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00752" y="1346200"/>
            <a:ext cx="3820123" cy="2292074"/>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pic>
        <p:nvPicPr>
          <p:cNvPr id="4100" name="Picture 4" descr="Data Cleaning: The Hidden Work Behind Every Successful AI Model | by Tech Prompt Studio | Mediu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49316" y="5972866"/>
            <a:ext cx="3671559" cy="2673748"/>
          </a:xfrm>
          <a:prstGeom prst="rect">
            <a:avLst/>
          </a:prstGeom>
          <a:noFill/>
          <a:effectLst>
            <a:softEdge rad="114300"/>
          </a:effectLst>
          <a:extLst>
            <a:ext uri="{909E8E84-426E-40DD-AFC4-6F175D3DCCD1}">
              <a14:hiddenFill xmlns:a14="http://schemas.microsoft.com/office/drawing/2010/main">
                <a:solidFill>
                  <a:srgbClr val="FFFFFF"/>
                </a:solidFill>
              </a14:hiddenFill>
            </a:ext>
          </a:extLst>
        </p:spPr>
      </p:pic>
      <p:sp>
        <p:nvSpPr>
          <p:cNvPr id="29" name="Rounded Rectangle 28"/>
          <p:cNvSpPr/>
          <p:nvPr/>
        </p:nvSpPr>
        <p:spPr>
          <a:xfrm>
            <a:off x="71628" y="1536192"/>
            <a:ext cx="2214372" cy="494792"/>
          </a:xfrm>
          <a:prstGeom prst="roundRect">
            <a:avLst/>
          </a:prstGeom>
          <a:solidFill>
            <a:srgbClr val="FF000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arn(inVertical)">
                                      <p:cBhvr>
                                        <p:cTn id="7" dur="500"/>
                                        <p:tgtEl>
                                          <p:spTgt spid="23"/>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barn(inVertical)">
                                      <p:cBhvr>
                                        <p:cTn id="10" dur="5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barn(inVertical)">
                                      <p:cBhvr>
                                        <p:cTn id="15" dur="500"/>
                                        <p:tgtEl>
                                          <p:spTgt spid="27"/>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barn(inVertical)">
                                      <p:cBhvr>
                                        <p:cTn id="18" dur="500"/>
                                        <p:tgtEl>
                                          <p:spTgt spid="28"/>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barn(inVertical)">
                                      <p:cBhvr>
                                        <p:cTn id="23" dur="500"/>
                                        <p:tgtEl>
                                          <p:spTgt spid="49"/>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4098"/>
                                        </p:tgtEl>
                                        <p:attrNameLst>
                                          <p:attrName>style.visibility</p:attrName>
                                        </p:attrNameLst>
                                      </p:cBhvr>
                                      <p:to>
                                        <p:strVal val="visible"/>
                                      </p:to>
                                    </p:set>
                                    <p:animEffect transition="in" filter="barn(inVertical)">
                                      <p:cBhvr>
                                        <p:cTn id="28" dur="500"/>
                                        <p:tgtEl>
                                          <p:spTgt spid="4098"/>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grpId="0" nodeType="click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barn(inVertical)">
                                      <p:cBhvr>
                                        <p:cTn id="33" dur="500"/>
                                        <p:tgtEl>
                                          <p:spTgt spid="31"/>
                                        </p:tgtEl>
                                      </p:cBhvr>
                                    </p:animEffect>
                                  </p:childTnLst>
                                </p:cTn>
                              </p:par>
                              <p:par>
                                <p:cTn id="34" presetID="16" presetClass="entr" presetSubtype="21" fill="hold" grpId="0" nodeType="with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barn(inVertical)">
                                      <p:cBhvr>
                                        <p:cTn id="36" dur="500"/>
                                        <p:tgtEl>
                                          <p:spTgt spid="32"/>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barn(inVertical)">
                                      <p:cBhvr>
                                        <p:cTn id="41" dur="500"/>
                                        <p:tgtEl>
                                          <p:spTgt spid="35"/>
                                        </p:tgtEl>
                                      </p:cBhvr>
                                    </p:animEffect>
                                  </p:childTnLst>
                                </p:cTn>
                              </p:par>
                              <p:par>
                                <p:cTn id="42" presetID="16" presetClass="entr" presetSubtype="21"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barn(inVertical)">
                                      <p:cBhvr>
                                        <p:cTn id="44" dur="500"/>
                                        <p:tgtEl>
                                          <p:spTgt spid="36"/>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barn(inVertical)">
                                      <p:cBhvr>
                                        <p:cTn id="49" dur="500"/>
                                        <p:tgtEl>
                                          <p:spTgt spid="39"/>
                                        </p:tgtEl>
                                      </p:cBhvr>
                                    </p:animEffect>
                                  </p:childTnLst>
                                </p:cTn>
                              </p:par>
                              <p:par>
                                <p:cTn id="50" presetID="16" presetClass="entr" presetSubtype="21" fill="hold" grpId="0" nodeType="with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barn(inVertical)">
                                      <p:cBhvr>
                                        <p:cTn id="5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7" grpId="0" animBg="1"/>
      <p:bldP spid="28" grpId="0" animBg="1"/>
      <p:bldP spid="31" grpId="0" animBg="1"/>
      <p:bldP spid="32" grpId="0" animBg="1"/>
      <p:bldP spid="35" grpId="0" animBg="1"/>
      <p:bldP spid="36" grpId="0" animBg="1"/>
      <p:bldP spid="39" grpId="0" animBg="1"/>
      <p:bldP spid="4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4FAFE"/>
        </a:solidFill>
        <a:effectLst/>
      </p:bgPr>
    </p:bg>
    <p:spTree>
      <p:nvGrpSpPr>
        <p:cNvPr id="1" name=""/>
        <p:cNvGrpSpPr/>
        <p:nvPr/>
      </p:nvGrpSpPr>
      <p:grpSpPr>
        <a:xfrm>
          <a:off x="0" y="0"/>
          <a:ext cx="0" cy="0"/>
          <a:chOff x="0" y="0"/>
          <a:chExt cx="0" cy="0"/>
        </a:xfrm>
      </p:grpSpPr>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sp>
      <p:sp>
        <p:nvSpPr>
          <p:cNvPr id="12" name="Shape 10"/>
          <p:cNvSpPr/>
          <p:nvPr/>
        </p:nvSpPr>
        <p:spPr>
          <a:xfrm>
            <a:off x="1066800" y="8864600"/>
            <a:ext cx="152400" cy="152400"/>
          </a:xfrm>
          <a:prstGeom prst="diamond">
            <a:avLst/>
          </a:prstGeom>
          <a:solidFill>
            <a:srgbClr val="00ACC1"/>
          </a:solidFill>
          <a:ln/>
        </p:spPr>
      </p:sp>
      <p:sp>
        <p:nvSpPr>
          <p:cNvPr id="15" name="Text 13"/>
          <p:cNvSpPr/>
          <p:nvPr/>
        </p:nvSpPr>
        <p:spPr>
          <a:xfrm>
            <a:off x="15621000" y="0"/>
            <a:ext cx="635000" cy="635000"/>
          </a:xfrm>
          <a:prstGeom prst="rect">
            <a:avLst/>
          </a:prstGeom>
          <a:noFill/>
          <a:ln/>
        </p:spPr>
        <p:txBody>
          <a:bodyPr wrap="none" lIns="0" tIns="0" rIns="0" bIns="0" rtlCol="0" anchor="ctr"/>
          <a:lstStyle/>
          <a:p>
            <a:pPr algn="r">
              <a:lnSpc>
                <a:spcPct val="120000"/>
              </a:lnSpc>
            </a:pPr>
            <a:r>
              <a:rPr lang="en-US" sz="1400" dirty="0">
                <a:solidFill>
                  <a:srgbClr val="005C82"/>
                </a:solidFill>
                <a:latin typeface="Quattrocento Sans" pitchFamily="34" charset="0"/>
                <a:ea typeface="Quattrocento Sans" pitchFamily="34" charset="-122"/>
                <a:cs typeface="Quattrocento Sans" pitchFamily="34" charset="-120"/>
              </a:rPr>
              <a:t>7</a:t>
            </a:r>
            <a:endParaRPr lang="en-US" sz="1400" dirty="0"/>
          </a:p>
        </p:txBody>
      </p:sp>
      <p:sp>
        <p:nvSpPr>
          <p:cNvPr id="16" name="Text 14"/>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Challenges of Big Data (Part 2)</a:t>
            </a:r>
            <a:endParaRPr lang="en-US" sz="2400" dirty="0"/>
          </a:p>
        </p:txBody>
      </p:sp>
      <p:sp>
        <p:nvSpPr>
          <p:cNvPr id="33" name="Shape 23"/>
          <p:cNvSpPr/>
          <p:nvPr/>
        </p:nvSpPr>
        <p:spPr>
          <a:xfrm>
            <a:off x="2540000" y="1536700"/>
            <a:ext cx="13208000" cy="12700"/>
          </a:xfrm>
          <a:prstGeom prst="rect">
            <a:avLst/>
          </a:prstGeom>
          <a:solidFill>
            <a:srgbClr val="E0F4FA"/>
          </a:solidFill>
          <a:ln/>
        </p:spPr>
      </p:sp>
      <p:sp>
        <p:nvSpPr>
          <p:cNvPr id="34" name="Shape 24"/>
          <p:cNvSpPr/>
          <p:nvPr/>
        </p:nvSpPr>
        <p:spPr>
          <a:xfrm>
            <a:off x="2540000" y="1714500"/>
            <a:ext cx="177800" cy="177800"/>
          </a:xfrm>
          <a:prstGeom prst="diamond">
            <a:avLst/>
          </a:prstGeom>
          <a:solidFill>
            <a:srgbClr val="007AA8"/>
          </a:solidFill>
          <a:ln/>
        </p:spPr>
      </p:sp>
      <p:sp>
        <p:nvSpPr>
          <p:cNvPr id="35" name="Text 25"/>
          <p:cNvSpPr/>
          <p:nvPr/>
        </p:nvSpPr>
        <p:spPr>
          <a:xfrm>
            <a:off x="2870200" y="1638300"/>
            <a:ext cx="12877800" cy="355600"/>
          </a:xfrm>
          <a:prstGeom prst="rect">
            <a:avLst/>
          </a:prstGeom>
          <a:noFill/>
          <a:ln/>
        </p:spPr>
        <p:txBody>
          <a:bodyPr wrap="none" lIns="0" tIns="0" rIns="0" bIns="0" rtlCol="0" anchor="t"/>
          <a:lstStyle/>
          <a:p>
            <a:pPr algn="l">
              <a:lnSpc>
                <a:spcPct val="120000"/>
              </a:lnSpc>
            </a:pPr>
            <a:r>
              <a:rPr lang="en-US" sz="2400" b="1" dirty="0">
                <a:solidFill>
                  <a:srgbClr val="C00000"/>
                </a:solidFill>
                <a:ea typeface="Quattrocento Sans" pitchFamily="34" charset="-122"/>
                <a:cs typeface="Quattrocento Sans" pitchFamily="34" charset="-120"/>
              </a:rPr>
              <a:t>7. Lack of Skilled Data Professionals</a:t>
            </a:r>
            <a:endParaRPr lang="en-US" sz="2400" dirty="0">
              <a:solidFill>
                <a:srgbClr val="C00000"/>
              </a:solidFill>
            </a:endParaRPr>
          </a:p>
        </p:txBody>
      </p:sp>
      <p:sp>
        <p:nvSpPr>
          <p:cNvPr id="36" name="Text 26"/>
          <p:cNvSpPr/>
          <p:nvPr/>
        </p:nvSpPr>
        <p:spPr>
          <a:xfrm>
            <a:off x="2870200" y="2019300"/>
            <a:ext cx="12877800" cy="711200"/>
          </a:xfrm>
          <a:prstGeom prst="rect">
            <a:avLst/>
          </a:prstGeom>
          <a:noFill/>
          <a:ln/>
        </p:spPr>
        <p:txBody>
          <a:bodyPr wrap="square" lIns="0" tIns="0" rIns="0" bIns="0" rtlCol="0" anchor="t"/>
          <a:lstStyle/>
          <a:p>
            <a:pPr algn="l">
              <a:lnSpc>
                <a:spcPct val="150000"/>
              </a:lnSpc>
            </a:pPr>
            <a:r>
              <a:rPr lang="en-US" dirty="0">
                <a:solidFill>
                  <a:srgbClr val="333333"/>
                </a:solidFill>
                <a:ea typeface="Quattrocento Sans" pitchFamily="34" charset="-122"/>
                <a:cs typeface="Quattrocento Sans" pitchFamily="34" charset="-120"/>
              </a:rPr>
              <a:t>Working with big data requires specialized skills. </a:t>
            </a:r>
            <a:endParaRPr lang="en-US" dirty="0" smtClean="0">
              <a:solidFill>
                <a:srgbClr val="333333"/>
              </a:solidFill>
              <a:ea typeface="Quattrocento Sans" pitchFamily="34" charset="-122"/>
              <a:cs typeface="Quattrocento Sans" pitchFamily="34" charset="-120"/>
            </a:endParaRPr>
          </a:p>
          <a:p>
            <a:pPr algn="l">
              <a:lnSpc>
                <a:spcPct val="150000"/>
              </a:lnSpc>
            </a:pPr>
            <a:r>
              <a:rPr lang="en-US" b="1" dirty="0" smtClean="0">
                <a:solidFill>
                  <a:srgbClr val="333333"/>
                </a:solidFill>
                <a:ea typeface="Quattrocento Sans" pitchFamily="34" charset="-122"/>
                <a:cs typeface="Quattrocento Sans" pitchFamily="34" charset="-120"/>
              </a:rPr>
              <a:t>Solution</a:t>
            </a:r>
            <a:r>
              <a:rPr lang="en-US" b="1" dirty="0">
                <a:solidFill>
                  <a:srgbClr val="333333"/>
                </a:solidFill>
                <a:ea typeface="Quattrocento Sans" pitchFamily="34" charset="-122"/>
                <a:cs typeface="Quattrocento Sans" pitchFamily="34" charset="-120"/>
              </a:rPr>
              <a:t>:</a:t>
            </a:r>
            <a:r>
              <a:rPr lang="en-US" dirty="0">
                <a:solidFill>
                  <a:srgbClr val="333333"/>
                </a:solidFill>
                <a:ea typeface="Quattrocento Sans" pitchFamily="34" charset="-122"/>
                <a:cs typeface="Quattrocento Sans" pitchFamily="34" charset="-120"/>
              </a:rPr>
              <a:t> Hire specialists, provide training, or choose self-service analytics.</a:t>
            </a:r>
            <a:endParaRPr lang="en-US" dirty="0"/>
          </a:p>
        </p:txBody>
      </p:sp>
      <p:sp>
        <p:nvSpPr>
          <p:cNvPr id="38" name="Shape 28"/>
          <p:cNvSpPr/>
          <p:nvPr/>
        </p:nvSpPr>
        <p:spPr>
          <a:xfrm>
            <a:off x="2540000" y="2908300"/>
            <a:ext cx="177800" cy="177800"/>
          </a:xfrm>
          <a:prstGeom prst="diamond">
            <a:avLst/>
          </a:prstGeom>
          <a:solidFill>
            <a:srgbClr val="00ACC1"/>
          </a:solidFill>
          <a:ln/>
        </p:spPr>
      </p:sp>
      <p:sp>
        <p:nvSpPr>
          <p:cNvPr id="39" name="Text 29"/>
          <p:cNvSpPr/>
          <p:nvPr/>
        </p:nvSpPr>
        <p:spPr>
          <a:xfrm>
            <a:off x="2870200" y="2832100"/>
            <a:ext cx="12877800" cy="355600"/>
          </a:xfrm>
          <a:prstGeom prst="rect">
            <a:avLst/>
          </a:prstGeom>
          <a:noFill/>
          <a:ln/>
        </p:spPr>
        <p:txBody>
          <a:bodyPr wrap="none" lIns="0" tIns="0" rIns="0" bIns="0" rtlCol="0" anchor="t"/>
          <a:lstStyle/>
          <a:p>
            <a:pPr algn="l">
              <a:lnSpc>
                <a:spcPct val="120000"/>
              </a:lnSpc>
            </a:pPr>
            <a:r>
              <a:rPr lang="en-US" sz="2400" b="1" dirty="0">
                <a:solidFill>
                  <a:schemeClr val="accent6">
                    <a:lumMod val="50000"/>
                  </a:schemeClr>
                </a:solidFill>
                <a:ea typeface="Quattrocento Sans" pitchFamily="34" charset="-122"/>
                <a:cs typeface="Quattrocento Sans" pitchFamily="34" charset="-120"/>
              </a:rPr>
              <a:t>8. Organizational Resistance</a:t>
            </a:r>
            <a:endParaRPr lang="en-US" sz="2400" dirty="0">
              <a:solidFill>
                <a:schemeClr val="accent6">
                  <a:lumMod val="50000"/>
                </a:schemeClr>
              </a:solidFill>
            </a:endParaRPr>
          </a:p>
        </p:txBody>
      </p:sp>
      <p:sp>
        <p:nvSpPr>
          <p:cNvPr id="40" name="Text 30"/>
          <p:cNvSpPr/>
          <p:nvPr/>
        </p:nvSpPr>
        <p:spPr>
          <a:xfrm>
            <a:off x="2870200" y="3213100"/>
            <a:ext cx="12877800" cy="711200"/>
          </a:xfrm>
          <a:prstGeom prst="rect">
            <a:avLst/>
          </a:prstGeom>
          <a:noFill/>
          <a:ln/>
        </p:spPr>
        <p:txBody>
          <a:bodyPr wrap="square" lIns="0" tIns="0" rIns="0" bIns="0" rtlCol="0" anchor="t"/>
          <a:lstStyle/>
          <a:p>
            <a:pPr algn="l">
              <a:lnSpc>
                <a:spcPct val="150000"/>
              </a:lnSpc>
            </a:pPr>
            <a:r>
              <a:rPr lang="en-US" dirty="0">
                <a:solidFill>
                  <a:srgbClr val="333333"/>
                </a:solidFill>
                <a:ea typeface="Quattrocento Sans" pitchFamily="34" charset="-122"/>
                <a:cs typeface="Quattrocento Sans" pitchFamily="34" charset="-120"/>
              </a:rPr>
              <a:t>Large organizations resist change. Leaders may not see value in big data. </a:t>
            </a:r>
            <a:endParaRPr lang="en-US" dirty="0" smtClean="0">
              <a:solidFill>
                <a:srgbClr val="333333"/>
              </a:solidFill>
              <a:ea typeface="Quattrocento Sans" pitchFamily="34" charset="-122"/>
              <a:cs typeface="Quattrocento Sans" pitchFamily="34" charset="-120"/>
            </a:endParaRPr>
          </a:p>
          <a:p>
            <a:pPr algn="l">
              <a:lnSpc>
                <a:spcPct val="150000"/>
              </a:lnSpc>
            </a:pPr>
            <a:r>
              <a:rPr lang="en-US" b="1" dirty="0" smtClean="0">
                <a:solidFill>
                  <a:srgbClr val="333333"/>
                </a:solidFill>
                <a:ea typeface="Quattrocento Sans" pitchFamily="34" charset="-122"/>
                <a:cs typeface="Quattrocento Sans" pitchFamily="34" charset="-120"/>
              </a:rPr>
              <a:t>Solution</a:t>
            </a:r>
            <a:r>
              <a:rPr lang="en-US" b="1" dirty="0">
                <a:solidFill>
                  <a:srgbClr val="333333"/>
                </a:solidFill>
                <a:ea typeface="Quattrocento Sans" pitchFamily="34" charset="-122"/>
                <a:cs typeface="Quattrocento Sans" pitchFamily="34" charset="-120"/>
              </a:rPr>
              <a:t>:</a:t>
            </a:r>
            <a:r>
              <a:rPr lang="en-US" dirty="0">
                <a:solidFill>
                  <a:srgbClr val="333333"/>
                </a:solidFill>
                <a:ea typeface="Quattrocento Sans" pitchFamily="34" charset="-122"/>
                <a:cs typeface="Quattrocento Sans" pitchFamily="34" charset="-120"/>
              </a:rPr>
              <a:t> Start small, let results prove value, place experts in leadership.</a:t>
            </a:r>
            <a:endParaRPr lang="en-US" dirty="0"/>
          </a:p>
        </p:txBody>
      </p:sp>
      <p:pic>
        <p:nvPicPr>
          <p:cNvPr id="2052" name="Picture 4" descr="Data Pipelines: What They Are, Why They’re Important, and the Tools That Use Them | by Ansam Yousry | 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64183" y="5274367"/>
            <a:ext cx="4206289" cy="3216424"/>
          </a:xfrm>
          <a:prstGeom prst="rect">
            <a:avLst/>
          </a:prstGeom>
          <a:noFill/>
          <a:effectLst>
            <a:softEdge rad="114300"/>
          </a:effectLst>
          <a:extLst>
            <a:ext uri="{909E8E84-426E-40DD-AFC4-6F175D3DCCD1}">
              <a14:hiddenFill xmlns:a14="http://schemas.microsoft.com/office/drawing/2010/main">
                <a:solidFill>
                  <a:srgbClr val="FFFFFF"/>
                </a:solidFill>
              </a14:hiddenFill>
            </a:ext>
          </a:extLst>
        </p:spPr>
      </p:pic>
      <p:pic>
        <p:nvPicPr>
          <p:cNvPr id="2056" name="Picture 8" descr="12 Best freelance apache spark experts for hire in March 20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22657" y="5274366"/>
            <a:ext cx="4171448" cy="3351696"/>
          </a:xfrm>
          <a:prstGeom prst="rect">
            <a:avLst/>
          </a:prstGeom>
          <a:noFill/>
          <a:effectLst>
            <a:softEdge rad="139700"/>
          </a:effectLst>
          <a:extLst>
            <a:ext uri="{909E8E84-426E-40DD-AFC4-6F175D3DCCD1}">
              <a14:hiddenFill xmlns:a14="http://schemas.microsoft.com/office/drawing/2010/main">
                <a:solidFill>
                  <a:srgbClr val="FFFFFF"/>
                </a:solidFill>
              </a14:hiddenFill>
            </a:ext>
          </a:extLst>
        </p:spPr>
      </p:pic>
      <p:pic>
        <p:nvPicPr>
          <p:cNvPr id="2058" name="Picture 10" descr="Auto Scaling Architecture Diagram Overview: AWS Load Balancing and Scaling | Saurav Anjansonde posted on the topic | LinkedI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40000" y="5274366"/>
            <a:ext cx="4869070" cy="3351696"/>
          </a:xfrm>
          <a:prstGeom prst="rect">
            <a:avLst/>
          </a:prstGeom>
          <a:noFill/>
          <a:effectLst>
            <a:softEdge rad="177800"/>
          </a:effectLst>
          <a:extLst>
            <a:ext uri="{909E8E84-426E-40DD-AFC4-6F175D3DCCD1}">
              <a14:hiddenFill xmlns:a14="http://schemas.microsoft.com/office/drawing/2010/main">
                <a:solidFill>
                  <a:srgbClr val="FFFFFF"/>
                </a:solidFill>
              </a14:hiddenFill>
            </a:ext>
          </a:extLst>
        </p:spPr>
      </p:pic>
      <p:sp>
        <p:nvSpPr>
          <p:cNvPr id="17" name="Rounded Rectangle 16"/>
          <p:cNvSpPr/>
          <p:nvPr/>
        </p:nvSpPr>
        <p:spPr>
          <a:xfrm>
            <a:off x="71628" y="1536192"/>
            <a:ext cx="2214372" cy="494792"/>
          </a:xfrm>
          <a:prstGeom prst="roundRect">
            <a:avLst/>
          </a:prstGeom>
          <a:solidFill>
            <a:srgbClr val="FF000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barn(inVertical)">
                                      <p:cBhvr>
                                        <p:cTn id="7" dur="500"/>
                                        <p:tgtEl>
                                          <p:spTgt spid="35"/>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barn(inVertical)">
                                      <p:cBhvr>
                                        <p:cTn id="10" dur="500"/>
                                        <p:tgtEl>
                                          <p:spTgt spid="36"/>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barn(inVertical)">
                                      <p:cBhvr>
                                        <p:cTn id="15" dur="500"/>
                                        <p:tgtEl>
                                          <p:spTgt spid="39"/>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barn(inVertical)">
                                      <p:cBhvr>
                                        <p:cTn id="18" dur="500"/>
                                        <p:tgtEl>
                                          <p:spTgt spid="40"/>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2058"/>
                                        </p:tgtEl>
                                        <p:attrNameLst>
                                          <p:attrName>style.visibility</p:attrName>
                                        </p:attrNameLst>
                                      </p:cBhvr>
                                      <p:to>
                                        <p:strVal val="visible"/>
                                      </p:to>
                                    </p:set>
                                    <p:animEffect transition="in" filter="barn(inVertical)">
                                      <p:cBhvr>
                                        <p:cTn id="23" dur="500"/>
                                        <p:tgtEl>
                                          <p:spTgt spid="2058"/>
                                        </p:tgtEl>
                                      </p:cBhvr>
                                    </p:animEffect>
                                  </p:childTnLst>
                                </p:cTn>
                              </p:par>
                              <p:par>
                                <p:cTn id="24" presetID="16" presetClass="entr" presetSubtype="21" fill="hold" nodeType="withEffect">
                                  <p:stCondLst>
                                    <p:cond delay="0"/>
                                  </p:stCondLst>
                                  <p:childTnLst>
                                    <p:set>
                                      <p:cBhvr>
                                        <p:cTn id="25" dur="1" fill="hold">
                                          <p:stCondLst>
                                            <p:cond delay="0"/>
                                          </p:stCondLst>
                                        </p:cTn>
                                        <p:tgtEl>
                                          <p:spTgt spid="2056"/>
                                        </p:tgtEl>
                                        <p:attrNameLst>
                                          <p:attrName>style.visibility</p:attrName>
                                        </p:attrNameLst>
                                      </p:cBhvr>
                                      <p:to>
                                        <p:strVal val="visible"/>
                                      </p:to>
                                    </p:set>
                                    <p:animEffect transition="in" filter="barn(inVertical)">
                                      <p:cBhvr>
                                        <p:cTn id="26" dur="500"/>
                                        <p:tgtEl>
                                          <p:spTgt spid="2056"/>
                                        </p:tgtEl>
                                      </p:cBhvr>
                                    </p:animEffect>
                                  </p:childTnLst>
                                </p:cTn>
                              </p:par>
                              <p:par>
                                <p:cTn id="27" presetID="16" presetClass="entr" presetSubtype="21" fill="hold" nodeType="withEffect">
                                  <p:stCondLst>
                                    <p:cond delay="0"/>
                                  </p:stCondLst>
                                  <p:childTnLst>
                                    <p:set>
                                      <p:cBhvr>
                                        <p:cTn id="28" dur="1" fill="hold">
                                          <p:stCondLst>
                                            <p:cond delay="0"/>
                                          </p:stCondLst>
                                        </p:cTn>
                                        <p:tgtEl>
                                          <p:spTgt spid="2052"/>
                                        </p:tgtEl>
                                        <p:attrNameLst>
                                          <p:attrName>style.visibility</p:attrName>
                                        </p:attrNameLst>
                                      </p:cBhvr>
                                      <p:to>
                                        <p:strVal val="visible"/>
                                      </p:to>
                                    </p:set>
                                    <p:animEffect transition="in" filter="barn(inVertical)">
                                      <p:cBhvr>
                                        <p:cTn id="29" dur="50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39" grpId="0" animBg="1"/>
      <p:bldP spid="4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sp>
      <p:sp>
        <p:nvSpPr>
          <p:cNvPr id="12" name="Shape 10"/>
          <p:cNvSpPr/>
          <p:nvPr/>
        </p:nvSpPr>
        <p:spPr>
          <a:xfrm>
            <a:off x="1066800" y="8864600"/>
            <a:ext cx="152400" cy="152400"/>
          </a:xfrm>
          <a:prstGeom prst="diamond">
            <a:avLst/>
          </a:prstGeom>
          <a:solidFill>
            <a:srgbClr val="00ACC1"/>
          </a:solidFill>
          <a:ln/>
        </p:spPr>
      </p:sp>
      <p:sp>
        <p:nvSpPr>
          <p:cNvPr id="15" name="Text 13"/>
          <p:cNvSpPr/>
          <p:nvPr/>
        </p:nvSpPr>
        <p:spPr>
          <a:xfrm>
            <a:off x="15621000" y="0"/>
            <a:ext cx="635000" cy="635000"/>
          </a:xfrm>
          <a:prstGeom prst="rect">
            <a:avLst/>
          </a:prstGeom>
          <a:noFill/>
          <a:ln/>
        </p:spPr>
        <p:txBody>
          <a:bodyPr wrap="none" lIns="0" tIns="0" rIns="0" bIns="0" rtlCol="0" anchor="ctr"/>
          <a:lstStyle/>
          <a:p>
            <a:pPr algn="r">
              <a:lnSpc>
                <a:spcPct val="120000"/>
              </a:lnSpc>
            </a:pPr>
            <a:r>
              <a:rPr lang="en-US" sz="1400" dirty="0">
                <a:solidFill>
                  <a:srgbClr val="005C82"/>
                </a:solidFill>
                <a:latin typeface="Quattrocento Sans" pitchFamily="34" charset="0"/>
                <a:ea typeface="Quattrocento Sans" pitchFamily="34" charset="-122"/>
                <a:cs typeface="Quattrocento Sans" pitchFamily="34" charset="-120"/>
              </a:rPr>
              <a:t>9</a:t>
            </a:r>
            <a:endParaRPr lang="en-US" sz="1400" dirty="0"/>
          </a:p>
        </p:txBody>
      </p:sp>
      <p:sp>
        <p:nvSpPr>
          <p:cNvPr id="16" name="Text 14"/>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smtClean="0">
                <a:solidFill>
                  <a:srgbClr val="005C82"/>
                </a:solidFill>
                <a:latin typeface="Quattrocento Sans" pitchFamily="34" charset="0"/>
                <a:ea typeface="Quattrocento Sans" pitchFamily="34" charset="-122"/>
                <a:cs typeface="Quattrocento Sans" pitchFamily="34" charset="-120"/>
              </a:rPr>
              <a:t>2. Data </a:t>
            </a:r>
            <a:r>
              <a:rPr lang="en-US" sz="2400" b="1" dirty="0">
                <a:solidFill>
                  <a:srgbClr val="005C82"/>
                </a:solidFill>
                <a:latin typeface="Quattrocento Sans" pitchFamily="34" charset="0"/>
                <a:ea typeface="Quattrocento Sans" pitchFamily="34" charset="-122"/>
                <a:cs typeface="Quattrocento Sans" pitchFamily="34" charset="-120"/>
              </a:rPr>
              <a:t>Life Cycle: Generation to Processing</a:t>
            </a:r>
            <a:endParaRPr lang="en-US" sz="2400" dirty="0"/>
          </a:p>
        </p:txBody>
      </p:sp>
      <p:sp>
        <p:nvSpPr>
          <p:cNvPr id="17" name="Shape 15"/>
          <p:cNvSpPr/>
          <p:nvPr/>
        </p:nvSpPr>
        <p:spPr>
          <a:xfrm>
            <a:off x="2540000" y="1397000"/>
            <a:ext cx="13208000" cy="12700"/>
          </a:xfrm>
          <a:prstGeom prst="rect">
            <a:avLst/>
          </a:prstGeom>
          <a:solidFill>
            <a:srgbClr val="B0BEC5"/>
          </a:solidFill>
          <a:ln/>
        </p:spPr>
      </p:sp>
      <p:sp>
        <p:nvSpPr>
          <p:cNvPr id="18" name="Shape 16"/>
          <p:cNvSpPr/>
          <p:nvPr/>
        </p:nvSpPr>
        <p:spPr>
          <a:xfrm>
            <a:off x="4876800" y="2269987"/>
            <a:ext cx="711200" cy="711200"/>
          </a:xfrm>
          <a:prstGeom prst="ellipse">
            <a:avLst/>
          </a:prstGeom>
          <a:solidFill>
            <a:srgbClr val="005C82"/>
          </a:solidFill>
          <a:ln/>
        </p:spPr>
      </p:sp>
      <p:sp>
        <p:nvSpPr>
          <p:cNvPr id="19" name="Text 17"/>
          <p:cNvSpPr/>
          <p:nvPr/>
        </p:nvSpPr>
        <p:spPr>
          <a:xfrm>
            <a:off x="4876800" y="2269987"/>
            <a:ext cx="711200" cy="711200"/>
          </a:xfrm>
          <a:prstGeom prst="rect">
            <a:avLst/>
          </a:prstGeom>
          <a:noFill/>
          <a:ln/>
        </p:spPr>
        <p:txBody>
          <a:bodyPr wrap="none" lIns="0" tIns="0" rIns="0" bIns="0" rtlCol="0" anchor="ctr"/>
          <a:lstStyle/>
          <a:p>
            <a:pPr algn="ctr">
              <a:lnSpc>
                <a:spcPct val="120000"/>
              </a:lnSpc>
            </a:pPr>
            <a:r>
              <a:rPr lang="en-US" sz="2200" dirty="0">
                <a:solidFill>
                  <a:srgbClr val="FFFFFF"/>
                </a:solidFill>
                <a:latin typeface="Quattrocento Sans" pitchFamily="34" charset="0"/>
                <a:ea typeface="Quattrocento Sans" pitchFamily="34" charset="-122"/>
                <a:cs typeface="Quattrocento Sans" pitchFamily="34" charset="-120"/>
              </a:rPr>
              <a:t>1</a:t>
            </a:r>
            <a:endParaRPr lang="en-US" sz="2200" dirty="0"/>
          </a:p>
        </p:txBody>
      </p:sp>
      <p:sp>
        <p:nvSpPr>
          <p:cNvPr id="20" name="Shape 18"/>
          <p:cNvSpPr/>
          <p:nvPr/>
        </p:nvSpPr>
        <p:spPr>
          <a:xfrm>
            <a:off x="5588000" y="2600187"/>
            <a:ext cx="1524000" cy="38100"/>
          </a:xfrm>
          <a:prstGeom prst="rect">
            <a:avLst/>
          </a:prstGeom>
          <a:solidFill>
            <a:srgbClr val="005C82"/>
          </a:solidFill>
          <a:ln/>
        </p:spPr>
      </p:sp>
      <p:sp>
        <p:nvSpPr>
          <p:cNvPr id="21" name="Shape 19"/>
          <p:cNvSpPr/>
          <p:nvPr/>
        </p:nvSpPr>
        <p:spPr>
          <a:xfrm>
            <a:off x="7112000" y="2269987"/>
            <a:ext cx="711200" cy="711200"/>
          </a:xfrm>
          <a:prstGeom prst="ellipse">
            <a:avLst/>
          </a:prstGeom>
          <a:solidFill>
            <a:srgbClr val="007AA8"/>
          </a:solidFill>
          <a:ln/>
        </p:spPr>
      </p:sp>
      <p:sp>
        <p:nvSpPr>
          <p:cNvPr id="22" name="Text 20"/>
          <p:cNvSpPr/>
          <p:nvPr/>
        </p:nvSpPr>
        <p:spPr>
          <a:xfrm>
            <a:off x="7112000" y="2269987"/>
            <a:ext cx="711200" cy="711200"/>
          </a:xfrm>
          <a:prstGeom prst="rect">
            <a:avLst/>
          </a:prstGeom>
          <a:noFill/>
          <a:ln/>
        </p:spPr>
        <p:txBody>
          <a:bodyPr wrap="none" lIns="0" tIns="0" rIns="0" bIns="0" rtlCol="0" anchor="ctr"/>
          <a:lstStyle/>
          <a:p>
            <a:pPr algn="ctr">
              <a:lnSpc>
                <a:spcPct val="120000"/>
              </a:lnSpc>
            </a:pPr>
            <a:r>
              <a:rPr lang="en-US" sz="2200" dirty="0">
                <a:solidFill>
                  <a:srgbClr val="FFFFFF"/>
                </a:solidFill>
                <a:latin typeface="Quattrocento Sans" pitchFamily="34" charset="0"/>
                <a:ea typeface="Quattrocento Sans" pitchFamily="34" charset="-122"/>
                <a:cs typeface="Quattrocento Sans" pitchFamily="34" charset="-120"/>
              </a:rPr>
              <a:t>2</a:t>
            </a:r>
            <a:endParaRPr lang="en-US" sz="2200" dirty="0"/>
          </a:p>
        </p:txBody>
      </p:sp>
      <p:sp>
        <p:nvSpPr>
          <p:cNvPr id="23" name="Shape 21"/>
          <p:cNvSpPr/>
          <p:nvPr/>
        </p:nvSpPr>
        <p:spPr>
          <a:xfrm>
            <a:off x="7823200" y="2600187"/>
            <a:ext cx="1524000" cy="38100"/>
          </a:xfrm>
          <a:prstGeom prst="rect">
            <a:avLst/>
          </a:prstGeom>
          <a:solidFill>
            <a:srgbClr val="007AA8"/>
          </a:solidFill>
          <a:ln/>
        </p:spPr>
      </p:sp>
      <p:sp>
        <p:nvSpPr>
          <p:cNvPr id="24" name="Shape 22"/>
          <p:cNvSpPr/>
          <p:nvPr/>
        </p:nvSpPr>
        <p:spPr>
          <a:xfrm>
            <a:off x="9347200" y="2269987"/>
            <a:ext cx="711200" cy="711200"/>
          </a:xfrm>
          <a:prstGeom prst="ellipse">
            <a:avLst/>
          </a:prstGeom>
          <a:solidFill>
            <a:srgbClr val="00ACC1"/>
          </a:solidFill>
          <a:ln/>
        </p:spPr>
      </p:sp>
      <p:sp>
        <p:nvSpPr>
          <p:cNvPr id="25" name="Text 23"/>
          <p:cNvSpPr/>
          <p:nvPr/>
        </p:nvSpPr>
        <p:spPr>
          <a:xfrm>
            <a:off x="9347200" y="2269987"/>
            <a:ext cx="711200" cy="711200"/>
          </a:xfrm>
          <a:prstGeom prst="rect">
            <a:avLst/>
          </a:prstGeom>
          <a:noFill/>
          <a:ln/>
        </p:spPr>
        <p:txBody>
          <a:bodyPr wrap="none" lIns="0" tIns="0" rIns="0" bIns="0" rtlCol="0" anchor="ctr"/>
          <a:lstStyle/>
          <a:p>
            <a:pPr algn="ctr">
              <a:lnSpc>
                <a:spcPct val="120000"/>
              </a:lnSpc>
            </a:pPr>
            <a:r>
              <a:rPr lang="en-US" sz="2200" dirty="0">
                <a:solidFill>
                  <a:srgbClr val="FFFFFF"/>
                </a:solidFill>
                <a:latin typeface="Quattrocento Sans" pitchFamily="34" charset="0"/>
                <a:ea typeface="Quattrocento Sans" pitchFamily="34" charset="-122"/>
                <a:cs typeface="Quattrocento Sans" pitchFamily="34" charset="-120"/>
              </a:rPr>
              <a:t>3</a:t>
            </a:r>
            <a:endParaRPr lang="en-US" sz="2200" dirty="0"/>
          </a:p>
        </p:txBody>
      </p:sp>
      <p:sp>
        <p:nvSpPr>
          <p:cNvPr id="26" name="Shape 24"/>
          <p:cNvSpPr/>
          <p:nvPr/>
        </p:nvSpPr>
        <p:spPr>
          <a:xfrm>
            <a:off x="10058400" y="2600187"/>
            <a:ext cx="1524000" cy="38100"/>
          </a:xfrm>
          <a:prstGeom prst="rect">
            <a:avLst/>
          </a:prstGeom>
          <a:solidFill>
            <a:srgbClr val="00ACC1"/>
          </a:solidFill>
          <a:ln/>
        </p:spPr>
      </p:sp>
      <p:sp>
        <p:nvSpPr>
          <p:cNvPr id="27" name="Shape 25"/>
          <p:cNvSpPr/>
          <p:nvPr/>
        </p:nvSpPr>
        <p:spPr>
          <a:xfrm>
            <a:off x="11582400" y="2269987"/>
            <a:ext cx="711200" cy="711200"/>
          </a:xfrm>
          <a:prstGeom prst="ellipse">
            <a:avLst/>
          </a:prstGeom>
          <a:solidFill>
            <a:srgbClr val="007AA8"/>
          </a:solidFill>
          <a:ln/>
        </p:spPr>
      </p:sp>
      <p:sp>
        <p:nvSpPr>
          <p:cNvPr id="28" name="Text 26"/>
          <p:cNvSpPr/>
          <p:nvPr/>
        </p:nvSpPr>
        <p:spPr>
          <a:xfrm>
            <a:off x="11582400" y="2269987"/>
            <a:ext cx="711200" cy="711200"/>
          </a:xfrm>
          <a:prstGeom prst="rect">
            <a:avLst/>
          </a:prstGeom>
          <a:noFill/>
          <a:ln/>
        </p:spPr>
        <p:txBody>
          <a:bodyPr wrap="none" lIns="0" tIns="0" rIns="0" bIns="0" rtlCol="0" anchor="ctr"/>
          <a:lstStyle/>
          <a:p>
            <a:pPr algn="ctr">
              <a:lnSpc>
                <a:spcPct val="120000"/>
              </a:lnSpc>
            </a:pPr>
            <a:r>
              <a:rPr lang="en-US" sz="2200" dirty="0">
                <a:solidFill>
                  <a:srgbClr val="FFFFFF"/>
                </a:solidFill>
                <a:latin typeface="Quattrocento Sans" pitchFamily="34" charset="0"/>
                <a:ea typeface="Quattrocento Sans" pitchFamily="34" charset="-122"/>
                <a:cs typeface="Quattrocento Sans" pitchFamily="34" charset="-120"/>
              </a:rPr>
              <a:t>4</a:t>
            </a:r>
            <a:endParaRPr lang="en-US" sz="2200" dirty="0"/>
          </a:p>
        </p:txBody>
      </p:sp>
      <p:sp>
        <p:nvSpPr>
          <p:cNvPr id="29" name="Text 27"/>
          <p:cNvSpPr/>
          <p:nvPr/>
        </p:nvSpPr>
        <p:spPr>
          <a:xfrm>
            <a:off x="4572000" y="3057387"/>
            <a:ext cx="1320800" cy="558800"/>
          </a:xfrm>
          <a:prstGeom prst="rect">
            <a:avLst/>
          </a:prstGeom>
          <a:noFill/>
          <a:ln/>
        </p:spPr>
        <p:txBody>
          <a:bodyPr wrap="square" lIns="0" tIns="0" rIns="0" bIns="0" rtlCol="0" anchor="t"/>
          <a:lstStyle/>
          <a:p>
            <a:pPr algn="ctr">
              <a:lnSpc>
                <a:spcPct val="120000"/>
              </a:lnSpc>
            </a:pPr>
            <a:r>
              <a:rPr lang="en-US" sz="1300" b="1" dirty="0">
                <a:solidFill>
                  <a:srgbClr val="005C82"/>
                </a:solidFill>
                <a:latin typeface="Quattrocento Sans" pitchFamily="34" charset="0"/>
                <a:ea typeface="Quattrocento Sans" pitchFamily="34" charset="-122"/>
                <a:cs typeface="Quattrocento Sans" pitchFamily="34" charset="-120"/>
              </a:rPr>
              <a:t>Generation</a:t>
            </a:r>
            <a:endParaRPr lang="en-US" sz="1300" dirty="0"/>
          </a:p>
          <a:p>
            <a:pPr algn="ctr">
              <a:lnSpc>
                <a:spcPct val="120000"/>
              </a:lnSpc>
            </a:pPr>
            <a:r>
              <a:rPr lang="en-US" sz="1300" dirty="0">
                <a:solidFill>
                  <a:srgbClr val="005C82"/>
                </a:solidFill>
                <a:latin typeface="Quattrocento Sans" pitchFamily="34" charset="0"/>
                <a:ea typeface="Quattrocento Sans" pitchFamily="34" charset="-122"/>
                <a:cs typeface="Quattrocento Sans" pitchFamily="34" charset="-120"/>
              </a:rPr>
              <a:t>&amp; Collection</a:t>
            </a:r>
            <a:endParaRPr lang="en-US" sz="1300" dirty="0"/>
          </a:p>
        </p:txBody>
      </p:sp>
      <p:sp>
        <p:nvSpPr>
          <p:cNvPr id="30" name="Text 28"/>
          <p:cNvSpPr/>
          <p:nvPr/>
        </p:nvSpPr>
        <p:spPr>
          <a:xfrm>
            <a:off x="6807200" y="3057387"/>
            <a:ext cx="1320800" cy="558800"/>
          </a:xfrm>
          <a:prstGeom prst="rect">
            <a:avLst/>
          </a:prstGeom>
          <a:noFill/>
          <a:ln/>
        </p:spPr>
        <p:txBody>
          <a:bodyPr wrap="square" lIns="0" tIns="0" rIns="0" bIns="0" rtlCol="0" anchor="t"/>
          <a:lstStyle/>
          <a:p>
            <a:pPr algn="ctr">
              <a:lnSpc>
                <a:spcPct val="120000"/>
              </a:lnSpc>
            </a:pPr>
            <a:r>
              <a:rPr lang="en-US" sz="1300" b="1" dirty="0">
                <a:solidFill>
                  <a:srgbClr val="007AA8"/>
                </a:solidFill>
                <a:latin typeface="Quattrocento Sans" pitchFamily="34" charset="0"/>
                <a:ea typeface="Quattrocento Sans" pitchFamily="34" charset="-122"/>
                <a:cs typeface="Quattrocento Sans" pitchFamily="34" charset="-120"/>
              </a:rPr>
              <a:t>Ingestion</a:t>
            </a:r>
            <a:endParaRPr lang="en-US" sz="1300" dirty="0"/>
          </a:p>
        </p:txBody>
      </p:sp>
      <p:sp>
        <p:nvSpPr>
          <p:cNvPr id="31" name="Text 29"/>
          <p:cNvSpPr/>
          <p:nvPr/>
        </p:nvSpPr>
        <p:spPr>
          <a:xfrm>
            <a:off x="9042400" y="3057387"/>
            <a:ext cx="1320800" cy="558800"/>
          </a:xfrm>
          <a:prstGeom prst="rect">
            <a:avLst/>
          </a:prstGeom>
          <a:noFill/>
          <a:ln/>
        </p:spPr>
        <p:txBody>
          <a:bodyPr wrap="square" lIns="0" tIns="0" rIns="0" bIns="0" rtlCol="0" anchor="t"/>
          <a:lstStyle/>
          <a:p>
            <a:pPr algn="ctr">
              <a:lnSpc>
                <a:spcPct val="120000"/>
              </a:lnSpc>
            </a:pPr>
            <a:r>
              <a:rPr lang="en-US" sz="1300" b="1" dirty="0">
                <a:solidFill>
                  <a:srgbClr val="00ACC1"/>
                </a:solidFill>
                <a:latin typeface="Quattrocento Sans" pitchFamily="34" charset="0"/>
                <a:ea typeface="Quattrocento Sans" pitchFamily="34" charset="-122"/>
                <a:cs typeface="Quattrocento Sans" pitchFamily="34" charset="-120"/>
              </a:rPr>
              <a:t>Storage</a:t>
            </a:r>
            <a:endParaRPr lang="en-US" sz="1300" dirty="0"/>
          </a:p>
        </p:txBody>
      </p:sp>
      <p:sp>
        <p:nvSpPr>
          <p:cNvPr id="32" name="Text 30"/>
          <p:cNvSpPr/>
          <p:nvPr/>
        </p:nvSpPr>
        <p:spPr>
          <a:xfrm>
            <a:off x="11277600" y="3057387"/>
            <a:ext cx="1320800" cy="558800"/>
          </a:xfrm>
          <a:prstGeom prst="rect">
            <a:avLst/>
          </a:prstGeom>
          <a:noFill/>
          <a:ln/>
        </p:spPr>
        <p:txBody>
          <a:bodyPr wrap="square" lIns="0" tIns="0" rIns="0" bIns="0" rtlCol="0" anchor="t"/>
          <a:lstStyle/>
          <a:p>
            <a:pPr algn="ctr">
              <a:lnSpc>
                <a:spcPct val="120000"/>
              </a:lnSpc>
            </a:pPr>
            <a:r>
              <a:rPr lang="en-US" sz="1300" b="1" dirty="0">
                <a:solidFill>
                  <a:srgbClr val="007AA8"/>
                </a:solidFill>
                <a:latin typeface="Quattrocento Sans" pitchFamily="34" charset="0"/>
                <a:ea typeface="Quattrocento Sans" pitchFamily="34" charset="-122"/>
                <a:cs typeface="Quattrocento Sans" pitchFamily="34" charset="-120"/>
              </a:rPr>
              <a:t>Processing</a:t>
            </a:r>
            <a:endParaRPr lang="en-US" sz="1300" dirty="0"/>
          </a:p>
        </p:txBody>
      </p:sp>
      <p:pic>
        <p:nvPicPr>
          <p:cNvPr id="4" name="Picture 3"/>
          <p:cNvPicPr>
            <a:picLocks noChangeAspect="1"/>
          </p:cNvPicPr>
          <p:nvPr/>
        </p:nvPicPr>
        <p:blipFill>
          <a:blip r:embed="rId3"/>
          <a:stretch>
            <a:fillRect/>
          </a:stretch>
        </p:blipFill>
        <p:spPr>
          <a:xfrm>
            <a:off x="3349291" y="1804504"/>
            <a:ext cx="11995818" cy="6120296"/>
          </a:xfrm>
          <a:prstGeom prst="rect">
            <a:avLst/>
          </a:prstGeom>
          <a:effectLst>
            <a:softEdge rad="0"/>
          </a:effectLst>
        </p:spPr>
      </p:pic>
      <p:sp>
        <p:nvSpPr>
          <p:cNvPr id="33" name="Rounded Rectangle 32"/>
          <p:cNvSpPr/>
          <p:nvPr/>
        </p:nvSpPr>
        <p:spPr>
          <a:xfrm>
            <a:off x="35814" y="2532866"/>
            <a:ext cx="2214372" cy="494792"/>
          </a:xfrm>
          <a:prstGeom prst="roundRect">
            <a:avLst/>
          </a:prstGeom>
          <a:solidFill>
            <a:srgbClr val="FF000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338798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sp>
      <p:sp>
        <p:nvSpPr>
          <p:cNvPr id="12" name="Shape 10"/>
          <p:cNvSpPr/>
          <p:nvPr/>
        </p:nvSpPr>
        <p:spPr>
          <a:xfrm>
            <a:off x="1066800" y="8864600"/>
            <a:ext cx="152400" cy="152400"/>
          </a:xfrm>
          <a:prstGeom prst="diamond">
            <a:avLst/>
          </a:prstGeom>
          <a:solidFill>
            <a:srgbClr val="00ACC1"/>
          </a:solidFill>
          <a:ln/>
        </p:spPr>
      </p:sp>
      <p:sp>
        <p:nvSpPr>
          <p:cNvPr id="15" name="Text 13"/>
          <p:cNvSpPr/>
          <p:nvPr/>
        </p:nvSpPr>
        <p:spPr>
          <a:xfrm>
            <a:off x="15621000" y="0"/>
            <a:ext cx="635000" cy="635000"/>
          </a:xfrm>
          <a:prstGeom prst="rect">
            <a:avLst/>
          </a:prstGeom>
          <a:noFill/>
          <a:ln/>
        </p:spPr>
        <p:txBody>
          <a:bodyPr wrap="none" lIns="0" tIns="0" rIns="0" bIns="0" rtlCol="0" anchor="ctr"/>
          <a:lstStyle/>
          <a:p>
            <a:pPr algn="r">
              <a:lnSpc>
                <a:spcPct val="120000"/>
              </a:lnSpc>
            </a:pPr>
            <a:r>
              <a:rPr lang="en-US" sz="1400" dirty="0">
                <a:solidFill>
                  <a:srgbClr val="005C82"/>
                </a:solidFill>
                <a:latin typeface="Quattrocento Sans" pitchFamily="34" charset="0"/>
                <a:ea typeface="Quattrocento Sans" pitchFamily="34" charset="-122"/>
                <a:cs typeface="Quattrocento Sans" pitchFamily="34" charset="-120"/>
              </a:rPr>
              <a:t>9</a:t>
            </a:r>
            <a:endParaRPr lang="en-US" sz="1400" dirty="0"/>
          </a:p>
        </p:txBody>
      </p:sp>
      <p:sp>
        <p:nvSpPr>
          <p:cNvPr id="16" name="Text 14"/>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Data Life Cycle: Generation to Processing</a:t>
            </a:r>
            <a:endParaRPr lang="en-US" sz="2400" dirty="0"/>
          </a:p>
        </p:txBody>
      </p:sp>
      <p:sp>
        <p:nvSpPr>
          <p:cNvPr id="17" name="Shape 15"/>
          <p:cNvSpPr/>
          <p:nvPr/>
        </p:nvSpPr>
        <p:spPr>
          <a:xfrm>
            <a:off x="2540000" y="1397000"/>
            <a:ext cx="13208000" cy="12700"/>
          </a:xfrm>
          <a:prstGeom prst="rect">
            <a:avLst/>
          </a:prstGeom>
          <a:solidFill>
            <a:srgbClr val="B0BEC5"/>
          </a:solidFill>
          <a:ln/>
        </p:spPr>
      </p:sp>
      <p:sp>
        <p:nvSpPr>
          <p:cNvPr id="33" name="Shape 31"/>
          <p:cNvSpPr/>
          <p:nvPr/>
        </p:nvSpPr>
        <p:spPr>
          <a:xfrm>
            <a:off x="2667000" y="1908865"/>
            <a:ext cx="6350000" cy="2946952"/>
          </a:xfrm>
          <a:prstGeom prst="roundRect">
            <a:avLst>
              <a:gd name="adj" fmla="val 4000"/>
            </a:avLst>
          </a:prstGeom>
          <a:solidFill>
            <a:srgbClr val="E0F4FA"/>
          </a:solidFill>
          <a:ln/>
        </p:spPr>
      </p:sp>
      <p:sp>
        <p:nvSpPr>
          <p:cNvPr id="34" name="Text 32"/>
          <p:cNvSpPr/>
          <p:nvPr/>
        </p:nvSpPr>
        <p:spPr>
          <a:xfrm>
            <a:off x="2870200" y="2035865"/>
            <a:ext cx="5943600" cy="304800"/>
          </a:xfrm>
          <a:prstGeom prst="rect">
            <a:avLst/>
          </a:prstGeom>
          <a:noFill/>
          <a:ln/>
        </p:spPr>
        <p:txBody>
          <a:bodyPr wrap="none" lIns="0" tIns="0" rIns="0" bIns="0" rtlCol="0" anchor="t"/>
          <a:lstStyle/>
          <a:p>
            <a:pPr algn="l">
              <a:lnSpc>
                <a:spcPct val="120000"/>
              </a:lnSpc>
            </a:pPr>
            <a:r>
              <a:rPr lang="en-US" sz="2000" b="1" dirty="0">
                <a:solidFill>
                  <a:srgbClr val="C00000"/>
                </a:solidFill>
                <a:ea typeface="Quattrocento Sans" pitchFamily="34" charset="-122"/>
                <a:cs typeface="Quattrocento Sans" pitchFamily="34" charset="-120"/>
              </a:rPr>
              <a:t>1. Data Generation / Collection</a:t>
            </a:r>
            <a:endParaRPr lang="en-US" sz="2000" dirty="0">
              <a:solidFill>
                <a:srgbClr val="C00000"/>
              </a:solidFill>
            </a:endParaRPr>
          </a:p>
        </p:txBody>
      </p:sp>
      <p:sp>
        <p:nvSpPr>
          <p:cNvPr id="35" name="Text 33"/>
          <p:cNvSpPr/>
          <p:nvPr/>
        </p:nvSpPr>
        <p:spPr>
          <a:xfrm>
            <a:off x="2870200" y="2391464"/>
            <a:ext cx="5943600" cy="1849783"/>
          </a:xfrm>
          <a:prstGeom prst="rect">
            <a:avLst/>
          </a:prstGeom>
          <a:noFill/>
          <a:ln/>
        </p:spPr>
        <p:txBody>
          <a:bodyPr wrap="square" lIns="0" tIns="0" rIns="0" bIns="0" rtlCol="0" anchor="t"/>
          <a:lstStyle/>
          <a:p>
            <a:pPr algn="l">
              <a:lnSpc>
                <a:spcPct val="160000"/>
              </a:lnSpc>
            </a:pPr>
            <a:r>
              <a:rPr lang="en-US" sz="2000" dirty="0">
                <a:solidFill>
                  <a:srgbClr val="333333"/>
                </a:solidFill>
                <a:ea typeface="Quattrocento Sans" pitchFamily="34" charset="-122"/>
                <a:cs typeface="Quattrocento Sans" pitchFamily="34" charset="-120"/>
              </a:rPr>
              <a:t>Data generated from sensors, web logs, social media, transactional systems, and IoT devices. Collection mechanisms include batch ingestion, real-time streaming (Apache Kafka, Flume), and direct database imports (Sqoop).</a:t>
            </a:r>
            <a:endParaRPr lang="en-US" sz="2000" dirty="0"/>
          </a:p>
        </p:txBody>
      </p:sp>
      <p:sp>
        <p:nvSpPr>
          <p:cNvPr id="36" name="Shape 34"/>
          <p:cNvSpPr/>
          <p:nvPr/>
        </p:nvSpPr>
        <p:spPr>
          <a:xfrm>
            <a:off x="9271000" y="1908865"/>
            <a:ext cx="6350000" cy="2908852"/>
          </a:xfrm>
          <a:prstGeom prst="roundRect">
            <a:avLst>
              <a:gd name="adj" fmla="val 4000"/>
            </a:avLst>
          </a:prstGeom>
          <a:solidFill>
            <a:srgbClr val="E0F4FA"/>
          </a:solidFill>
          <a:ln/>
        </p:spPr>
      </p:sp>
      <p:sp>
        <p:nvSpPr>
          <p:cNvPr id="37" name="Text 35"/>
          <p:cNvSpPr/>
          <p:nvPr/>
        </p:nvSpPr>
        <p:spPr>
          <a:xfrm>
            <a:off x="9474200" y="2035865"/>
            <a:ext cx="5943600" cy="304800"/>
          </a:xfrm>
          <a:prstGeom prst="rect">
            <a:avLst/>
          </a:prstGeom>
          <a:noFill/>
          <a:ln/>
        </p:spPr>
        <p:txBody>
          <a:bodyPr wrap="none" lIns="0" tIns="0" rIns="0" bIns="0" rtlCol="0" anchor="t"/>
          <a:lstStyle/>
          <a:p>
            <a:pPr algn="l">
              <a:lnSpc>
                <a:spcPct val="120000"/>
              </a:lnSpc>
            </a:pPr>
            <a:r>
              <a:rPr lang="en-US" sz="2000" b="1" dirty="0">
                <a:solidFill>
                  <a:srgbClr val="C00000"/>
                </a:solidFill>
                <a:ea typeface="Quattrocento Sans" pitchFamily="34" charset="-122"/>
                <a:cs typeface="Quattrocento Sans" pitchFamily="34" charset="-120"/>
              </a:rPr>
              <a:t>2. Data Ingestion</a:t>
            </a:r>
            <a:endParaRPr lang="en-US" sz="2000" dirty="0">
              <a:solidFill>
                <a:srgbClr val="C00000"/>
              </a:solidFill>
            </a:endParaRPr>
          </a:p>
        </p:txBody>
      </p:sp>
      <p:sp>
        <p:nvSpPr>
          <p:cNvPr id="38" name="Text 36"/>
          <p:cNvSpPr/>
          <p:nvPr/>
        </p:nvSpPr>
        <p:spPr>
          <a:xfrm>
            <a:off x="9474200" y="2391465"/>
            <a:ext cx="5943600" cy="1397000"/>
          </a:xfrm>
          <a:prstGeom prst="rect">
            <a:avLst/>
          </a:prstGeom>
          <a:noFill/>
          <a:ln/>
        </p:spPr>
        <p:txBody>
          <a:bodyPr wrap="square" lIns="0" tIns="0" rIns="0" bIns="0" rtlCol="0" anchor="t"/>
          <a:lstStyle/>
          <a:p>
            <a:pPr algn="l">
              <a:lnSpc>
                <a:spcPct val="160000"/>
              </a:lnSpc>
            </a:pPr>
            <a:r>
              <a:rPr lang="en-US" sz="2000" dirty="0">
                <a:solidFill>
                  <a:srgbClr val="333333"/>
                </a:solidFill>
                <a:ea typeface="Quattrocento Sans" pitchFamily="34" charset="-122"/>
                <a:cs typeface="Quattrocento Sans" pitchFamily="34" charset="-120"/>
              </a:rPr>
              <a:t>Raw data is brought into the storage layer. Apache Sqoop for structured data import/export from SQL to HDFS. Apache Flume for ingesting unstructured and streaming data. Involves format conversion and deduplication.</a:t>
            </a:r>
            <a:endParaRPr lang="en-US" sz="2000" dirty="0"/>
          </a:p>
        </p:txBody>
      </p:sp>
      <p:sp>
        <p:nvSpPr>
          <p:cNvPr id="39" name="Shape 37"/>
          <p:cNvSpPr/>
          <p:nvPr/>
        </p:nvSpPr>
        <p:spPr>
          <a:xfrm>
            <a:off x="2667000" y="4906616"/>
            <a:ext cx="6350000" cy="2445753"/>
          </a:xfrm>
          <a:prstGeom prst="roundRect">
            <a:avLst>
              <a:gd name="adj" fmla="val 4000"/>
            </a:avLst>
          </a:prstGeom>
          <a:solidFill>
            <a:srgbClr val="E0F4FA"/>
          </a:solidFill>
          <a:ln/>
        </p:spPr>
      </p:sp>
      <p:sp>
        <p:nvSpPr>
          <p:cNvPr id="40" name="Text 38"/>
          <p:cNvSpPr/>
          <p:nvPr/>
        </p:nvSpPr>
        <p:spPr>
          <a:xfrm>
            <a:off x="2870200" y="5033617"/>
            <a:ext cx="5943600" cy="304800"/>
          </a:xfrm>
          <a:prstGeom prst="rect">
            <a:avLst/>
          </a:prstGeom>
          <a:noFill/>
          <a:ln/>
        </p:spPr>
        <p:txBody>
          <a:bodyPr wrap="none" lIns="0" tIns="0" rIns="0" bIns="0" rtlCol="0" anchor="t"/>
          <a:lstStyle/>
          <a:p>
            <a:pPr algn="l">
              <a:lnSpc>
                <a:spcPct val="120000"/>
              </a:lnSpc>
            </a:pPr>
            <a:r>
              <a:rPr lang="en-US" sz="2000" b="1" dirty="0">
                <a:solidFill>
                  <a:srgbClr val="C00000"/>
                </a:solidFill>
                <a:ea typeface="Quattrocento Sans" pitchFamily="34" charset="-122"/>
                <a:cs typeface="Quattrocento Sans" pitchFamily="34" charset="-120"/>
              </a:rPr>
              <a:t>3. Data Storage</a:t>
            </a:r>
            <a:endParaRPr lang="en-US" sz="2000" dirty="0">
              <a:solidFill>
                <a:srgbClr val="C00000"/>
              </a:solidFill>
            </a:endParaRPr>
          </a:p>
        </p:txBody>
      </p:sp>
      <p:sp>
        <p:nvSpPr>
          <p:cNvPr id="41" name="Text 39"/>
          <p:cNvSpPr/>
          <p:nvPr/>
        </p:nvSpPr>
        <p:spPr>
          <a:xfrm>
            <a:off x="2870200" y="5389217"/>
            <a:ext cx="5943600" cy="1397000"/>
          </a:xfrm>
          <a:prstGeom prst="rect">
            <a:avLst/>
          </a:prstGeom>
          <a:noFill/>
          <a:ln/>
        </p:spPr>
        <p:txBody>
          <a:bodyPr wrap="square" lIns="0" tIns="0" rIns="0" bIns="0" rtlCol="0" anchor="t"/>
          <a:lstStyle/>
          <a:p>
            <a:pPr algn="l">
              <a:lnSpc>
                <a:spcPct val="160000"/>
              </a:lnSpc>
            </a:pPr>
            <a:r>
              <a:rPr lang="en-US" sz="2000" dirty="0">
                <a:solidFill>
                  <a:srgbClr val="333333"/>
                </a:solidFill>
                <a:ea typeface="Quattrocento Sans" pitchFamily="34" charset="-122"/>
                <a:cs typeface="Quattrocento Sans" pitchFamily="34" charset="-120"/>
              </a:rPr>
              <a:t>Distributed storage using HDFS (Hadoop Distributed File System). Data stored in 128 MB blocks across multiple DataNodes with replication for fault tolerance. NoSQL databases (MongoDB, Cassandra, HBase) also used.</a:t>
            </a:r>
            <a:endParaRPr lang="en-US" sz="2000" dirty="0"/>
          </a:p>
        </p:txBody>
      </p:sp>
      <p:sp>
        <p:nvSpPr>
          <p:cNvPr id="42" name="Shape 40"/>
          <p:cNvSpPr/>
          <p:nvPr/>
        </p:nvSpPr>
        <p:spPr>
          <a:xfrm>
            <a:off x="9271000" y="4906616"/>
            <a:ext cx="6350000" cy="2445753"/>
          </a:xfrm>
          <a:prstGeom prst="roundRect">
            <a:avLst>
              <a:gd name="adj" fmla="val 4000"/>
            </a:avLst>
          </a:prstGeom>
          <a:solidFill>
            <a:srgbClr val="E0F4FA"/>
          </a:solidFill>
          <a:ln/>
        </p:spPr>
      </p:sp>
      <p:sp>
        <p:nvSpPr>
          <p:cNvPr id="43" name="Text 41"/>
          <p:cNvSpPr/>
          <p:nvPr/>
        </p:nvSpPr>
        <p:spPr>
          <a:xfrm>
            <a:off x="9474200" y="5033617"/>
            <a:ext cx="5943600" cy="304800"/>
          </a:xfrm>
          <a:prstGeom prst="rect">
            <a:avLst/>
          </a:prstGeom>
          <a:noFill/>
          <a:ln/>
        </p:spPr>
        <p:txBody>
          <a:bodyPr wrap="none" lIns="0" tIns="0" rIns="0" bIns="0" rtlCol="0" anchor="t"/>
          <a:lstStyle/>
          <a:p>
            <a:pPr algn="l">
              <a:lnSpc>
                <a:spcPct val="120000"/>
              </a:lnSpc>
            </a:pPr>
            <a:r>
              <a:rPr lang="en-US" sz="2000" b="1" dirty="0">
                <a:solidFill>
                  <a:srgbClr val="C00000"/>
                </a:solidFill>
                <a:ea typeface="Quattrocento Sans" pitchFamily="34" charset="-122"/>
                <a:cs typeface="Quattrocento Sans" pitchFamily="34" charset="-120"/>
              </a:rPr>
              <a:t>4. Data Processing</a:t>
            </a:r>
            <a:endParaRPr lang="en-US" sz="2000" dirty="0">
              <a:solidFill>
                <a:srgbClr val="C00000"/>
              </a:solidFill>
            </a:endParaRPr>
          </a:p>
        </p:txBody>
      </p:sp>
      <p:sp>
        <p:nvSpPr>
          <p:cNvPr id="44" name="Text 42"/>
          <p:cNvSpPr/>
          <p:nvPr/>
        </p:nvSpPr>
        <p:spPr>
          <a:xfrm>
            <a:off x="9474200" y="5389217"/>
            <a:ext cx="5943600" cy="1397000"/>
          </a:xfrm>
          <a:prstGeom prst="rect">
            <a:avLst/>
          </a:prstGeom>
          <a:noFill/>
          <a:ln/>
        </p:spPr>
        <p:txBody>
          <a:bodyPr wrap="square" lIns="0" tIns="0" rIns="0" bIns="0" rtlCol="0" anchor="t"/>
          <a:lstStyle/>
          <a:p>
            <a:pPr algn="l">
              <a:lnSpc>
                <a:spcPct val="160000"/>
              </a:lnSpc>
            </a:pPr>
            <a:r>
              <a:rPr lang="en-US" sz="2000" b="1" dirty="0">
                <a:solidFill>
                  <a:srgbClr val="333333"/>
                </a:solidFill>
                <a:ea typeface="Quattrocento Sans" pitchFamily="34" charset="-122"/>
                <a:cs typeface="Quattrocento Sans" pitchFamily="34" charset="-120"/>
              </a:rPr>
              <a:t>Batch Processing:</a:t>
            </a:r>
            <a:r>
              <a:rPr lang="en-US" sz="2000" dirty="0">
                <a:solidFill>
                  <a:srgbClr val="333333"/>
                </a:solidFill>
                <a:ea typeface="Quattrocento Sans" pitchFamily="34" charset="-122"/>
                <a:cs typeface="Quattrocento Sans" pitchFamily="34" charset="-120"/>
              </a:rPr>
              <a:t> MapReduce framework processes large datasets in parallel across a cluster. </a:t>
            </a:r>
            <a:r>
              <a:rPr lang="en-US" sz="2000" b="1" dirty="0">
                <a:solidFill>
                  <a:srgbClr val="333333"/>
                </a:solidFill>
                <a:ea typeface="Quattrocento Sans" pitchFamily="34" charset="-122"/>
                <a:cs typeface="Quattrocento Sans" pitchFamily="34" charset="-120"/>
              </a:rPr>
              <a:t>Stream Processing:</a:t>
            </a:r>
            <a:r>
              <a:rPr lang="en-US" sz="2000" dirty="0">
                <a:solidFill>
                  <a:srgbClr val="333333"/>
                </a:solidFill>
                <a:ea typeface="Quattrocento Sans" pitchFamily="34" charset="-122"/>
                <a:cs typeface="Quattrocento Sans" pitchFamily="34" charset="-120"/>
              </a:rPr>
              <a:t> Real-time processing using Apache Spark Streaming for continuously arriving data.</a:t>
            </a:r>
            <a:endParaRPr lang="en-US" sz="2000" dirty="0"/>
          </a:p>
        </p:txBody>
      </p:sp>
      <p:pic>
        <p:nvPicPr>
          <p:cNvPr id="47" name="Picture 46"/>
          <p:cNvPicPr>
            <a:picLocks noChangeAspect="1"/>
          </p:cNvPicPr>
          <p:nvPr/>
        </p:nvPicPr>
        <p:blipFill rotWithShape="1">
          <a:blip r:embed="rId3"/>
          <a:srcRect l="-110" t="216" r="110" b="59546"/>
          <a:stretch/>
        </p:blipFill>
        <p:spPr>
          <a:xfrm>
            <a:off x="3258867" y="7352370"/>
            <a:ext cx="7737257" cy="1588430"/>
          </a:xfrm>
          <a:prstGeom prst="rect">
            <a:avLst/>
          </a:prstGeom>
        </p:spPr>
      </p:pic>
      <p:sp>
        <p:nvSpPr>
          <p:cNvPr id="20" name="Rounded Rectangle 19"/>
          <p:cNvSpPr/>
          <p:nvPr/>
        </p:nvSpPr>
        <p:spPr>
          <a:xfrm>
            <a:off x="35814" y="2532866"/>
            <a:ext cx="2214372" cy="494792"/>
          </a:xfrm>
          <a:prstGeom prst="roundRect">
            <a:avLst/>
          </a:prstGeom>
          <a:solidFill>
            <a:srgbClr val="FF000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837777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path" presetSubtype="0" accel="50000" decel="50000" fill="hold" nodeType="clickEffect">
                                  <p:stCondLst>
                                    <p:cond delay="0"/>
                                  </p:stCondLst>
                                  <p:childTnLst>
                                    <p:animMotion origin="layout" path="M 0 0 C 0.069 0 0.125 0.056 0.125 0.125 C 0.125 0.194 0.069 0.25 0 0.25 C -0.069 0.25 -0.125 0.194 -0.125 0.125 C -0.125 0.056 -0.069 0 0 0 Z" pathEditMode="relative" ptsTypes="">
                                      <p:cBhvr>
                                        <p:cTn id="6" dur="2000" fill="hold"/>
                                        <p:tgtEl>
                                          <p:spTgt spid="4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sp>
      <p:sp>
        <p:nvSpPr>
          <p:cNvPr id="12" name="Shape 10"/>
          <p:cNvSpPr/>
          <p:nvPr/>
        </p:nvSpPr>
        <p:spPr>
          <a:xfrm>
            <a:off x="1066800" y="8864600"/>
            <a:ext cx="152400" cy="152400"/>
          </a:xfrm>
          <a:prstGeom prst="diamond">
            <a:avLst/>
          </a:prstGeom>
          <a:solidFill>
            <a:srgbClr val="00ACC1"/>
          </a:solidFill>
          <a:ln/>
        </p:spPr>
      </p:sp>
      <p:sp>
        <p:nvSpPr>
          <p:cNvPr id="15" name="Text 13"/>
          <p:cNvSpPr/>
          <p:nvPr/>
        </p:nvSpPr>
        <p:spPr>
          <a:xfrm>
            <a:off x="15621000" y="0"/>
            <a:ext cx="635000" cy="635000"/>
          </a:xfrm>
          <a:prstGeom prst="rect">
            <a:avLst/>
          </a:prstGeom>
          <a:noFill/>
          <a:ln/>
        </p:spPr>
        <p:txBody>
          <a:bodyPr wrap="none" lIns="0" tIns="0" rIns="0" bIns="0" rtlCol="0" anchor="ctr"/>
          <a:lstStyle/>
          <a:p>
            <a:pPr algn="r">
              <a:lnSpc>
                <a:spcPct val="120000"/>
              </a:lnSpc>
            </a:pPr>
            <a:r>
              <a:rPr lang="en-US" sz="1400" dirty="0">
                <a:solidFill>
                  <a:srgbClr val="005C82"/>
                </a:solidFill>
                <a:latin typeface="Quattrocento Sans" pitchFamily="34" charset="0"/>
                <a:ea typeface="Quattrocento Sans" pitchFamily="34" charset="-122"/>
                <a:cs typeface="Quattrocento Sans" pitchFamily="34" charset="-120"/>
              </a:rPr>
              <a:t>9</a:t>
            </a:r>
            <a:endParaRPr lang="en-US" sz="1400" dirty="0"/>
          </a:p>
        </p:txBody>
      </p:sp>
      <p:sp>
        <p:nvSpPr>
          <p:cNvPr id="16" name="Text 14"/>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Data Life Cycle: Generation to Processing</a:t>
            </a:r>
            <a:endParaRPr lang="en-US" sz="2400" dirty="0"/>
          </a:p>
        </p:txBody>
      </p:sp>
      <p:sp>
        <p:nvSpPr>
          <p:cNvPr id="17" name="Shape 15"/>
          <p:cNvSpPr/>
          <p:nvPr/>
        </p:nvSpPr>
        <p:spPr>
          <a:xfrm>
            <a:off x="2540000" y="1397000"/>
            <a:ext cx="13208000" cy="12700"/>
          </a:xfrm>
          <a:prstGeom prst="rect">
            <a:avLst/>
          </a:prstGeom>
          <a:solidFill>
            <a:srgbClr val="B0BEC5"/>
          </a:solidFill>
          <a:ln/>
        </p:spPr>
      </p:sp>
      <p:sp>
        <p:nvSpPr>
          <p:cNvPr id="20" name="Shape 16"/>
          <p:cNvSpPr/>
          <p:nvPr/>
        </p:nvSpPr>
        <p:spPr>
          <a:xfrm>
            <a:off x="2540000" y="1600200"/>
            <a:ext cx="13208000" cy="1905000"/>
          </a:xfrm>
          <a:prstGeom prst="roundRect">
            <a:avLst>
              <a:gd name="adj" fmla="val 3000"/>
            </a:avLst>
          </a:prstGeom>
          <a:solidFill>
            <a:srgbClr val="E0F4FA"/>
          </a:solidFill>
          <a:ln w="12700">
            <a:solidFill>
              <a:srgbClr val="B0BEC5"/>
            </a:solidFill>
            <a:prstDash val="solid"/>
          </a:ln>
        </p:spPr>
      </p:sp>
      <p:sp>
        <p:nvSpPr>
          <p:cNvPr id="21" name="Shape 17"/>
          <p:cNvSpPr/>
          <p:nvPr/>
        </p:nvSpPr>
        <p:spPr>
          <a:xfrm>
            <a:off x="2743200" y="1778000"/>
            <a:ext cx="508000" cy="508000"/>
          </a:xfrm>
          <a:prstGeom prst="ellipse">
            <a:avLst/>
          </a:prstGeom>
          <a:solidFill>
            <a:srgbClr val="005C82"/>
          </a:solidFill>
          <a:ln/>
        </p:spPr>
      </p:sp>
      <p:sp>
        <p:nvSpPr>
          <p:cNvPr id="22" name="Text 18"/>
          <p:cNvSpPr/>
          <p:nvPr/>
        </p:nvSpPr>
        <p:spPr>
          <a:xfrm>
            <a:off x="2743200" y="1778000"/>
            <a:ext cx="508000" cy="508000"/>
          </a:xfrm>
          <a:prstGeom prst="rect">
            <a:avLst/>
          </a:prstGeom>
          <a:noFill/>
          <a:ln/>
        </p:spPr>
        <p:txBody>
          <a:bodyPr wrap="none" lIns="0" tIns="0" rIns="0" bIns="0" rtlCol="0" anchor="ctr"/>
          <a:lstStyle/>
          <a:p>
            <a:pPr algn="ctr">
              <a:lnSpc>
                <a:spcPct val="120000"/>
              </a:lnSpc>
            </a:pPr>
            <a:r>
              <a:rPr lang="en-US" sz="2400" dirty="0">
                <a:solidFill>
                  <a:srgbClr val="FFFFFF"/>
                </a:solidFill>
                <a:ea typeface="Quattrocento Sans" pitchFamily="34" charset="-122"/>
                <a:cs typeface="Quattrocento Sans" pitchFamily="34" charset="-120"/>
              </a:rPr>
              <a:t>5</a:t>
            </a:r>
            <a:endParaRPr lang="en-US" sz="2400" dirty="0"/>
          </a:p>
        </p:txBody>
      </p:sp>
      <p:sp>
        <p:nvSpPr>
          <p:cNvPr id="23" name="Text 19"/>
          <p:cNvSpPr/>
          <p:nvPr/>
        </p:nvSpPr>
        <p:spPr>
          <a:xfrm>
            <a:off x="3403600" y="1778000"/>
            <a:ext cx="5080000" cy="355600"/>
          </a:xfrm>
          <a:prstGeom prst="rect">
            <a:avLst/>
          </a:prstGeom>
          <a:noFill/>
          <a:ln/>
        </p:spPr>
        <p:txBody>
          <a:bodyPr wrap="none" lIns="0" tIns="0" rIns="0" bIns="0" rtlCol="0" anchor="t"/>
          <a:lstStyle/>
          <a:p>
            <a:pPr algn="l">
              <a:lnSpc>
                <a:spcPct val="120000"/>
              </a:lnSpc>
            </a:pPr>
            <a:r>
              <a:rPr lang="en-US" sz="2400" b="1" dirty="0">
                <a:solidFill>
                  <a:srgbClr val="C00000"/>
                </a:solidFill>
                <a:ea typeface="Quattrocento Sans" pitchFamily="34" charset="-122"/>
                <a:cs typeface="Quattrocento Sans" pitchFamily="34" charset="-120"/>
              </a:rPr>
              <a:t>Data Analysis &amp; Analytics</a:t>
            </a:r>
            <a:endParaRPr lang="en-US" sz="2400" dirty="0">
              <a:solidFill>
                <a:srgbClr val="C00000"/>
              </a:solidFill>
            </a:endParaRPr>
          </a:p>
        </p:txBody>
      </p:sp>
      <p:sp>
        <p:nvSpPr>
          <p:cNvPr id="24" name="Text 20"/>
          <p:cNvSpPr/>
          <p:nvPr/>
        </p:nvSpPr>
        <p:spPr>
          <a:xfrm>
            <a:off x="3403600" y="2159000"/>
            <a:ext cx="12141200" cy="1219200"/>
          </a:xfrm>
          <a:prstGeom prst="rect">
            <a:avLst/>
          </a:prstGeom>
          <a:noFill/>
          <a:ln/>
        </p:spPr>
        <p:txBody>
          <a:bodyPr wrap="square" lIns="0" tIns="0" rIns="0" bIns="0" rtlCol="0" anchor="t"/>
          <a:lstStyle/>
          <a:p>
            <a:pPr algn="l">
              <a:lnSpc>
                <a:spcPct val="150000"/>
              </a:lnSpc>
            </a:pPr>
            <a:r>
              <a:rPr lang="en-US" sz="2000" dirty="0">
                <a:solidFill>
                  <a:srgbClr val="333333"/>
                </a:solidFill>
                <a:ea typeface="Quattrocento Sans" pitchFamily="34" charset="-122"/>
                <a:cs typeface="Quattrocento Sans" pitchFamily="34" charset="-120"/>
              </a:rPr>
              <a:t>Processed data is analyzed using </a:t>
            </a:r>
            <a:r>
              <a:rPr lang="en-US" sz="2000" b="1" dirty="0">
                <a:solidFill>
                  <a:srgbClr val="333333"/>
                </a:solidFill>
                <a:ea typeface="Quattrocento Sans" pitchFamily="34" charset="-122"/>
                <a:cs typeface="Quattrocento Sans" pitchFamily="34" charset="-120"/>
              </a:rPr>
              <a:t>Apache Hive</a:t>
            </a:r>
            <a:r>
              <a:rPr lang="en-US" sz="2000" dirty="0">
                <a:solidFill>
                  <a:srgbClr val="333333"/>
                </a:solidFill>
                <a:ea typeface="Quattrocento Sans" pitchFamily="34" charset="-122"/>
                <a:cs typeface="Quattrocento Sans" pitchFamily="34" charset="-120"/>
              </a:rPr>
              <a:t> (SQL-like queries), </a:t>
            </a:r>
            <a:r>
              <a:rPr lang="en-US" sz="2000" b="1" dirty="0">
                <a:solidFill>
                  <a:srgbClr val="333333"/>
                </a:solidFill>
                <a:ea typeface="Quattrocento Sans" pitchFamily="34" charset="-122"/>
                <a:cs typeface="Quattrocento Sans" pitchFamily="34" charset="-120"/>
              </a:rPr>
              <a:t>Apache Pig</a:t>
            </a:r>
            <a:r>
              <a:rPr lang="en-US" sz="2000" dirty="0">
                <a:solidFill>
                  <a:srgbClr val="333333"/>
                </a:solidFill>
                <a:ea typeface="Quattrocento Sans" pitchFamily="34" charset="-122"/>
                <a:cs typeface="Quattrocento Sans" pitchFamily="34" charset="-120"/>
              </a:rPr>
              <a:t> (data flow scripting), </a:t>
            </a:r>
            <a:r>
              <a:rPr lang="en-US" sz="2000" b="1" dirty="0">
                <a:solidFill>
                  <a:srgbClr val="333333"/>
                </a:solidFill>
                <a:ea typeface="Quattrocento Sans" pitchFamily="34" charset="-122"/>
                <a:cs typeface="Quattrocento Sans" pitchFamily="34" charset="-120"/>
              </a:rPr>
              <a:t>Apache Spark</a:t>
            </a:r>
            <a:r>
              <a:rPr lang="en-US" sz="2000" dirty="0">
                <a:solidFill>
                  <a:srgbClr val="333333"/>
                </a:solidFill>
                <a:ea typeface="Quattrocento Sans" pitchFamily="34" charset="-122"/>
                <a:cs typeface="Quattrocento Sans" pitchFamily="34" charset="-120"/>
              </a:rPr>
              <a:t> (in-memory analytics), and machine learning libraries. BI tools create reports, dashboards, and visualizations for decision-makers.</a:t>
            </a:r>
            <a:endParaRPr lang="en-US" sz="2000" dirty="0"/>
          </a:p>
        </p:txBody>
      </p:sp>
      <p:sp>
        <p:nvSpPr>
          <p:cNvPr id="25" name="Shape 21"/>
          <p:cNvSpPr/>
          <p:nvPr/>
        </p:nvSpPr>
        <p:spPr>
          <a:xfrm>
            <a:off x="2540000" y="3683000"/>
            <a:ext cx="13208000" cy="1905000"/>
          </a:xfrm>
          <a:prstGeom prst="roundRect">
            <a:avLst>
              <a:gd name="adj" fmla="val 3000"/>
            </a:avLst>
          </a:prstGeom>
          <a:solidFill>
            <a:srgbClr val="E0F4FA"/>
          </a:solidFill>
          <a:ln w="12700">
            <a:solidFill>
              <a:srgbClr val="B0BEC5"/>
            </a:solidFill>
            <a:prstDash val="solid"/>
          </a:ln>
        </p:spPr>
      </p:sp>
      <p:sp>
        <p:nvSpPr>
          <p:cNvPr id="26" name="Shape 22"/>
          <p:cNvSpPr/>
          <p:nvPr/>
        </p:nvSpPr>
        <p:spPr>
          <a:xfrm>
            <a:off x="2743200" y="3860800"/>
            <a:ext cx="508000" cy="508000"/>
          </a:xfrm>
          <a:prstGeom prst="ellipse">
            <a:avLst/>
          </a:prstGeom>
          <a:solidFill>
            <a:srgbClr val="007AA8"/>
          </a:solidFill>
          <a:ln/>
        </p:spPr>
      </p:sp>
      <p:sp>
        <p:nvSpPr>
          <p:cNvPr id="27" name="Text 23"/>
          <p:cNvSpPr/>
          <p:nvPr/>
        </p:nvSpPr>
        <p:spPr>
          <a:xfrm>
            <a:off x="2743200" y="3860800"/>
            <a:ext cx="508000" cy="508000"/>
          </a:xfrm>
          <a:prstGeom prst="rect">
            <a:avLst/>
          </a:prstGeom>
          <a:noFill/>
          <a:ln/>
        </p:spPr>
        <p:txBody>
          <a:bodyPr wrap="none" lIns="0" tIns="0" rIns="0" bIns="0" rtlCol="0" anchor="ctr"/>
          <a:lstStyle/>
          <a:p>
            <a:pPr algn="ctr">
              <a:lnSpc>
                <a:spcPct val="120000"/>
              </a:lnSpc>
            </a:pPr>
            <a:r>
              <a:rPr lang="en-US" sz="2400" dirty="0">
                <a:solidFill>
                  <a:srgbClr val="FFFFFF"/>
                </a:solidFill>
                <a:ea typeface="Quattrocento Sans" pitchFamily="34" charset="-122"/>
                <a:cs typeface="Quattrocento Sans" pitchFamily="34" charset="-120"/>
              </a:rPr>
              <a:t>6</a:t>
            </a:r>
            <a:endParaRPr lang="en-US" sz="2400" dirty="0"/>
          </a:p>
        </p:txBody>
      </p:sp>
      <p:sp>
        <p:nvSpPr>
          <p:cNvPr id="28" name="Text 24"/>
          <p:cNvSpPr/>
          <p:nvPr/>
        </p:nvSpPr>
        <p:spPr>
          <a:xfrm>
            <a:off x="3403600" y="3860800"/>
            <a:ext cx="5080000" cy="355600"/>
          </a:xfrm>
          <a:prstGeom prst="rect">
            <a:avLst/>
          </a:prstGeom>
          <a:noFill/>
          <a:ln/>
        </p:spPr>
        <p:txBody>
          <a:bodyPr wrap="none" lIns="0" tIns="0" rIns="0" bIns="0" rtlCol="0" anchor="t"/>
          <a:lstStyle/>
          <a:p>
            <a:pPr algn="l">
              <a:lnSpc>
                <a:spcPct val="120000"/>
              </a:lnSpc>
            </a:pPr>
            <a:r>
              <a:rPr lang="en-US" sz="2400" b="1" dirty="0">
                <a:solidFill>
                  <a:srgbClr val="C00000"/>
                </a:solidFill>
                <a:ea typeface="Quattrocento Sans" pitchFamily="34" charset="-122"/>
                <a:cs typeface="Quattrocento Sans" pitchFamily="34" charset="-120"/>
              </a:rPr>
              <a:t>Data Visualization &amp; Reporting</a:t>
            </a:r>
            <a:endParaRPr lang="en-US" sz="2400" dirty="0">
              <a:solidFill>
                <a:srgbClr val="C00000"/>
              </a:solidFill>
            </a:endParaRPr>
          </a:p>
        </p:txBody>
      </p:sp>
      <p:sp>
        <p:nvSpPr>
          <p:cNvPr id="29" name="Text 25"/>
          <p:cNvSpPr/>
          <p:nvPr/>
        </p:nvSpPr>
        <p:spPr>
          <a:xfrm>
            <a:off x="3403600" y="4241800"/>
            <a:ext cx="12141200" cy="1219200"/>
          </a:xfrm>
          <a:prstGeom prst="rect">
            <a:avLst/>
          </a:prstGeom>
          <a:noFill/>
          <a:ln/>
        </p:spPr>
        <p:txBody>
          <a:bodyPr wrap="square" lIns="0" tIns="0" rIns="0" bIns="0" rtlCol="0" anchor="t"/>
          <a:lstStyle/>
          <a:p>
            <a:pPr algn="l">
              <a:lnSpc>
                <a:spcPct val="150000"/>
              </a:lnSpc>
            </a:pPr>
            <a:r>
              <a:rPr lang="en-US" sz="2000" dirty="0">
                <a:solidFill>
                  <a:srgbClr val="333333"/>
                </a:solidFill>
                <a:ea typeface="Quattrocento Sans" pitchFamily="34" charset="-122"/>
                <a:cs typeface="Quattrocento Sans" pitchFamily="34" charset="-120"/>
              </a:rPr>
              <a:t>Results are presented through dashboards, charts, maps, and graphs. BI tools like </a:t>
            </a:r>
            <a:r>
              <a:rPr lang="en-US" sz="2000" b="1" dirty="0">
                <a:solidFill>
                  <a:srgbClr val="333333"/>
                </a:solidFill>
                <a:ea typeface="Quattrocento Sans" pitchFamily="34" charset="-122"/>
                <a:cs typeface="Quattrocento Sans" pitchFamily="34" charset="-120"/>
              </a:rPr>
              <a:t>Tableau, Power BI</a:t>
            </a:r>
            <a:r>
              <a:rPr lang="en-US" sz="2000" dirty="0">
                <a:solidFill>
                  <a:srgbClr val="333333"/>
                </a:solidFill>
                <a:ea typeface="Quattrocento Sans" pitchFamily="34" charset="-122"/>
                <a:cs typeface="Quattrocento Sans" pitchFamily="34" charset="-120"/>
              </a:rPr>
              <a:t>, and custom dashboards make data actionable. Visualization transforms raw analytics into insights that drive business decisions.</a:t>
            </a:r>
            <a:endParaRPr lang="en-US" sz="2000" dirty="0"/>
          </a:p>
        </p:txBody>
      </p:sp>
      <p:sp>
        <p:nvSpPr>
          <p:cNvPr id="30" name="Shape 26"/>
          <p:cNvSpPr/>
          <p:nvPr/>
        </p:nvSpPr>
        <p:spPr>
          <a:xfrm>
            <a:off x="2540000" y="5765800"/>
            <a:ext cx="13208000" cy="1905000"/>
          </a:xfrm>
          <a:prstGeom prst="roundRect">
            <a:avLst>
              <a:gd name="adj" fmla="val 3000"/>
            </a:avLst>
          </a:prstGeom>
          <a:solidFill>
            <a:srgbClr val="E0F4FA"/>
          </a:solidFill>
          <a:ln w="12700">
            <a:solidFill>
              <a:srgbClr val="B0BEC5"/>
            </a:solidFill>
            <a:prstDash val="solid"/>
          </a:ln>
        </p:spPr>
      </p:sp>
      <p:sp>
        <p:nvSpPr>
          <p:cNvPr id="31" name="Shape 27"/>
          <p:cNvSpPr/>
          <p:nvPr/>
        </p:nvSpPr>
        <p:spPr>
          <a:xfrm>
            <a:off x="2743200" y="5943600"/>
            <a:ext cx="508000" cy="508000"/>
          </a:xfrm>
          <a:prstGeom prst="ellipse">
            <a:avLst/>
          </a:prstGeom>
          <a:solidFill>
            <a:srgbClr val="00ACC1"/>
          </a:solidFill>
          <a:ln/>
        </p:spPr>
      </p:sp>
      <p:sp>
        <p:nvSpPr>
          <p:cNvPr id="32" name="Text 28"/>
          <p:cNvSpPr/>
          <p:nvPr/>
        </p:nvSpPr>
        <p:spPr>
          <a:xfrm>
            <a:off x="2743200" y="5943600"/>
            <a:ext cx="508000" cy="508000"/>
          </a:xfrm>
          <a:prstGeom prst="rect">
            <a:avLst/>
          </a:prstGeom>
          <a:noFill/>
          <a:ln/>
        </p:spPr>
        <p:txBody>
          <a:bodyPr wrap="none" lIns="0" tIns="0" rIns="0" bIns="0" rtlCol="0" anchor="ctr"/>
          <a:lstStyle/>
          <a:p>
            <a:pPr algn="ctr">
              <a:lnSpc>
                <a:spcPct val="120000"/>
              </a:lnSpc>
            </a:pPr>
            <a:r>
              <a:rPr lang="en-US" sz="2400" dirty="0">
                <a:solidFill>
                  <a:srgbClr val="FFFFFF"/>
                </a:solidFill>
                <a:ea typeface="Quattrocento Sans" pitchFamily="34" charset="-122"/>
                <a:cs typeface="Quattrocento Sans" pitchFamily="34" charset="-120"/>
              </a:rPr>
              <a:t>7</a:t>
            </a:r>
            <a:endParaRPr lang="en-US" sz="2400" dirty="0"/>
          </a:p>
        </p:txBody>
      </p:sp>
      <p:sp>
        <p:nvSpPr>
          <p:cNvPr id="45" name="Text 29"/>
          <p:cNvSpPr/>
          <p:nvPr/>
        </p:nvSpPr>
        <p:spPr>
          <a:xfrm>
            <a:off x="3403600" y="5943600"/>
            <a:ext cx="5080000" cy="355600"/>
          </a:xfrm>
          <a:prstGeom prst="rect">
            <a:avLst/>
          </a:prstGeom>
          <a:noFill/>
          <a:ln/>
        </p:spPr>
        <p:txBody>
          <a:bodyPr wrap="none" lIns="0" tIns="0" rIns="0" bIns="0" rtlCol="0" anchor="t"/>
          <a:lstStyle/>
          <a:p>
            <a:pPr algn="l">
              <a:lnSpc>
                <a:spcPct val="120000"/>
              </a:lnSpc>
            </a:pPr>
            <a:r>
              <a:rPr lang="en-US" sz="2400" b="1" dirty="0">
                <a:solidFill>
                  <a:srgbClr val="C00000"/>
                </a:solidFill>
                <a:ea typeface="Quattrocento Sans" pitchFamily="34" charset="-122"/>
                <a:cs typeface="Quattrocento Sans" pitchFamily="34" charset="-120"/>
              </a:rPr>
              <a:t>Data Archival / Deletion</a:t>
            </a:r>
            <a:endParaRPr lang="en-US" sz="2400" dirty="0">
              <a:solidFill>
                <a:srgbClr val="C00000"/>
              </a:solidFill>
            </a:endParaRPr>
          </a:p>
        </p:txBody>
      </p:sp>
      <p:sp>
        <p:nvSpPr>
          <p:cNvPr id="46" name="Text 30"/>
          <p:cNvSpPr/>
          <p:nvPr/>
        </p:nvSpPr>
        <p:spPr>
          <a:xfrm>
            <a:off x="3403600" y="6324600"/>
            <a:ext cx="12141200" cy="1219200"/>
          </a:xfrm>
          <a:prstGeom prst="rect">
            <a:avLst/>
          </a:prstGeom>
          <a:noFill/>
          <a:ln/>
        </p:spPr>
        <p:txBody>
          <a:bodyPr wrap="square" lIns="0" tIns="0" rIns="0" bIns="0" rtlCol="0" anchor="t"/>
          <a:lstStyle/>
          <a:p>
            <a:pPr algn="l">
              <a:lnSpc>
                <a:spcPct val="150000"/>
              </a:lnSpc>
            </a:pPr>
            <a:r>
              <a:rPr lang="en-US" sz="2000" dirty="0">
                <a:solidFill>
                  <a:srgbClr val="333333"/>
                </a:solidFill>
                <a:ea typeface="Quattrocento Sans" pitchFamily="34" charset="-122"/>
                <a:cs typeface="Quattrocento Sans" pitchFamily="34" charset="-120"/>
              </a:rPr>
              <a:t>Data no longer actively needed is archived to lower-cost storage tiers or deleted per governance policies. Data lifecycle management defines purging schedules to control costs and ensure compliance with retention regulations.</a:t>
            </a:r>
            <a:endParaRPr lang="en-US" sz="2000" dirty="0"/>
          </a:p>
        </p:txBody>
      </p:sp>
      <p:sp>
        <p:nvSpPr>
          <p:cNvPr id="33" name="Rounded Rectangle 32"/>
          <p:cNvSpPr/>
          <p:nvPr/>
        </p:nvSpPr>
        <p:spPr>
          <a:xfrm>
            <a:off x="35814" y="2532866"/>
            <a:ext cx="2214372" cy="494792"/>
          </a:xfrm>
          <a:prstGeom prst="roundRect">
            <a:avLst/>
          </a:prstGeom>
          <a:solidFill>
            <a:srgbClr val="FF000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035414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arn(inVertical)">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barn(inVertical)">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barn(inVertical)">
                                      <p:cBhvr>
                                        <p:cTn id="1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sp>
      <p:sp>
        <p:nvSpPr>
          <p:cNvPr id="12" name="Shape 10"/>
          <p:cNvSpPr/>
          <p:nvPr/>
        </p:nvSpPr>
        <p:spPr>
          <a:xfrm>
            <a:off x="1066800" y="8864600"/>
            <a:ext cx="152400" cy="152400"/>
          </a:xfrm>
          <a:prstGeom prst="diamond">
            <a:avLst/>
          </a:prstGeom>
          <a:solidFill>
            <a:srgbClr val="00ACC1"/>
          </a:solidFill>
          <a:ln/>
        </p:spPr>
      </p:sp>
      <p:sp>
        <p:nvSpPr>
          <p:cNvPr id="15" name="Text 13"/>
          <p:cNvSpPr/>
          <p:nvPr/>
        </p:nvSpPr>
        <p:spPr>
          <a:xfrm>
            <a:off x="15621000" y="0"/>
            <a:ext cx="635000" cy="635000"/>
          </a:xfrm>
          <a:prstGeom prst="rect">
            <a:avLst/>
          </a:prstGeom>
          <a:noFill/>
          <a:ln/>
        </p:spPr>
        <p:txBody>
          <a:bodyPr wrap="none" lIns="0" tIns="0" rIns="0" bIns="0" rtlCol="0" anchor="ctr"/>
          <a:lstStyle/>
          <a:p>
            <a:pPr algn="r">
              <a:lnSpc>
                <a:spcPct val="120000"/>
              </a:lnSpc>
            </a:pPr>
            <a:r>
              <a:rPr lang="en-US" sz="1400" dirty="0">
                <a:solidFill>
                  <a:srgbClr val="005C82"/>
                </a:solidFill>
                <a:latin typeface="Quattrocento Sans" pitchFamily="34" charset="0"/>
                <a:ea typeface="Quattrocento Sans" pitchFamily="34" charset="-122"/>
                <a:cs typeface="Quattrocento Sans" pitchFamily="34" charset="-120"/>
              </a:rPr>
              <a:t>9</a:t>
            </a:r>
            <a:endParaRPr lang="en-US" sz="1400" dirty="0"/>
          </a:p>
        </p:txBody>
      </p:sp>
      <p:sp>
        <p:nvSpPr>
          <p:cNvPr id="33" name="Text 14"/>
          <p:cNvSpPr/>
          <p:nvPr/>
        </p:nvSpPr>
        <p:spPr>
          <a:xfrm>
            <a:off x="2540000" y="863600"/>
            <a:ext cx="13208000" cy="457200"/>
          </a:xfrm>
          <a:prstGeom prst="rect">
            <a:avLst/>
          </a:prstGeom>
          <a:noFill/>
          <a:ln/>
        </p:spPr>
        <p:txBody>
          <a:bodyPr wrap="none" lIns="0" tIns="0" rIns="0" bIns="0" rtlCol="0" anchor="t"/>
          <a:lstStyle/>
          <a:p>
            <a:pPr>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Shared-Nothing Architecture &amp; BSP</a:t>
            </a:r>
            <a:endParaRPr lang="en-US" sz="2400" dirty="0"/>
          </a:p>
        </p:txBody>
      </p:sp>
      <p:sp>
        <p:nvSpPr>
          <p:cNvPr id="34" name="Shape 15"/>
          <p:cNvSpPr/>
          <p:nvPr/>
        </p:nvSpPr>
        <p:spPr>
          <a:xfrm>
            <a:off x="2540000" y="1397000"/>
            <a:ext cx="13208000" cy="12700"/>
          </a:xfrm>
          <a:prstGeom prst="rect">
            <a:avLst/>
          </a:prstGeom>
          <a:solidFill>
            <a:srgbClr val="B0BEC5"/>
          </a:solidFill>
          <a:ln/>
        </p:spPr>
      </p:sp>
      <p:sp>
        <p:nvSpPr>
          <p:cNvPr id="36" name="Text 17"/>
          <p:cNvSpPr/>
          <p:nvPr/>
        </p:nvSpPr>
        <p:spPr>
          <a:xfrm>
            <a:off x="2540000" y="1574800"/>
            <a:ext cx="6350000" cy="482600"/>
          </a:xfrm>
          <a:prstGeom prst="rect">
            <a:avLst/>
          </a:prstGeom>
          <a:noFill/>
          <a:ln/>
        </p:spPr>
        <p:txBody>
          <a:bodyPr wrap="none" lIns="0" tIns="0" rIns="0" bIns="0" rtlCol="0" anchor="ctr"/>
          <a:lstStyle/>
          <a:p>
            <a:pPr algn="ctr">
              <a:lnSpc>
                <a:spcPct val="120000"/>
              </a:lnSpc>
            </a:pPr>
            <a:r>
              <a:rPr lang="en-US" sz="2000" b="1" dirty="0">
                <a:solidFill>
                  <a:schemeClr val="bg1"/>
                </a:solidFill>
                <a:ea typeface="Quattrocento Sans" pitchFamily="34" charset="-122"/>
                <a:cs typeface="Quattrocento Sans" pitchFamily="34" charset="-120"/>
              </a:rPr>
              <a:t>Shared-Nothing Architecture</a:t>
            </a:r>
            <a:endParaRPr lang="en-US" sz="2000" dirty="0">
              <a:solidFill>
                <a:schemeClr val="bg1"/>
              </a:solidFill>
            </a:endParaRPr>
          </a:p>
        </p:txBody>
      </p:sp>
      <p:sp>
        <p:nvSpPr>
          <p:cNvPr id="40" name="Text 21"/>
          <p:cNvSpPr/>
          <p:nvPr/>
        </p:nvSpPr>
        <p:spPr>
          <a:xfrm>
            <a:off x="9144000" y="1574800"/>
            <a:ext cx="6350000" cy="482600"/>
          </a:xfrm>
          <a:prstGeom prst="rect">
            <a:avLst/>
          </a:prstGeom>
          <a:noFill/>
          <a:ln/>
        </p:spPr>
        <p:txBody>
          <a:bodyPr wrap="none" lIns="0" tIns="0" rIns="0" bIns="0" rtlCol="0" anchor="ctr"/>
          <a:lstStyle/>
          <a:p>
            <a:pPr algn="ctr">
              <a:lnSpc>
                <a:spcPct val="120000"/>
              </a:lnSpc>
            </a:pPr>
            <a:r>
              <a:rPr lang="en-US" sz="2000" b="1" dirty="0">
                <a:solidFill>
                  <a:srgbClr val="FFFFFF"/>
                </a:solidFill>
                <a:ea typeface="Quattrocento Sans" pitchFamily="34" charset="-122"/>
                <a:cs typeface="Quattrocento Sans" pitchFamily="34" charset="-120"/>
              </a:rPr>
              <a:t>Bulk Synchronous Parallel (BSP)</a:t>
            </a:r>
            <a:endParaRPr lang="en-US" sz="2000" dirty="0"/>
          </a:p>
        </p:txBody>
      </p:sp>
      <p:sp>
        <p:nvSpPr>
          <p:cNvPr id="17" name="Rounded Rectangle 16"/>
          <p:cNvSpPr/>
          <p:nvPr/>
        </p:nvSpPr>
        <p:spPr>
          <a:xfrm>
            <a:off x="0" y="3540031"/>
            <a:ext cx="2214372" cy="647656"/>
          </a:xfrm>
          <a:prstGeom prst="roundRect">
            <a:avLst/>
          </a:prstGeom>
          <a:solidFill>
            <a:srgbClr val="FF000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p:cNvPicPr>
            <a:picLocks noChangeAspect="1"/>
          </p:cNvPicPr>
          <p:nvPr/>
        </p:nvPicPr>
        <p:blipFill rotWithShape="1">
          <a:blip r:embed="rId3"/>
          <a:srcRect t="16871"/>
          <a:stretch/>
        </p:blipFill>
        <p:spPr>
          <a:xfrm>
            <a:off x="2695698" y="1574800"/>
            <a:ext cx="6676902" cy="7289800"/>
          </a:xfrm>
          <a:prstGeom prst="rect">
            <a:avLst/>
          </a:prstGeom>
        </p:spPr>
      </p:pic>
      <p:sp>
        <p:nvSpPr>
          <p:cNvPr id="18" name="Shape 16"/>
          <p:cNvSpPr/>
          <p:nvPr/>
        </p:nvSpPr>
        <p:spPr>
          <a:xfrm>
            <a:off x="9569862" y="1574800"/>
            <a:ext cx="6350000" cy="482600"/>
          </a:xfrm>
          <a:prstGeom prst="rect">
            <a:avLst/>
          </a:prstGeom>
          <a:solidFill>
            <a:srgbClr val="005C82"/>
          </a:solidFill>
          <a:ln/>
        </p:spPr>
      </p:sp>
      <p:sp>
        <p:nvSpPr>
          <p:cNvPr id="19" name="Shape 18"/>
          <p:cNvSpPr/>
          <p:nvPr/>
        </p:nvSpPr>
        <p:spPr>
          <a:xfrm>
            <a:off x="9569862" y="2057400"/>
            <a:ext cx="6350000" cy="6959600"/>
          </a:xfrm>
          <a:prstGeom prst="rect">
            <a:avLst/>
          </a:prstGeom>
          <a:solidFill>
            <a:srgbClr val="E0F4FA"/>
          </a:solidFill>
          <a:ln/>
        </p:spPr>
      </p:sp>
      <p:sp>
        <p:nvSpPr>
          <p:cNvPr id="20" name="Text 19"/>
          <p:cNvSpPr/>
          <p:nvPr/>
        </p:nvSpPr>
        <p:spPr>
          <a:xfrm>
            <a:off x="9798462" y="2061688"/>
            <a:ext cx="5892800" cy="5181600"/>
          </a:xfrm>
          <a:prstGeom prst="rect">
            <a:avLst/>
          </a:prstGeom>
          <a:noFill/>
          <a:ln/>
        </p:spPr>
        <p:txBody>
          <a:bodyPr wrap="square" lIns="0" tIns="0" rIns="0" bIns="0" rtlCol="0" anchor="t"/>
          <a:lstStyle/>
          <a:p>
            <a:pPr algn="l">
              <a:lnSpc>
                <a:spcPct val="165000"/>
              </a:lnSpc>
            </a:pPr>
            <a:r>
              <a:rPr lang="en-US" sz="2000" dirty="0">
                <a:solidFill>
                  <a:srgbClr val="333333"/>
                </a:solidFill>
                <a:ea typeface="Quattrocento Sans" pitchFamily="34" charset="-122"/>
                <a:cs typeface="Quattrocento Sans" pitchFamily="34" charset="-120"/>
              </a:rPr>
              <a:t>Each node in the cluster has its own dedicated </a:t>
            </a:r>
            <a:r>
              <a:rPr lang="en-US" sz="2000" b="1" dirty="0">
                <a:solidFill>
                  <a:srgbClr val="333333"/>
                </a:solidFill>
                <a:ea typeface="Quattrocento Sans" pitchFamily="34" charset="-122"/>
                <a:cs typeface="Quattrocento Sans" pitchFamily="34" charset="-120"/>
              </a:rPr>
              <a:t>CPU, memory, and disk storage</a:t>
            </a:r>
            <a:r>
              <a:rPr lang="en-US" sz="2000" dirty="0">
                <a:solidFill>
                  <a:srgbClr val="333333"/>
                </a:solidFill>
                <a:ea typeface="Quattrocento Sans" pitchFamily="34" charset="-122"/>
                <a:cs typeface="Quattrocento Sans" pitchFamily="34" charset="-120"/>
              </a:rPr>
              <a:t>. Nodes do not share memory or storage.</a:t>
            </a:r>
            <a:endParaRPr lang="en-US" sz="2000" dirty="0"/>
          </a:p>
          <a:p>
            <a:pPr algn="l">
              <a:lnSpc>
                <a:spcPct val="165000"/>
              </a:lnSpc>
              <a:spcBef>
                <a:spcPts val="1000"/>
              </a:spcBef>
            </a:pPr>
            <a:r>
              <a:rPr lang="en-US" sz="2000" b="1" dirty="0">
                <a:solidFill>
                  <a:srgbClr val="333333"/>
                </a:solidFill>
                <a:ea typeface="Quattrocento Sans" pitchFamily="34" charset="-122"/>
                <a:cs typeface="Quattrocento Sans" pitchFamily="34" charset="-120"/>
              </a:rPr>
              <a:t>Key Characteristics:</a:t>
            </a:r>
            <a:endParaRPr lang="en-US" sz="2000" dirty="0"/>
          </a:p>
          <a:p>
            <a:pPr algn="l">
              <a:lnSpc>
                <a:spcPct val="165000"/>
              </a:lnSpc>
            </a:pPr>
            <a:r>
              <a:rPr lang="en-US" sz="2000" dirty="0">
                <a:solidFill>
                  <a:srgbClr val="333333"/>
                </a:solidFill>
                <a:ea typeface="Quattrocento Sans" pitchFamily="34" charset="-122"/>
                <a:cs typeface="Quattrocento Sans" pitchFamily="34" charset="-120"/>
              </a:rPr>
              <a:t>• Less coordination overhead</a:t>
            </a:r>
            <a:endParaRPr lang="en-US" sz="2000" dirty="0"/>
          </a:p>
          <a:p>
            <a:pPr algn="l">
              <a:lnSpc>
                <a:spcPct val="165000"/>
              </a:lnSpc>
            </a:pPr>
            <a:r>
              <a:rPr lang="en-US" sz="2000" dirty="0">
                <a:solidFill>
                  <a:srgbClr val="333333"/>
                </a:solidFill>
                <a:ea typeface="Quattrocento Sans" pitchFamily="34" charset="-122"/>
                <a:cs typeface="Quattrocento Sans" pitchFamily="34" charset="-120"/>
              </a:rPr>
              <a:t>• Higher distribution capability</a:t>
            </a:r>
            <a:endParaRPr lang="en-US" sz="2000" dirty="0"/>
          </a:p>
          <a:p>
            <a:pPr algn="l">
              <a:lnSpc>
                <a:spcPct val="165000"/>
              </a:lnSpc>
            </a:pPr>
            <a:r>
              <a:rPr lang="en-US" sz="2000" dirty="0">
                <a:solidFill>
                  <a:srgbClr val="333333"/>
                </a:solidFill>
                <a:ea typeface="Quattrocento Sans" pitchFamily="34" charset="-122"/>
                <a:cs typeface="Quattrocento Sans" pitchFamily="34" charset="-120"/>
              </a:rPr>
              <a:t>• Highly scalable — linear capacity increase</a:t>
            </a:r>
            <a:endParaRPr lang="en-US" sz="2000" dirty="0"/>
          </a:p>
          <a:p>
            <a:pPr algn="l">
              <a:lnSpc>
                <a:spcPct val="165000"/>
              </a:lnSpc>
              <a:spcBef>
                <a:spcPts val="1000"/>
              </a:spcBef>
            </a:pPr>
            <a:r>
              <a:rPr lang="en-US" sz="2000" b="1" dirty="0">
                <a:solidFill>
                  <a:srgbClr val="333333"/>
                </a:solidFill>
                <a:ea typeface="Quattrocento Sans" pitchFamily="34" charset="-122"/>
                <a:cs typeface="Quattrocento Sans" pitchFamily="34" charset="-120"/>
              </a:rPr>
              <a:t>Used by:</a:t>
            </a:r>
            <a:endParaRPr lang="en-US" sz="2000" dirty="0"/>
          </a:p>
          <a:p>
            <a:pPr algn="l">
              <a:lnSpc>
                <a:spcPct val="165000"/>
              </a:lnSpc>
            </a:pPr>
            <a:r>
              <a:rPr lang="en-US" sz="2000" dirty="0">
                <a:solidFill>
                  <a:srgbClr val="333333"/>
                </a:solidFill>
                <a:ea typeface="Quattrocento Sans" pitchFamily="34" charset="-122"/>
                <a:cs typeface="Quattrocento Sans" pitchFamily="34" charset="-120"/>
              </a:rPr>
              <a:t>• NoSQL: Cassandra, MongoDB</a:t>
            </a:r>
            <a:endParaRPr lang="en-US" sz="2000" dirty="0"/>
          </a:p>
          <a:p>
            <a:pPr algn="l">
              <a:lnSpc>
                <a:spcPct val="165000"/>
              </a:lnSpc>
            </a:pPr>
            <a:r>
              <a:rPr lang="en-US" sz="2000" dirty="0">
                <a:solidFill>
                  <a:srgbClr val="333333"/>
                </a:solidFill>
                <a:ea typeface="Quattrocento Sans" pitchFamily="34" charset="-122"/>
                <a:cs typeface="Quattrocento Sans" pitchFamily="34" charset="-120"/>
              </a:rPr>
              <a:t>• Hadoop HDFS</a:t>
            </a:r>
            <a:endParaRPr lang="en-US" sz="2000" dirty="0"/>
          </a:p>
          <a:p>
            <a:pPr algn="l">
              <a:lnSpc>
                <a:spcPct val="165000"/>
              </a:lnSpc>
              <a:spcBef>
                <a:spcPts val="1000"/>
              </a:spcBef>
            </a:pPr>
            <a:r>
              <a:rPr lang="en-US" sz="2000" b="1" dirty="0">
                <a:solidFill>
                  <a:srgbClr val="333333"/>
                </a:solidFill>
                <a:ea typeface="Quattrocento Sans" pitchFamily="34" charset="-122"/>
                <a:cs typeface="Quattrocento Sans" pitchFamily="34" charset="-120"/>
              </a:rPr>
              <a:t>Contrast with:</a:t>
            </a:r>
            <a:endParaRPr lang="en-US" sz="2000" dirty="0"/>
          </a:p>
          <a:p>
            <a:pPr algn="l">
              <a:lnSpc>
                <a:spcPct val="165000"/>
              </a:lnSpc>
            </a:pPr>
            <a:r>
              <a:rPr lang="en-US" sz="2000" dirty="0">
                <a:solidFill>
                  <a:srgbClr val="333333"/>
                </a:solidFill>
                <a:ea typeface="Quattrocento Sans" pitchFamily="34" charset="-122"/>
                <a:cs typeface="Quattrocento Sans" pitchFamily="34" charset="-120"/>
              </a:rPr>
              <a:t>• Shared Memory (Oracle 11g)</a:t>
            </a:r>
            <a:endParaRPr lang="en-US" sz="2000" dirty="0"/>
          </a:p>
          <a:p>
            <a:pPr algn="l">
              <a:lnSpc>
                <a:spcPct val="165000"/>
              </a:lnSpc>
            </a:pPr>
            <a:r>
              <a:rPr lang="en-US" sz="2000" dirty="0">
                <a:solidFill>
                  <a:srgbClr val="333333"/>
                </a:solidFill>
                <a:ea typeface="Quattrocento Sans" pitchFamily="34" charset="-122"/>
                <a:cs typeface="Quattrocento Sans" pitchFamily="34" charset="-120"/>
              </a:rPr>
              <a:t>• Shared Disk (Oracle RAC)</a:t>
            </a:r>
            <a:endParaRPr lang="en-US" sz="2000" dirty="0"/>
          </a:p>
        </p:txBody>
      </p:sp>
      <p:sp>
        <p:nvSpPr>
          <p:cNvPr id="21" name="Text 17"/>
          <p:cNvSpPr/>
          <p:nvPr/>
        </p:nvSpPr>
        <p:spPr>
          <a:xfrm>
            <a:off x="9398000" y="1579088"/>
            <a:ext cx="6350000" cy="482600"/>
          </a:xfrm>
          <a:prstGeom prst="rect">
            <a:avLst/>
          </a:prstGeom>
          <a:noFill/>
          <a:ln/>
        </p:spPr>
        <p:txBody>
          <a:bodyPr wrap="none" lIns="0" tIns="0" rIns="0" bIns="0" rtlCol="0" anchor="ctr"/>
          <a:lstStyle/>
          <a:p>
            <a:pPr algn="ctr">
              <a:lnSpc>
                <a:spcPct val="120000"/>
              </a:lnSpc>
            </a:pPr>
            <a:r>
              <a:rPr lang="en-US" sz="2000" b="1" dirty="0">
                <a:solidFill>
                  <a:schemeClr val="bg1"/>
                </a:solidFill>
                <a:ea typeface="Quattrocento Sans" pitchFamily="34" charset="-122"/>
                <a:cs typeface="Quattrocento Sans" pitchFamily="34" charset="-120"/>
              </a:rPr>
              <a:t>Shared-Nothing Architecture</a:t>
            </a:r>
            <a:endParaRPr lang="en-US" sz="2000" dirty="0">
              <a:solidFill>
                <a:schemeClr val="bg1"/>
              </a:solidFill>
            </a:endParaRPr>
          </a:p>
        </p:txBody>
      </p:sp>
    </p:spTree>
    <p:extLst>
      <p:ext uri="{BB962C8B-B14F-4D97-AF65-F5344CB8AC3E}">
        <p14:creationId xmlns:p14="http://schemas.microsoft.com/office/powerpoint/2010/main" val="257671174"/>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sp>
      <p:sp>
        <p:nvSpPr>
          <p:cNvPr id="12" name="Shape 10"/>
          <p:cNvSpPr/>
          <p:nvPr/>
        </p:nvSpPr>
        <p:spPr>
          <a:xfrm>
            <a:off x="1066800" y="8864600"/>
            <a:ext cx="152400" cy="152400"/>
          </a:xfrm>
          <a:prstGeom prst="diamond">
            <a:avLst/>
          </a:prstGeom>
          <a:solidFill>
            <a:srgbClr val="00ACC1"/>
          </a:solidFill>
          <a:ln/>
        </p:spPr>
      </p:sp>
      <p:sp>
        <p:nvSpPr>
          <p:cNvPr id="15" name="Text 13"/>
          <p:cNvSpPr/>
          <p:nvPr/>
        </p:nvSpPr>
        <p:spPr>
          <a:xfrm>
            <a:off x="15621000" y="0"/>
            <a:ext cx="635000" cy="635000"/>
          </a:xfrm>
          <a:prstGeom prst="rect">
            <a:avLst/>
          </a:prstGeom>
          <a:noFill/>
          <a:ln/>
        </p:spPr>
        <p:txBody>
          <a:bodyPr wrap="none" lIns="0" tIns="0" rIns="0" bIns="0" rtlCol="0" anchor="ctr"/>
          <a:lstStyle/>
          <a:p>
            <a:pPr algn="r">
              <a:lnSpc>
                <a:spcPct val="120000"/>
              </a:lnSpc>
            </a:pPr>
            <a:r>
              <a:rPr lang="en-US" sz="1400" dirty="0">
                <a:solidFill>
                  <a:srgbClr val="005C82"/>
                </a:solidFill>
                <a:latin typeface="Quattrocento Sans" pitchFamily="34" charset="0"/>
                <a:ea typeface="Quattrocento Sans" pitchFamily="34" charset="-122"/>
                <a:cs typeface="Quattrocento Sans" pitchFamily="34" charset="-120"/>
              </a:rPr>
              <a:t>9</a:t>
            </a:r>
            <a:endParaRPr lang="en-US" sz="1400" dirty="0"/>
          </a:p>
        </p:txBody>
      </p:sp>
      <p:sp>
        <p:nvSpPr>
          <p:cNvPr id="33" name="Text 14"/>
          <p:cNvSpPr/>
          <p:nvPr/>
        </p:nvSpPr>
        <p:spPr>
          <a:xfrm>
            <a:off x="2540000" y="863600"/>
            <a:ext cx="13208000" cy="457200"/>
          </a:xfrm>
          <a:prstGeom prst="rect">
            <a:avLst/>
          </a:prstGeom>
          <a:noFill/>
          <a:ln/>
        </p:spPr>
        <p:txBody>
          <a:bodyPr wrap="none" lIns="0" tIns="0" rIns="0" bIns="0" rtlCol="0" anchor="t"/>
          <a:lstStyle/>
          <a:p>
            <a:pPr>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Shared-Nothing Architecture &amp; BSP</a:t>
            </a:r>
            <a:endParaRPr lang="en-US" sz="2400" dirty="0"/>
          </a:p>
        </p:txBody>
      </p:sp>
      <p:sp>
        <p:nvSpPr>
          <p:cNvPr id="34" name="Shape 15"/>
          <p:cNvSpPr/>
          <p:nvPr/>
        </p:nvSpPr>
        <p:spPr>
          <a:xfrm>
            <a:off x="2540000" y="1397000"/>
            <a:ext cx="13208000" cy="12700"/>
          </a:xfrm>
          <a:prstGeom prst="rect">
            <a:avLst/>
          </a:prstGeom>
          <a:solidFill>
            <a:srgbClr val="B0BEC5"/>
          </a:solidFill>
          <a:ln/>
        </p:spPr>
      </p:sp>
      <p:sp>
        <p:nvSpPr>
          <p:cNvPr id="39" name="Shape 20"/>
          <p:cNvSpPr/>
          <p:nvPr/>
        </p:nvSpPr>
        <p:spPr>
          <a:xfrm>
            <a:off x="9144000" y="1574800"/>
            <a:ext cx="6350000" cy="482600"/>
          </a:xfrm>
          <a:prstGeom prst="rect">
            <a:avLst/>
          </a:prstGeom>
          <a:solidFill>
            <a:srgbClr val="007AA8"/>
          </a:solidFill>
          <a:ln/>
        </p:spPr>
      </p:sp>
      <p:sp>
        <p:nvSpPr>
          <p:cNvPr id="40" name="Text 21"/>
          <p:cNvSpPr/>
          <p:nvPr/>
        </p:nvSpPr>
        <p:spPr>
          <a:xfrm>
            <a:off x="9144000" y="1574800"/>
            <a:ext cx="6350000" cy="482600"/>
          </a:xfrm>
          <a:prstGeom prst="rect">
            <a:avLst/>
          </a:prstGeom>
          <a:noFill/>
          <a:ln/>
        </p:spPr>
        <p:txBody>
          <a:bodyPr wrap="none" lIns="0" tIns="0" rIns="0" bIns="0" rtlCol="0" anchor="ctr"/>
          <a:lstStyle/>
          <a:p>
            <a:pPr algn="ctr">
              <a:lnSpc>
                <a:spcPct val="120000"/>
              </a:lnSpc>
            </a:pPr>
            <a:r>
              <a:rPr lang="en-US" sz="2000" b="1" dirty="0">
                <a:solidFill>
                  <a:srgbClr val="FFFFFF"/>
                </a:solidFill>
                <a:ea typeface="Quattrocento Sans" pitchFamily="34" charset="-122"/>
                <a:cs typeface="Quattrocento Sans" pitchFamily="34" charset="-120"/>
              </a:rPr>
              <a:t>Bulk Synchronous Parallel (BSP)</a:t>
            </a:r>
            <a:endParaRPr lang="en-US" sz="2000" dirty="0"/>
          </a:p>
        </p:txBody>
      </p:sp>
      <p:sp>
        <p:nvSpPr>
          <p:cNvPr id="41" name="Shape 22"/>
          <p:cNvSpPr/>
          <p:nvPr/>
        </p:nvSpPr>
        <p:spPr>
          <a:xfrm>
            <a:off x="9144000" y="2057399"/>
            <a:ext cx="6350000" cy="6575961"/>
          </a:xfrm>
          <a:prstGeom prst="rect">
            <a:avLst/>
          </a:prstGeom>
          <a:solidFill>
            <a:srgbClr val="E8F4F8"/>
          </a:solidFill>
          <a:ln/>
        </p:spPr>
      </p:sp>
      <p:sp>
        <p:nvSpPr>
          <p:cNvPr id="42" name="Text 23"/>
          <p:cNvSpPr/>
          <p:nvPr/>
        </p:nvSpPr>
        <p:spPr>
          <a:xfrm>
            <a:off x="9372600" y="2057398"/>
            <a:ext cx="5892800" cy="5181600"/>
          </a:xfrm>
          <a:prstGeom prst="rect">
            <a:avLst/>
          </a:prstGeom>
          <a:noFill/>
          <a:ln/>
        </p:spPr>
        <p:txBody>
          <a:bodyPr wrap="square" lIns="0" tIns="0" rIns="0" bIns="0" rtlCol="0" anchor="t"/>
          <a:lstStyle/>
          <a:p>
            <a:pPr algn="l">
              <a:lnSpc>
                <a:spcPct val="165000"/>
              </a:lnSpc>
            </a:pPr>
            <a:r>
              <a:rPr lang="en-US" sz="2000" dirty="0">
                <a:solidFill>
                  <a:srgbClr val="333333"/>
                </a:solidFill>
                <a:ea typeface="Quattrocento Sans" pitchFamily="34" charset="-122"/>
                <a:cs typeface="Quattrocento Sans" pitchFamily="34" charset="-120"/>
              </a:rPr>
              <a:t>Computation proceeds in a series of </a:t>
            </a:r>
            <a:r>
              <a:rPr lang="en-US" sz="2000" b="1" dirty="0">
                <a:solidFill>
                  <a:srgbClr val="333333"/>
                </a:solidFill>
                <a:ea typeface="Quattrocento Sans" pitchFamily="34" charset="-122"/>
                <a:cs typeface="Quattrocento Sans" pitchFamily="34" charset="-120"/>
              </a:rPr>
              <a:t>supersteps</a:t>
            </a:r>
            <a:r>
              <a:rPr lang="en-US" sz="2000" dirty="0">
                <a:solidFill>
                  <a:srgbClr val="333333"/>
                </a:solidFill>
                <a:ea typeface="Quattrocento Sans" pitchFamily="34" charset="-122"/>
                <a:cs typeface="Quattrocento Sans" pitchFamily="34" charset="-120"/>
              </a:rPr>
              <a:t>. In each superstep:</a:t>
            </a:r>
            <a:endParaRPr lang="en-US" sz="2000" dirty="0"/>
          </a:p>
          <a:p>
            <a:pPr algn="l">
              <a:lnSpc>
                <a:spcPct val="165000"/>
              </a:lnSpc>
              <a:spcBef>
                <a:spcPts val="800"/>
              </a:spcBef>
            </a:pPr>
            <a:r>
              <a:rPr lang="en-US" sz="2000" b="1" dirty="0">
                <a:solidFill>
                  <a:srgbClr val="005C82"/>
                </a:solidFill>
                <a:ea typeface="Quattrocento Sans" pitchFamily="34" charset="-122"/>
                <a:cs typeface="Quattrocento Sans" pitchFamily="34" charset="-120"/>
              </a:rPr>
              <a:t>1.</a:t>
            </a:r>
            <a:r>
              <a:rPr lang="en-US" sz="2000" dirty="0">
                <a:solidFill>
                  <a:srgbClr val="333333"/>
                </a:solidFill>
                <a:ea typeface="Quattrocento Sans" pitchFamily="34" charset="-122"/>
                <a:cs typeface="Quattrocento Sans" pitchFamily="34" charset="-120"/>
              </a:rPr>
              <a:t> Local computation on each processor</a:t>
            </a:r>
            <a:endParaRPr lang="en-US" sz="2000" dirty="0"/>
          </a:p>
          <a:p>
            <a:pPr algn="l">
              <a:lnSpc>
                <a:spcPct val="165000"/>
              </a:lnSpc>
            </a:pPr>
            <a:r>
              <a:rPr lang="en-US" sz="2000" b="1" dirty="0">
                <a:solidFill>
                  <a:srgbClr val="005C82"/>
                </a:solidFill>
                <a:ea typeface="Quattrocento Sans" pitchFamily="34" charset="-122"/>
                <a:cs typeface="Quattrocento Sans" pitchFamily="34" charset="-120"/>
              </a:rPr>
              <a:t>2.</a:t>
            </a:r>
            <a:r>
              <a:rPr lang="en-US" sz="2000" dirty="0">
                <a:solidFill>
                  <a:srgbClr val="333333"/>
                </a:solidFill>
                <a:ea typeface="Quattrocento Sans" pitchFamily="34" charset="-122"/>
                <a:cs typeface="Quattrocento Sans" pitchFamily="34" charset="-120"/>
              </a:rPr>
              <a:t> Global communication between processors</a:t>
            </a:r>
            <a:endParaRPr lang="en-US" sz="2000" dirty="0"/>
          </a:p>
          <a:p>
            <a:pPr algn="l">
              <a:lnSpc>
                <a:spcPct val="165000"/>
              </a:lnSpc>
            </a:pPr>
            <a:r>
              <a:rPr lang="en-US" sz="2000" b="1" dirty="0">
                <a:solidFill>
                  <a:srgbClr val="005C82"/>
                </a:solidFill>
                <a:ea typeface="Quattrocento Sans" pitchFamily="34" charset="-122"/>
                <a:cs typeface="Quattrocento Sans" pitchFamily="34" charset="-120"/>
              </a:rPr>
              <a:t>3.</a:t>
            </a:r>
            <a:r>
              <a:rPr lang="en-US" sz="2000" dirty="0">
                <a:solidFill>
                  <a:srgbClr val="333333"/>
                </a:solidFill>
                <a:ea typeface="Quattrocento Sans" pitchFamily="34" charset="-122"/>
                <a:cs typeface="Quattrocento Sans" pitchFamily="34" charset="-120"/>
              </a:rPr>
              <a:t> Barrier synchronization ensures all finish</a:t>
            </a:r>
            <a:endParaRPr lang="en-US" sz="2000" dirty="0"/>
          </a:p>
          <a:p>
            <a:pPr algn="l">
              <a:lnSpc>
                <a:spcPct val="165000"/>
              </a:lnSpc>
              <a:spcBef>
                <a:spcPts val="1000"/>
              </a:spcBef>
            </a:pPr>
            <a:r>
              <a:rPr lang="en-US" sz="2000" b="1" dirty="0">
                <a:solidFill>
                  <a:srgbClr val="333333"/>
                </a:solidFill>
                <a:ea typeface="Quattrocento Sans" pitchFamily="34" charset="-122"/>
                <a:cs typeface="Quattrocento Sans" pitchFamily="34" charset="-120"/>
              </a:rPr>
              <a:t>Advantages:</a:t>
            </a:r>
            <a:endParaRPr lang="en-US" sz="2000" dirty="0"/>
          </a:p>
          <a:p>
            <a:pPr algn="l">
              <a:lnSpc>
                <a:spcPct val="165000"/>
              </a:lnSpc>
            </a:pPr>
            <a:r>
              <a:rPr lang="en-US" sz="2000" dirty="0">
                <a:solidFill>
                  <a:srgbClr val="333333"/>
                </a:solidFill>
                <a:ea typeface="Quattrocento Sans" pitchFamily="34" charset="-122"/>
                <a:cs typeface="Quattrocento Sans" pitchFamily="34" charset="-120"/>
              </a:rPr>
              <a:t>• Predictable and easy to reason about</a:t>
            </a:r>
            <a:endParaRPr lang="en-US" sz="2000" dirty="0"/>
          </a:p>
          <a:p>
            <a:pPr algn="l">
              <a:lnSpc>
                <a:spcPct val="165000"/>
              </a:lnSpc>
            </a:pPr>
            <a:r>
              <a:rPr lang="en-US" sz="2000" dirty="0">
                <a:solidFill>
                  <a:srgbClr val="333333"/>
                </a:solidFill>
                <a:ea typeface="Quattrocento Sans" pitchFamily="34" charset="-122"/>
                <a:cs typeface="Quattrocento Sans" pitchFamily="34" charset="-120"/>
              </a:rPr>
              <a:t>• Supports complex iterative algorithms</a:t>
            </a:r>
            <a:endParaRPr lang="en-US" sz="2000" dirty="0"/>
          </a:p>
          <a:p>
            <a:pPr algn="l">
              <a:lnSpc>
                <a:spcPct val="165000"/>
              </a:lnSpc>
              <a:spcBef>
                <a:spcPts val="1000"/>
              </a:spcBef>
            </a:pPr>
            <a:r>
              <a:rPr lang="en-US" sz="2000" b="1" dirty="0">
                <a:solidFill>
                  <a:srgbClr val="333333"/>
                </a:solidFill>
                <a:ea typeface="Quattrocento Sans" pitchFamily="34" charset="-122"/>
                <a:cs typeface="Quattrocento Sans" pitchFamily="34" charset="-120"/>
              </a:rPr>
              <a:t>Used in:</a:t>
            </a:r>
            <a:endParaRPr lang="en-US" sz="2000" dirty="0"/>
          </a:p>
          <a:p>
            <a:pPr algn="l">
              <a:lnSpc>
                <a:spcPct val="165000"/>
              </a:lnSpc>
            </a:pPr>
            <a:r>
              <a:rPr lang="en-US" sz="2000" dirty="0">
                <a:solidFill>
                  <a:srgbClr val="333333"/>
                </a:solidFill>
                <a:ea typeface="Quattrocento Sans" pitchFamily="34" charset="-122"/>
                <a:cs typeface="Quattrocento Sans" pitchFamily="34" charset="-120"/>
              </a:rPr>
              <a:t>• Google's Pregel (graph processing)</a:t>
            </a:r>
            <a:endParaRPr lang="en-US" sz="2000" dirty="0"/>
          </a:p>
          <a:p>
            <a:pPr algn="l">
              <a:lnSpc>
                <a:spcPct val="165000"/>
              </a:lnSpc>
            </a:pPr>
            <a:r>
              <a:rPr lang="en-US" sz="2000" dirty="0">
                <a:solidFill>
                  <a:srgbClr val="333333"/>
                </a:solidFill>
                <a:ea typeface="Quattrocento Sans" pitchFamily="34" charset="-122"/>
                <a:cs typeface="Quattrocento Sans" pitchFamily="34" charset="-120"/>
              </a:rPr>
              <a:t>• Apache Giraph</a:t>
            </a:r>
            <a:endParaRPr lang="en-US" sz="2000" dirty="0"/>
          </a:p>
        </p:txBody>
      </p:sp>
      <p:sp>
        <p:nvSpPr>
          <p:cNvPr id="17" name="Rounded Rectangle 16"/>
          <p:cNvSpPr/>
          <p:nvPr/>
        </p:nvSpPr>
        <p:spPr>
          <a:xfrm>
            <a:off x="0" y="3540031"/>
            <a:ext cx="2214372" cy="647656"/>
          </a:xfrm>
          <a:prstGeom prst="roundRect">
            <a:avLst/>
          </a:prstGeom>
          <a:solidFill>
            <a:srgbClr val="FF000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0" name="Picture 2" descr="Bulk Synchronous Model (BSP). During 1980s, a lot of parallel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5024" y="1574800"/>
            <a:ext cx="6040376" cy="7058560"/>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8740959"/>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sp>
      <p:sp>
        <p:nvSpPr>
          <p:cNvPr id="12" name="Shape 10"/>
          <p:cNvSpPr/>
          <p:nvPr/>
        </p:nvSpPr>
        <p:spPr>
          <a:xfrm>
            <a:off x="1066800" y="8864600"/>
            <a:ext cx="152400" cy="152400"/>
          </a:xfrm>
          <a:prstGeom prst="diamond">
            <a:avLst/>
          </a:prstGeom>
          <a:solidFill>
            <a:srgbClr val="00ACC1"/>
          </a:solidFill>
          <a:ln/>
        </p:spPr>
      </p:sp>
      <p:sp>
        <p:nvSpPr>
          <p:cNvPr id="15" name="Text 13"/>
          <p:cNvSpPr/>
          <p:nvPr/>
        </p:nvSpPr>
        <p:spPr>
          <a:xfrm>
            <a:off x="15621000" y="0"/>
            <a:ext cx="635000" cy="635000"/>
          </a:xfrm>
          <a:prstGeom prst="rect">
            <a:avLst/>
          </a:prstGeom>
          <a:noFill/>
          <a:ln/>
        </p:spPr>
        <p:txBody>
          <a:bodyPr wrap="none" lIns="0" tIns="0" rIns="0" bIns="0" rtlCol="0" anchor="ctr"/>
          <a:lstStyle/>
          <a:p>
            <a:pPr algn="r">
              <a:lnSpc>
                <a:spcPct val="120000"/>
              </a:lnSpc>
            </a:pPr>
            <a:r>
              <a:rPr lang="en-US" sz="1400" dirty="0">
                <a:solidFill>
                  <a:srgbClr val="005C82"/>
                </a:solidFill>
                <a:latin typeface="Quattrocento Sans" pitchFamily="34" charset="0"/>
                <a:ea typeface="Quattrocento Sans" pitchFamily="34" charset="-122"/>
                <a:cs typeface="Quattrocento Sans" pitchFamily="34" charset="-120"/>
              </a:rPr>
              <a:t>9</a:t>
            </a:r>
            <a:endParaRPr lang="en-US" sz="1400" dirty="0"/>
          </a:p>
        </p:txBody>
      </p:sp>
      <p:sp>
        <p:nvSpPr>
          <p:cNvPr id="33" name="Text 14"/>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smtClean="0">
                <a:solidFill>
                  <a:srgbClr val="005C82"/>
                </a:solidFill>
                <a:latin typeface="Quattrocento Sans" pitchFamily="34" charset="0"/>
                <a:ea typeface="Quattrocento Sans" pitchFamily="34" charset="-122"/>
                <a:cs typeface="Quattrocento Sans" pitchFamily="34" charset="-120"/>
              </a:rPr>
              <a:t>Today’s Fact</a:t>
            </a:r>
            <a:endParaRPr lang="en-US" sz="2400" dirty="0"/>
          </a:p>
        </p:txBody>
      </p:sp>
      <p:sp>
        <p:nvSpPr>
          <p:cNvPr id="34" name="Shape 15"/>
          <p:cNvSpPr/>
          <p:nvPr/>
        </p:nvSpPr>
        <p:spPr>
          <a:xfrm>
            <a:off x="2540000" y="1397000"/>
            <a:ext cx="13208000" cy="12700"/>
          </a:xfrm>
          <a:prstGeom prst="rect">
            <a:avLst/>
          </a:prstGeom>
          <a:solidFill>
            <a:srgbClr val="B0BEC5"/>
          </a:solidFill>
          <a:ln/>
        </p:spPr>
      </p:sp>
      <p:sp>
        <p:nvSpPr>
          <p:cNvPr id="2" name="Rectangle 1"/>
          <p:cNvSpPr/>
          <p:nvPr/>
        </p:nvSpPr>
        <p:spPr>
          <a:xfrm>
            <a:off x="2540000" y="1985276"/>
            <a:ext cx="13081000" cy="1938992"/>
          </a:xfrm>
          <a:prstGeom prst="rect">
            <a:avLst/>
          </a:prstGeom>
        </p:spPr>
        <p:txBody>
          <a:bodyPr wrap="square">
            <a:spAutoFit/>
          </a:bodyPr>
          <a:lstStyle/>
          <a:p>
            <a:pPr algn="just"/>
            <a:r>
              <a:rPr lang="en-US" sz="2400" b="1" dirty="0">
                <a:solidFill>
                  <a:schemeClr val="accent6">
                    <a:lumMod val="75000"/>
                  </a:schemeClr>
                </a:solidFill>
                <a:latin typeface="Google Sans"/>
              </a:rPr>
              <a:t>Explosive Indian Data Center Infrastructure:</a:t>
            </a:r>
            <a:r>
              <a:rPr lang="en-US" sz="2400" dirty="0">
                <a:solidFill>
                  <a:schemeClr val="accent6">
                    <a:lumMod val="75000"/>
                  </a:schemeClr>
                </a:solidFill>
                <a:latin typeface="Google Sans"/>
              </a:rPr>
              <a:t> India's data center market is experiencing historic growth driven by AI and enterprise demands. </a:t>
            </a:r>
            <a:r>
              <a:rPr lang="en-US" sz="2400" b="1" dirty="0">
                <a:solidFill>
                  <a:srgbClr val="C00000"/>
                </a:solidFill>
                <a:latin typeface="Google Sans"/>
              </a:rPr>
              <a:t>ST GDC India</a:t>
            </a:r>
            <a:r>
              <a:rPr lang="en-US" sz="2400" dirty="0">
                <a:solidFill>
                  <a:schemeClr val="accent6">
                    <a:lumMod val="75000"/>
                  </a:schemeClr>
                </a:solidFill>
                <a:latin typeface="Google Sans"/>
              </a:rPr>
              <a:t>, a Tata-backed data center giant, is targeting a multi-billion dollar IPO to scale infrastructure. Meanwhile, companies are rapidly expanding facilities in alternative zones like GIFT City to meet local storage requirements and edge computing needs.</a:t>
            </a:r>
            <a:r>
              <a:rPr lang="en-US" sz="2400" dirty="0">
                <a:solidFill>
                  <a:schemeClr val="accent6">
                    <a:lumMod val="75000"/>
                  </a:schemeClr>
                </a:solidFill>
              </a:rPr>
              <a:t> [</a:t>
            </a:r>
            <a:r>
              <a:rPr lang="en-US" sz="2400" dirty="0">
                <a:solidFill>
                  <a:schemeClr val="accent6">
                    <a:lumMod val="75000"/>
                  </a:schemeClr>
                </a:solidFill>
                <a:hlinkClick r:id="rId3"/>
              </a:rPr>
              <a:t>1</a:t>
            </a:r>
            <a:r>
              <a:rPr lang="en-US" sz="2400" dirty="0">
                <a:solidFill>
                  <a:schemeClr val="accent6">
                    <a:lumMod val="75000"/>
                  </a:schemeClr>
                </a:solidFill>
              </a:rPr>
              <a:t>, </a:t>
            </a:r>
            <a:r>
              <a:rPr lang="en-US" sz="2400" dirty="0">
                <a:solidFill>
                  <a:schemeClr val="accent6">
                    <a:lumMod val="75000"/>
                  </a:schemeClr>
                </a:solidFill>
                <a:hlinkClick r:id="rId4"/>
              </a:rPr>
              <a:t>2</a:t>
            </a:r>
            <a:r>
              <a:rPr lang="en-US" sz="2400" dirty="0">
                <a:solidFill>
                  <a:schemeClr val="accent6">
                    <a:lumMod val="75000"/>
                  </a:schemeClr>
                </a:solidFill>
              </a:rPr>
              <a:t>]</a:t>
            </a:r>
            <a:endParaRPr lang="en-IN" sz="2400" dirty="0">
              <a:solidFill>
                <a:schemeClr val="accent6">
                  <a:lumMod val="75000"/>
                </a:schemeClr>
              </a:solidFill>
            </a:endParaRPr>
          </a:p>
        </p:txBody>
      </p:sp>
      <p:sp>
        <p:nvSpPr>
          <p:cNvPr id="4" name="Rectangle 3"/>
          <p:cNvSpPr/>
          <p:nvPr/>
        </p:nvSpPr>
        <p:spPr>
          <a:xfrm>
            <a:off x="2540000" y="4698968"/>
            <a:ext cx="13081000" cy="1569660"/>
          </a:xfrm>
          <a:prstGeom prst="rect">
            <a:avLst/>
          </a:prstGeom>
        </p:spPr>
        <p:txBody>
          <a:bodyPr wrap="square">
            <a:spAutoFit/>
          </a:bodyPr>
          <a:lstStyle/>
          <a:p>
            <a:pPr algn="just"/>
            <a:r>
              <a:rPr lang="en-US" sz="2400" b="1" dirty="0" err="1">
                <a:solidFill>
                  <a:schemeClr val="accent6">
                    <a:lumMod val="75000"/>
                  </a:schemeClr>
                </a:solidFill>
                <a:latin typeface="Google Sans"/>
              </a:rPr>
              <a:t>GenAI</a:t>
            </a:r>
            <a:r>
              <a:rPr lang="en-US" sz="2400" b="1" dirty="0">
                <a:solidFill>
                  <a:schemeClr val="accent6">
                    <a:lumMod val="75000"/>
                  </a:schemeClr>
                </a:solidFill>
                <a:latin typeface="Google Sans"/>
              </a:rPr>
              <a:t> Data Engineering: </a:t>
            </a:r>
            <a:r>
              <a:rPr lang="en-US" sz="2400" dirty="0">
                <a:solidFill>
                  <a:schemeClr val="accent6">
                    <a:lumMod val="75000"/>
                  </a:schemeClr>
                </a:solidFill>
                <a:latin typeface="Google Sans"/>
              </a:rPr>
              <a:t>Enterprises are increasingly turning to generative AI models to manage, clean, and extract value from massive, unstructured datasets rather than doing it manually. Tools like </a:t>
            </a:r>
            <a:r>
              <a:rPr lang="en-US" sz="2400" b="1" dirty="0" err="1">
                <a:solidFill>
                  <a:srgbClr val="C00000"/>
                </a:solidFill>
                <a:latin typeface="Google Sans"/>
              </a:rPr>
              <a:t>MotherDuck</a:t>
            </a:r>
            <a:r>
              <a:rPr lang="en-US" sz="2400" dirty="0">
                <a:solidFill>
                  <a:schemeClr val="accent6">
                    <a:lumMod val="75000"/>
                  </a:schemeClr>
                </a:solidFill>
                <a:latin typeface="Google Sans"/>
              </a:rPr>
              <a:t> are using Python-based agentic tools to let users build and deploy data pipelines in minutes. </a:t>
            </a:r>
            <a:r>
              <a:rPr lang="en-US" sz="2400" b="1" dirty="0">
                <a:solidFill>
                  <a:schemeClr val="accent6">
                    <a:lumMod val="75000"/>
                  </a:schemeClr>
                </a:solidFill>
                <a:latin typeface="Google Sans"/>
              </a:rPr>
              <a:t>[</a:t>
            </a:r>
            <a:r>
              <a:rPr lang="en-US" sz="2400" b="1" dirty="0">
                <a:solidFill>
                  <a:schemeClr val="accent6">
                    <a:lumMod val="75000"/>
                  </a:schemeClr>
                </a:solidFill>
                <a:latin typeface="Google Sans"/>
                <a:hlinkClick r:id="rId5"/>
              </a:rPr>
              <a:t>1</a:t>
            </a:r>
            <a:r>
              <a:rPr lang="en-US" sz="2400" b="1" dirty="0">
                <a:solidFill>
                  <a:schemeClr val="accent6">
                    <a:lumMod val="75000"/>
                  </a:schemeClr>
                </a:solidFill>
                <a:latin typeface="Google Sans"/>
              </a:rPr>
              <a:t>, </a:t>
            </a:r>
            <a:r>
              <a:rPr lang="en-US" sz="2400" b="1" dirty="0">
                <a:solidFill>
                  <a:schemeClr val="accent6">
                    <a:lumMod val="75000"/>
                  </a:schemeClr>
                </a:solidFill>
                <a:latin typeface="Google Sans"/>
                <a:hlinkClick r:id="rId6"/>
              </a:rPr>
              <a:t>2</a:t>
            </a:r>
            <a:r>
              <a:rPr lang="en-US" sz="2400" b="1" dirty="0">
                <a:solidFill>
                  <a:schemeClr val="accent6">
                    <a:lumMod val="75000"/>
                  </a:schemeClr>
                </a:solidFill>
                <a:latin typeface="Google Sans"/>
              </a:rPr>
              <a:t>, </a:t>
            </a:r>
            <a:r>
              <a:rPr lang="en-US" sz="2400" b="1" dirty="0">
                <a:solidFill>
                  <a:schemeClr val="accent6">
                    <a:lumMod val="75000"/>
                  </a:schemeClr>
                </a:solidFill>
                <a:latin typeface="Google Sans"/>
                <a:hlinkClick r:id="rId7"/>
              </a:rPr>
              <a:t>3</a:t>
            </a:r>
            <a:r>
              <a:rPr lang="en-US" sz="2400" b="1" dirty="0">
                <a:solidFill>
                  <a:schemeClr val="accent6">
                    <a:lumMod val="75000"/>
                  </a:schemeClr>
                </a:solidFill>
                <a:latin typeface="Google Sans"/>
              </a:rPr>
              <a:t>]</a:t>
            </a:r>
            <a:endParaRPr lang="en-IN" sz="2400" b="1" dirty="0">
              <a:solidFill>
                <a:schemeClr val="accent6">
                  <a:lumMod val="75000"/>
                </a:schemeClr>
              </a:solidFill>
              <a:latin typeface="Google Sans"/>
            </a:endParaRPr>
          </a:p>
        </p:txBody>
      </p:sp>
      <p:sp>
        <p:nvSpPr>
          <p:cNvPr id="9" name="Rounded Rectangle 8"/>
          <p:cNvSpPr/>
          <p:nvPr/>
        </p:nvSpPr>
        <p:spPr>
          <a:xfrm>
            <a:off x="0" y="3429475"/>
            <a:ext cx="2214372" cy="771463"/>
          </a:xfrm>
          <a:prstGeom prst="roundRect">
            <a:avLst/>
          </a:prstGeom>
          <a:solidFill>
            <a:srgbClr val="FF000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160723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1000" fill="hold"/>
                                        <p:tgtEl>
                                          <p:spTgt spid="4"/>
                                        </p:tgtEl>
                                        <p:attrNameLst>
                                          <p:attrName>ppt_w</p:attrName>
                                        </p:attrNameLst>
                                      </p:cBhvr>
                                      <p:tavLst>
                                        <p:tav tm="0">
                                          <p:val>
                                            <p:fltVal val="0"/>
                                          </p:val>
                                        </p:tav>
                                        <p:tav tm="100000">
                                          <p:val>
                                            <p:strVal val="#ppt_w"/>
                                          </p:val>
                                        </p:tav>
                                      </p:tavLst>
                                    </p:anim>
                                    <p:anim calcmode="lin" valueType="num">
                                      <p:cBhvr>
                                        <p:cTn id="16" dur="1000" fill="hold"/>
                                        <p:tgtEl>
                                          <p:spTgt spid="4"/>
                                        </p:tgtEl>
                                        <p:attrNameLst>
                                          <p:attrName>ppt_h</p:attrName>
                                        </p:attrNameLst>
                                      </p:cBhvr>
                                      <p:tavLst>
                                        <p:tav tm="0">
                                          <p:val>
                                            <p:fltVal val="0"/>
                                          </p:val>
                                        </p:tav>
                                        <p:tav tm="100000">
                                          <p:val>
                                            <p:strVal val="#ppt_h"/>
                                          </p:val>
                                        </p:tav>
                                      </p:tavLst>
                                    </p:anim>
                                    <p:anim calcmode="lin" valueType="num">
                                      <p:cBhvr>
                                        <p:cTn id="17" dur="1000" fill="hold"/>
                                        <p:tgtEl>
                                          <p:spTgt spid="4"/>
                                        </p:tgtEl>
                                        <p:attrNameLst>
                                          <p:attrName>style.rotation</p:attrName>
                                        </p:attrNameLst>
                                      </p:cBhvr>
                                      <p:tavLst>
                                        <p:tav tm="0">
                                          <p:val>
                                            <p:fltVal val="90"/>
                                          </p:val>
                                        </p:tav>
                                        <p:tav tm="100000">
                                          <p:val>
                                            <p:fltVal val="0"/>
                                          </p:val>
                                        </p:tav>
                                      </p:tavLst>
                                    </p:anim>
                                    <p:animEffect transition="in" filter="fade">
                                      <p:cBhvr>
                                        <p:cTn id="18"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sp>
      <p:sp>
        <p:nvSpPr>
          <p:cNvPr id="12" name="Shape 10"/>
          <p:cNvSpPr/>
          <p:nvPr/>
        </p:nvSpPr>
        <p:spPr>
          <a:xfrm>
            <a:off x="1066800" y="8864600"/>
            <a:ext cx="152400" cy="152400"/>
          </a:xfrm>
          <a:prstGeom prst="diamond">
            <a:avLst/>
          </a:prstGeom>
          <a:solidFill>
            <a:srgbClr val="00ACC1"/>
          </a:solidFill>
          <a:ln/>
        </p:spPr>
      </p:sp>
      <p:sp>
        <p:nvSpPr>
          <p:cNvPr id="15" name="Text 13"/>
          <p:cNvSpPr/>
          <p:nvPr/>
        </p:nvSpPr>
        <p:spPr>
          <a:xfrm>
            <a:off x="15621000" y="0"/>
            <a:ext cx="635000" cy="635000"/>
          </a:xfrm>
          <a:prstGeom prst="rect">
            <a:avLst/>
          </a:prstGeom>
          <a:noFill/>
          <a:ln/>
        </p:spPr>
        <p:txBody>
          <a:bodyPr wrap="none" lIns="0" tIns="0" rIns="0" bIns="0" rtlCol="0" anchor="ctr"/>
          <a:lstStyle/>
          <a:p>
            <a:pPr algn="r">
              <a:lnSpc>
                <a:spcPct val="120000"/>
              </a:lnSpc>
            </a:pPr>
            <a:r>
              <a:rPr lang="en-US" sz="1400" dirty="0">
                <a:solidFill>
                  <a:srgbClr val="005C82"/>
                </a:solidFill>
                <a:latin typeface="Quattrocento Sans" pitchFamily="34" charset="0"/>
                <a:ea typeface="Quattrocento Sans" pitchFamily="34" charset="-122"/>
                <a:cs typeface="Quattrocento Sans" pitchFamily="34" charset="-120"/>
              </a:rPr>
              <a:t>9</a:t>
            </a:r>
            <a:endParaRPr lang="en-US" sz="1400" dirty="0"/>
          </a:p>
        </p:txBody>
      </p:sp>
      <p:sp>
        <p:nvSpPr>
          <p:cNvPr id="33" name="Text 14"/>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smtClean="0">
                <a:solidFill>
                  <a:srgbClr val="005C82"/>
                </a:solidFill>
                <a:latin typeface="Quattrocento Sans" pitchFamily="34" charset="0"/>
                <a:ea typeface="Quattrocento Sans" pitchFamily="34" charset="-122"/>
                <a:cs typeface="Quattrocento Sans" pitchFamily="34" charset="-120"/>
              </a:rPr>
              <a:t>Today’s Fact</a:t>
            </a:r>
            <a:endParaRPr lang="en-US" sz="2400" dirty="0"/>
          </a:p>
        </p:txBody>
      </p:sp>
      <p:sp>
        <p:nvSpPr>
          <p:cNvPr id="34" name="Shape 15"/>
          <p:cNvSpPr/>
          <p:nvPr/>
        </p:nvSpPr>
        <p:spPr>
          <a:xfrm>
            <a:off x="2540000" y="1397000"/>
            <a:ext cx="13208000" cy="12700"/>
          </a:xfrm>
          <a:prstGeom prst="rect">
            <a:avLst/>
          </a:prstGeom>
          <a:solidFill>
            <a:srgbClr val="B0BEC5"/>
          </a:solidFill>
          <a:ln/>
        </p:spPr>
      </p:sp>
      <p:sp>
        <p:nvSpPr>
          <p:cNvPr id="5" name="Rectangle 4"/>
          <p:cNvSpPr/>
          <p:nvPr/>
        </p:nvSpPr>
        <p:spPr>
          <a:xfrm>
            <a:off x="4356608" y="2310307"/>
            <a:ext cx="8944864" cy="3939540"/>
          </a:xfrm>
          <a:prstGeom prst="rect">
            <a:avLst/>
          </a:prstGeom>
        </p:spPr>
        <p:txBody>
          <a:bodyPr wrap="square">
            <a:spAutoFit/>
          </a:bodyPr>
          <a:lstStyle/>
          <a:p>
            <a:r>
              <a:rPr lang="en-US" sz="4400" b="1" dirty="0">
                <a:solidFill>
                  <a:srgbClr val="0070C0"/>
                </a:solidFill>
                <a:latin typeface="Google Sans"/>
              </a:rPr>
              <a:t>The global market for big data analytics in defense has reached an estimated $11.07 billion</a:t>
            </a:r>
            <a:r>
              <a:rPr lang="en-US" sz="4400" dirty="0" smtClean="0">
                <a:solidFill>
                  <a:srgbClr val="0070C0"/>
                </a:solidFill>
              </a:rPr>
              <a:t>.</a:t>
            </a:r>
          </a:p>
          <a:p>
            <a:endParaRPr lang="en-US" sz="4400" dirty="0">
              <a:solidFill>
                <a:srgbClr val="0070C0"/>
              </a:solidFill>
            </a:endParaRPr>
          </a:p>
          <a:p>
            <a:pPr algn="ctr"/>
            <a:r>
              <a:rPr lang="en-IN" sz="2000" dirty="0">
                <a:solidFill>
                  <a:srgbClr val="0070C0"/>
                </a:solidFill>
              </a:rPr>
              <a:t>1 Billion = 10,000 </a:t>
            </a:r>
            <a:r>
              <a:rPr lang="en-IN" sz="2000" dirty="0" smtClean="0">
                <a:solidFill>
                  <a:srgbClr val="0070C0"/>
                </a:solidFill>
              </a:rPr>
              <a:t>Lakhs</a:t>
            </a:r>
          </a:p>
          <a:p>
            <a:r>
              <a:rPr lang="en-IN" sz="2800" dirty="0">
                <a:solidFill>
                  <a:srgbClr val="0070C0"/>
                </a:solidFill>
              </a:rPr>
              <a:t>https://natlawreview.com/press-releases/global-big-data-analytics-defense-aerospace-market-outlook-2026-growth</a:t>
            </a:r>
          </a:p>
        </p:txBody>
      </p:sp>
      <p:pic>
        <p:nvPicPr>
          <p:cNvPr id="1026" name="Picture 2" descr="76 Billion Dollars In Rupe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78460" y="4764963"/>
            <a:ext cx="2969768" cy="2969768"/>
          </a:xfrm>
          <a:prstGeom prst="rect">
            <a:avLst/>
          </a:prstGeom>
          <a:noFill/>
          <a:extLst>
            <a:ext uri="{909E8E84-426E-40DD-AFC4-6F175D3DCCD1}">
              <a14:hiddenFill xmlns:a14="http://schemas.microsoft.com/office/drawing/2010/main">
                <a:solidFill>
                  <a:srgbClr val="FFFFFF"/>
                </a:solidFill>
              </a14:hiddenFill>
            </a:ext>
          </a:extLst>
        </p:spPr>
      </p:pic>
      <p:sp>
        <p:nvSpPr>
          <p:cNvPr id="9" name="Rounded Rectangle 8"/>
          <p:cNvSpPr/>
          <p:nvPr/>
        </p:nvSpPr>
        <p:spPr>
          <a:xfrm>
            <a:off x="0" y="3447265"/>
            <a:ext cx="2214372" cy="780177"/>
          </a:xfrm>
          <a:prstGeom prst="roundRect">
            <a:avLst/>
          </a:prstGeom>
          <a:solidFill>
            <a:srgbClr val="FF000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044136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sp>
      <p:sp>
        <p:nvSpPr>
          <p:cNvPr id="12" name="Shape 10"/>
          <p:cNvSpPr/>
          <p:nvPr/>
        </p:nvSpPr>
        <p:spPr>
          <a:xfrm>
            <a:off x="1066800" y="8864600"/>
            <a:ext cx="152400" cy="152400"/>
          </a:xfrm>
          <a:prstGeom prst="diamond">
            <a:avLst/>
          </a:prstGeom>
          <a:solidFill>
            <a:srgbClr val="00ACC1"/>
          </a:solidFill>
          <a:ln/>
        </p:spPr>
      </p:sp>
      <p:sp>
        <p:nvSpPr>
          <p:cNvPr id="15" name="Text 13"/>
          <p:cNvSpPr/>
          <p:nvPr/>
        </p:nvSpPr>
        <p:spPr>
          <a:xfrm>
            <a:off x="15621000" y="0"/>
            <a:ext cx="635000" cy="635000"/>
          </a:xfrm>
          <a:prstGeom prst="rect">
            <a:avLst/>
          </a:prstGeom>
          <a:noFill/>
          <a:ln/>
        </p:spPr>
        <p:txBody>
          <a:bodyPr wrap="none" lIns="0" tIns="0" rIns="0" bIns="0" rtlCol="0" anchor="ctr"/>
          <a:lstStyle/>
          <a:p>
            <a:pPr algn="r">
              <a:lnSpc>
                <a:spcPct val="120000"/>
              </a:lnSpc>
            </a:pPr>
            <a:r>
              <a:rPr lang="en-US" sz="1400" dirty="0">
                <a:solidFill>
                  <a:srgbClr val="005C82"/>
                </a:solidFill>
                <a:latin typeface="Quattrocento Sans" pitchFamily="34" charset="0"/>
                <a:ea typeface="Quattrocento Sans" pitchFamily="34" charset="-122"/>
                <a:cs typeface="Quattrocento Sans" pitchFamily="34" charset="-120"/>
              </a:rPr>
              <a:t>9</a:t>
            </a:r>
            <a:endParaRPr lang="en-US" sz="1400" dirty="0"/>
          </a:p>
        </p:txBody>
      </p:sp>
      <p:sp>
        <p:nvSpPr>
          <p:cNvPr id="9" name="Text 14"/>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smtClean="0">
                <a:solidFill>
                  <a:srgbClr val="005C82"/>
                </a:solidFill>
                <a:latin typeface="Quattrocento Sans" pitchFamily="34" charset="0"/>
                <a:ea typeface="Quattrocento Sans" pitchFamily="34" charset="-122"/>
                <a:cs typeface="Quattrocento Sans" pitchFamily="34" charset="-120"/>
              </a:rPr>
              <a:t>3. Stream </a:t>
            </a:r>
            <a:r>
              <a:rPr lang="en-US" sz="2400" b="1" dirty="0">
                <a:solidFill>
                  <a:srgbClr val="005C82"/>
                </a:solidFill>
                <a:latin typeface="Quattrocento Sans" pitchFamily="34" charset="0"/>
                <a:ea typeface="Quattrocento Sans" pitchFamily="34" charset="-122"/>
                <a:cs typeface="Quattrocento Sans" pitchFamily="34" charset="-120"/>
              </a:rPr>
              <a:t>Processing, Graph Processing &amp; MapReduce</a:t>
            </a:r>
            <a:endParaRPr lang="en-US" sz="2400" dirty="0"/>
          </a:p>
        </p:txBody>
      </p:sp>
      <p:sp>
        <p:nvSpPr>
          <p:cNvPr id="10" name="Shape 15"/>
          <p:cNvSpPr/>
          <p:nvPr/>
        </p:nvSpPr>
        <p:spPr>
          <a:xfrm>
            <a:off x="2540000" y="1397000"/>
            <a:ext cx="13208000" cy="12700"/>
          </a:xfrm>
          <a:prstGeom prst="rect">
            <a:avLst/>
          </a:prstGeom>
          <a:solidFill>
            <a:srgbClr val="B0BEC5"/>
          </a:solidFill>
          <a:ln/>
        </p:spPr>
      </p:sp>
      <p:sp>
        <p:nvSpPr>
          <p:cNvPr id="11" name="Shape 16"/>
          <p:cNvSpPr/>
          <p:nvPr/>
        </p:nvSpPr>
        <p:spPr>
          <a:xfrm>
            <a:off x="2540000" y="1574800"/>
            <a:ext cx="4318000" cy="3556000"/>
          </a:xfrm>
          <a:prstGeom prst="roundRect">
            <a:avLst>
              <a:gd name="adj" fmla="val 4000"/>
            </a:avLst>
          </a:prstGeom>
          <a:solidFill>
            <a:srgbClr val="005C82"/>
          </a:solidFill>
          <a:ln/>
        </p:spPr>
      </p:sp>
      <p:sp>
        <p:nvSpPr>
          <p:cNvPr id="13" name="Shape 17"/>
          <p:cNvSpPr/>
          <p:nvPr/>
        </p:nvSpPr>
        <p:spPr>
          <a:xfrm>
            <a:off x="4318000" y="1778000"/>
            <a:ext cx="457200" cy="457200"/>
          </a:xfrm>
          <a:custGeom>
            <a:avLst/>
            <a:gdLst/>
            <a:ahLst/>
            <a:cxnLst/>
            <a:rect l="l" t="t" r="r" b="b"/>
            <a:pathLst>
              <a:path w="457200" h="457200">
                <a:moveTo>
                  <a:pt x="366653" y="110817"/>
                </a:moveTo>
                <a:cubicBezTo>
                  <a:pt x="385137" y="124748"/>
                  <a:pt x="407730" y="138232"/>
                  <a:pt x="432911" y="141625"/>
                </a:cubicBezTo>
                <a:cubicBezTo>
                  <a:pt x="444609" y="143232"/>
                  <a:pt x="455414" y="134928"/>
                  <a:pt x="457021" y="123230"/>
                </a:cubicBezTo>
                <a:cubicBezTo>
                  <a:pt x="458629" y="111532"/>
                  <a:pt x="450324" y="100727"/>
                  <a:pt x="438626" y="99120"/>
                </a:cubicBezTo>
                <a:cubicBezTo>
                  <a:pt x="424428" y="97244"/>
                  <a:pt x="408980" y="89029"/>
                  <a:pt x="392460" y="76617"/>
                </a:cubicBezTo>
                <a:cubicBezTo>
                  <a:pt x="358170" y="50721"/>
                  <a:pt x="311646" y="50721"/>
                  <a:pt x="277267" y="76617"/>
                </a:cubicBezTo>
                <a:cubicBezTo>
                  <a:pt x="255836" y="92779"/>
                  <a:pt x="240923" y="100102"/>
                  <a:pt x="228600" y="100102"/>
                </a:cubicBezTo>
                <a:cubicBezTo>
                  <a:pt x="216277" y="100102"/>
                  <a:pt x="201364" y="92779"/>
                  <a:pt x="179933" y="76617"/>
                </a:cubicBezTo>
                <a:cubicBezTo>
                  <a:pt x="145643" y="50721"/>
                  <a:pt x="99120" y="50721"/>
                  <a:pt x="64740" y="76617"/>
                </a:cubicBezTo>
                <a:cubicBezTo>
                  <a:pt x="48220" y="89029"/>
                  <a:pt x="32772" y="97244"/>
                  <a:pt x="18574" y="99120"/>
                </a:cubicBezTo>
                <a:cubicBezTo>
                  <a:pt x="6876" y="100727"/>
                  <a:pt x="-1429" y="111443"/>
                  <a:pt x="179" y="123230"/>
                </a:cubicBezTo>
                <a:cubicBezTo>
                  <a:pt x="1786" y="135017"/>
                  <a:pt x="12502" y="143232"/>
                  <a:pt x="24289" y="141625"/>
                </a:cubicBezTo>
                <a:cubicBezTo>
                  <a:pt x="49470" y="138232"/>
                  <a:pt x="72152" y="124748"/>
                  <a:pt x="90547" y="110817"/>
                </a:cubicBezTo>
                <a:cubicBezTo>
                  <a:pt x="109567" y="96441"/>
                  <a:pt x="135106" y="96441"/>
                  <a:pt x="154126" y="110817"/>
                </a:cubicBezTo>
                <a:cubicBezTo>
                  <a:pt x="175736" y="127159"/>
                  <a:pt x="200829" y="142875"/>
                  <a:pt x="228600" y="142875"/>
                </a:cubicBezTo>
                <a:cubicBezTo>
                  <a:pt x="256371" y="142875"/>
                  <a:pt x="281374" y="127069"/>
                  <a:pt x="303074" y="110817"/>
                </a:cubicBezTo>
                <a:cubicBezTo>
                  <a:pt x="322094" y="96441"/>
                  <a:pt x="347633" y="96441"/>
                  <a:pt x="366653" y="110817"/>
                </a:cubicBezTo>
                <a:close/>
                <a:moveTo>
                  <a:pt x="366653" y="239405"/>
                </a:moveTo>
                <a:cubicBezTo>
                  <a:pt x="385137" y="253335"/>
                  <a:pt x="407730" y="266819"/>
                  <a:pt x="432911" y="270212"/>
                </a:cubicBezTo>
                <a:cubicBezTo>
                  <a:pt x="444609" y="271820"/>
                  <a:pt x="455414" y="263515"/>
                  <a:pt x="457021" y="251817"/>
                </a:cubicBezTo>
                <a:cubicBezTo>
                  <a:pt x="458629" y="240119"/>
                  <a:pt x="450324" y="229314"/>
                  <a:pt x="438626" y="227707"/>
                </a:cubicBezTo>
                <a:cubicBezTo>
                  <a:pt x="424428" y="225832"/>
                  <a:pt x="408980" y="217616"/>
                  <a:pt x="392460" y="205204"/>
                </a:cubicBezTo>
                <a:cubicBezTo>
                  <a:pt x="358170" y="179308"/>
                  <a:pt x="311646" y="179308"/>
                  <a:pt x="277267" y="205204"/>
                </a:cubicBezTo>
                <a:cubicBezTo>
                  <a:pt x="255836" y="221367"/>
                  <a:pt x="240923" y="228689"/>
                  <a:pt x="228600" y="228689"/>
                </a:cubicBezTo>
                <a:cubicBezTo>
                  <a:pt x="216277" y="228689"/>
                  <a:pt x="201364" y="221367"/>
                  <a:pt x="179933" y="205204"/>
                </a:cubicBezTo>
                <a:cubicBezTo>
                  <a:pt x="145643" y="179308"/>
                  <a:pt x="99120" y="179308"/>
                  <a:pt x="64740" y="205204"/>
                </a:cubicBezTo>
                <a:cubicBezTo>
                  <a:pt x="48220" y="217616"/>
                  <a:pt x="32772" y="225832"/>
                  <a:pt x="18574" y="227707"/>
                </a:cubicBezTo>
                <a:cubicBezTo>
                  <a:pt x="6876" y="229225"/>
                  <a:pt x="-1429" y="240030"/>
                  <a:pt x="179" y="251817"/>
                </a:cubicBezTo>
                <a:cubicBezTo>
                  <a:pt x="1786" y="263604"/>
                  <a:pt x="12502" y="271820"/>
                  <a:pt x="24289" y="270212"/>
                </a:cubicBezTo>
                <a:cubicBezTo>
                  <a:pt x="49470" y="266819"/>
                  <a:pt x="72152" y="253335"/>
                  <a:pt x="90547" y="239405"/>
                </a:cubicBezTo>
                <a:cubicBezTo>
                  <a:pt x="109567" y="225028"/>
                  <a:pt x="135106" y="225028"/>
                  <a:pt x="154126" y="239405"/>
                </a:cubicBezTo>
                <a:cubicBezTo>
                  <a:pt x="175736" y="255746"/>
                  <a:pt x="200829" y="271463"/>
                  <a:pt x="228600" y="271463"/>
                </a:cubicBezTo>
                <a:cubicBezTo>
                  <a:pt x="256371" y="271463"/>
                  <a:pt x="281374" y="255657"/>
                  <a:pt x="303074" y="239405"/>
                </a:cubicBezTo>
                <a:cubicBezTo>
                  <a:pt x="322094" y="225028"/>
                  <a:pt x="347633" y="225028"/>
                  <a:pt x="366653" y="239405"/>
                </a:cubicBezTo>
                <a:close/>
                <a:moveTo>
                  <a:pt x="303074" y="367992"/>
                </a:moveTo>
                <a:cubicBezTo>
                  <a:pt x="322094" y="353616"/>
                  <a:pt x="347633" y="353616"/>
                  <a:pt x="366653" y="367992"/>
                </a:cubicBezTo>
                <a:cubicBezTo>
                  <a:pt x="385137" y="381923"/>
                  <a:pt x="407730" y="395407"/>
                  <a:pt x="432911" y="398800"/>
                </a:cubicBezTo>
                <a:cubicBezTo>
                  <a:pt x="444609" y="400407"/>
                  <a:pt x="455414" y="392103"/>
                  <a:pt x="457021" y="380405"/>
                </a:cubicBezTo>
                <a:cubicBezTo>
                  <a:pt x="458629" y="368707"/>
                  <a:pt x="450324" y="357902"/>
                  <a:pt x="438626" y="356295"/>
                </a:cubicBezTo>
                <a:cubicBezTo>
                  <a:pt x="424428" y="354419"/>
                  <a:pt x="408980" y="346204"/>
                  <a:pt x="392460" y="333792"/>
                </a:cubicBezTo>
                <a:cubicBezTo>
                  <a:pt x="358170" y="307896"/>
                  <a:pt x="311646" y="307896"/>
                  <a:pt x="277267" y="333792"/>
                </a:cubicBezTo>
                <a:cubicBezTo>
                  <a:pt x="255836" y="349954"/>
                  <a:pt x="240923" y="357277"/>
                  <a:pt x="228600" y="357277"/>
                </a:cubicBezTo>
                <a:cubicBezTo>
                  <a:pt x="216277" y="357277"/>
                  <a:pt x="201364" y="349954"/>
                  <a:pt x="179933" y="333792"/>
                </a:cubicBezTo>
                <a:cubicBezTo>
                  <a:pt x="145643" y="307896"/>
                  <a:pt x="99120" y="307896"/>
                  <a:pt x="64740" y="333792"/>
                </a:cubicBezTo>
                <a:cubicBezTo>
                  <a:pt x="48220" y="346204"/>
                  <a:pt x="32772" y="354419"/>
                  <a:pt x="18574" y="356295"/>
                </a:cubicBezTo>
                <a:cubicBezTo>
                  <a:pt x="6876" y="357902"/>
                  <a:pt x="-1429" y="368618"/>
                  <a:pt x="179" y="380405"/>
                </a:cubicBezTo>
                <a:cubicBezTo>
                  <a:pt x="1786" y="392192"/>
                  <a:pt x="12502" y="400407"/>
                  <a:pt x="24289" y="398800"/>
                </a:cubicBezTo>
                <a:cubicBezTo>
                  <a:pt x="49470" y="395407"/>
                  <a:pt x="72152" y="381923"/>
                  <a:pt x="90547" y="367992"/>
                </a:cubicBezTo>
                <a:cubicBezTo>
                  <a:pt x="109567" y="353616"/>
                  <a:pt x="135106" y="353616"/>
                  <a:pt x="154126" y="367992"/>
                </a:cubicBezTo>
                <a:cubicBezTo>
                  <a:pt x="175736" y="384334"/>
                  <a:pt x="200829" y="400050"/>
                  <a:pt x="228600" y="400050"/>
                </a:cubicBezTo>
                <a:cubicBezTo>
                  <a:pt x="256371" y="400050"/>
                  <a:pt x="281374" y="384244"/>
                  <a:pt x="303074" y="367992"/>
                </a:cubicBezTo>
                <a:close/>
              </a:path>
            </a:pathLst>
          </a:custGeom>
          <a:solidFill>
            <a:srgbClr val="FFFFFF"/>
          </a:solidFill>
          <a:ln/>
        </p:spPr>
      </p:sp>
      <p:sp>
        <p:nvSpPr>
          <p:cNvPr id="14" name="Text 18"/>
          <p:cNvSpPr/>
          <p:nvPr/>
        </p:nvSpPr>
        <p:spPr>
          <a:xfrm>
            <a:off x="2743200" y="2336800"/>
            <a:ext cx="3911600" cy="355600"/>
          </a:xfrm>
          <a:prstGeom prst="rect">
            <a:avLst/>
          </a:prstGeom>
          <a:noFill/>
          <a:ln/>
        </p:spPr>
        <p:txBody>
          <a:bodyPr wrap="none" lIns="0" tIns="0" rIns="0" bIns="0" rtlCol="0" anchor="ctr"/>
          <a:lstStyle/>
          <a:p>
            <a:pPr algn="ctr">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Stream Processing</a:t>
            </a:r>
            <a:endParaRPr lang="en-US" sz="1800" dirty="0"/>
          </a:p>
        </p:txBody>
      </p:sp>
      <p:sp>
        <p:nvSpPr>
          <p:cNvPr id="16" name="Text 19"/>
          <p:cNvSpPr/>
          <p:nvPr/>
        </p:nvSpPr>
        <p:spPr>
          <a:xfrm>
            <a:off x="2743200" y="2768600"/>
            <a:ext cx="3911600" cy="2235200"/>
          </a:xfrm>
          <a:prstGeom prst="rect">
            <a:avLst/>
          </a:prstGeom>
          <a:noFill/>
          <a:ln/>
        </p:spPr>
        <p:txBody>
          <a:bodyPr wrap="square" lIns="0" tIns="0" rIns="0" bIns="0" rtlCol="0" anchor="t"/>
          <a:lstStyle/>
          <a:p>
            <a:pPr algn="l">
              <a:lnSpc>
                <a:spcPct val="150000"/>
              </a:lnSpc>
            </a:pPr>
            <a:r>
              <a:rPr lang="en-US" sz="1700" dirty="0">
                <a:solidFill>
                  <a:srgbClr val="FFFFFF"/>
                </a:solidFill>
                <a:latin typeface="Quattrocento Sans" pitchFamily="34" charset="0"/>
                <a:ea typeface="Quattrocento Sans" pitchFamily="34" charset="-122"/>
                <a:cs typeface="Quattrocento Sans" pitchFamily="34" charset="-120"/>
              </a:rPr>
              <a:t>Handles data in </a:t>
            </a:r>
            <a:r>
              <a:rPr lang="en-US" sz="1700" b="1" dirty="0">
                <a:solidFill>
                  <a:srgbClr val="FFFFFF"/>
                </a:solidFill>
                <a:latin typeface="Quattrocento Sans" pitchFamily="34" charset="0"/>
                <a:ea typeface="Quattrocento Sans" pitchFamily="34" charset="-122"/>
                <a:cs typeface="Quattrocento Sans" pitchFamily="34" charset="-120"/>
              </a:rPr>
              <a:t>real-time</a:t>
            </a:r>
            <a:r>
              <a:rPr lang="en-US" sz="1700" dirty="0">
                <a:solidFill>
                  <a:srgbClr val="FFFFFF"/>
                </a:solidFill>
                <a:latin typeface="Quattrocento Sans" pitchFamily="34" charset="0"/>
                <a:ea typeface="Quattrocento Sans" pitchFamily="34" charset="-122"/>
                <a:cs typeface="Quattrocento Sans" pitchFamily="34" charset="-120"/>
              </a:rPr>
              <a:t> as it arrives.</a:t>
            </a:r>
            <a:endParaRPr lang="en-US" sz="1700" dirty="0"/>
          </a:p>
          <a:p>
            <a:pPr algn="l">
              <a:lnSpc>
                <a:spcPct val="150000"/>
              </a:lnSpc>
              <a:spcBef>
                <a:spcPts val="400"/>
              </a:spcBef>
            </a:pPr>
            <a:r>
              <a:rPr lang="en-US" sz="1700" b="1" dirty="0">
                <a:solidFill>
                  <a:srgbClr val="FFFFFF"/>
                </a:solidFill>
                <a:latin typeface="Quattrocento Sans" pitchFamily="34" charset="0"/>
                <a:ea typeface="Quattrocento Sans" pitchFamily="34" charset="-122"/>
                <a:cs typeface="Quattrocento Sans" pitchFamily="34" charset="-120"/>
              </a:rPr>
              <a:t>Examples:</a:t>
            </a:r>
            <a:endParaRPr lang="en-US" sz="1700" dirty="0"/>
          </a:p>
          <a:p>
            <a:pPr algn="l">
              <a:lnSpc>
                <a:spcPct val="150000"/>
              </a:lnSpc>
            </a:pPr>
            <a:r>
              <a:rPr lang="en-US" sz="1700" dirty="0">
                <a:solidFill>
                  <a:srgbClr val="FFFFFF"/>
                </a:solidFill>
                <a:latin typeface="Quattrocento Sans" pitchFamily="34" charset="0"/>
                <a:ea typeface="Quattrocento Sans" pitchFamily="34" charset="-122"/>
                <a:cs typeface="Quattrocento Sans" pitchFamily="34" charset="-120"/>
              </a:rPr>
              <a:t>• Kafka Streams, Flink, Spark Streaming</a:t>
            </a:r>
            <a:endParaRPr lang="en-US" sz="1700" dirty="0"/>
          </a:p>
          <a:p>
            <a:pPr algn="l">
              <a:lnSpc>
                <a:spcPct val="150000"/>
              </a:lnSpc>
              <a:spcBef>
                <a:spcPts val="400"/>
              </a:spcBef>
            </a:pPr>
            <a:r>
              <a:rPr lang="en-US" sz="1700" dirty="0">
                <a:solidFill>
                  <a:srgbClr val="FFFFFF"/>
                </a:solidFill>
                <a:latin typeface="Quattrocento Sans" pitchFamily="34" charset="0"/>
                <a:ea typeface="Quattrocento Sans" pitchFamily="34" charset="-122"/>
                <a:cs typeface="Quattrocento Sans" pitchFamily="34" charset="-120"/>
              </a:rPr>
              <a:t>Processes event-by-event or in micro-batches for low-latency responses.</a:t>
            </a:r>
            <a:endParaRPr lang="en-US" sz="1700" dirty="0"/>
          </a:p>
        </p:txBody>
      </p:sp>
      <p:sp>
        <p:nvSpPr>
          <p:cNvPr id="17" name="Shape 20"/>
          <p:cNvSpPr/>
          <p:nvPr/>
        </p:nvSpPr>
        <p:spPr>
          <a:xfrm>
            <a:off x="7061200" y="1574800"/>
            <a:ext cx="4318000" cy="3556000"/>
          </a:xfrm>
          <a:prstGeom prst="roundRect">
            <a:avLst>
              <a:gd name="adj" fmla="val 4000"/>
            </a:avLst>
          </a:prstGeom>
          <a:solidFill>
            <a:srgbClr val="007AA8"/>
          </a:solidFill>
          <a:ln/>
        </p:spPr>
      </p:sp>
      <p:sp>
        <p:nvSpPr>
          <p:cNvPr id="18" name="Shape 21"/>
          <p:cNvSpPr/>
          <p:nvPr/>
        </p:nvSpPr>
        <p:spPr>
          <a:xfrm>
            <a:off x="8839200" y="1778000"/>
            <a:ext cx="457200" cy="457200"/>
          </a:xfrm>
          <a:custGeom>
            <a:avLst/>
            <a:gdLst/>
            <a:ahLst/>
            <a:cxnLst/>
            <a:rect l="l" t="t" r="r" b="b"/>
            <a:pathLst>
              <a:path w="457200" h="457200">
                <a:moveTo>
                  <a:pt x="373618" y="141000"/>
                </a:moveTo>
                <a:cubicBezTo>
                  <a:pt x="405140" y="133588"/>
                  <a:pt x="428625" y="105281"/>
                  <a:pt x="428625" y="71438"/>
                </a:cubicBezTo>
                <a:cubicBezTo>
                  <a:pt x="428625" y="31968"/>
                  <a:pt x="396657" y="0"/>
                  <a:pt x="357188" y="0"/>
                </a:cubicBezTo>
                <a:cubicBezTo>
                  <a:pt x="318433" y="0"/>
                  <a:pt x="286911" y="30807"/>
                  <a:pt x="285750" y="69205"/>
                </a:cubicBezTo>
                <a:lnTo>
                  <a:pt x="121622" y="134928"/>
                </a:lnTo>
                <a:cubicBezTo>
                  <a:pt x="108674" y="122158"/>
                  <a:pt x="90994" y="114300"/>
                  <a:pt x="71438" y="114300"/>
                </a:cubicBezTo>
                <a:cubicBezTo>
                  <a:pt x="31968" y="114300"/>
                  <a:pt x="0" y="146268"/>
                  <a:pt x="0" y="185738"/>
                </a:cubicBezTo>
                <a:cubicBezTo>
                  <a:pt x="0" y="225207"/>
                  <a:pt x="31968" y="257175"/>
                  <a:pt x="71438" y="257175"/>
                </a:cubicBezTo>
                <a:cubicBezTo>
                  <a:pt x="82332" y="257175"/>
                  <a:pt x="92690" y="254764"/>
                  <a:pt x="101888" y="250388"/>
                </a:cubicBezTo>
                <a:lnTo>
                  <a:pt x="231904" y="364153"/>
                </a:lnTo>
                <a:cubicBezTo>
                  <a:pt x="229761" y="370939"/>
                  <a:pt x="228600" y="378262"/>
                  <a:pt x="228600" y="385763"/>
                </a:cubicBezTo>
                <a:cubicBezTo>
                  <a:pt x="228600" y="425232"/>
                  <a:pt x="260568" y="457200"/>
                  <a:pt x="300038" y="457200"/>
                </a:cubicBezTo>
                <a:cubicBezTo>
                  <a:pt x="339507" y="457200"/>
                  <a:pt x="371475" y="425232"/>
                  <a:pt x="371475" y="385763"/>
                </a:cubicBezTo>
                <a:cubicBezTo>
                  <a:pt x="371475" y="361027"/>
                  <a:pt x="358973" y="339239"/>
                  <a:pt x="339864" y="326469"/>
                </a:cubicBezTo>
                <a:lnTo>
                  <a:pt x="373618" y="141000"/>
                </a:lnTo>
                <a:close/>
                <a:moveTo>
                  <a:pt x="139571" y="207347"/>
                </a:moveTo>
                <a:cubicBezTo>
                  <a:pt x="141536" y="201186"/>
                  <a:pt x="142696" y="194667"/>
                  <a:pt x="142875" y="187970"/>
                </a:cubicBezTo>
                <a:lnTo>
                  <a:pt x="307003" y="122337"/>
                </a:lnTo>
                <a:cubicBezTo>
                  <a:pt x="310217" y="125462"/>
                  <a:pt x="313611" y="128320"/>
                  <a:pt x="317361" y="130820"/>
                </a:cubicBezTo>
                <a:lnTo>
                  <a:pt x="283607" y="316200"/>
                </a:lnTo>
                <a:cubicBezTo>
                  <a:pt x="278696" y="317361"/>
                  <a:pt x="273963" y="318968"/>
                  <a:pt x="269498" y="321112"/>
                </a:cubicBezTo>
                <a:lnTo>
                  <a:pt x="139571" y="207347"/>
                </a:lnTo>
                <a:close/>
              </a:path>
            </a:pathLst>
          </a:custGeom>
          <a:solidFill>
            <a:srgbClr val="FFFFFF"/>
          </a:solidFill>
          <a:ln/>
        </p:spPr>
      </p:sp>
      <p:sp>
        <p:nvSpPr>
          <p:cNvPr id="19" name="Text 22"/>
          <p:cNvSpPr/>
          <p:nvPr/>
        </p:nvSpPr>
        <p:spPr>
          <a:xfrm>
            <a:off x="7264400" y="2336800"/>
            <a:ext cx="3911600" cy="355600"/>
          </a:xfrm>
          <a:prstGeom prst="rect">
            <a:avLst/>
          </a:prstGeom>
          <a:noFill/>
          <a:ln/>
        </p:spPr>
        <p:txBody>
          <a:bodyPr wrap="none" lIns="0" tIns="0" rIns="0" bIns="0" rtlCol="0" anchor="ctr"/>
          <a:lstStyle/>
          <a:p>
            <a:pPr algn="ctr">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Graph Processing</a:t>
            </a:r>
            <a:endParaRPr lang="en-US" sz="1800" dirty="0"/>
          </a:p>
        </p:txBody>
      </p:sp>
      <p:sp>
        <p:nvSpPr>
          <p:cNvPr id="20" name="Text 23"/>
          <p:cNvSpPr/>
          <p:nvPr/>
        </p:nvSpPr>
        <p:spPr>
          <a:xfrm>
            <a:off x="7264400" y="2768600"/>
            <a:ext cx="3911600" cy="2235200"/>
          </a:xfrm>
          <a:prstGeom prst="rect">
            <a:avLst/>
          </a:prstGeom>
          <a:noFill/>
          <a:ln/>
        </p:spPr>
        <p:txBody>
          <a:bodyPr wrap="square" lIns="0" tIns="0" rIns="0" bIns="0" rtlCol="0" anchor="t"/>
          <a:lstStyle/>
          <a:p>
            <a:pPr algn="l">
              <a:lnSpc>
                <a:spcPct val="150000"/>
              </a:lnSpc>
            </a:pPr>
            <a:r>
              <a:rPr lang="en-US" sz="1700" dirty="0">
                <a:solidFill>
                  <a:srgbClr val="FFFFFF"/>
                </a:solidFill>
                <a:latin typeface="Quattrocento Sans" pitchFamily="34" charset="0"/>
                <a:ea typeface="Quattrocento Sans" pitchFamily="34" charset="-122"/>
                <a:cs typeface="Quattrocento Sans" pitchFamily="34" charset="-120"/>
              </a:rPr>
              <a:t>Models data as </a:t>
            </a:r>
            <a:r>
              <a:rPr lang="en-US" sz="1700" b="1" dirty="0">
                <a:solidFill>
                  <a:srgbClr val="FFFFFF"/>
                </a:solidFill>
                <a:latin typeface="Quattrocento Sans" pitchFamily="34" charset="0"/>
                <a:ea typeface="Quattrocento Sans" pitchFamily="34" charset="-122"/>
                <a:cs typeface="Quattrocento Sans" pitchFamily="34" charset="-120"/>
              </a:rPr>
              <a:t>nodes (vertices)</a:t>
            </a:r>
            <a:r>
              <a:rPr lang="en-US" sz="1700" dirty="0">
                <a:solidFill>
                  <a:srgbClr val="FFFFFF"/>
                </a:solidFill>
                <a:latin typeface="Quattrocento Sans" pitchFamily="34" charset="0"/>
                <a:ea typeface="Quattrocento Sans" pitchFamily="34" charset="-122"/>
                <a:cs typeface="Quattrocento Sans" pitchFamily="34" charset="-120"/>
              </a:rPr>
              <a:t> and </a:t>
            </a:r>
            <a:r>
              <a:rPr lang="en-US" sz="1700" b="1" dirty="0">
                <a:solidFill>
                  <a:srgbClr val="FFFFFF"/>
                </a:solidFill>
                <a:latin typeface="Quattrocento Sans" pitchFamily="34" charset="0"/>
                <a:ea typeface="Quattrocento Sans" pitchFamily="34" charset="-122"/>
                <a:cs typeface="Quattrocento Sans" pitchFamily="34" charset="-120"/>
              </a:rPr>
              <a:t>relationships (edges)</a:t>
            </a:r>
            <a:r>
              <a:rPr lang="en-US" sz="1700" dirty="0">
                <a:solidFill>
                  <a:srgbClr val="FFFFFF"/>
                </a:solidFill>
                <a:latin typeface="Quattrocento Sans" pitchFamily="34" charset="0"/>
                <a:ea typeface="Quattrocento Sans" pitchFamily="34" charset="-122"/>
                <a:cs typeface="Quattrocento Sans" pitchFamily="34" charset="-120"/>
              </a:rPr>
              <a:t>.</a:t>
            </a:r>
            <a:endParaRPr lang="en-US" sz="1700" dirty="0"/>
          </a:p>
          <a:p>
            <a:pPr algn="l">
              <a:lnSpc>
                <a:spcPct val="150000"/>
              </a:lnSpc>
              <a:spcBef>
                <a:spcPts val="400"/>
              </a:spcBef>
            </a:pPr>
            <a:r>
              <a:rPr lang="en-US" sz="1700" b="1" dirty="0">
                <a:solidFill>
                  <a:srgbClr val="FFFFFF"/>
                </a:solidFill>
                <a:latin typeface="Quattrocento Sans" pitchFamily="34" charset="0"/>
                <a:ea typeface="Quattrocento Sans" pitchFamily="34" charset="-122"/>
                <a:cs typeface="Quattrocento Sans" pitchFamily="34" charset="-120"/>
              </a:rPr>
              <a:t>Used by</a:t>
            </a:r>
            <a:r>
              <a:rPr lang="en-US" sz="1700" b="1" dirty="0" smtClean="0">
                <a:solidFill>
                  <a:srgbClr val="FFFFFF"/>
                </a:solidFill>
                <a:latin typeface="Quattrocento Sans" pitchFamily="34" charset="0"/>
                <a:ea typeface="Quattrocento Sans" pitchFamily="34" charset="-122"/>
                <a:cs typeface="Quattrocento Sans" pitchFamily="34" charset="-120"/>
              </a:rPr>
              <a:t>: </a:t>
            </a:r>
            <a:r>
              <a:rPr lang="en-US" sz="1700" dirty="0" smtClean="0">
                <a:solidFill>
                  <a:srgbClr val="FFFFFF"/>
                </a:solidFill>
                <a:latin typeface="Quattrocento Sans" pitchFamily="34" charset="0"/>
                <a:ea typeface="Quattrocento Sans" pitchFamily="34" charset="-122"/>
                <a:cs typeface="Quattrocento Sans" pitchFamily="34" charset="-120"/>
              </a:rPr>
              <a:t>• </a:t>
            </a:r>
            <a:r>
              <a:rPr lang="en-US" sz="1700" dirty="0">
                <a:solidFill>
                  <a:srgbClr val="FFFFFF"/>
                </a:solidFill>
                <a:latin typeface="Quattrocento Sans" pitchFamily="34" charset="0"/>
                <a:ea typeface="Quattrocento Sans" pitchFamily="34" charset="-122"/>
                <a:cs typeface="Quattrocento Sans" pitchFamily="34" charset="-120"/>
              </a:rPr>
              <a:t>Neo4J, Giraph, GraphX</a:t>
            </a:r>
            <a:endParaRPr lang="en-US" sz="1700" dirty="0"/>
          </a:p>
          <a:p>
            <a:pPr algn="l">
              <a:lnSpc>
                <a:spcPct val="150000"/>
              </a:lnSpc>
              <a:spcBef>
                <a:spcPts val="400"/>
              </a:spcBef>
            </a:pPr>
            <a:r>
              <a:rPr lang="en-US" sz="1700" dirty="0">
                <a:solidFill>
                  <a:srgbClr val="FFFFFF"/>
                </a:solidFill>
                <a:latin typeface="Quattrocento Sans" pitchFamily="34" charset="0"/>
                <a:ea typeface="Quattrocento Sans" pitchFamily="34" charset="-122"/>
                <a:cs typeface="Quattrocento Sans" pitchFamily="34" charset="-120"/>
              </a:rPr>
              <a:t>Suited for social networks, recommendations, logistics.</a:t>
            </a:r>
            <a:endParaRPr lang="en-US" sz="1700" dirty="0"/>
          </a:p>
        </p:txBody>
      </p:sp>
      <p:sp>
        <p:nvSpPr>
          <p:cNvPr id="21" name="Shape 24"/>
          <p:cNvSpPr/>
          <p:nvPr/>
        </p:nvSpPr>
        <p:spPr>
          <a:xfrm>
            <a:off x="11582400" y="1574800"/>
            <a:ext cx="4165600" cy="3556000"/>
          </a:xfrm>
          <a:prstGeom prst="roundRect">
            <a:avLst>
              <a:gd name="adj" fmla="val 4000"/>
            </a:avLst>
          </a:prstGeom>
          <a:solidFill>
            <a:srgbClr val="004060"/>
          </a:solidFill>
          <a:ln/>
        </p:spPr>
      </p:sp>
      <p:sp>
        <p:nvSpPr>
          <p:cNvPr id="22" name="Shape 25"/>
          <p:cNvSpPr/>
          <p:nvPr/>
        </p:nvSpPr>
        <p:spPr>
          <a:xfrm>
            <a:off x="13309600" y="1778000"/>
            <a:ext cx="457200" cy="457200"/>
          </a:xfrm>
          <a:custGeom>
            <a:avLst/>
            <a:gdLst/>
            <a:ahLst/>
            <a:cxnLst/>
            <a:rect l="l" t="t" r="r" b="b"/>
            <a:pathLst>
              <a:path w="457200" h="457200">
                <a:moveTo>
                  <a:pt x="0" y="71438"/>
                </a:moveTo>
                <a:cubicBezTo>
                  <a:pt x="0" y="47774"/>
                  <a:pt x="19199" y="28575"/>
                  <a:pt x="42863" y="28575"/>
                </a:cubicBezTo>
                <a:lnTo>
                  <a:pt x="128588" y="28575"/>
                </a:lnTo>
                <a:cubicBezTo>
                  <a:pt x="152251" y="28575"/>
                  <a:pt x="171450" y="47774"/>
                  <a:pt x="171450" y="71438"/>
                </a:cubicBezTo>
                <a:lnTo>
                  <a:pt x="171450" y="85725"/>
                </a:lnTo>
                <a:lnTo>
                  <a:pt x="285750" y="85725"/>
                </a:lnTo>
                <a:lnTo>
                  <a:pt x="285750" y="71438"/>
                </a:lnTo>
                <a:cubicBezTo>
                  <a:pt x="285750" y="47774"/>
                  <a:pt x="304949" y="28575"/>
                  <a:pt x="328613" y="28575"/>
                </a:cubicBezTo>
                <a:lnTo>
                  <a:pt x="414338" y="28575"/>
                </a:lnTo>
                <a:cubicBezTo>
                  <a:pt x="438001" y="28575"/>
                  <a:pt x="457200" y="47774"/>
                  <a:pt x="457200" y="71438"/>
                </a:cubicBezTo>
                <a:lnTo>
                  <a:pt x="457200" y="157163"/>
                </a:lnTo>
                <a:cubicBezTo>
                  <a:pt x="457200" y="180826"/>
                  <a:pt x="438001" y="200025"/>
                  <a:pt x="414338" y="200025"/>
                </a:cubicBezTo>
                <a:lnTo>
                  <a:pt x="328613" y="200025"/>
                </a:lnTo>
                <a:cubicBezTo>
                  <a:pt x="304949" y="200025"/>
                  <a:pt x="285750" y="180826"/>
                  <a:pt x="285750" y="157163"/>
                </a:cubicBezTo>
                <a:lnTo>
                  <a:pt x="285750" y="142875"/>
                </a:lnTo>
                <a:lnTo>
                  <a:pt x="171450" y="142875"/>
                </a:lnTo>
                <a:lnTo>
                  <a:pt x="171450" y="157163"/>
                </a:lnTo>
                <a:cubicBezTo>
                  <a:pt x="171450" y="163681"/>
                  <a:pt x="169932" y="169932"/>
                  <a:pt x="167342" y="175468"/>
                </a:cubicBezTo>
                <a:lnTo>
                  <a:pt x="228600" y="257175"/>
                </a:lnTo>
                <a:lnTo>
                  <a:pt x="300038" y="257175"/>
                </a:lnTo>
                <a:cubicBezTo>
                  <a:pt x="323701" y="257175"/>
                  <a:pt x="342900" y="276374"/>
                  <a:pt x="342900" y="300038"/>
                </a:cubicBezTo>
                <a:lnTo>
                  <a:pt x="342900" y="385763"/>
                </a:lnTo>
                <a:cubicBezTo>
                  <a:pt x="342900" y="409426"/>
                  <a:pt x="323701" y="428625"/>
                  <a:pt x="300038" y="428625"/>
                </a:cubicBezTo>
                <a:lnTo>
                  <a:pt x="214313" y="428625"/>
                </a:lnTo>
                <a:cubicBezTo>
                  <a:pt x="190649" y="428625"/>
                  <a:pt x="171450" y="409426"/>
                  <a:pt x="171450" y="385763"/>
                </a:cubicBezTo>
                <a:lnTo>
                  <a:pt x="171450" y="300038"/>
                </a:lnTo>
                <a:cubicBezTo>
                  <a:pt x="171450" y="293519"/>
                  <a:pt x="172968" y="287268"/>
                  <a:pt x="175558" y="281732"/>
                </a:cubicBezTo>
                <a:lnTo>
                  <a:pt x="114300" y="200025"/>
                </a:lnTo>
                <a:lnTo>
                  <a:pt x="42863" y="200025"/>
                </a:lnTo>
                <a:cubicBezTo>
                  <a:pt x="19199" y="200025"/>
                  <a:pt x="0" y="180826"/>
                  <a:pt x="0" y="157163"/>
                </a:cubicBezTo>
                <a:lnTo>
                  <a:pt x="0" y="71438"/>
                </a:lnTo>
                <a:close/>
              </a:path>
            </a:pathLst>
          </a:custGeom>
          <a:solidFill>
            <a:srgbClr val="FFFFFF"/>
          </a:solidFill>
          <a:ln/>
        </p:spPr>
      </p:sp>
      <p:sp>
        <p:nvSpPr>
          <p:cNvPr id="23" name="Text 26"/>
          <p:cNvSpPr/>
          <p:nvPr/>
        </p:nvSpPr>
        <p:spPr>
          <a:xfrm>
            <a:off x="11785600" y="2336800"/>
            <a:ext cx="3759200" cy="355600"/>
          </a:xfrm>
          <a:prstGeom prst="rect">
            <a:avLst/>
          </a:prstGeom>
          <a:noFill/>
          <a:ln/>
        </p:spPr>
        <p:txBody>
          <a:bodyPr wrap="none" lIns="0" tIns="0" rIns="0" bIns="0" rtlCol="0" anchor="ctr"/>
          <a:lstStyle/>
          <a:p>
            <a:pPr algn="ctr">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MapReduce</a:t>
            </a:r>
            <a:endParaRPr lang="en-US" sz="1800" dirty="0"/>
          </a:p>
        </p:txBody>
      </p:sp>
      <p:sp>
        <p:nvSpPr>
          <p:cNvPr id="24" name="Text 27"/>
          <p:cNvSpPr/>
          <p:nvPr/>
        </p:nvSpPr>
        <p:spPr>
          <a:xfrm>
            <a:off x="11785600" y="2768600"/>
            <a:ext cx="3759200" cy="2235200"/>
          </a:xfrm>
          <a:prstGeom prst="rect">
            <a:avLst/>
          </a:prstGeom>
          <a:noFill/>
          <a:ln/>
        </p:spPr>
        <p:txBody>
          <a:bodyPr wrap="square" lIns="0" tIns="0" rIns="0" bIns="0" rtlCol="0" anchor="t"/>
          <a:lstStyle/>
          <a:p>
            <a:pPr algn="l">
              <a:lnSpc>
                <a:spcPct val="160000"/>
              </a:lnSpc>
            </a:pPr>
            <a:r>
              <a:rPr lang="en-US" sz="1700" dirty="0">
                <a:solidFill>
                  <a:srgbClr val="FFFFFF"/>
                </a:solidFill>
                <a:latin typeface="Quattrocento Sans" pitchFamily="34" charset="0"/>
                <a:ea typeface="Quattrocento Sans" pitchFamily="34" charset="-122"/>
                <a:cs typeface="Quattrocento Sans" pitchFamily="34" charset="-120"/>
              </a:rPr>
              <a:t>Two-phase framework for distributed processing:</a:t>
            </a:r>
            <a:endParaRPr lang="en-US" sz="1700" dirty="0"/>
          </a:p>
          <a:p>
            <a:pPr algn="l">
              <a:lnSpc>
                <a:spcPct val="160000"/>
              </a:lnSpc>
              <a:spcBef>
                <a:spcPts val="600"/>
              </a:spcBef>
            </a:pPr>
            <a:r>
              <a:rPr lang="en-US" sz="1700" b="1" dirty="0">
                <a:solidFill>
                  <a:srgbClr val="FFFFFF"/>
                </a:solidFill>
                <a:latin typeface="Quattrocento Sans" pitchFamily="34" charset="0"/>
                <a:ea typeface="Quattrocento Sans" pitchFamily="34" charset="-122"/>
                <a:cs typeface="Quattrocento Sans" pitchFamily="34" charset="-120"/>
              </a:rPr>
              <a:t>Map:</a:t>
            </a:r>
            <a:r>
              <a:rPr lang="en-US" sz="1700" dirty="0">
                <a:solidFill>
                  <a:srgbClr val="FFFFFF"/>
                </a:solidFill>
                <a:latin typeface="Quattrocento Sans" pitchFamily="34" charset="0"/>
                <a:ea typeface="Quattrocento Sans" pitchFamily="34" charset="-122"/>
                <a:cs typeface="Quattrocento Sans" pitchFamily="34" charset="-120"/>
              </a:rPr>
              <a:t> Splits data, produces key-value </a:t>
            </a:r>
            <a:r>
              <a:rPr lang="en-US" sz="1700" dirty="0" smtClean="0">
                <a:solidFill>
                  <a:srgbClr val="FFFFFF"/>
                </a:solidFill>
                <a:latin typeface="Quattrocento Sans" pitchFamily="34" charset="0"/>
                <a:ea typeface="Quattrocento Sans" pitchFamily="34" charset="-122"/>
                <a:cs typeface="Quattrocento Sans" pitchFamily="34" charset="-120"/>
              </a:rPr>
              <a:t>pairs </a:t>
            </a:r>
            <a:r>
              <a:rPr lang="en-US" sz="1700" b="1" dirty="0" smtClean="0">
                <a:solidFill>
                  <a:srgbClr val="FFFFFF"/>
                </a:solidFill>
                <a:latin typeface="Quattrocento Sans" pitchFamily="34" charset="0"/>
                <a:ea typeface="Quattrocento Sans" pitchFamily="34" charset="-122"/>
                <a:cs typeface="Quattrocento Sans" pitchFamily="34" charset="-120"/>
              </a:rPr>
              <a:t>Reduce</a:t>
            </a:r>
            <a:r>
              <a:rPr lang="en-US" sz="1700" b="1" dirty="0">
                <a:solidFill>
                  <a:srgbClr val="FFFFFF"/>
                </a:solidFill>
                <a:latin typeface="Quattrocento Sans" pitchFamily="34" charset="0"/>
                <a:ea typeface="Quattrocento Sans" pitchFamily="34" charset="-122"/>
                <a:cs typeface="Quattrocento Sans" pitchFamily="34" charset="-120"/>
              </a:rPr>
              <a:t>:</a:t>
            </a:r>
            <a:r>
              <a:rPr lang="en-US" sz="1700" dirty="0">
                <a:solidFill>
                  <a:srgbClr val="FFFFFF"/>
                </a:solidFill>
                <a:latin typeface="Quattrocento Sans" pitchFamily="34" charset="0"/>
                <a:ea typeface="Quattrocento Sans" pitchFamily="34" charset="-122"/>
                <a:cs typeface="Quattrocento Sans" pitchFamily="34" charset="-120"/>
              </a:rPr>
              <a:t> Aggregates intermediate results</a:t>
            </a:r>
            <a:endParaRPr lang="en-US" sz="1700" dirty="0"/>
          </a:p>
          <a:p>
            <a:pPr algn="l">
              <a:lnSpc>
                <a:spcPct val="160000"/>
              </a:lnSpc>
              <a:spcBef>
                <a:spcPts val="600"/>
              </a:spcBef>
            </a:pPr>
            <a:r>
              <a:rPr lang="en-US" sz="1700" dirty="0">
                <a:solidFill>
                  <a:srgbClr val="FFFFFF"/>
                </a:solidFill>
                <a:latin typeface="Quattrocento Sans" pitchFamily="34" charset="0"/>
                <a:ea typeface="Quattrocento Sans" pitchFamily="34" charset="-122"/>
                <a:cs typeface="Quattrocento Sans" pitchFamily="34" charset="-120"/>
              </a:rPr>
              <a:t>Languages: Java, Python, Ruby, C++</a:t>
            </a:r>
            <a:endParaRPr lang="en-US" sz="1700" dirty="0"/>
          </a:p>
        </p:txBody>
      </p:sp>
      <p:pic>
        <p:nvPicPr>
          <p:cNvPr id="25" name="Image 0" descr="https://kimi-img.moonshot.cn/pub/slides/okc/nnppvd2mdqstw/mnt/agents/output/big_data_unit1/images/1_Hadoop_Architecture_GeeksforGeek.png"/>
          <p:cNvPicPr>
            <a:picLocks noChangeAspect="1"/>
          </p:cNvPicPr>
          <p:nvPr/>
        </p:nvPicPr>
        <p:blipFill>
          <a:blip r:embed="rId3"/>
          <a:srcRect/>
          <a:stretch/>
        </p:blipFill>
        <p:spPr>
          <a:xfrm>
            <a:off x="2540000" y="5334000"/>
            <a:ext cx="6350000" cy="3175000"/>
          </a:xfrm>
          <a:prstGeom prst="roundRect">
            <a:avLst>
              <a:gd name="adj" fmla="val 4000"/>
            </a:avLst>
          </a:prstGeom>
        </p:spPr>
      </p:pic>
      <p:sp>
        <p:nvSpPr>
          <p:cNvPr id="26" name="Shape 28"/>
          <p:cNvSpPr/>
          <p:nvPr/>
        </p:nvSpPr>
        <p:spPr>
          <a:xfrm>
            <a:off x="9144000" y="5333999"/>
            <a:ext cx="6604000" cy="3299361"/>
          </a:xfrm>
          <a:prstGeom prst="roundRect">
            <a:avLst>
              <a:gd name="adj" fmla="val 4000"/>
            </a:avLst>
          </a:prstGeom>
          <a:solidFill>
            <a:srgbClr val="E0F4FA"/>
          </a:solidFill>
          <a:ln w="12700">
            <a:solidFill>
              <a:srgbClr val="B0BEC5"/>
            </a:solidFill>
            <a:prstDash val="solid"/>
          </a:ln>
        </p:spPr>
      </p:sp>
      <p:sp>
        <p:nvSpPr>
          <p:cNvPr id="27" name="Text 29"/>
          <p:cNvSpPr/>
          <p:nvPr/>
        </p:nvSpPr>
        <p:spPr>
          <a:xfrm>
            <a:off x="9372600" y="5511800"/>
            <a:ext cx="6146800" cy="355600"/>
          </a:xfrm>
          <a:prstGeom prst="rect">
            <a:avLst/>
          </a:prstGeom>
          <a:noFill/>
          <a:ln/>
        </p:spPr>
        <p:txBody>
          <a:bodyPr wrap="none" lIns="0" tIns="0" rIns="0" bIns="0" rtlCol="0" anchor="t"/>
          <a:lstStyle/>
          <a:p>
            <a:pPr algn="l">
              <a:lnSpc>
                <a:spcPct val="120000"/>
              </a:lnSpc>
            </a:pPr>
            <a:r>
              <a:rPr lang="en-US" sz="1800" b="1" dirty="0">
                <a:solidFill>
                  <a:srgbClr val="005C82"/>
                </a:solidFill>
                <a:latin typeface="Quattrocento Sans" pitchFamily="34" charset="0"/>
                <a:ea typeface="Quattrocento Sans" pitchFamily="34" charset="-122"/>
                <a:cs typeface="Quattrocento Sans" pitchFamily="34" charset="-120"/>
              </a:rPr>
              <a:t>Model Comparison</a:t>
            </a:r>
            <a:endParaRPr lang="en-US" sz="1800" dirty="0"/>
          </a:p>
        </p:txBody>
      </p:sp>
      <p:sp>
        <p:nvSpPr>
          <p:cNvPr id="28" name="Shape 30"/>
          <p:cNvSpPr/>
          <p:nvPr/>
        </p:nvSpPr>
        <p:spPr>
          <a:xfrm>
            <a:off x="9372600" y="5918200"/>
            <a:ext cx="2286000" cy="25400"/>
          </a:xfrm>
          <a:prstGeom prst="rect">
            <a:avLst/>
          </a:prstGeom>
          <a:solidFill>
            <a:srgbClr val="00ACC1"/>
          </a:solidFill>
          <a:ln/>
        </p:spPr>
      </p:sp>
      <p:sp>
        <p:nvSpPr>
          <p:cNvPr id="29" name="Text 31"/>
          <p:cNvSpPr/>
          <p:nvPr/>
        </p:nvSpPr>
        <p:spPr>
          <a:xfrm>
            <a:off x="9325429" y="5943600"/>
            <a:ext cx="6324600" cy="2286000"/>
          </a:xfrm>
          <a:prstGeom prst="rect">
            <a:avLst/>
          </a:prstGeom>
          <a:noFill/>
          <a:ln/>
        </p:spPr>
        <p:txBody>
          <a:bodyPr wrap="square" lIns="0" tIns="0" rIns="0" bIns="0" rtlCol="0" anchor="t"/>
          <a:lstStyle/>
          <a:p>
            <a:pPr algn="l">
              <a:lnSpc>
                <a:spcPct val="165000"/>
              </a:lnSpc>
            </a:pPr>
            <a:r>
              <a:rPr lang="en-US" sz="1700" b="1" dirty="0">
                <a:solidFill>
                  <a:srgbClr val="333333"/>
                </a:solidFill>
                <a:latin typeface="Quattrocento Sans" pitchFamily="34" charset="0"/>
                <a:ea typeface="Quattrocento Sans" pitchFamily="34" charset="-122"/>
                <a:cs typeface="Quattrocento Sans" pitchFamily="34" charset="-120"/>
              </a:rPr>
              <a:t>Stream:</a:t>
            </a:r>
            <a:r>
              <a:rPr lang="en-US" sz="1700" dirty="0">
                <a:solidFill>
                  <a:srgbClr val="333333"/>
                </a:solidFill>
                <a:latin typeface="Quattrocento Sans" pitchFamily="34" charset="0"/>
                <a:ea typeface="Quattrocento Sans" pitchFamily="34" charset="-122"/>
                <a:cs typeface="Quattrocento Sans" pitchFamily="34" charset="-120"/>
              </a:rPr>
              <a:t> Low latency, real-time decisions</a:t>
            </a:r>
            <a:endParaRPr lang="en-US" sz="1700" dirty="0"/>
          </a:p>
          <a:p>
            <a:pPr algn="l">
              <a:lnSpc>
                <a:spcPct val="165000"/>
              </a:lnSpc>
            </a:pPr>
            <a:r>
              <a:rPr lang="en-US" sz="1700" b="1" dirty="0">
                <a:solidFill>
                  <a:srgbClr val="333333"/>
                </a:solidFill>
                <a:latin typeface="Quattrocento Sans" pitchFamily="34" charset="0"/>
                <a:ea typeface="Quattrocento Sans" pitchFamily="34" charset="-122"/>
                <a:cs typeface="Quattrocento Sans" pitchFamily="34" charset="-120"/>
              </a:rPr>
              <a:t>Graph:</a:t>
            </a:r>
            <a:r>
              <a:rPr lang="en-US" sz="1700" dirty="0">
                <a:solidFill>
                  <a:srgbClr val="333333"/>
                </a:solidFill>
                <a:latin typeface="Quattrocento Sans" pitchFamily="34" charset="0"/>
                <a:ea typeface="Quattrocento Sans" pitchFamily="34" charset="-122"/>
                <a:cs typeface="Quattrocento Sans" pitchFamily="34" charset="-120"/>
              </a:rPr>
              <a:t> Relationship-focused analytics</a:t>
            </a:r>
            <a:endParaRPr lang="en-US" sz="1700" dirty="0"/>
          </a:p>
          <a:p>
            <a:pPr algn="l">
              <a:lnSpc>
                <a:spcPct val="165000"/>
              </a:lnSpc>
            </a:pPr>
            <a:r>
              <a:rPr lang="en-US" sz="1700" b="1" dirty="0">
                <a:solidFill>
                  <a:srgbClr val="333333"/>
                </a:solidFill>
                <a:latin typeface="Quattrocento Sans" pitchFamily="34" charset="0"/>
                <a:ea typeface="Quattrocento Sans" pitchFamily="34" charset="-122"/>
                <a:cs typeface="Quattrocento Sans" pitchFamily="34" charset="-120"/>
              </a:rPr>
              <a:t>MapReduce:</a:t>
            </a:r>
            <a:r>
              <a:rPr lang="en-US" sz="1700" dirty="0">
                <a:solidFill>
                  <a:srgbClr val="333333"/>
                </a:solidFill>
                <a:latin typeface="Quattrocento Sans" pitchFamily="34" charset="0"/>
                <a:ea typeface="Quattrocento Sans" pitchFamily="34" charset="-122"/>
                <a:cs typeface="Quattrocento Sans" pitchFamily="34" charset="-120"/>
              </a:rPr>
              <a:t> Batch, high throughput</a:t>
            </a:r>
            <a:endParaRPr lang="en-US" sz="1700" dirty="0"/>
          </a:p>
          <a:p>
            <a:pPr algn="l">
              <a:lnSpc>
                <a:spcPct val="165000"/>
              </a:lnSpc>
              <a:spcBef>
                <a:spcPts val="800"/>
              </a:spcBef>
            </a:pPr>
            <a:r>
              <a:rPr lang="en-US" sz="1700" dirty="0">
                <a:solidFill>
                  <a:srgbClr val="333333"/>
                </a:solidFill>
                <a:latin typeface="Quattrocento Sans" pitchFamily="34" charset="0"/>
                <a:ea typeface="Quattrocento Sans" pitchFamily="34" charset="-122"/>
                <a:cs typeface="Quattrocento Sans" pitchFamily="34" charset="-120"/>
              </a:rPr>
              <a:t>Modern systems often combine these models — e.g., Spark supports batch, streaming, SQL, and graph processing in a unified framework.</a:t>
            </a:r>
            <a:endParaRPr lang="en-US" sz="1700" dirty="0"/>
          </a:p>
        </p:txBody>
      </p:sp>
      <p:sp>
        <p:nvSpPr>
          <p:cNvPr id="30" name="Rounded Rectangle 29"/>
          <p:cNvSpPr/>
          <p:nvPr/>
        </p:nvSpPr>
        <p:spPr>
          <a:xfrm>
            <a:off x="35814" y="3391407"/>
            <a:ext cx="2214372" cy="836035"/>
          </a:xfrm>
          <a:prstGeom prst="roundRect">
            <a:avLst/>
          </a:prstGeom>
          <a:solidFill>
            <a:srgbClr val="FF000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69881063"/>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sp>
      <p:sp>
        <p:nvSpPr>
          <p:cNvPr id="12" name="Shape 10"/>
          <p:cNvSpPr/>
          <p:nvPr/>
        </p:nvSpPr>
        <p:spPr>
          <a:xfrm>
            <a:off x="1066800" y="8864600"/>
            <a:ext cx="152400" cy="152400"/>
          </a:xfrm>
          <a:prstGeom prst="diamond">
            <a:avLst/>
          </a:prstGeom>
          <a:solidFill>
            <a:srgbClr val="00ACC1"/>
          </a:solidFill>
          <a:ln/>
        </p:spPr>
      </p:sp>
      <p:sp>
        <p:nvSpPr>
          <p:cNvPr id="15" name="Text 13"/>
          <p:cNvSpPr/>
          <p:nvPr/>
        </p:nvSpPr>
        <p:spPr>
          <a:xfrm>
            <a:off x="15621000" y="0"/>
            <a:ext cx="635000" cy="635000"/>
          </a:xfrm>
          <a:prstGeom prst="rect">
            <a:avLst/>
          </a:prstGeom>
          <a:noFill/>
          <a:ln/>
        </p:spPr>
        <p:txBody>
          <a:bodyPr wrap="none" lIns="0" tIns="0" rIns="0" bIns="0" rtlCol="0" anchor="ctr"/>
          <a:lstStyle/>
          <a:p>
            <a:pPr algn="r">
              <a:lnSpc>
                <a:spcPct val="120000"/>
              </a:lnSpc>
            </a:pPr>
            <a:r>
              <a:rPr lang="en-US" sz="1400" dirty="0">
                <a:solidFill>
                  <a:srgbClr val="005C82"/>
                </a:solidFill>
                <a:latin typeface="Quattrocento Sans" pitchFamily="34" charset="0"/>
                <a:ea typeface="Quattrocento Sans" pitchFamily="34" charset="-122"/>
                <a:cs typeface="Quattrocento Sans" pitchFamily="34" charset="-120"/>
              </a:rPr>
              <a:t>9</a:t>
            </a:r>
            <a:endParaRPr lang="en-US" sz="1400" dirty="0"/>
          </a:p>
        </p:txBody>
      </p:sp>
      <p:sp>
        <p:nvSpPr>
          <p:cNvPr id="6" name="Rounded Rectangle 5"/>
          <p:cNvSpPr/>
          <p:nvPr/>
        </p:nvSpPr>
        <p:spPr>
          <a:xfrm>
            <a:off x="35814" y="4485452"/>
            <a:ext cx="2214372" cy="836035"/>
          </a:xfrm>
          <a:prstGeom prst="roundRect">
            <a:avLst/>
          </a:prstGeom>
          <a:solidFill>
            <a:srgbClr val="FF000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Tutorial 2: Introduction to Hadoop Architecture, and Components | Software  Testing Clas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6266" y="1031556"/>
            <a:ext cx="13453547" cy="7743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4834060"/>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sp>
      <p:sp>
        <p:nvSpPr>
          <p:cNvPr id="12" name="Shape 10"/>
          <p:cNvSpPr/>
          <p:nvPr/>
        </p:nvSpPr>
        <p:spPr>
          <a:xfrm>
            <a:off x="1066800" y="8864600"/>
            <a:ext cx="152400" cy="152400"/>
          </a:xfrm>
          <a:prstGeom prst="diamond">
            <a:avLst/>
          </a:prstGeom>
          <a:solidFill>
            <a:srgbClr val="00ACC1"/>
          </a:solidFill>
          <a:ln/>
        </p:spPr>
      </p:sp>
      <p:sp>
        <p:nvSpPr>
          <p:cNvPr id="15" name="Text 13"/>
          <p:cNvSpPr/>
          <p:nvPr/>
        </p:nvSpPr>
        <p:spPr>
          <a:xfrm>
            <a:off x="15621000" y="0"/>
            <a:ext cx="635000" cy="635000"/>
          </a:xfrm>
          <a:prstGeom prst="rect">
            <a:avLst/>
          </a:prstGeom>
          <a:noFill/>
          <a:ln/>
        </p:spPr>
        <p:txBody>
          <a:bodyPr wrap="none" lIns="0" tIns="0" rIns="0" bIns="0" rtlCol="0" anchor="ctr"/>
          <a:lstStyle/>
          <a:p>
            <a:pPr algn="r">
              <a:lnSpc>
                <a:spcPct val="120000"/>
              </a:lnSpc>
            </a:pPr>
            <a:r>
              <a:rPr lang="en-US" sz="1400" dirty="0">
                <a:solidFill>
                  <a:srgbClr val="005C82"/>
                </a:solidFill>
                <a:latin typeface="Quattrocento Sans" pitchFamily="34" charset="0"/>
                <a:ea typeface="Quattrocento Sans" pitchFamily="34" charset="-122"/>
                <a:cs typeface="Quattrocento Sans" pitchFamily="34" charset="-120"/>
              </a:rPr>
              <a:t>9</a:t>
            </a:r>
            <a:endParaRPr lang="en-US" sz="1400" dirty="0"/>
          </a:p>
        </p:txBody>
      </p:sp>
      <p:sp>
        <p:nvSpPr>
          <p:cNvPr id="6" name="Rounded Rectangle 5"/>
          <p:cNvSpPr/>
          <p:nvPr/>
        </p:nvSpPr>
        <p:spPr>
          <a:xfrm>
            <a:off x="35814" y="4485452"/>
            <a:ext cx="2214372" cy="836035"/>
          </a:xfrm>
          <a:prstGeom prst="roundRect">
            <a:avLst/>
          </a:prstGeom>
          <a:solidFill>
            <a:srgbClr val="FF000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1"/>
          <p:cNvSpPr/>
          <p:nvPr/>
        </p:nvSpPr>
        <p:spPr>
          <a:xfrm>
            <a:off x="2995220" y="1233054"/>
            <a:ext cx="12893964" cy="6740307"/>
          </a:xfrm>
          <a:prstGeom prst="rect">
            <a:avLst/>
          </a:prstGeom>
        </p:spPr>
        <p:txBody>
          <a:bodyPr wrap="square">
            <a:spAutoFit/>
          </a:bodyPr>
          <a:lstStyle/>
          <a:p>
            <a:pPr fontAlgn="base">
              <a:lnSpc>
                <a:spcPct val="150000"/>
              </a:lnSpc>
            </a:pPr>
            <a:r>
              <a:rPr lang="en-US" sz="2400" dirty="0">
                <a:solidFill>
                  <a:srgbClr val="273239"/>
                </a:solidFill>
                <a:latin typeface="Cambria" panose="02040503050406030204" pitchFamily="18" charset="0"/>
                <a:ea typeface="Cambria" panose="02040503050406030204" pitchFamily="18" charset="0"/>
              </a:rPr>
              <a:t>Hadoop Ecosystem comprises several components that work together for efficient big data storage and processing:</a:t>
            </a:r>
          </a:p>
          <a:p>
            <a:pPr marL="800100" lvl="1" indent="-342900" fontAlgn="base">
              <a:lnSpc>
                <a:spcPct val="150000"/>
              </a:lnSpc>
              <a:buFont typeface="Arial" panose="020B0604020202020204" pitchFamily="34" charset="0"/>
              <a:buChar char="•"/>
            </a:pPr>
            <a:r>
              <a:rPr lang="en-US" sz="2400" b="1" dirty="0">
                <a:solidFill>
                  <a:srgbClr val="273239"/>
                </a:solidFill>
                <a:latin typeface="Cambria" panose="02040503050406030204" pitchFamily="18" charset="0"/>
                <a:ea typeface="Cambria" panose="02040503050406030204" pitchFamily="18" charset="0"/>
              </a:rPr>
              <a:t>HDFS (Hadoop Distributed File System):</a:t>
            </a:r>
            <a:r>
              <a:rPr lang="en-US" sz="2400" dirty="0">
                <a:solidFill>
                  <a:srgbClr val="273239"/>
                </a:solidFill>
                <a:latin typeface="Cambria" panose="02040503050406030204" pitchFamily="18" charset="0"/>
                <a:ea typeface="Cambria" panose="02040503050406030204" pitchFamily="18" charset="0"/>
              </a:rPr>
              <a:t> Stores large datasets across distributed nodes.</a:t>
            </a:r>
          </a:p>
          <a:p>
            <a:pPr marL="800100" lvl="1" indent="-342900" fontAlgn="base">
              <a:lnSpc>
                <a:spcPct val="150000"/>
              </a:lnSpc>
              <a:buFont typeface="Arial" panose="020B0604020202020204" pitchFamily="34" charset="0"/>
              <a:buChar char="•"/>
            </a:pPr>
            <a:r>
              <a:rPr lang="en-US" sz="2400" b="1" dirty="0">
                <a:solidFill>
                  <a:srgbClr val="273239"/>
                </a:solidFill>
                <a:latin typeface="Cambria" panose="02040503050406030204" pitchFamily="18" charset="0"/>
                <a:ea typeface="Cambria" panose="02040503050406030204" pitchFamily="18" charset="0"/>
              </a:rPr>
              <a:t>YARN (Yet Another Resource Negotiator):</a:t>
            </a:r>
            <a:r>
              <a:rPr lang="en-US" sz="2400" dirty="0">
                <a:solidFill>
                  <a:srgbClr val="273239"/>
                </a:solidFill>
                <a:latin typeface="Cambria" panose="02040503050406030204" pitchFamily="18" charset="0"/>
                <a:ea typeface="Cambria" panose="02040503050406030204" pitchFamily="18" charset="0"/>
              </a:rPr>
              <a:t> Manages cluster resources and job scheduling.</a:t>
            </a:r>
          </a:p>
          <a:p>
            <a:pPr marL="800100" lvl="1" indent="-342900" fontAlgn="base">
              <a:lnSpc>
                <a:spcPct val="150000"/>
              </a:lnSpc>
              <a:buFont typeface="Arial" panose="020B0604020202020204" pitchFamily="34" charset="0"/>
              <a:buChar char="•"/>
            </a:pPr>
            <a:r>
              <a:rPr lang="en-US" sz="2400" b="1" dirty="0" err="1">
                <a:solidFill>
                  <a:srgbClr val="273239"/>
                </a:solidFill>
                <a:latin typeface="Cambria" panose="02040503050406030204" pitchFamily="18" charset="0"/>
                <a:ea typeface="Cambria" panose="02040503050406030204" pitchFamily="18" charset="0"/>
              </a:rPr>
              <a:t>MapReduce</a:t>
            </a:r>
            <a:r>
              <a:rPr lang="en-US" sz="2400" b="1" dirty="0">
                <a:solidFill>
                  <a:srgbClr val="273239"/>
                </a:solidFill>
                <a:latin typeface="Cambria" panose="02040503050406030204" pitchFamily="18" charset="0"/>
                <a:ea typeface="Cambria" panose="02040503050406030204" pitchFamily="18" charset="0"/>
              </a:rPr>
              <a:t>:</a:t>
            </a:r>
            <a:r>
              <a:rPr lang="en-US" sz="2400" dirty="0">
                <a:solidFill>
                  <a:srgbClr val="273239"/>
                </a:solidFill>
                <a:latin typeface="Cambria" panose="02040503050406030204" pitchFamily="18" charset="0"/>
                <a:ea typeface="Cambria" panose="02040503050406030204" pitchFamily="18" charset="0"/>
              </a:rPr>
              <a:t> A programming model for batch data processing.</a:t>
            </a:r>
          </a:p>
          <a:p>
            <a:pPr marL="800100" lvl="1" indent="-342900" fontAlgn="base">
              <a:lnSpc>
                <a:spcPct val="150000"/>
              </a:lnSpc>
              <a:buFont typeface="Arial" panose="020B0604020202020204" pitchFamily="34" charset="0"/>
              <a:buChar char="•"/>
            </a:pPr>
            <a:r>
              <a:rPr lang="en-US" sz="2400" b="1" dirty="0">
                <a:solidFill>
                  <a:srgbClr val="273239"/>
                </a:solidFill>
                <a:latin typeface="Cambria" panose="02040503050406030204" pitchFamily="18" charset="0"/>
                <a:ea typeface="Cambria" panose="02040503050406030204" pitchFamily="18" charset="0"/>
              </a:rPr>
              <a:t>Spark:</a:t>
            </a:r>
            <a:r>
              <a:rPr lang="en-US" sz="2400" dirty="0">
                <a:solidFill>
                  <a:srgbClr val="273239"/>
                </a:solidFill>
                <a:latin typeface="Cambria" panose="02040503050406030204" pitchFamily="18" charset="0"/>
                <a:ea typeface="Cambria" panose="02040503050406030204" pitchFamily="18" charset="0"/>
              </a:rPr>
              <a:t> Provides fast, in-memory data processing.</a:t>
            </a:r>
          </a:p>
          <a:p>
            <a:pPr marL="800100" lvl="1" indent="-342900" fontAlgn="base">
              <a:lnSpc>
                <a:spcPct val="150000"/>
              </a:lnSpc>
              <a:buFont typeface="Arial" panose="020B0604020202020204" pitchFamily="34" charset="0"/>
              <a:buChar char="•"/>
            </a:pPr>
            <a:r>
              <a:rPr lang="en-US" sz="2400" b="1" dirty="0">
                <a:solidFill>
                  <a:srgbClr val="273239"/>
                </a:solidFill>
                <a:latin typeface="Cambria" panose="02040503050406030204" pitchFamily="18" charset="0"/>
                <a:ea typeface="Cambria" panose="02040503050406030204" pitchFamily="18" charset="0"/>
              </a:rPr>
              <a:t>Hive &amp; Pig:</a:t>
            </a:r>
            <a:r>
              <a:rPr lang="en-US" sz="2400" dirty="0">
                <a:solidFill>
                  <a:srgbClr val="273239"/>
                </a:solidFill>
                <a:latin typeface="Cambria" panose="02040503050406030204" pitchFamily="18" charset="0"/>
                <a:ea typeface="Cambria" panose="02040503050406030204" pitchFamily="18" charset="0"/>
              </a:rPr>
              <a:t> High-level tools for querying and analyzing large datasets.</a:t>
            </a:r>
          </a:p>
          <a:p>
            <a:pPr marL="800100" lvl="1" indent="-342900" fontAlgn="base">
              <a:lnSpc>
                <a:spcPct val="150000"/>
              </a:lnSpc>
              <a:buFont typeface="Arial" panose="020B0604020202020204" pitchFamily="34" charset="0"/>
              <a:buChar char="•"/>
            </a:pPr>
            <a:r>
              <a:rPr lang="en-US" sz="2400" b="1" dirty="0" err="1">
                <a:solidFill>
                  <a:srgbClr val="273239"/>
                </a:solidFill>
                <a:latin typeface="Cambria" panose="02040503050406030204" pitchFamily="18" charset="0"/>
                <a:ea typeface="Cambria" panose="02040503050406030204" pitchFamily="18" charset="0"/>
              </a:rPr>
              <a:t>HBase</a:t>
            </a:r>
            <a:r>
              <a:rPr lang="en-US" sz="2400" b="1" dirty="0">
                <a:solidFill>
                  <a:srgbClr val="273239"/>
                </a:solidFill>
                <a:latin typeface="Cambria" panose="02040503050406030204" pitchFamily="18" charset="0"/>
                <a:ea typeface="Cambria" panose="02040503050406030204" pitchFamily="18" charset="0"/>
              </a:rPr>
              <a:t>:</a:t>
            </a:r>
            <a:r>
              <a:rPr lang="en-US" sz="2400" dirty="0">
                <a:solidFill>
                  <a:srgbClr val="273239"/>
                </a:solidFill>
                <a:latin typeface="Cambria" panose="02040503050406030204" pitchFamily="18" charset="0"/>
                <a:ea typeface="Cambria" panose="02040503050406030204" pitchFamily="18" charset="0"/>
              </a:rPr>
              <a:t> A </a:t>
            </a:r>
            <a:r>
              <a:rPr lang="en-US" sz="2400" dirty="0" err="1">
                <a:solidFill>
                  <a:srgbClr val="273239"/>
                </a:solidFill>
                <a:latin typeface="Cambria" panose="02040503050406030204" pitchFamily="18" charset="0"/>
                <a:ea typeface="Cambria" panose="02040503050406030204" pitchFamily="18" charset="0"/>
              </a:rPr>
              <a:t>NoSQL</a:t>
            </a:r>
            <a:r>
              <a:rPr lang="en-US" sz="2400" dirty="0">
                <a:solidFill>
                  <a:srgbClr val="273239"/>
                </a:solidFill>
                <a:latin typeface="Cambria" panose="02040503050406030204" pitchFamily="18" charset="0"/>
                <a:ea typeface="Cambria" panose="02040503050406030204" pitchFamily="18" charset="0"/>
              </a:rPr>
              <a:t> database for real-time read/write access.</a:t>
            </a:r>
          </a:p>
          <a:p>
            <a:pPr marL="800100" lvl="1" indent="-342900" fontAlgn="base">
              <a:lnSpc>
                <a:spcPct val="150000"/>
              </a:lnSpc>
              <a:buFont typeface="Arial" panose="020B0604020202020204" pitchFamily="34" charset="0"/>
              <a:buChar char="•"/>
            </a:pPr>
            <a:r>
              <a:rPr lang="en-US" sz="2400" b="1" dirty="0">
                <a:solidFill>
                  <a:srgbClr val="273239"/>
                </a:solidFill>
                <a:latin typeface="Cambria" panose="02040503050406030204" pitchFamily="18" charset="0"/>
                <a:ea typeface="Cambria" panose="02040503050406030204" pitchFamily="18" charset="0"/>
              </a:rPr>
              <a:t>Mahout &amp; Spark </a:t>
            </a:r>
            <a:r>
              <a:rPr lang="en-US" sz="2400" b="1" dirty="0" err="1">
                <a:solidFill>
                  <a:srgbClr val="273239"/>
                </a:solidFill>
                <a:latin typeface="Cambria" panose="02040503050406030204" pitchFamily="18" charset="0"/>
                <a:ea typeface="Cambria" panose="02040503050406030204" pitchFamily="18" charset="0"/>
              </a:rPr>
              <a:t>MLlib</a:t>
            </a:r>
            <a:r>
              <a:rPr lang="en-US" sz="2400" b="1" dirty="0">
                <a:solidFill>
                  <a:srgbClr val="273239"/>
                </a:solidFill>
                <a:latin typeface="Cambria" panose="02040503050406030204" pitchFamily="18" charset="0"/>
                <a:ea typeface="Cambria" panose="02040503050406030204" pitchFamily="18" charset="0"/>
              </a:rPr>
              <a:t>:</a:t>
            </a:r>
            <a:r>
              <a:rPr lang="en-US" sz="2400" dirty="0">
                <a:solidFill>
                  <a:srgbClr val="273239"/>
                </a:solidFill>
                <a:latin typeface="Cambria" panose="02040503050406030204" pitchFamily="18" charset="0"/>
                <a:ea typeface="Cambria" panose="02040503050406030204" pitchFamily="18" charset="0"/>
              </a:rPr>
              <a:t> Libraries for scalable machine learning.</a:t>
            </a:r>
          </a:p>
          <a:p>
            <a:pPr marL="800100" lvl="1" indent="-342900" fontAlgn="base">
              <a:lnSpc>
                <a:spcPct val="150000"/>
              </a:lnSpc>
              <a:buFont typeface="Arial" panose="020B0604020202020204" pitchFamily="34" charset="0"/>
              <a:buChar char="•"/>
            </a:pPr>
            <a:r>
              <a:rPr lang="en-US" sz="2400" b="1" dirty="0" err="1">
                <a:solidFill>
                  <a:srgbClr val="273239"/>
                </a:solidFill>
                <a:latin typeface="Cambria" panose="02040503050406030204" pitchFamily="18" charset="0"/>
                <a:ea typeface="Cambria" panose="02040503050406030204" pitchFamily="18" charset="0"/>
              </a:rPr>
              <a:t>Solr</a:t>
            </a:r>
            <a:r>
              <a:rPr lang="en-US" sz="2400" b="1" dirty="0">
                <a:solidFill>
                  <a:srgbClr val="273239"/>
                </a:solidFill>
                <a:latin typeface="Cambria" panose="02040503050406030204" pitchFamily="18" charset="0"/>
                <a:ea typeface="Cambria" panose="02040503050406030204" pitchFamily="18" charset="0"/>
              </a:rPr>
              <a:t> &amp; </a:t>
            </a:r>
            <a:r>
              <a:rPr lang="en-US" sz="2400" b="1" dirty="0" err="1">
                <a:solidFill>
                  <a:srgbClr val="273239"/>
                </a:solidFill>
                <a:latin typeface="Cambria" panose="02040503050406030204" pitchFamily="18" charset="0"/>
                <a:ea typeface="Cambria" panose="02040503050406030204" pitchFamily="18" charset="0"/>
              </a:rPr>
              <a:t>Lucene</a:t>
            </a:r>
            <a:r>
              <a:rPr lang="en-US" sz="2400" b="1" dirty="0">
                <a:solidFill>
                  <a:srgbClr val="273239"/>
                </a:solidFill>
                <a:latin typeface="Cambria" panose="02040503050406030204" pitchFamily="18" charset="0"/>
                <a:ea typeface="Cambria" panose="02040503050406030204" pitchFamily="18" charset="0"/>
              </a:rPr>
              <a:t>:</a:t>
            </a:r>
            <a:r>
              <a:rPr lang="en-US" sz="2400" dirty="0">
                <a:solidFill>
                  <a:srgbClr val="273239"/>
                </a:solidFill>
                <a:latin typeface="Cambria" panose="02040503050406030204" pitchFamily="18" charset="0"/>
                <a:ea typeface="Cambria" panose="02040503050406030204" pitchFamily="18" charset="0"/>
              </a:rPr>
              <a:t> Tools for full-text search and indexing.</a:t>
            </a:r>
          </a:p>
          <a:p>
            <a:pPr marL="800100" lvl="1" indent="-342900" fontAlgn="base">
              <a:lnSpc>
                <a:spcPct val="150000"/>
              </a:lnSpc>
              <a:buFont typeface="Arial" panose="020B0604020202020204" pitchFamily="34" charset="0"/>
              <a:buChar char="•"/>
            </a:pPr>
            <a:r>
              <a:rPr lang="en-US" sz="2400" b="1" dirty="0">
                <a:solidFill>
                  <a:srgbClr val="273239"/>
                </a:solidFill>
                <a:latin typeface="Cambria" panose="02040503050406030204" pitchFamily="18" charset="0"/>
                <a:ea typeface="Cambria" panose="02040503050406030204" pitchFamily="18" charset="0"/>
              </a:rPr>
              <a:t>Zookeeper:</a:t>
            </a:r>
            <a:r>
              <a:rPr lang="en-US" sz="2400" dirty="0">
                <a:solidFill>
                  <a:srgbClr val="273239"/>
                </a:solidFill>
                <a:latin typeface="Cambria" panose="02040503050406030204" pitchFamily="18" charset="0"/>
                <a:ea typeface="Cambria" panose="02040503050406030204" pitchFamily="18" charset="0"/>
              </a:rPr>
              <a:t> Manages coordination and configuration across the cluster.</a:t>
            </a:r>
          </a:p>
          <a:p>
            <a:pPr marL="800100" lvl="1" indent="-342900" fontAlgn="base">
              <a:lnSpc>
                <a:spcPct val="150000"/>
              </a:lnSpc>
              <a:buFont typeface="Arial" panose="020B0604020202020204" pitchFamily="34" charset="0"/>
              <a:buChar char="•"/>
            </a:pPr>
            <a:r>
              <a:rPr lang="en-US" sz="2400" b="1" dirty="0" err="1">
                <a:solidFill>
                  <a:srgbClr val="273239"/>
                </a:solidFill>
                <a:latin typeface="Cambria" panose="02040503050406030204" pitchFamily="18" charset="0"/>
                <a:ea typeface="Cambria" panose="02040503050406030204" pitchFamily="18" charset="0"/>
              </a:rPr>
              <a:t>Oozie</a:t>
            </a:r>
            <a:r>
              <a:rPr lang="en-US" sz="2400" b="1" dirty="0">
                <a:solidFill>
                  <a:srgbClr val="273239"/>
                </a:solidFill>
                <a:latin typeface="Cambria" panose="02040503050406030204" pitchFamily="18" charset="0"/>
                <a:ea typeface="Cambria" panose="02040503050406030204" pitchFamily="18" charset="0"/>
              </a:rPr>
              <a:t>:</a:t>
            </a:r>
            <a:r>
              <a:rPr lang="en-US" sz="2400" dirty="0">
                <a:solidFill>
                  <a:srgbClr val="273239"/>
                </a:solidFill>
                <a:latin typeface="Cambria" panose="02040503050406030204" pitchFamily="18" charset="0"/>
                <a:ea typeface="Cambria" panose="02040503050406030204" pitchFamily="18" charset="0"/>
              </a:rPr>
              <a:t> A workflow scheduler for managing Hadoop jobs.</a:t>
            </a:r>
            <a:endParaRPr lang="en-US" sz="2400" b="0" i="0" dirty="0">
              <a:solidFill>
                <a:srgbClr val="273239"/>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514897707"/>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sp>
      <p:sp>
        <p:nvSpPr>
          <p:cNvPr id="12" name="Shape 10"/>
          <p:cNvSpPr/>
          <p:nvPr/>
        </p:nvSpPr>
        <p:spPr>
          <a:xfrm>
            <a:off x="1066800" y="8864600"/>
            <a:ext cx="152400" cy="152400"/>
          </a:xfrm>
          <a:prstGeom prst="diamond">
            <a:avLst/>
          </a:prstGeom>
          <a:solidFill>
            <a:srgbClr val="00ACC1"/>
          </a:solidFill>
          <a:ln/>
        </p:spPr>
      </p:sp>
      <p:sp>
        <p:nvSpPr>
          <p:cNvPr id="15" name="Text 13"/>
          <p:cNvSpPr/>
          <p:nvPr/>
        </p:nvSpPr>
        <p:spPr>
          <a:xfrm>
            <a:off x="15621000" y="0"/>
            <a:ext cx="635000" cy="635000"/>
          </a:xfrm>
          <a:prstGeom prst="rect">
            <a:avLst/>
          </a:prstGeom>
          <a:noFill/>
          <a:ln/>
        </p:spPr>
        <p:txBody>
          <a:bodyPr wrap="none" lIns="0" tIns="0" rIns="0" bIns="0" rtlCol="0" anchor="ctr"/>
          <a:lstStyle/>
          <a:p>
            <a:pPr algn="r">
              <a:lnSpc>
                <a:spcPct val="120000"/>
              </a:lnSpc>
            </a:pPr>
            <a:r>
              <a:rPr lang="en-US" sz="1400" dirty="0">
                <a:solidFill>
                  <a:srgbClr val="005C82"/>
                </a:solidFill>
                <a:latin typeface="Quattrocento Sans" pitchFamily="34" charset="0"/>
                <a:ea typeface="Quattrocento Sans" pitchFamily="34" charset="-122"/>
                <a:cs typeface="Quattrocento Sans" pitchFamily="34" charset="-120"/>
              </a:rPr>
              <a:t>9</a:t>
            </a:r>
            <a:endParaRPr lang="en-US" sz="1400" dirty="0"/>
          </a:p>
        </p:txBody>
      </p:sp>
      <p:sp>
        <p:nvSpPr>
          <p:cNvPr id="5" name="Text 14"/>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Layered &amp; Stream Processing Architectures</a:t>
            </a:r>
            <a:endParaRPr lang="en-US" sz="2400" dirty="0"/>
          </a:p>
        </p:txBody>
      </p:sp>
      <p:sp>
        <p:nvSpPr>
          <p:cNvPr id="6" name="Shape 15"/>
          <p:cNvSpPr/>
          <p:nvPr/>
        </p:nvSpPr>
        <p:spPr>
          <a:xfrm>
            <a:off x="2540000" y="1397000"/>
            <a:ext cx="13208000" cy="12700"/>
          </a:xfrm>
          <a:prstGeom prst="rect">
            <a:avLst/>
          </a:prstGeom>
          <a:solidFill>
            <a:srgbClr val="B0BEC5"/>
          </a:solidFill>
          <a:ln/>
        </p:spPr>
      </p:sp>
      <p:sp>
        <p:nvSpPr>
          <p:cNvPr id="7" name="Text 16"/>
          <p:cNvSpPr/>
          <p:nvPr/>
        </p:nvSpPr>
        <p:spPr>
          <a:xfrm>
            <a:off x="2539999" y="1524000"/>
            <a:ext cx="8205263" cy="355600"/>
          </a:xfrm>
          <a:prstGeom prst="rect">
            <a:avLst/>
          </a:prstGeom>
          <a:noFill/>
          <a:ln/>
        </p:spPr>
        <p:txBody>
          <a:bodyPr wrap="none" lIns="0" tIns="0" rIns="0" bIns="0" rtlCol="0" anchor="t"/>
          <a:lstStyle/>
          <a:p>
            <a:pPr algn="l">
              <a:lnSpc>
                <a:spcPct val="120000"/>
              </a:lnSpc>
            </a:pPr>
            <a:r>
              <a:rPr lang="en-US" sz="2000" b="1" dirty="0">
                <a:solidFill>
                  <a:srgbClr val="C00000"/>
                </a:solidFill>
                <a:latin typeface="Arial Black" panose="020B0A04020102020204" pitchFamily="34" charset="0"/>
                <a:ea typeface="Quattrocento Sans" pitchFamily="34" charset="-122"/>
                <a:cs typeface="Quattrocento Sans" pitchFamily="34" charset="-120"/>
              </a:rPr>
              <a:t>Classic Layered Hadoop Architecture</a:t>
            </a:r>
            <a:endParaRPr lang="en-US" sz="2000" b="1" dirty="0">
              <a:solidFill>
                <a:srgbClr val="C00000"/>
              </a:solidFill>
              <a:latin typeface="Arial Black" panose="020B0A04020102020204" pitchFamily="34" charset="0"/>
            </a:endParaRPr>
          </a:p>
        </p:txBody>
      </p:sp>
      <p:sp>
        <p:nvSpPr>
          <p:cNvPr id="8" name="Shape 17"/>
          <p:cNvSpPr/>
          <p:nvPr/>
        </p:nvSpPr>
        <p:spPr>
          <a:xfrm>
            <a:off x="2540000" y="1981200"/>
            <a:ext cx="12235688" cy="558800"/>
          </a:xfrm>
          <a:prstGeom prst="rect">
            <a:avLst/>
          </a:prstGeom>
          <a:solidFill>
            <a:srgbClr val="00ACC1"/>
          </a:solidFill>
          <a:ln/>
        </p:spPr>
      </p:sp>
      <p:sp>
        <p:nvSpPr>
          <p:cNvPr id="9" name="Text 18"/>
          <p:cNvSpPr/>
          <p:nvPr/>
        </p:nvSpPr>
        <p:spPr>
          <a:xfrm>
            <a:off x="2540000" y="1981200"/>
            <a:ext cx="11652786" cy="558800"/>
          </a:xfrm>
          <a:prstGeom prst="rect">
            <a:avLst/>
          </a:prstGeom>
          <a:noFill/>
          <a:ln/>
        </p:spPr>
        <p:txBody>
          <a:bodyPr wrap="none" lIns="0" tIns="0" rIns="0" bIns="0" rtlCol="0" anchor="ctr"/>
          <a:lstStyle/>
          <a:p>
            <a:pPr algn="ctr">
              <a:lnSpc>
                <a:spcPct val="120000"/>
              </a:lnSpc>
            </a:pPr>
            <a:r>
              <a:rPr lang="en-US" sz="2000" b="1" dirty="0">
                <a:latin typeface="Arial Black" panose="020B0A04020102020204" pitchFamily="34" charset="0"/>
                <a:ea typeface="Quattrocento Sans" pitchFamily="34" charset="-122"/>
                <a:cs typeface="Quattrocento Sans" pitchFamily="34" charset="-120"/>
              </a:rPr>
              <a:t>Ecosystem Tools: </a:t>
            </a:r>
            <a:r>
              <a:rPr lang="en-US" sz="2000" b="1" dirty="0">
                <a:solidFill>
                  <a:schemeClr val="bg1"/>
                </a:solidFill>
                <a:latin typeface="Arial Black" panose="020B0A04020102020204" pitchFamily="34" charset="0"/>
                <a:ea typeface="Quattrocento Sans" pitchFamily="34" charset="-122"/>
                <a:cs typeface="Quattrocento Sans" pitchFamily="34" charset="-120"/>
              </a:rPr>
              <a:t>Hive (SQL) | Pig (Data Flow) | HBase | Sqoop | Flume | Oozie</a:t>
            </a:r>
            <a:endParaRPr lang="en-US" sz="2000" b="1" dirty="0">
              <a:solidFill>
                <a:schemeClr val="bg1"/>
              </a:solidFill>
              <a:latin typeface="Arial Black" panose="020B0A04020102020204" pitchFamily="34" charset="0"/>
            </a:endParaRPr>
          </a:p>
        </p:txBody>
      </p:sp>
      <p:sp>
        <p:nvSpPr>
          <p:cNvPr id="10" name="Shape 19"/>
          <p:cNvSpPr/>
          <p:nvPr/>
        </p:nvSpPr>
        <p:spPr>
          <a:xfrm>
            <a:off x="2540000" y="2590800"/>
            <a:ext cx="12235688" cy="558800"/>
          </a:xfrm>
          <a:prstGeom prst="rect">
            <a:avLst/>
          </a:prstGeom>
          <a:solidFill>
            <a:srgbClr val="007AA8"/>
          </a:solidFill>
          <a:ln/>
        </p:spPr>
      </p:sp>
      <p:sp>
        <p:nvSpPr>
          <p:cNvPr id="11" name="Text 20"/>
          <p:cNvSpPr/>
          <p:nvPr/>
        </p:nvSpPr>
        <p:spPr>
          <a:xfrm>
            <a:off x="2539999" y="2590800"/>
            <a:ext cx="8205263" cy="558800"/>
          </a:xfrm>
          <a:prstGeom prst="rect">
            <a:avLst/>
          </a:prstGeom>
          <a:noFill/>
          <a:ln/>
        </p:spPr>
        <p:txBody>
          <a:bodyPr wrap="none" lIns="0" tIns="0" rIns="0" bIns="0" rtlCol="0" anchor="ctr"/>
          <a:lstStyle/>
          <a:p>
            <a:pPr algn="ctr">
              <a:lnSpc>
                <a:spcPct val="120000"/>
              </a:lnSpc>
            </a:pPr>
            <a:r>
              <a:rPr lang="en-US" sz="2000" b="1" dirty="0">
                <a:latin typeface="Arial Black" panose="020B0A04020102020204" pitchFamily="34" charset="0"/>
                <a:ea typeface="Quattrocento Sans" pitchFamily="34" charset="-122"/>
                <a:cs typeface="Quattrocento Sans" pitchFamily="34" charset="-120"/>
              </a:rPr>
              <a:t>Processing Layer: </a:t>
            </a:r>
            <a:r>
              <a:rPr lang="en-US" sz="2000" b="1" dirty="0">
                <a:solidFill>
                  <a:schemeClr val="bg1"/>
                </a:solidFill>
                <a:latin typeface="Arial Black" panose="020B0A04020102020204" pitchFamily="34" charset="0"/>
                <a:ea typeface="Quattrocento Sans" pitchFamily="34" charset="-122"/>
                <a:cs typeface="Quattrocento Sans" pitchFamily="34" charset="-120"/>
              </a:rPr>
              <a:t>MapReduce | Spark (Data Processing)</a:t>
            </a:r>
            <a:endParaRPr lang="en-US" sz="2000" b="1" dirty="0">
              <a:solidFill>
                <a:schemeClr val="bg1"/>
              </a:solidFill>
              <a:latin typeface="Arial Black" panose="020B0A04020102020204" pitchFamily="34" charset="0"/>
            </a:endParaRPr>
          </a:p>
        </p:txBody>
      </p:sp>
      <p:sp>
        <p:nvSpPr>
          <p:cNvPr id="13" name="Shape 21"/>
          <p:cNvSpPr/>
          <p:nvPr/>
        </p:nvSpPr>
        <p:spPr>
          <a:xfrm>
            <a:off x="2540000" y="3200400"/>
            <a:ext cx="12235688" cy="558800"/>
          </a:xfrm>
          <a:prstGeom prst="rect">
            <a:avLst/>
          </a:prstGeom>
          <a:solidFill>
            <a:schemeClr val="accent6">
              <a:lumMod val="60000"/>
              <a:lumOff val="40000"/>
            </a:schemeClr>
          </a:solidFill>
          <a:ln/>
        </p:spPr>
      </p:sp>
      <p:sp>
        <p:nvSpPr>
          <p:cNvPr id="14" name="Text 22"/>
          <p:cNvSpPr/>
          <p:nvPr/>
        </p:nvSpPr>
        <p:spPr>
          <a:xfrm>
            <a:off x="2539999" y="3200400"/>
            <a:ext cx="8205263" cy="558800"/>
          </a:xfrm>
          <a:prstGeom prst="rect">
            <a:avLst/>
          </a:prstGeom>
          <a:noFill/>
          <a:ln/>
        </p:spPr>
        <p:txBody>
          <a:bodyPr wrap="none" lIns="0" tIns="0" rIns="0" bIns="0" rtlCol="0" anchor="ctr"/>
          <a:lstStyle/>
          <a:p>
            <a:pPr algn="ctr">
              <a:lnSpc>
                <a:spcPct val="120000"/>
              </a:lnSpc>
            </a:pPr>
            <a:r>
              <a:rPr lang="en-US" sz="2000" b="1" dirty="0">
                <a:latin typeface="Arial Black" panose="020B0A04020102020204" pitchFamily="34" charset="0"/>
                <a:ea typeface="Quattrocento Sans" pitchFamily="34" charset="-122"/>
                <a:cs typeface="Quattrocento Sans" pitchFamily="34" charset="-120"/>
              </a:rPr>
              <a:t>Resource Management:</a:t>
            </a:r>
            <a:r>
              <a:rPr lang="en-US" sz="2000" b="1" dirty="0">
                <a:solidFill>
                  <a:schemeClr val="bg1"/>
                </a:solidFill>
                <a:latin typeface="Arial Black" panose="020B0A04020102020204" pitchFamily="34" charset="0"/>
                <a:ea typeface="Quattrocento Sans" pitchFamily="34" charset="-122"/>
                <a:cs typeface="Quattrocento Sans" pitchFamily="34" charset="-120"/>
              </a:rPr>
              <a:t> YARN (CPU &amp; Memory)</a:t>
            </a:r>
            <a:endParaRPr lang="en-US" sz="2000" b="1" dirty="0">
              <a:solidFill>
                <a:schemeClr val="bg1"/>
              </a:solidFill>
              <a:latin typeface="Arial Black" panose="020B0A04020102020204" pitchFamily="34" charset="0"/>
            </a:endParaRPr>
          </a:p>
        </p:txBody>
      </p:sp>
      <p:sp>
        <p:nvSpPr>
          <p:cNvPr id="16" name="Shape 23"/>
          <p:cNvSpPr/>
          <p:nvPr/>
        </p:nvSpPr>
        <p:spPr>
          <a:xfrm>
            <a:off x="2540000" y="3810000"/>
            <a:ext cx="12235688" cy="558800"/>
          </a:xfrm>
          <a:prstGeom prst="rect">
            <a:avLst/>
          </a:prstGeom>
          <a:solidFill>
            <a:srgbClr val="C00000"/>
          </a:solidFill>
          <a:ln/>
        </p:spPr>
      </p:sp>
      <p:sp>
        <p:nvSpPr>
          <p:cNvPr id="17" name="Text 24"/>
          <p:cNvSpPr/>
          <p:nvPr/>
        </p:nvSpPr>
        <p:spPr>
          <a:xfrm>
            <a:off x="2539999" y="3810000"/>
            <a:ext cx="10518491" cy="558800"/>
          </a:xfrm>
          <a:prstGeom prst="rect">
            <a:avLst/>
          </a:prstGeom>
          <a:noFill/>
          <a:ln/>
        </p:spPr>
        <p:txBody>
          <a:bodyPr wrap="none" lIns="0" tIns="0" rIns="0" bIns="0" rtlCol="0" anchor="ctr"/>
          <a:lstStyle/>
          <a:p>
            <a:pPr algn="ctr">
              <a:lnSpc>
                <a:spcPct val="120000"/>
              </a:lnSpc>
            </a:pPr>
            <a:r>
              <a:rPr lang="en-US" sz="2000" b="1" dirty="0">
                <a:solidFill>
                  <a:schemeClr val="bg1"/>
                </a:solidFill>
                <a:latin typeface="Arial Black" panose="020B0A04020102020204" pitchFamily="34" charset="0"/>
                <a:ea typeface="Quattrocento Sans" pitchFamily="34" charset="-122"/>
                <a:cs typeface="Quattrocento Sans" pitchFamily="34" charset="-120"/>
              </a:rPr>
              <a:t>Storage Layer: HDFS (Distributed Blocks across Commodity Hardware)</a:t>
            </a:r>
            <a:endParaRPr lang="en-US" sz="2000" b="1" dirty="0">
              <a:solidFill>
                <a:schemeClr val="bg1"/>
              </a:solidFill>
              <a:latin typeface="Arial Black" panose="020B0A04020102020204" pitchFamily="34" charset="0"/>
            </a:endParaRPr>
          </a:p>
        </p:txBody>
      </p:sp>
      <p:sp>
        <p:nvSpPr>
          <p:cNvPr id="2" name="AutoShape 2" descr="Hadoop Ecosystem - GeeksforGeeks"/>
          <p:cNvSpPr>
            <a:spLocks noChangeAspect="1" noChangeArrowheads="1"/>
          </p:cNvSpPr>
          <p:nvPr/>
        </p:nvSpPr>
        <p:spPr bwMode="auto">
          <a:xfrm>
            <a:off x="3045078" y="5384799"/>
            <a:ext cx="3733673" cy="373368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9" name="Picture 28"/>
          <p:cNvPicPr>
            <a:picLocks noChangeAspect="1"/>
          </p:cNvPicPr>
          <p:nvPr/>
        </p:nvPicPr>
        <p:blipFill>
          <a:blip r:embed="rId3"/>
          <a:stretch>
            <a:fillRect/>
          </a:stretch>
        </p:blipFill>
        <p:spPr>
          <a:xfrm>
            <a:off x="2717248" y="4485452"/>
            <a:ext cx="8634564" cy="4317282"/>
          </a:xfrm>
          <a:prstGeom prst="rect">
            <a:avLst/>
          </a:prstGeom>
        </p:spPr>
      </p:pic>
      <p:sp>
        <p:nvSpPr>
          <p:cNvPr id="22" name="Rounded Rectangle 21"/>
          <p:cNvSpPr/>
          <p:nvPr/>
        </p:nvSpPr>
        <p:spPr>
          <a:xfrm>
            <a:off x="35814" y="4485452"/>
            <a:ext cx="2214372" cy="836035"/>
          </a:xfrm>
          <a:prstGeom prst="roundRect">
            <a:avLst/>
          </a:prstGeom>
          <a:solidFill>
            <a:srgbClr val="FF000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06350332"/>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sp>
      <p:sp>
        <p:nvSpPr>
          <p:cNvPr id="12" name="Shape 10"/>
          <p:cNvSpPr/>
          <p:nvPr/>
        </p:nvSpPr>
        <p:spPr>
          <a:xfrm>
            <a:off x="1066800" y="8864600"/>
            <a:ext cx="152400" cy="152400"/>
          </a:xfrm>
          <a:prstGeom prst="diamond">
            <a:avLst/>
          </a:prstGeom>
          <a:solidFill>
            <a:srgbClr val="00ACC1"/>
          </a:solidFill>
          <a:ln/>
        </p:spPr>
      </p:sp>
      <p:sp>
        <p:nvSpPr>
          <p:cNvPr id="15" name="Text 13"/>
          <p:cNvSpPr/>
          <p:nvPr/>
        </p:nvSpPr>
        <p:spPr>
          <a:xfrm>
            <a:off x="15621000" y="0"/>
            <a:ext cx="635000" cy="635000"/>
          </a:xfrm>
          <a:prstGeom prst="rect">
            <a:avLst/>
          </a:prstGeom>
          <a:noFill/>
          <a:ln/>
        </p:spPr>
        <p:txBody>
          <a:bodyPr wrap="none" lIns="0" tIns="0" rIns="0" bIns="0" rtlCol="0" anchor="ctr"/>
          <a:lstStyle/>
          <a:p>
            <a:pPr algn="r">
              <a:lnSpc>
                <a:spcPct val="120000"/>
              </a:lnSpc>
            </a:pPr>
            <a:r>
              <a:rPr lang="en-US" sz="1400" dirty="0">
                <a:solidFill>
                  <a:srgbClr val="005C82"/>
                </a:solidFill>
                <a:latin typeface="Quattrocento Sans" pitchFamily="34" charset="0"/>
                <a:ea typeface="Quattrocento Sans" pitchFamily="34" charset="-122"/>
                <a:cs typeface="Quattrocento Sans" pitchFamily="34" charset="-120"/>
              </a:rPr>
              <a:t>9</a:t>
            </a:r>
            <a:endParaRPr lang="en-US" sz="1400" dirty="0"/>
          </a:p>
        </p:txBody>
      </p:sp>
      <p:sp>
        <p:nvSpPr>
          <p:cNvPr id="5" name="Text 14"/>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Layered &amp; Stream Processing Architectures</a:t>
            </a:r>
            <a:endParaRPr lang="en-US" sz="2400" dirty="0"/>
          </a:p>
        </p:txBody>
      </p:sp>
      <p:sp>
        <p:nvSpPr>
          <p:cNvPr id="6" name="Shape 15"/>
          <p:cNvSpPr/>
          <p:nvPr/>
        </p:nvSpPr>
        <p:spPr>
          <a:xfrm>
            <a:off x="2540000" y="1397000"/>
            <a:ext cx="13208000" cy="12700"/>
          </a:xfrm>
          <a:prstGeom prst="rect">
            <a:avLst/>
          </a:prstGeom>
          <a:solidFill>
            <a:srgbClr val="B0BEC5"/>
          </a:solidFill>
          <a:ln/>
        </p:spPr>
      </p:sp>
      <p:sp>
        <p:nvSpPr>
          <p:cNvPr id="7" name="Text 16"/>
          <p:cNvSpPr/>
          <p:nvPr/>
        </p:nvSpPr>
        <p:spPr>
          <a:xfrm>
            <a:off x="2539999" y="1524000"/>
            <a:ext cx="8205263" cy="355600"/>
          </a:xfrm>
          <a:prstGeom prst="rect">
            <a:avLst/>
          </a:prstGeom>
          <a:noFill/>
          <a:ln/>
        </p:spPr>
        <p:txBody>
          <a:bodyPr wrap="none" lIns="0" tIns="0" rIns="0" bIns="0" rtlCol="0" anchor="t"/>
          <a:lstStyle/>
          <a:p>
            <a:pPr algn="l">
              <a:lnSpc>
                <a:spcPct val="120000"/>
              </a:lnSpc>
            </a:pPr>
            <a:r>
              <a:rPr lang="en-US" sz="2000" b="1" dirty="0">
                <a:solidFill>
                  <a:srgbClr val="C00000"/>
                </a:solidFill>
                <a:latin typeface="Arial Black" panose="020B0A04020102020204" pitchFamily="34" charset="0"/>
                <a:ea typeface="Quattrocento Sans" pitchFamily="34" charset="-122"/>
                <a:cs typeface="Quattrocento Sans" pitchFamily="34" charset="-120"/>
              </a:rPr>
              <a:t>Classic Layered Hadoop Architecture</a:t>
            </a:r>
            <a:endParaRPr lang="en-US" sz="2000" b="1" dirty="0">
              <a:solidFill>
                <a:srgbClr val="C00000"/>
              </a:solidFill>
              <a:latin typeface="Arial Black" panose="020B0A04020102020204" pitchFamily="34" charset="0"/>
            </a:endParaRPr>
          </a:p>
        </p:txBody>
      </p:sp>
      <p:sp>
        <p:nvSpPr>
          <p:cNvPr id="8" name="Shape 17"/>
          <p:cNvSpPr/>
          <p:nvPr/>
        </p:nvSpPr>
        <p:spPr>
          <a:xfrm>
            <a:off x="2540000" y="1981200"/>
            <a:ext cx="12235688" cy="558800"/>
          </a:xfrm>
          <a:prstGeom prst="rect">
            <a:avLst/>
          </a:prstGeom>
          <a:solidFill>
            <a:srgbClr val="00ACC1"/>
          </a:solidFill>
          <a:ln/>
        </p:spPr>
      </p:sp>
      <p:sp>
        <p:nvSpPr>
          <p:cNvPr id="9" name="Text 18"/>
          <p:cNvSpPr/>
          <p:nvPr/>
        </p:nvSpPr>
        <p:spPr>
          <a:xfrm>
            <a:off x="2540000" y="1981200"/>
            <a:ext cx="11652786" cy="558800"/>
          </a:xfrm>
          <a:prstGeom prst="rect">
            <a:avLst/>
          </a:prstGeom>
          <a:noFill/>
          <a:ln/>
        </p:spPr>
        <p:txBody>
          <a:bodyPr wrap="none" lIns="0" tIns="0" rIns="0" bIns="0" rtlCol="0" anchor="ctr"/>
          <a:lstStyle/>
          <a:p>
            <a:pPr algn="ctr">
              <a:lnSpc>
                <a:spcPct val="120000"/>
              </a:lnSpc>
            </a:pPr>
            <a:r>
              <a:rPr lang="en-US" sz="2000" b="1" dirty="0">
                <a:latin typeface="Arial Black" panose="020B0A04020102020204" pitchFamily="34" charset="0"/>
                <a:ea typeface="Quattrocento Sans" pitchFamily="34" charset="-122"/>
                <a:cs typeface="Quattrocento Sans" pitchFamily="34" charset="-120"/>
              </a:rPr>
              <a:t>Ecosystem Tools: </a:t>
            </a:r>
            <a:r>
              <a:rPr lang="en-US" sz="2000" b="1" dirty="0">
                <a:solidFill>
                  <a:schemeClr val="bg1"/>
                </a:solidFill>
                <a:latin typeface="Arial Black" panose="020B0A04020102020204" pitchFamily="34" charset="0"/>
                <a:ea typeface="Quattrocento Sans" pitchFamily="34" charset="-122"/>
                <a:cs typeface="Quattrocento Sans" pitchFamily="34" charset="-120"/>
              </a:rPr>
              <a:t>Hive (SQL) | Pig (Data Flow) | HBase | Sqoop | Flume | Oozie</a:t>
            </a:r>
            <a:endParaRPr lang="en-US" sz="2000" b="1" dirty="0">
              <a:solidFill>
                <a:schemeClr val="bg1"/>
              </a:solidFill>
              <a:latin typeface="Arial Black" panose="020B0A04020102020204" pitchFamily="34" charset="0"/>
            </a:endParaRPr>
          </a:p>
        </p:txBody>
      </p:sp>
      <p:sp>
        <p:nvSpPr>
          <p:cNvPr id="10" name="Shape 19"/>
          <p:cNvSpPr/>
          <p:nvPr/>
        </p:nvSpPr>
        <p:spPr>
          <a:xfrm>
            <a:off x="2540000" y="2590800"/>
            <a:ext cx="12235688" cy="558800"/>
          </a:xfrm>
          <a:prstGeom prst="rect">
            <a:avLst/>
          </a:prstGeom>
          <a:solidFill>
            <a:srgbClr val="007AA8"/>
          </a:solidFill>
          <a:ln/>
        </p:spPr>
      </p:sp>
      <p:sp>
        <p:nvSpPr>
          <p:cNvPr id="11" name="Text 20"/>
          <p:cNvSpPr/>
          <p:nvPr/>
        </p:nvSpPr>
        <p:spPr>
          <a:xfrm>
            <a:off x="2539999" y="2590800"/>
            <a:ext cx="8205263" cy="558800"/>
          </a:xfrm>
          <a:prstGeom prst="rect">
            <a:avLst/>
          </a:prstGeom>
          <a:noFill/>
          <a:ln/>
        </p:spPr>
        <p:txBody>
          <a:bodyPr wrap="none" lIns="0" tIns="0" rIns="0" bIns="0" rtlCol="0" anchor="ctr"/>
          <a:lstStyle/>
          <a:p>
            <a:pPr algn="ctr">
              <a:lnSpc>
                <a:spcPct val="120000"/>
              </a:lnSpc>
            </a:pPr>
            <a:r>
              <a:rPr lang="en-US" sz="2000" b="1" dirty="0">
                <a:latin typeface="Arial Black" panose="020B0A04020102020204" pitchFamily="34" charset="0"/>
                <a:ea typeface="Quattrocento Sans" pitchFamily="34" charset="-122"/>
                <a:cs typeface="Quattrocento Sans" pitchFamily="34" charset="-120"/>
              </a:rPr>
              <a:t>Processing Layer: </a:t>
            </a:r>
            <a:r>
              <a:rPr lang="en-US" sz="2000" b="1" dirty="0">
                <a:solidFill>
                  <a:schemeClr val="bg1"/>
                </a:solidFill>
                <a:latin typeface="Arial Black" panose="020B0A04020102020204" pitchFamily="34" charset="0"/>
                <a:ea typeface="Quattrocento Sans" pitchFamily="34" charset="-122"/>
                <a:cs typeface="Quattrocento Sans" pitchFamily="34" charset="-120"/>
              </a:rPr>
              <a:t>MapReduce | Spark (Data Processing)</a:t>
            </a:r>
            <a:endParaRPr lang="en-US" sz="2000" b="1" dirty="0">
              <a:solidFill>
                <a:schemeClr val="bg1"/>
              </a:solidFill>
              <a:latin typeface="Arial Black" panose="020B0A04020102020204" pitchFamily="34" charset="0"/>
            </a:endParaRPr>
          </a:p>
        </p:txBody>
      </p:sp>
      <p:sp>
        <p:nvSpPr>
          <p:cNvPr id="13" name="Shape 21"/>
          <p:cNvSpPr/>
          <p:nvPr/>
        </p:nvSpPr>
        <p:spPr>
          <a:xfrm>
            <a:off x="2540000" y="3200400"/>
            <a:ext cx="12235688" cy="558800"/>
          </a:xfrm>
          <a:prstGeom prst="rect">
            <a:avLst/>
          </a:prstGeom>
          <a:solidFill>
            <a:schemeClr val="accent6">
              <a:lumMod val="60000"/>
              <a:lumOff val="40000"/>
            </a:schemeClr>
          </a:solidFill>
          <a:ln/>
        </p:spPr>
      </p:sp>
      <p:sp>
        <p:nvSpPr>
          <p:cNvPr id="14" name="Text 22"/>
          <p:cNvSpPr/>
          <p:nvPr/>
        </p:nvSpPr>
        <p:spPr>
          <a:xfrm>
            <a:off x="2539999" y="3200400"/>
            <a:ext cx="8205263" cy="558800"/>
          </a:xfrm>
          <a:prstGeom prst="rect">
            <a:avLst/>
          </a:prstGeom>
          <a:noFill/>
          <a:ln/>
        </p:spPr>
        <p:txBody>
          <a:bodyPr wrap="none" lIns="0" tIns="0" rIns="0" bIns="0" rtlCol="0" anchor="ctr"/>
          <a:lstStyle/>
          <a:p>
            <a:pPr algn="ctr">
              <a:lnSpc>
                <a:spcPct val="120000"/>
              </a:lnSpc>
            </a:pPr>
            <a:r>
              <a:rPr lang="en-US" sz="2000" b="1" dirty="0">
                <a:latin typeface="Arial Black" panose="020B0A04020102020204" pitchFamily="34" charset="0"/>
                <a:ea typeface="Quattrocento Sans" pitchFamily="34" charset="-122"/>
                <a:cs typeface="Quattrocento Sans" pitchFamily="34" charset="-120"/>
              </a:rPr>
              <a:t>Resource Management:</a:t>
            </a:r>
            <a:r>
              <a:rPr lang="en-US" sz="2000" b="1" dirty="0">
                <a:solidFill>
                  <a:schemeClr val="bg1"/>
                </a:solidFill>
                <a:latin typeface="Arial Black" panose="020B0A04020102020204" pitchFamily="34" charset="0"/>
                <a:ea typeface="Quattrocento Sans" pitchFamily="34" charset="-122"/>
                <a:cs typeface="Quattrocento Sans" pitchFamily="34" charset="-120"/>
              </a:rPr>
              <a:t> YARN (CPU &amp; Memory)</a:t>
            </a:r>
            <a:endParaRPr lang="en-US" sz="2000" b="1" dirty="0">
              <a:solidFill>
                <a:schemeClr val="bg1"/>
              </a:solidFill>
              <a:latin typeface="Arial Black" panose="020B0A04020102020204" pitchFamily="34" charset="0"/>
            </a:endParaRPr>
          </a:p>
        </p:txBody>
      </p:sp>
      <p:sp>
        <p:nvSpPr>
          <p:cNvPr id="16" name="Shape 23"/>
          <p:cNvSpPr/>
          <p:nvPr/>
        </p:nvSpPr>
        <p:spPr>
          <a:xfrm>
            <a:off x="2540000" y="3810000"/>
            <a:ext cx="12235688" cy="558800"/>
          </a:xfrm>
          <a:prstGeom prst="rect">
            <a:avLst/>
          </a:prstGeom>
          <a:solidFill>
            <a:srgbClr val="C00000"/>
          </a:solidFill>
          <a:ln/>
        </p:spPr>
      </p:sp>
      <p:sp>
        <p:nvSpPr>
          <p:cNvPr id="17" name="Text 24"/>
          <p:cNvSpPr/>
          <p:nvPr/>
        </p:nvSpPr>
        <p:spPr>
          <a:xfrm>
            <a:off x="2539999" y="3810000"/>
            <a:ext cx="10518491" cy="558800"/>
          </a:xfrm>
          <a:prstGeom prst="rect">
            <a:avLst/>
          </a:prstGeom>
          <a:noFill/>
          <a:ln/>
        </p:spPr>
        <p:txBody>
          <a:bodyPr wrap="none" lIns="0" tIns="0" rIns="0" bIns="0" rtlCol="0" anchor="ctr"/>
          <a:lstStyle/>
          <a:p>
            <a:pPr algn="ctr">
              <a:lnSpc>
                <a:spcPct val="120000"/>
              </a:lnSpc>
            </a:pPr>
            <a:r>
              <a:rPr lang="en-US" sz="2000" b="1" dirty="0">
                <a:solidFill>
                  <a:schemeClr val="bg1"/>
                </a:solidFill>
                <a:latin typeface="Arial Black" panose="020B0A04020102020204" pitchFamily="34" charset="0"/>
                <a:ea typeface="Quattrocento Sans" pitchFamily="34" charset="-122"/>
                <a:cs typeface="Quattrocento Sans" pitchFamily="34" charset="-120"/>
              </a:rPr>
              <a:t>Storage Layer: HDFS (Distributed Blocks across Commodity Hardware)</a:t>
            </a:r>
            <a:endParaRPr lang="en-US" sz="2000" b="1" dirty="0">
              <a:solidFill>
                <a:schemeClr val="bg1"/>
              </a:solidFill>
              <a:latin typeface="Arial Black" panose="020B0A04020102020204" pitchFamily="34" charset="0"/>
            </a:endParaRPr>
          </a:p>
        </p:txBody>
      </p:sp>
      <p:sp>
        <p:nvSpPr>
          <p:cNvPr id="19" name="Text 26"/>
          <p:cNvSpPr/>
          <p:nvPr/>
        </p:nvSpPr>
        <p:spPr>
          <a:xfrm>
            <a:off x="4986528" y="4776215"/>
            <a:ext cx="6604000" cy="355600"/>
          </a:xfrm>
          <a:prstGeom prst="rect">
            <a:avLst/>
          </a:prstGeom>
          <a:noFill/>
          <a:ln/>
        </p:spPr>
        <p:txBody>
          <a:bodyPr wrap="none" lIns="0" tIns="0" rIns="0" bIns="0" rtlCol="0" anchor="t"/>
          <a:lstStyle/>
          <a:p>
            <a:pPr algn="l">
              <a:lnSpc>
                <a:spcPct val="120000"/>
              </a:lnSpc>
            </a:pPr>
            <a:r>
              <a:rPr lang="en-US" sz="2800" b="1" dirty="0">
                <a:solidFill>
                  <a:srgbClr val="005C82"/>
                </a:solidFill>
                <a:ea typeface="Quattrocento Sans" pitchFamily="34" charset="-122"/>
                <a:cs typeface="Quattrocento Sans" pitchFamily="34" charset="-120"/>
              </a:rPr>
              <a:t>Stream Processing Architecture</a:t>
            </a:r>
            <a:endParaRPr lang="en-US" sz="2800" dirty="0"/>
          </a:p>
        </p:txBody>
      </p:sp>
      <p:sp>
        <p:nvSpPr>
          <p:cNvPr id="20" name="Shape 27"/>
          <p:cNvSpPr/>
          <p:nvPr/>
        </p:nvSpPr>
        <p:spPr>
          <a:xfrm>
            <a:off x="3934380" y="5335014"/>
            <a:ext cx="7729728" cy="3631185"/>
          </a:xfrm>
          <a:prstGeom prst="roundRect">
            <a:avLst>
              <a:gd name="adj" fmla="val 4000"/>
            </a:avLst>
          </a:prstGeom>
          <a:solidFill>
            <a:schemeClr val="accent6">
              <a:lumMod val="60000"/>
              <a:lumOff val="40000"/>
            </a:schemeClr>
          </a:solidFill>
          <a:ln w="12700">
            <a:solidFill>
              <a:srgbClr val="B0BEC5"/>
            </a:solidFill>
            <a:prstDash val="solid"/>
          </a:ln>
        </p:spPr>
      </p:sp>
      <p:sp>
        <p:nvSpPr>
          <p:cNvPr id="21" name="Text 28"/>
          <p:cNvSpPr/>
          <p:nvPr/>
        </p:nvSpPr>
        <p:spPr>
          <a:xfrm>
            <a:off x="4049485" y="5411214"/>
            <a:ext cx="7433953" cy="3174645"/>
          </a:xfrm>
          <a:prstGeom prst="rect">
            <a:avLst/>
          </a:prstGeom>
          <a:noFill/>
          <a:ln/>
        </p:spPr>
        <p:txBody>
          <a:bodyPr wrap="square" lIns="0" tIns="0" rIns="0" bIns="0" rtlCol="0" anchor="t"/>
          <a:lstStyle/>
          <a:p>
            <a:pPr algn="l">
              <a:lnSpc>
                <a:spcPct val="165000"/>
              </a:lnSpc>
            </a:pPr>
            <a:r>
              <a:rPr lang="en-US" sz="2200" dirty="0">
                <a:solidFill>
                  <a:srgbClr val="333333"/>
                </a:solidFill>
                <a:ea typeface="Quattrocento Sans" pitchFamily="34" charset="-122"/>
                <a:cs typeface="Quattrocento Sans" pitchFamily="34" charset="-120"/>
              </a:rPr>
              <a:t>Designed for </a:t>
            </a:r>
            <a:r>
              <a:rPr lang="en-US" sz="2200" b="1" dirty="0">
                <a:solidFill>
                  <a:srgbClr val="333333"/>
                </a:solidFill>
                <a:ea typeface="Quattrocento Sans" pitchFamily="34" charset="-122"/>
                <a:cs typeface="Quattrocento Sans" pitchFamily="34" charset="-120"/>
              </a:rPr>
              <a:t>continuous, unbounded data streams</a:t>
            </a:r>
            <a:r>
              <a:rPr lang="en-US" sz="2200" dirty="0">
                <a:solidFill>
                  <a:srgbClr val="333333"/>
                </a:solidFill>
                <a:ea typeface="Quattrocento Sans" pitchFamily="34" charset="-122"/>
                <a:cs typeface="Quattrocento Sans" pitchFamily="34" charset="-120"/>
              </a:rPr>
              <a:t> with very low latency. Data is processed as it arrives.</a:t>
            </a:r>
            <a:endParaRPr lang="en-US" sz="2200" dirty="0"/>
          </a:p>
          <a:p>
            <a:pPr algn="l">
              <a:lnSpc>
                <a:spcPct val="165000"/>
              </a:lnSpc>
              <a:spcBef>
                <a:spcPts val="800"/>
              </a:spcBef>
            </a:pPr>
            <a:r>
              <a:rPr lang="en-US" sz="2200" b="1" dirty="0">
                <a:solidFill>
                  <a:srgbClr val="005C82"/>
                </a:solidFill>
                <a:ea typeface="Quattrocento Sans" pitchFamily="34" charset="-122"/>
                <a:cs typeface="Quattrocento Sans" pitchFamily="34" charset="-120"/>
              </a:rPr>
              <a:t>Ingestion:</a:t>
            </a:r>
            <a:r>
              <a:rPr lang="en-US" sz="2200" dirty="0">
                <a:solidFill>
                  <a:srgbClr val="333333"/>
                </a:solidFill>
                <a:ea typeface="Quattrocento Sans" pitchFamily="34" charset="-122"/>
                <a:cs typeface="Quattrocento Sans" pitchFamily="34" charset="-120"/>
              </a:rPr>
              <a:t> Apache Kafka or Flume collect real-time streams</a:t>
            </a:r>
            <a:endParaRPr lang="en-US" sz="2200" dirty="0"/>
          </a:p>
          <a:p>
            <a:pPr algn="l">
              <a:lnSpc>
                <a:spcPct val="165000"/>
              </a:lnSpc>
              <a:spcBef>
                <a:spcPts val="400"/>
              </a:spcBef>
            </a:pPr>
            <a:r>
              <a:rPr lang="en-US" sz="2200" b="1" dirty="0">
                <a:solidFill>
                  <a:srgbClr val="005C82"/>
                </a:solidFill>
                <a:ea typeface="Quattrocento Sans" pitchFamily="34" charset="-122"/>
                <a:cs typeface="Quattrocento Sans" pitchFamily="34" charset="-120"/>
              </a:rPr>
              <a:t>Processing:</a:t>
            </a:r>
            <a:r>
              <a:rPr lang="en-US" sz="2200" dirty="0">
                <a:solidFill>
                  <a:srgbClr val="333333"/>
                </a:solidFill>
                <a:ea typeface="Quattrocento Sans" pitchFamily="34" charset="-122"/>
                <a:cs typeface="Quattrocento Sans" pitchFamily="34" charset="-120"/>
              </a:rPr>
              <a:t> Spark Streaming or Flink process in micro-batches</a:t>
            </a:r>
            <a:endParaRPr lang="en-US" sz="2200" dirty="0"/>
          </a:p>
          <a:p>
            <a:pPr algn="l">
              <a:lnSpc>
                <a:spcPct val="165000"/>
              </a:lnSpc>
              <a:spcBef>
                <a:spcPts val="400"/>
              </a:spcBef>
            </a:pPr>
            <a:r>
              <a:rPr lang="en-US" sz="2200" b="1" dirty="0">
                <a:solidFill>
                  <a:srgbClr val="005C82"/>
                </a:solidFill>
                <a:ea typeface="Quattrocento Sans" pitchFamily="34" charset="-122"/>
                <a:cs typeface="Quattrocento Sans" pitchFamily="34" charset="-120"/>
              </a:rPr>
              <a:t>Output:</a:t>
            </a:r>
            <a:r>
              <a:rPr lang="en-US" sz="2200" dirty="0">
                <a:solidFill>
                  <a:srgbClr val="333333"/>
                </a:solidFill>
                <a:ea typeface="Quattrocento Sans" pitchFamily="34" charset="-122"/>
                <a:cs typeface="Quattrocento Sans" pitchFamily="34" charset="-120"/>
              </a:rPr>
              <a:t> Results to databases, dashboards, or alerts</a:t>
            </a:r>
            <a:endParaRPr lang="en-US" sz="2200" dirty="0"/>
          </a:p>
        </p:txBody>
      </p:sp>
      <p:sp>
        <p:nvSpPr>
          <p:cNvPr id="2" name="AutoShape 2" descr="Hadoop Ecosystem - GeeksforGeeks"/>
          <p:cNvSpPr>
            <a:spLocks noChangeAspect="1" noChangeArrowheads="1"/>
          </p:cNvSpPr>
          <p:nvPr/>
        </p:nvSpPr>
        <p:spPr bwMode="auto">
          <a:xfrm>
            <a:off x="3045078" y="5384799"/>
            <a:ext cx="3733673" cy="373368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2" name="Rounded Rectangle 21"/>
          <p:cNvSpPr/>
          <p:nvPr/>
        </p:nvSpPr>
        <p:spPr>
          <a:xfrm>
            <a:off x="35814" y="4485452"/>
            <a:ext cx="2214372" cy="836035"/>
          </a:xfrm>
          <a:prstGeom prst="roundRect">
            <a:avLst/>
          </a:prstGeom>
          <a:solidFill>
            <a:srgbClr val="FF000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04864099"/>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8683" t="1" b="35074"/>
          <a:stretch/>
        </p:blipFill>
        <p:spPr>
          <a:xfrm>
            <a:off x="2588821" y="1233229"/>
            <a:ext cx="13264737" cy="6604485"/>
          </a:xfrm>
          <a:prstGeom prst="rect">
            <a:avLst/>
          </a:prstGeom>
        </p:spPr>
      </p:pic>
      <p:sp>
        <p:nvSpPr>
          <p:cNvPr id="4" name="Rounded Rectangle 3"/>
          <p:cNvSpPr/>
          <p:nvPr/>
        </p:nvSpPr>
        <p:spPr>
          <a:xfrm>
            <a:off x="35814" y="4485452"/>
            <a:ext cx="2214372" cy="836035"/>
          </a:xfrm>
          <a:prstGeom prst="roundRect">
            <a:avLst/>
          </a:prstGeom>
          <a:solidFill>
            <a:srgbClr val="FF000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680101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sp>
      <p:sp>
        <p:nvSpPr>
          <p:cNvPr id="12" name="Shape 10"/>
          <p:cNvSpPr/>
          <p:nvPr/>
        </p:nvSpPr>
        <p:spPr>
          <a:xfrm>
            <a:off x="1066800" y="8864600"/>
            <a:ext cx="152400" cy="152400"/>
          </a:xfrm>
          <a:prstGeom prst="diamond">
            <a:avLst/>
          </a:prstGeom>
          <a:solidFill>
            <a:srgbClr val="00ACC1"/>
          </a:solidFill>
          <a:ln/>
        </p:spPr>
      </p:sp>
      <p:sp>
        <p:nvSpPr>
          <p:cNvPr id="15" name="Text 13"/>
          <p:cNvSpPr/>
          <p:nvPr/>
        </p:nvSpPr>
        <p:spPr>
          <a:xfrm>
            <a:off x="15621000" y="0"/>
            <a:ext cx="635000" cy="635000"/>
          </a:xfrm>
          <a:prstGeom prst="rect">
            <a:avLst/>
          </a:prstGeom>
          <a:noFill/>
          <a:ln/>
        </p:spPr>
        <p:txBody>
          <a:bodyPr wrap="none" lIns="0" tIns="0" rIns="0" bIns="0" rtlCol="0" anchor="ctr"/>
          <a:lstStyle/>
          <a:p>
            <a:pPr algn="r">
              <a:lnSpc>
                <a:spcPct val="120000"/>
              </a:lnSpc>
            </a:pPr>
            <a:r>
              <a:rPr lang="en-US" sz="1400" dirty="0">
                <a:solidFill>
                  <a:srgbClr val="005C82"/>
                </a:solidFill>
                <a:latin typeface="Quattrocento Sans" pitchFamily="34" charset="0"/>
                <a:ea typeface="Quattrocento Sans" pitchFamily="34" charset="-122"/>
                <a:cs typeface="Quattrocento Sans" pitchFamily="34" charset="-120"/>
              </a:rPr>
              <a:t>9</a:t>
            </a:r>
            <a:endParaRPr lang="en-US" sz="1400" dirty="0"/>
          </a:p>
        </p:txBody>
      </p:sp>
      <p:sp>
        <p:nvSpPr>
          <p:cNvPr id="5" name="Text 14"/>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smtClean="0">
                <a:solidFill>
                  <a:srgbClr val="005C82"/>
                </a:solidFill>
                <a:latin typeface="Quattrocento Sans" pitchFamily="34" charset="0"/>
                <a:ea typeface="Quattrocento Sans" pitchFamily="34" charset="-122"/>
                <a:cs typeface="Quattrocento Sans" pitchFamily="34" charset="-120"/>
              </a:rPr>
              <a:t>Lambda Architectures</a:t>
            </a:r>
            <a:endParaRPr lang="en-US" sz="2400" dirty="0"/>
          </a:p>
        </p:txBody>
      </p:sp>
      <p:sp>
        <p:nvSpPr>
          <p:cNvPr id="6" name="Shape 15"/>
          <p:cNvSpPr/>
          <p:nvPr/>
        </p:nvSpPr>
        <p:spPr>
          <a:xfrm>
            <a:off x="2540000" y="1397000"/>
            <a:ext cx="13208000" cy="12700"/>
          </a:xfrm>
          <a:prstGeom prst="rect">
            <a:avLst/>
          </a:prstGeom>
          <a:solidFill>
            <a:srgbClr val="B0BEC5"/>
          </a:solidFill>
          <a:ln/>
        </p:spPr>
      </p:sp>
      <p:sp>
        <p:nvSpPr>
          <p:cNvPr id="23" name="Rounded Rectangle 22"/>
          <p:cNvSpPr/>
          <p:nvPr/>
        </p:nvSpPr>
        <p:spPr>
          <a:xfrm>
            <a:off x="35814" y="4485452"/>
            <a:ext cx="2214372" cy="836035"/>
          </a:xfrm>
          <a:prstGeom prst="roundRect">
            <a:avLst/>
          </a:prstGeom>
          <a:solidFill>
            <a:srgbClr val="FF000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p:cNvPicPr>
            <a:picLocks noChangeAspect="1"/>
          </p:cNvPicPr>
          <p:nvPr/>
        </p:nvPicPr>
        <p:blipFill rotWithShape="1">
          <a:blip r:embed="rId3">
            <a:extLst>
              <a:ext uri="{BEBA8EAE-BF5A-486C-A8C5-ECC9F3942E4B}">
                <a14:imgProps xmlns:a14="http://schemas.microsoft.com/office/drawing/2010/main">
                  <a14:imgLayer r:embed="rId4">
                    <a14:imgEffect>
                      <a14:sharpenSoften amount="25000"/>
                    </a14:imgEffect>
                  </a14:imgLayer>
                </a14:imgProps>
              </a:ext>
            </a:extLst>
          </a:blip>
          <a:srcRect l="16235" b="20096"/>
          <a:stretch/>
        </p:blipFill>
        <p:spPr>
          <a:xfrm>
            <a:off x="2540000" y="2107541"/>
            <a:ext cx="6198919" cy="5967681"/>
          </a:xfrm>
          <a:prstGeom prst="rect">
            <a:avLst/>
          </a:prstGeom>
        </p:spPr>
      </p:pic>
      <p:sp>
        <p:nvSpPr>
          <p:cNvPr id="4" name="Rectangle 3"/>
          <p:cNvSpPr/>
          <p:nvPr/>
        </p:nvSpPr>
        <p:spPr>
          <a:xfrm>
            <a:off x="8738919" y="1826406"/>
            <a:ext cx="7257143" cy="7171194"/>
          </a:xfrm>
          <a:prstGeom prst="rect">
            <a:avLst/>
          </a:prstGeom>
        </p:spPr>
        <p:txBody>
          <a:bodyPr wrap="square">
            <a:spAutoFit/>
          </a:bodyPr>
          <a:lstStyle/>
          <a:p>
            <a:pPr marL="285750" indent="-285750" algn="just">
              <a:buFont typeface="Arial" panose="020B0604020202020204" pitchFamily="34" charset="0"/>
              <a:buChar char="•"/>
            </a:pPr>
            <a:r>
              <a:rPr lang="en-US" sz="2000" dirty="0">
                <a:solidFill>
                  <a:srgbClr val="161616"/>
                </a:solidFill>
                <a:latin typeface="Cambria" panose="02040503050406030204" pitchFamily="18" charset="0"/>
                <a:ea typeface="Cambria" panose="02040503050406030204" pitchFamily="18" charset="0"/>
              </a:rPr>
              <a:t>When you work with large datasets, it can take a long time to run the type of queries that clients need. </a:t>
            </a:r>
            <a:endParaRPr lang="en-US" sz="2000" dirty="0" smtClean="0">
              <a:solidFill>
                <a:srgbClr val="161616"/>
              </a:solidFill>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pPr>
            <a:r>
              <a:rPr lang="en-US" sz="2000" dirty="0" smtClean="0">
                <a:solidFill>
                  <a:srgbClr val="161616"/>
                </a:solidFill>
                <a:latin typeface="Cambria" panose="02040503050406030204" pitchFamily="18" charset="0"/>
                <a:ea typeface="Cambria" panose="02040503050406030204" pitchFamily="18" charset="0"/>
              </a:rPr>
              <a:t>These </a:t>
            </a:r>
            <a:r>
              <a:rPr lang="en-US" sz="2000" dirty="0">
                <a:solidFill>
                  <a:srgbClr val="161616"/>
                </a:solidFill>
                <a:latin typeface="Cambria" panose="02040503050406030204" pitchFamily="18" charset="0"/>
                <a:ea typeface="Cambria" panose="02040503050406030204" pitchFamily="18" charset="0"/>
              </a:rPr>
              <a:t>queries can't be performed in real time, and they often require distributed processing algorithms such as </a:t>
            </a:r>
            <a:r>
              <a:rPr lang="en-US" sz="2000" dirty="0" err="1">
                <a:solidFill>
                  <a:srgbClr val="0065B3"/>
                </a:solidFill>
                <a:latin typeface="Cambria" panose="02040503050406030204" pitchFamily="18" charset="0"/>
                <a:ea typeface="Cambria" panose="02040503050406030204" pitchFamily="18" charset="0"/>
                <a:hlinkClick r:id="rId5"/>
              </a:rPr>
              <a:t>MapReduce</a:t>
            </a:r>
            <a:r>
              <a:rPr lang="en-US" sz="2000" dirty="0">
                <a:solidFill>
                  <a:srgbClr val="161616"/>
                </a:solidFill>
                <a:latin typeface="Cambria" panose="02040503050406030204" pitchFamily="18" charset="0"/>
                <a:ea typeface="Cambria" panose="02040503050406030204" pitchFamily="18" charset="0"/>
              </a:rPr>
              <a:t> that operate in parallel across the entire dataset. </a:t>
            </a:r>
            <a:endParaRPr lang="en-US" sz="2000" dirty="0" smtClean="0">
              <a:solidFill>
                <a:srgbClr val="161616"/>
              </a:solidFill>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pPr>
            <a:r>
              <a:rPr lang="en-US" sz="2000" dirty="0" smtClean="0">
                <a:solidFill>
                  <a:srgbClr val="161616"/>
                </a:solidFill>
                <a:latin typeface="Cambria" panose="02040503050406030204" pitchFamily="18" charset="0"/>
                <a:ea typeface="Cambria" panose="02040503050406030204" pitchFamily="18" charset="0"/>
              </a:rPr>
              <a:t>The </a:t>
            </a:r>
            <a:r>
              <a:rPr lang="en-US" sz="2000" dirty="0">
                <a:solidFill>
                  <a:srgbClr val="161616"/>
                </a:solidFill>
                <a:latin typeface="Cambria" panose="02040503050406030204" pitchFamily="18" charset="0"/>
                <a:ea typeface="Cambria" panose="02040503050406030204" pitchFamily="18" charset="0"/>
              </a:rPr>
              <a:t>query results are stored separately from the raw data and used for further querying</a:t>
            </a:r>
            <a:r>
              <a:rPr lang="en-US" sz="2000" dirty="0" smtClean="0">
                <a:solidFill>
                  <a:srgbClr val="161616"/>
                </a:solidFill>
                <a:latin typeface="Cambria" panose="02040503050406030204" pitchFamily="18" charset="0"/>
                <a:ea typeface="Cambria" panose="02040503050406030204" pitchFamily="18" charset="0"/>
              </a:rPr>
              <a:t>.</a:t>
            </a:r>
          </a:p>
          <a:p>
            <a:pPr marL="285750" indent="-285750" algn="just">
              <a:buFont typeface="Arial" panose="020B0604020202020204" pitchFamily="34" charset="0"/>
              <a:buChar char="•"/>
            </a:pPr>
            <a:r>
              <a:rPr lang="en-US" sz="2000" dirty="0">
                <a:latin typeface="Cambria" panose="02040503050406030204" pitchFamily="18" charset="0"/>
                <a:ea typeface="Cambria" panose="02040503050406030204" pitchFamily="18" charset="0"/>
              </a:rPr>
              <a:t>The </a:t>
            </a:r>
            <a:r>
              <a:rPr lang="en-US" sz="2000" b="1" dirty="0">
                <a:latin typeface="Cambria" panose="02040503050406030204" pitchFamily="18" charset="0"/>
                <a:ea typeface="Cambria" panose="02040503050406030204" pitchFamily="18" charset="0"/>
              </a:rPr>
              <a:t>Lambda architecture </a:t>
            </a:r>
            <a:r>
              <a:rPr lang="en-US" sz="2000" dirty="0">
                <a:latin typeface="Cambria" panose="02040503050406030204" pitchFamily="18" charset="0"/>
                <a:ea typeface="Cambria" panose="02040503050406030204" pitchFamily="18" charset="0"/>
              </a:rPr>
              <a:t>addresses this problem by creating two paths for data flow. All data that comes into the system goes through the following two paths</a:t>
            </a:r>
            <a:r>
              <a:rPr lang="en-US" sz="2000" dirty="0" smtClean="0">
                <a:latin typeface="Cambria" panose="02040503050406030204" pitchFamily="18" charset="0"/>
                <a:ea typeface="Cambria" panose="02040503050406030204" pitchFamily="18" charset="0"/>
              </a:rPr>
              <a:t>:</a:t>
            </a:r>
            <a:endParaRPr lang="en-US" sz="2000" dirty="0">
              <a:latin typeface="Cambria" panose="02040503050406030204" pitchFamily="18" charset="0"/>
              <a:ea typeface="Cambria" panose="02040503050406030204" pitchFamily="18" charset="0"/>
            </a:endParaRPr>
          </a:p>
          <a:p>
            <a:pPr marL="742950" lvl="1" indent="-285750" algn="just">
              <a:buFont typeface="Arial" panose="020B0604020202020204" pitchFamily="34" charset="0"/>
              <a:buChar char="•"/>
            </a:pPr>
            <a:r>
              <a:rPr lang="en-US" sz="2000" dirty="0">
                <a:latin typeface="Cambria" panose="02040503050406030204" pitchFamily="18" charset="0"/>
                <a:ea typeface="Cambria" panose="02040503050406030204" pitchFamily="18" charset="0"/>
              </a:rPr>
              <a:t>A </a:t>
            </a:r>
            <a:r>
              <a:rPr lang="en-US" sz="2000" b="1" dirty="0">
                <a:latin typeface="Cambria" panose="02040503050406030204" pitchFamily="18" charset="0"/>
                <a:ea typeface="Cambria" panose="02040503050406030204" pitchFamily="18" charset="0"/>
              </a:rPr>
              <a:t>batch layer </a:t>
            </a:r>
            <a:r>
              <a:rPr lang="en-US" sz="2000" dirty="0">
                <a:latin typeface="Cambria" panose="02040503050406030204" pitchFamily="18" charset="0"/>
                <a:ea typeface="Cambria" panose="02040503050406030204" pitchFamily="18" charset="0"/>
              </a:rPr>
              <a:t>(cold path) stores all the incoming data in its raw form and performs batch processing on the data. The result of this processing is stored as a batch view</a:t>
            </a:r>
            <a:r>
              <a:rPr lang="en-US" sz="2000" dirty="0" smtClean="0">
                <a:latin typeface="Cambria" panose="02040503050406030204" pitchFamily="18" charset="0"/>
                <a:ea typeface="Cambria" panose="02040503050406030204" pitchFamily="18" charset="0"/>
              </a:rPr>
              <a:t>.</a:t>
            </a:r>
            <a:endParaRPr lang="en-US" sz="2000" dirty="0">
              <a:latin typeface="Cambria" panose="02040503050406030204" pitchFamily="18" charset="0"/>
              <a:ea typeface="Cambria" panose="02040503050406030204" pitchFamily="18" charset="0"/>
            </a:endParaRPr>
          </a:p>
          <a:p>
            <a:pPr marL="742950" lvl="1" indent="-285750" algn="just">
              <a:buFont typeface="Arial" panose="020B0604020202020204" pitchFamily="34" charset="0"/>
              <a:buChar char="•"/>
            </a:pPr>
            <a:r>
              <a:rPr lang="en-US" sz="2000" dirty="0">
                <a:latin typeface="Cambria" panose="02040503050406030204" pitchFamily="18" charset="0"/>
                <a:ea typeface="Cambria" panose="02040503050406030204" pitchFamily="18" charset="0"/>
              </a:rPr>
              <a:t>A </a:t>
            </a:r>
            <a:r>
              <a:rPr lang="en-US" sz="2000" b="1" dirty="0">
                <a:latin typeface="Cambria" panose="02040503050406030204" pitchFamily="18" charset="0"/>
                <a:ea typeface="Cambria" panose="02040503050406030204" pitchFamily="18" charset="0"/>
              </a:rPr>
              <a:t>speed layer </a:t>
            </a:r>
            <a:r>
              <a:rPr lang="en-US" sz="2000" dirty="0">
                <a:latin typeface="Cambria" panose="02040503050406030204" pitchFamily="18" charset="0"/>
                <a:ea typeface="Cambria" panose="02040503050406030204" pitchFamily="18" charset="0"/>
              </a:rPr>
              <a:t>(hot path) analyzes data in real time. This layer is designed for low latency, at the expense of accuracy</a:t>
            </a:r>
            <a:r>
              <a:rPr lang="en-US" sz="2000" dirty="0" smtClean="0">
                <a:latin typeface="Cambria" panose="02040503050406030204" pitchFamily="18" charset="0"/>
                <a:ea typeface="Cambria" panose="02040503050406030204" pitchFamily="18" charset="0"/>
              </a:rPr>
              <a:t>.</a:t>
            </a:r>
            <a:endParaRPr lang="en-US" sz="2000" dirty="0">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pPr>
            <a:r>
              <a:rPr lang="en-US" sz="2000" dirty="0">
                <a:latin typeface="Cambria" panose="02040503050406030204" pitchFamily="18" charset="0"/>
                <a:ea typeface="Cambria" panose="02040503050406030204" pitchFamily="18" charset="0"/>
              </a:rPr>
              <a:t>The batch layer feeds into a </a:t>
            </a:r>
            <a:r>
              <a:rPr lang="en-US" sz="2000" b="1" dirty="0">
                <a:latin typeface="Cambria" panose="02040503050406030204" pitchFamily="18" charset="0"/>
                <a:ea typeface="Cambria" panose="02040503050406030204" pitchFamily="18" charset="0"/>
              </a:rPr>
              <a:t>serving layer </a:t>
            </a:r>
            <a:r>
              <a:rPr lang="en-US" sz="2000" dirty="0">
                <a:latin typeface="Cambria" panose="02040503050406030204" pitchFamily="18" charset="0"/>
                <a:ea typeface="Cambria" panose="02040503050406030204" pitchFamily="18" charset="0"/>
              </a:rPr>
              <a:t>that indexes the batch view for efficient querying. The speed layer updates the serving layer with incremental updates based on the most recent data.</a:t>
            </a:r>
          </a:p>
          <a:p>
            <a:pPr marL="285750" indent="-285750" algn="just">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892088728"/>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sp>
      <p:sp>
        <p:nvSpPr>
          <p:cNvPr id="12" name="Shape 10"/>
          <p:cNvSpPr/>
          <p:nvPr/>
        </p:nvSpPr>
        <p:spPr>
          <a:xfrm>
            <a:off x="1066800" y="8864600"/>
            <a:ext cx="152400" cy="152400"/>
          </a:xfrm>
          <a:prstGeom prst="diamond">
            <a:avLst/>
          </a:prstGeom>
          <a:solidFill>
            <a:srgbClr val="00ACC1"/>
          </a:solidFill>
          <a:ln/>
        </p:spPr>
      </p:sp>
      <p:sp>
        <p:nvSpPr>
          <p:cNvPr id="15" name="Text 13"/>
          <p:cNvSpPr/>
          <p:nvPr/>
        </p:nvSpPr>
        <p:spPr>
          <a:xfrm>
            <a:off x="15621000" y="0"/>
            <a:ext cx="635000" cy="635000"/>
          </a:xfrm>
          <a:prstGeom prst="rect">
            <a:avLst/>
          </a:prstGeom>
          <a:noFill/>
          <a:ln/>
        </p:spPr>
        <p:txBody>
          <a:bodyPr wrap="none" lIns="0" tIns="0" rIns="0" bIns="0" rtlCol="0" anchor="ctr"/>
          <a:lstStyle/>
          <a:p>
            <a:pPr algn="r">
              <a:lnSpc>
                <a:spcPct val="120000"/>
              </a:lnSpc>
            </a:pPr>
            <a:r>
              <a:rPr lang="en-US" sz="1400" dirty="0">
                <a:solidFill>
                  <a:srgbClr val="005C82"/>
                </a:solidFill>
                <a:latin typeface="Quattrocento Sans" pitchFamily="34" charset="0"/>
                <a:ea typeface="Quattrocento Sans" pitchFamily="34" charset="-122"/>
                <a:cs typeface="Quattrocento Sans" pitchFamily="34" charset="-120"/>
              </a:rPr>
              <a:t>9</a:t>
            </a:r>
            <a:endParaRPr lang="en-US" sz="1400" dirty="0"/>
          </a:p>
        </p:txBody>
      </p:sp>
      <p:sp>
        <p:nvSpPr>
          <p:cNvPr id="5" name="Text 14"/>
          <p:cNvSpPr/>
          <p:nvPr/>
        </p:nvSpPr>
        <p:spPr>
          <a:xfrm>
            <a:off x="2540000" y="863600"/>
            <a:ext cx="13208000" cy="457200"/>
          </a:xfrm>
          <a:prstGeom prst="rect">
            <a:avLst/>
          </a:prstGeom>
          <a:noFill/>
          <a:ln/>
        </p:spPr>
        <p:txBody>
          <a:bodyPr wrap="none" lIns="0" tIns="0" rIns="0" bIns="0" rtlCol="0" anchor="t"/>
          <a:lstStyle/>
          <a:p>
            <a:pPr>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Kappa </a:t>
            </a:r>
            <a:r>
              <a:rPr lang="en-US" sz="2400" b="1" dirty="0" smtClean="0">
                <a:solidFill>
                  <a:srgbClr val="005C82"/>
                </a:solidFill>
                <a:latin typeface="Quattrocento Sans" pitchFamily="34" charset="0"/>
                <a:ea typeface="Quattrocento Sans" pitchFamily="34" charset="-122"/>
                <a:cs typeface="Quattrocento Sans" pitchFamily="34" charset="-120"/>
              </a:rPr>
              <a:t>Architectures</a:t>
            </a:r>
            <a:endParaRPr lang="en-US" sz="2400" dirty="0"/>
          </a:p>
        </p:txBody>
      </p:sp>
      <p:sp>
        <p:nvSpPr>
          <p:cNvPr id="6" name="Shape 15"/>
          <p:cNvSpPr/>
          <p:nvPr/>
        </p:nvSpPr>
        <p:spPr>
          <a:xfrm>
            <a:off x="2540000" y="1397000"/>
            <a:ext cx="13208000" cy="12700"/>
          </a:xfrm>
          <a:prstGeom prst="rect">
            <a:avLst/>
          </a:prstGeom>
          <a:solidFill>
            <a:srgbClr val="B0BEC5"/>
          </a:solidFill>
          <a:ln/>
        </p:spPr>
      </p:sp>
      <p:sp>
        <p:nvSpPr>
          <p:cNvPr id="23" name="Rounded Rectangle 22"/>
          <p:cNvSpPr/>
          <p:nvPr/>
        </p:nvSpPr>
        <p:spPr>
          <a:xfrm>
            <a:off x="35814" y="4485452"/>
            <a:ext cx="2214372" cy="836035"/>
          </a:xfrm>
          <a:prstGeom prst="roundRect">
            <a:avLst/>
          </a:prstGeom>
          <a:solidFill>
            <a:srgbClr val="FF000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p:cNvSpPr/>
          <p:nvPr/>
        </p:nvSpPr>
        <p:spPr>
          <a:xfrm>
            <a:off x="8681357" y="1558881"/>
            <a:ext cx="7257143" cy="6247864"/>
          </a:xfrm>
          <a:prstGeom prst="rect">
            <a:avLst/>
          </a:prstGeom>
        </p:spPr>
        <p:txBody>
          <a:bodyPr wrap="square">
            <a:spAutoFit/>
          </a:bodyPr>
          <a:lstStyle/>
          <a:p>
            <a:pPr marL="285750" indent="-285750" algn="just">
              <a:buFont typeface="Arial" panose="020B0604020202020204" pitchFamily="34" charset="0"/>
              <a:buChar char="•"/>
            </a:pPr>
            <a:r>
              <a:rPr lang="en-US" sz="2000" dirty="0">
                <a:solidFill>
                  <a:srgbClr val="161616"/>
                </a:solidFill>
                <a:latin typeface="Cambria" panose="02040503050406030204" pitchFamily="18" charset="0"/>
                <a:ea typeface="Cambria" panose="02040503050406030204" pitchFamily="18" charset="0"/>
              </a:rPr>
              <a:t>A drawback to the Lambda architecture is its complexity. </a:t>
            </a:r>
            <a:endParaRPr lang="en-US" sz="2000" dirty="0" smtClean="0">
              <a:solidFill>
                <a:srgbClr val="161616"/>
              </a:solidFill>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pPr>
            <a:r>
              <a:rPr lang="en-US" sz="2000" dirty="0" smtClean="0">
                <a:solidFill>
                  <a:srgbClr val="161616"/>
                </a:solidFill>
                <a:latin typeface="Cambria" panose="02040503050406030204" pitchFamily="18" charset="0"/>
                <a:ea typeface="Cambria" panose="02040503050406030204" pitchFamily="18" charset="0"/>
              </a:rPr>
              <a:t>Processing </a:t>
            </a:r>
            <a:r>
              <a:rPr lang="en-US" sz="2000" dirty="0">
                <a:solidFill>
                  <a:srgbClr val="161616"/>
                </a:solidFill>
                <a:latin typeface="Cambria" panose="02040503050406030204" pitchFamily="18" charset="0"/>
                <a:ea typeface="Cambria" panose="02040503050406030204" pitchFamily="18" charset="0"/>
              </a:rPr>
              <a:t>logic appears in two different places, the cold and hot paths, via different frameworks. </a:t>
            </a:r>
            <a:endParaRPr lang="en-US" sz="2000" dirty="0" smtClean="0">
              <a:solidFill>
                <a:srgbClr val="161616"/>
              </a:solidFill>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pPr>
            <a:r>
              <a:rPr lang="en-US" sz="2000" dirty="0" smtClean="0">
                <a:solidFill>
                  <a:srgbClr val="161616"/>
                </a:solidFill>
                <a:latin typeface="Cambria" panose="02040503050406030204" pitchFamily="18" charset="0"/>
                <a:ea typeface="Cambria" panose="02040503050406030204" pitchFamily="18" charset="0"/>
              </a:rPr>
              <a:t>This </a:t>
            </a:r>
            <a:r>
              <a:rPr lang="en-US" sz="2000" dirty="0">
                <a:solidFill>
                  <a:srgbClr val="161616"/>
                </a:solidFill>
                <a:latin typeface="Cambria" panose="02040503050406030204" pitchFamily="18" charset="0"/>
                <a:ea typeface="Cambria" panose="02040503050406030204" pitchFamily="18" charset="0"/>
              </a:rPr>
              <a:t>process leads to duplicate computation logic and complex management of the architecture for both paths</a:t>
            </a:r>
            <a:r>
              <a:rPr lang="en-US" sz="2000" dirty="0" smtClean="0">
                <a:solidFill>
                  <a:srgbClr val="161616"/>
                </a:solidFill>
                <a:latin typeface="Cambria" panose="02040503050406030204" pitchFamily="18" charset="0"/>
                <a:ea typeface="Cambria" panose="02040503050406030204" pitchFamily="18" charset="0"/>
              </a:rPr>
              <a:t>.</a:t>
            </a:r>
            <a:endParaRPr lang="en-US" sz="2000" dirty="0">
              <a:solidFill>
                <a:srgbClr val="161616"/>
              </a:solidFill>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pPr>
            <a:r>
              <a:rPr lang="en-US" sz="2000" dirty="0">
                <a:solidFill>
                  <a:srgbClr val="161616"/>
                </a:solidFill>
                <a:latin typeface="Cambria" panose="02040503050406030204" pitchFamily="18" charset="0"/>
                <a:ea typeface="Cambria" panose="02040503050406030204" pitchFamily="18" charset="0"/>
              </a:rPr>
              <a:t>The </a:t>
            </a:r>
            <a:r>
              <a:rPr lang="en-US" sz="2000" b="1" dirty="0">
                <a:solidFill>
                  <a:srgbClr val="161616"/>
                </a:solidFill>
                <a:latin typeface="Cambria" panose="02040503050406030204" pitchFamily="18" charset="0"/>
                <a:ea typeface="Cambria" panose="02040503050406030204" pitchFamily="18" charset="0"/>
              </a:rPr>
              <a:t>Kappa architecture </a:t>
            </a:r>
            <a:r>
              <a:rPr lang="en-US" sz="2000" dirty="0">
                <a:solidFill>
                  <a:srgbClr val="161616"/>
                </a:solidFill>
                <a:latin typeface="Cambria" panose="02040503050406030204" pitchFamily="18" charset="0"/>
                <a:ea typeface="Cambria" panose="02040503050406030204" pitchFamily="18" charset="0"/>
              </a:rPr>
              <a:t>is an alternative to the Lambda architecture. </a:t>
            </a:r>
            <a:endParaRPr lang="en-US" sz="2000" dirty="0" smtClean="0">
              <a:solidFill>
                <a:srgbClr val="161616"/>
              </a:solidFill>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pPr>
            <a:r>
              <a:rPr lang="en-US" sz="2000" dirty="0" smtClean="0">
                <a:solidFill>
                  <a:srgbClr val="161616"/>
                </a:solidFill>
                <a:latin typeface="Cambria" panose="02040503050406030204" pitchFamily="18" charset="0"/>
                <a:ea typeface="Cambria" panose="02040503050406030204" pitchFamily="18" charset="0"/>
              </a:rPr>
              <a:t>It </a:t>
            </a:r>
            <a:r>
              <a:rPr lang="en-US" sz="2000" dirty="0">
                <a:solidFill>
                  <a:srgbClr val="161616"/>
                </a:solidFill>
                <a:latin typeface="Cambria" panose="02040503050406030204" pitchFamily="18" charset="0"/>
                <a:ea typeface="Cambria" panose="02040503050406030204" pitchFamily="18" charset="0"/>
              </a:rPr>
              <a:t>has the same basic goals as the Lambda architecture, but all data flows through a single path via a stream processing system.</a:t>
            </a:r>
          </a:p>
          <a:p>
            <a:pPr marL="285750" indent="-285750" algn="just">
              <a:buFont typeface="Arial" panose="020B0604020202020204" pitchFamily="34" charset="0"/>
              <a:buChar char="•"/>
            </a:pPr>
            <a:r>
              <a:rPr lang="en-US" sz="2000" dirty="0">
                <a:solidFill>
                  <a:srgbClr val="161616"/>
                </a:solidFill>
                <a:latin typeface="Cambria" panose="02040503050406030204" pitchFamily="18" charset="0"/>
                <a:ea typeface="Cambria" panose="02040503050406030204" pitchFamily="18" charset="0"/>
              </a:rPr>
              <a:t>Similar to the Lambda architecture's batch layer, the event data is immutable and all of it is collected, instead of a subset of data. </a:t>
            </a:r>
            <a:endParaRPr lang="en-US" sz="2000" dirty="0" smtClean="0">
              <a:solidFill>
                <a:srgbClr val="161616"/>
              </a:solidFill>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pPr>
            <a:r>
              <a:rPr lang="en-US" sz="2000" dirty="0" smtClean="0">
                <a:solidFill>
                  <a:srgbClr val="161616"/>
                </a:solidFill>
                <a:latin typeface="Cambria" panose="02040503050406030204" pitchFamily="18" charset="0"/>
                <a:ea typeface="Cambria" panose="02040503050406030204" pitchFamily="18" charset="0"/>
              </a:rPr>
              <a:t>The </a:t>
            </a:r>
            <a:r>
              <a:rPr lang="en-US" sz="2000" dirty="0">
                <a:solidFill>
                  <a:srgbClr val="161616"/>
                </a:solidFill>
                <a:latin typeface="Cambria" panose="02040503050406030204" pitchFamily="18" charset="0"/>
                <a:ea typeface="Cambria" panose="02040503050406030204" pitchFamily="18" charset="0"/>
              </a:rPr>
              <a:t>data is ingested as a stream of events into a distributed, fault-tolerant unified log. </a:t>
            </a:r>
            <a:endParaRPr lang="en-US" sz="2000" dirty="0" smtClean="0">
              <a:solidFill>
                <a:srgbClr val="161616"/>
              </a:solidFill>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pPr>
            <a:r>
              <a:rPr lang="en-US" sz="2000" dirty="0" smtClean="0">
                <a:solidFill>
                  <a:srgbClr val="161616"/>
                </a:solidFill>
                <a:latin typeface="Cambria" panose="02040503050406030204" pitchFamily="18" charset="0"/>
                <a:ea typeface="Cambria" panose="02040503050406030204" pitchFamily="18" charset="0"/>
              </a:rPr>
              <a:t>These </a:t>
            </a:r>
            <a:r>
              <a:rPr lang="en-US" sz="2000" dirty="0">
                <a:solidFill>
                  <a:srgbClr val="161616"/>
                </a:solidFill>
                <a:latin typeface="Cambria" panose="02040503050406030204" pitchFamily="18" charset="0"/>
                <a:ea typeface="Cambria" panose="02040503050406030204" pitchFamily="18" charset="0"/>
              </a:rPr>
              <a:t>events are ordered, and the current state of an event is changed only by a new event being appended. </a:t>
            </a:r>
            <a:endParaRPr lang="en-US" sz="2000" dirty="0" smtClean="0">
              <a:solidFill>
                <a:srgbClr val="161616"/>
              </a:solidFill>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pPr>
            <a:r>
              <a:rPr lang="en-US" sz="2000" dirty="0" smtClean="0">
                <a:solidFill>
                  <a:srgbClr val="161616"/>
                </a:solidFill>
                <a:latin typeface="Cambria" panose="02040503050406030204" pitchFamily="18" charset="0"/>
                <a:ea typeface="Cambria" panose="02040503050406030204" pitchFamily="18" charset="0"/>
              </a:rPr>
              <a:t>Similar </a:t>
            </a:r>
            <a:r>
              <a:rPr lang="en-US" sz="2000" dirty="0">
                <a:solidFill>
                  <a:srgbClr val="161616"/>
                </a:solidFill>
                <a:latin typeface="Cambria" panose="02040503050406030204" pitchFamily="18" charset="0"/>
                <a:ea typeface="Cambria" panose="02040503050406030204" pitchFamily="18" charset="0"/>
              </a:rPr>
              <a:t>to the Lambda architecture's speed layer, all event processing is performed on the input stream and persisted as a real-time view.</a:t>
            </a:r>
          </a:p>
        </p:txBody>
      </p:sp>
      <p:pic>
        <p:nvPicPr>
          <p:cNvPr id="7" name="Picture 6"/>
          <p:cNvPicPr>
            <a:picLocks noChangeAspect="1"/>
          </p:cNvPicPr>
          <p:nvPr/>
        </p:nvPicPr>
        <p:blipFill rotWithShape="1">
          <a:blip r:embed="rId3">
            <a:extLst>
              <a:ext uri="{BEBA8EAE-BF5A-486C-A8C5-ECC9F3942E4B}">
                <a14:imgProps xmlns:a14="http://schemas.microsoft.com/office/drawing/2010/main">
                  <a14:imgLayer r:embed="rId4">
                    <a14:imgEffect>
                      <a14:sharpenSoften amount="25000"/>
                    </a14:imgEffect>
                  </a14:imgLayer>
                </a14:imgProps>
              </a:ext>
            </a:extLst>
          </a:blip>
          <a:srcRect l="11631" b="23818"/>
          <a:stretch/>
        </p:blipFill>
        <p:spPr>
          <a:xfrm>
            <a:off x="2540001" y="1826406"/>
            <a:ext cx="5725226" cy="6474446"/>
          </a:xfrm>
          <a:prstGeom prst="rect">
            <a:avLst/>
          </a:prstGeom>
        </p:spPr>
      </p:pic>
    </p:spTree>
    <p:extLst>
      <p:ext uri="{BB962C8B-B14F-4D97-AF65-F5344CB8AC3E}">
        <p14:creationId xmlns:p14="http://schemas.microsoft.com/office/powerpoint/2010/main" val="1694262815"/>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sp>
      <p:sp>
        <p:nvSpPr>
          <p:cNvPr id="12" name="Shape 10"/>
          <p:cNvSpPr/>
          <p:nvPr/>
        </p:nvSpPr>
        <p:spPr>
          <a:xfrm>
            <a:off x="1066800" y="8864600"/>
            <a:ext cx="152400" cy="152400"/>
          </a:xfrm>
          <a:prstGeom prst="diamond">
            <a:avLst/>
          </a:prstGeom>
          <a:solidFill>
            <a:srgbClr val="00ACC1"/>
          </a:solidFill>
          <a:ln/>
        </p:spPr>
      </p:sp>
      <p:sp>
        <p:nvSpPr>
          <p:cNvPr id="15" name="Text 13"/>
          <p:cNvSpPr/>
          <p:nvPr/>
        </p:nvSpPr>
        <p:spPr>
          <a:xfrm>
            <a:off x="15621000" y="0"/>
            <a:ext cx="635000" cy="635000"/>
          </a:xfrm>
          <a:prstGeom prst="rect">
            <a:avLst/>
          </a:prstGeom>
          <a:noFill/>
          <a:ln/>
        </p:spPr>
        <p:txBody>
          <a:bodyPr wrap="none" lIns="0" tIns="0" rIns="0" bIns="0" rtlCol="0" anchor="ctr"/>
          <a:lstStyle/>
          <a:p>
            <a:pPr algn="r">
              <a:lnSpc>
                <a:spcPct val="120000"/>
              </a:lnSpc>
            </a:pPr>
            <a:r>
              <a:rPr lang="en-US" sz="1400" dirty="0">
                <a:solidFill>
                  <a:srgbClr val="005C82"/>
                </a:solidFill>
                <a:latin typeface="Quattrocento Sans" pitchFamily="34" charset="0"/>
                <a:ea typeface="Quattrocento Sans" pitchFamily="34" charset="-122"/>
                <a:cs typeface="Quattrocento Sans" pitchFamily="34" charset="-120"/>
              </a:rPr>
              <a:t>9</a:t>
            </a:r>
            <a:endParaRPr lang="en-US" sz="1400" dirty="0"/>
          </a:p>
        </p:txBody>
      </p:sp>
      <p:sp>
        <p:nvSpPr>
          <p:cNvPr id="5" name="Text 14"/>
          <p:cNvSpPr/>
          <p:nvPr/>
        </p:nvSpPr>
        <p:spPr>
          <a:xfrm>
            <a:off x="2540000" y="863600"/>
            <a:ext cx="13208000" cy="457200"/>
          </a:xfrm>
          <a:prstGeom prst="rect">
            <a:avLst/>
          </a:prstGeom>
          <a:noFill/>
          <a:ln/>
        </p:spPr>
        <p:txBody>
          <a:bodyPr wrap="none" lIns="0" tIns="0" rIns="0" bIns="0" rtlCol="0" anchor="t"/>
          <a:lstStyle/>
          <a:p>
            <a:pPr>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Data Lake Architectures</a:t>
            </a:r>
            <a:endParaRPr lang="en-US" sz="2400" dirty="0"/>
          </a:p>
        </p:txBody>
      </p:sp>
      <p:sp>
        <p:nvSpPr>
          <p:cNvPr id="6" name="Shape 15"/>
          <p:cNvSpPr/>
          <p:nvPr/>
        </p:nvSpPr>
        <p:spPr>
          <a:xfrm>
            <a:off x="2540000" y="1397000"/>
            <a:ext cx="13208000" cy="12700"/>
          </a:xfrm>
          <a:prstGeom prst="rect">
            <a:avLst/>
          </a:prstGeom>
          <a:solidFill>
            <a:srgbClr val="B0BEC5"/>
          </a:solidFill>
          <a:ln/>
        </p:spPr>
      </p:sp>
      <p:sp>
        <p:nvSpPr>
          <p:cNvPr id="23" name="Rounded Rectangle 22"/>
          <p:cNvSpPr/>
          <p:nvPr/>
        </p:nvSpPr>
        <p:spPr>
          <a:xfrm>
            <a:off x="35814" y="4485452"/>
            <a:ext cx="2214372" cy="836035"/>
          </a:xfrm>
          <a:prstGeom prst="roundRect">
            <a:avLst/>
          </a:prstGeom>
          <a:solidFill>
            <a:srgbClr val="FF000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p:cNvSpPr/>
          <p:nvPr/>
        </p:nvSpPr>
        <p:spPr>
          <a:xfrm>
            <a:off x="2956957" y="1826406"/>
            <a:ext cx="12469090" cy="424731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sz="2000" dirty="0">
                <a:solidFill>
                  <a:srgbClr val="161616"/>
                </a:solidFill>
                <a:latin typeface="Cambria" panose="02040503050406030204" pitchFamily="18" charset="0"/>
                <a:ea typeface="Cambria" panose="02040503050406030204" pitchFamily="18" charset="0"/>
              </a:rPr>
              <a:t>A data lake is a centralized data repository that stores structured data (database tables), semi-structured data (XML files), and unstructured data (images and audio files). </a:t>
            </a:r>
            <a:endParaRPr lang="en-US" sz="2000" dirty="0" smtClean="0">
              <a:solidFill>
                <a:srgbClr val="161616"/>
              </a:solidFill>
              <a:latin typeface="Cambria" panose="02040503050406030204" pitchFamily="18" charset="0"/>
              <a:ea typeface="Cambria" panose="02040503050406030204" pitchFamily="18" charset="0"/>
            </a:endParaRPr>
          </a:p>
          <a:p>
            <a:pPr marL="285750" indent="-285750" algn="just">
              <a:lnSpc>
                <a:spcPct val="150000"/>
              </a:lnSpc>
              <a:buFont typeface="Arial" panose="020B0604020202020204" pitchFamily="34" charset="0"/>
              <a:buChar char="•"/>
            </a:pPr>
            <a:r>
              <a:rPr lang="en-US" sz="2000" dirty="0" smtClean="0">
                <a:solidFill>
                  <a:srgbClr val="161616"/>
                </a:solidFill>
                <a:latin typeface="Cambria" panose="02040503050406030204" pitchFamily="18" charset="0"/>
                <a:ea typeface="Cambria" panose="02040503050406030204" pitchFamily="18" charset="0"/>
              </a:rPr>
              <a:t>This </a:t>
            </a:r>
            <a:r>
              <a:rPr lang="en-US" sz="2000" dirty="0">
                <a:solidFill>
                  <a:srgbClr val="161616"/>
                </a:solidFill>
                <a:latin typeface="Cambria" panose="02040503050406030204" pitchFamily="18" charset="0"/>
                <a:ea typeface="Cambria" panose="02040503050406030204" pitchFamily="18" charset="0"/>
              </a:rPr>
              <a:t>data is in its raw, original format and doesn't require predefined schema. </a:t>
            </a:r>
            <a:endParaRPr lang="en-US" sz="2000" dirty="0" smtClean="0">
              <a:solidFill>
                <a:srgbClr val="161616"/>
              </a:solidFill>
              <a:latin typeface="Cambria" panose="02040503050406030204" pitchFamily="18" charset="0"/>
              <a:ea typeface="Cambria" panose="02040503050406030204" pitchFamily="18" charset="0"/>
            </a:endParaRPr>
          </a:p>
          <a:p>
            <a:pPr marL="285750" indent="-285750" algn="just">
              <a:lnSpc>
                <a:spcPct val="150000"/>
              </a:lnSpc>
              <a:buFont typeface="Arial" panose="020B0604020202020204" pitchFamily="34" charset="0"/>
              <a:buChar char="•"/>
            </a:pPr>
            <a:r>
              <a:rPr lang="en-US" sz="2000" dirty="0" smtClean="0">
                <a:solidFill>
                  <a:srgbClr val="161616"/>
                </a:solidFill>
                <a:latin typeface="Cambria" panose="02040503050406030204" pitchFamily="18" charset="0"/>
                <a:ea typeface="Cambria" panose="02040503050406030204" pitchFamily="18" charset="0"/>
              </a:rPr>
              <a:t>A </a:t>
            </a:r>
            <a:r>
              <a:rPr lang="en-US" sz="2000" dirty="0">
                <a:solidFill>
                  <a:srgbClr val="161616"/>
                </a:solidFill>
                <a:latin typeface="Cambria" panose="02040503050406030204" pitchFamily="18" charset="0"/>
                <a:ea typeface="Cambria" panose="02040503050406030204" pitchFamily="18" charset="0"/>
              </a:rPr>
              <a:t>data lake can handle large volumes of data, so it's suitable for big data processing and analytics. </a:t>
            </a:r>
            <a:endParaRPr lang="en-US" sz="2000" dirty="0" smtClean="0">
              <a:solidFill>
                <a:srgbClr val="161616"/>
              </a:solidFill>
              <a:latin typeface="Cambria" panose="02040503050406030204" pitchFamily="18" charset="0"/>
              <a:ea typeface="Cambria" panose="02040503050406030204" pitchFamily="18" charset="0"/>
            </a:endParaRPr>
          </a:p>
          <a:p>
            <a:pPr marL="285750" indent="-285750" algn="just">
              <a:lnSpc>
                <a:spcPct val="150000"/>
              </a:lnSpc>
              <a:buFont typeface="Arial" panose="020B0604020202020204" pitchFamily="34" charset="0"/>
              <a:buChar char="•"/>
            </a:pPr>
            <a:r>
              <a:rPr lang="en-US" sz="2000" dirty="0" smtClean="0">
                <a:solidFill>
                  <a:srgbClr val="161616"/>
                </a:solidFill>
                <a:latin typeface="Cambria" panose="02040503050406030204" pitchFamily="18" charset="0"/>
                <a:ea typeface="Cambria" panose="02040503050406030204" pitchFamily="18" charset="0"/>
              </a:rPr>
              <a:t>Data </a:t>
            </a:r>
            <a:r>
              <a:rPr lang="en-US" sz="2000" dirty="0">
                <a:solidFill>
                  <a:srgbClr val="161616"/>
                </a:solidFill>
                <a:latin typeface="Cambria" panose="02040503050406030204" pitchFamily="18" charset="0"/>
                <a:ea typeface="Cambria" panose="02040503050406030204" pitchFamily="18" charset="0"/>
              </a:rPr>
              <a:t>lakes use low-cost storage solutions, which provide a cost-effective way to store large amounts of data</a:t>
            </a:r>
            <a:r>
              <a:rPr lang="en-US" sz="2000" dirty="0" smtClean="0">
                <a:solidFill>
                  <a:srgbClr val="161616"/>
                </a:solidFill>
                <a:latin typeface="Cambria" panose="02040503050406030204" pitchFamily="18" charset="0"/>
                <a:ea typeface="Cambria" panose="02040503050406030204" pitchFamily="18" charset="0"/>
              </a:rPr>
              <a:t>.</a:t>
            </a:r>
          </a:p>
          <a:p>
            <a:pPr marL="285750" indent="-285750" algn="just">
              <a:lnSpc>
                <a:spcPct val="150000"/>
              </a:lnSpc>
              <a:buFont typeface="Arial" panose="020B0604020202020204" pitchFamily="34" charset="0"/>
              <a:buChar char="•"/>
            </a:pPr>
            <a:r>
              <a:rPr lang="en-US" sz="2000" dirty="0">
                <a:solidFill>
                  <a:srgbClr val="161616"/>
                </a:solidFill>
                <a:latin typeface="Cambria" panose="02040503050406030204" pitchFamily="18" charset="0"/>
                <a:ea typeface="Cambria" panose="02040503050406030204" pitchFamily="18" charset="0"/>
              </a:rPr>
              <a:t>Common use cases for a </a:t>
            </a:r>
            <a:r>
              <a:rPr lang="en-US" sz="2000" dirty="0" smtClean="0">
                <a:solidFill>
                  <a:srgbClr val="161616"/>
                </a:solidFill>
                <a:latin typeface="Cambria" panose="02040503050406030204" pitchFamily="18" charset="0"/>
                <a:ea typeface="Cambria" panose="02040503050406030204" pitchFamily="18" charset="0"/>
              </a:rPr>
              <a:t>Data lake </a:t>
            </a:r>
            <a:r>
              <a:rPr lang="en-US" sz="2000" dirty="0">
                <a:solidFill>
                  <a:srgbClr val="161616"/>
                </a:solidFill>
                <a:latin typeface="Cambria" panose="02040503050406030204" pitchFamily="18" charset="0"/>
                <a:ea typeface="Cambria" panose="02040503050406030204" pitchFamily="18" charset="0"/>
              </a:rPr>
              <a:t>architecture include</a:t>
            </a:r>
            <a:r>
              <a:rPr lang="en-US" sz="2000" dirty="0" smtClean="0">
                <a:solidFill>
                  <a:srgbClr val="161616"/>
                </a:solidFill>
                <a:latin typeface="Cambria" panose="02040503050406030204" pitchFamily="18" charset="0"/>
                <a:ea typeface="Cambria" panose="02040503050406030204" pitchFamily="18" charset="0"/>
              </a:rPr>
              <a:t>:</a:t>
            </a:r>
            <a:endParaRPr lang="en-US" sz="2000" dirty="0">
              <a:solidFill>
                <a:srgbClr val="161616"/>
              </a:solidFill>
              <a:latin typeface="Cambria" panose="02040503050406030204" pitchFamily="18" charset="0"/>
              <a:ea typeface="Cambria" panose="02040503050406030204" pitchFamily="18" charset="0"/>
            </a:endParaRPr>
          </a:p>
          <a:p>
            <a:pPr marL="742950" lvl="1" indent="-285750" algn="just">
              <a:lnSpc>
                <a:spcPct val="150000"/>
              </a:lnSpc>
              <a:buFont typeface="Arial" panose="020B0604020202020204" pitchFamily="34" charset="0"/>
              <a:buChar char="•"/>
            </a:pPr>
            <a:r>
              <a:rPr lang="en-US" sz="2000" dirty="0">
                <a:solidFill>
                  <a:srgbClr val="161616"/>
                </a:solidFill>
                <a:latin typeface="Cambria" panose="02040503050406030204" pitchFamily="18" charset="0"/>
                <a:ea typeface="Cambria" panose="02040503050406030204" pitchFamily="18" charset="0"/>
              </a:rPr>
              <a:t>Unified analytics: Ideal for organizations that need a single platform for both historical and real-time data analysis</a:t>
            </a:r>
          </a:p>
          <a:p>
            <a:pPr marL="742950" lvl="1" indent="-285750" algn="just">
              <a:lnSpc>
                <a:spcPct val="150000"/>
              </a:lnSpc>
              <a:buFont typeface="Arial" panose="020B0604020202020204" pitchFamily="34" charset="0"/>
              <a:buChar char="•"/>
            </a:pPr>
            <a:r>
              <a:rPr lang="en-US" sz="2000" dirty="0">
                <a:solidFill>
                  <a:srgbClr val="161616"/>
                </a:solidFill>
                <a:latin typeface="Cambria" panose="02040503050406030204" pitchFamily="18" charset="0"/>
                <a:ea typeface="Cambria" panose="02040503050406030204" pitchFamily="18" charset="0"/>
              </a:rPr>
              <a:t>Data governance: Ensures compliance and data quality across large datasets</a:t>
            </a:r>
          </a:p>
        </p:txBody>
      </p:sp>
      <p:pic>
        <p:nvPicPr>
          <p:cNvPr id="2" name="Picture 1"/>
          <p:cNvPicPr>
            <a:picLocks noChangeAspect="1"/>
          </p:cNvPicPr>
          <p:nvPr/>
        </p:nvPicPr>
        <p:blipFill>
          <a:blip r:embed="rId3"/>
          <a:stretch>
            <a:fillRect/>
          </a:stretch>
        </p:blipFill>
        <p:spPr>
          <a:xfrm>
            <a:off x="4108863" y="6562044"/>
            <a:ext cx="10480365" cy="2028825"/>
          </a:xfrm>
          <a:prstGeom prst="rect">
            <a:avLst/>
          </a:prstGeom>
        </p:spPr>
      </p:pic>
    </p:spTree>
    <p:extLst>
      <p:ext uri="{BB962C8B-B14F-4D97-AF65-F5344CB8AC3E}">
        <p14:creationId xmlns:p14="http://schemas.microsoft.com/office/powerpoint/2010/main" val="2379329462"/>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sp>
      <p:sp>
        <p:nvSpPr>
          <p:cNvPr id="12" name="Shape 10"/>
          <p:cNvSpPr/>
          <p:nvPr/>
        </p:nvSpPr>
        <p:spPr>
          <a:xfrm>
            <a:off x="1066800" y="8864600"/>
            <a:ext cx="152400" cy="152400"/>
          </a:xfrm>
          <a:prstGeom prst="diamond">
            <a:avLst/>
          </a:prstGeom>
          <a:solidFill>
            <a:srgbClr val="00ACC1"/>
          </a:solidFill>
          <a:ln/>
        </p:spPr>
      </p:sp>
      <p:sp>
        <p:nvSpPr>
          <p:cNvPr id="15" name="Text 13"/>
          <p:cNvSpPr/>
          <p:nvPr/>
        </p:nvSpPr>
        <p:spPr>
          <a:xfrm>
            <a:off x="15621000" y="0"/>
            <a:ext cx="635000" cy="635000"/>
          </a:xfrm>
          <a:prstGeom prst="rect">
            <a:avLst/>
          </a:prstGeom>
          <a:noFill/>
          <a:ln/>
        </p:spPr>
        <p:txBody>
          <a:bodyPr wrap="none" lIns="0" tIns="0" rIns="0" bIns="0" rtlCol="0" anchor="ctr"/>
          <a:lstStyle/>
          <a:p>
            <a:pPr algn="r">
              <a:lnSpc>
                <a:spcPct val="120000"/>
              </a:lnSpc>
            </a:pPr>
            <a:r>
              <a:rPr lang="en-US" sz="1400" dirty="0">
                <a:solidFill>
                  <a:srgbClr val="005C82"/>
                </a:solidFill>
                <a:latin typeface="Quattrocento Sans" pitchFamily="34" charset="0"/>
                <a:ea typeface="Quattrocento Sans" pitchFamily="34" charset="-122"/>
                <a:cs typeface="Quattrocento Sans" pitchFamily="34" charset="-120"/>
              </a:rPr>
              <a:t>9</a:t>
            </a:r>
            <a:endParaRPr lang="en-US" sz="1400" dirty="0"/>
          </a:p>
        </p:txBody>
      </p:sp>
      <p:sp>
        <p:nvSpPr>
          <p:cNvPr id="5" name="Text 14"/>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Lambda, Kappa &amp; Data Lake Architectures</a:t>
            </a:r>
            <a:endParaRPr lang="en-US" sz="2400" dirty="0"/>
          </a:p>
        </p:txBody>
      </p:sp>
      <p:sp>
        <p:nvSpPr>
          <p:cNvPr id="6" name="Shape 15"/>
          <p:cNvSpPr/>
          <p:nvPr/>
        </p:nvSpPr>
        <p:spPr>
          <a:xfrm>
            <a:off x="2540000" y="1397000"/>
            <a:ext cx="13208000" cy="12700"/>
          </a:xfrm>
          <a:prstGeom prst="rect">
            <a:avLst/>
          </a:prstGeom>
          <a:solidFill>
            <a:srgbClr val="B0BEC5"/>
          </a:solidFill>
          <a:ln/>
        </p:spPr>
      </p:sp>
      <p:sp>
        <p:nvSpPr>
          <p:cNvPr id="7" name="Shape 16"/>
          <p:cNvSpPr/>
          <p:nvPr/>
        </p:nvSpPr>
        <p:spPr>
          <a:xfrm>
            <a:off x="2540000" y="1574800"/>
            <a:ext cx="4318000" cy="4013200"/>
          </a:xfrm>
          <a:prstGeom prst="roundRect">
            <a:avLst>
              <a:gd name="adj" fmla="val 4000"/>
            </a:avLst>
          </a:prstGeom>
          <a:solidFill>
            <a:srgbClr val="E0F4FA"/>
          </a:solidFill>
          <a:ln w="12700">
            <a:solidFill>
              <a:srgbClr val="B0BEC5"/>
            </a:solidFill>
            <a:prstDash val="solid"/>
          </a:ln>
        </p:spPr>
      </p:sp>
      <p:sp>
        <p:nvSpPr>
          <p:cNvPr id="8" name="Text 17"/>
          <p:cNvSpPr/>
          <p:nvPr/>
        </p:nvSpPr>
        <p:spPr>
          <a:xfrm>
            <a:off x="2743200" y="1727200"/>
            <a:ext cx="3911600" cy="355600"/>
          </a:xfrm>
          <a:prstGeom prst="rect">
            <a:avLst/>
          </a:prstGeom>
          <a:noFill/>
          <a:ln/>
        </p:spPr>
        <p:txBody>
          <a:bodyPr wrap="none" lIns="0" tIns="0" rIns="0" bIns="0" rtlCol="0" anchor="t"/>
          <a:lstStyle/>
          <a:p>
            <a:pPr algn="l">
              <a:lnSpc>
                <a:spcPct val="120000"/>
              </a:lnSpc>
            </a:pPr>
            <a:r>
              <a:rPr lang="en-US" sz="2400" b="1" dirty="0">
                <a:solidFill>
                  <a:srgbClr val="005C82"/>
                </a:solidFill>
                <a:ea typeface="Quattrocento Sans" pitchFamily="34" charset="-122"/>
                <a:cs typeface="Quattrocento Sans" pitchFamily="34" charset="-120"/>
              </a:rPr>
              <a:t>Lambda Architecture</a:t>
            </a:r>
            <a:endParaRPr lang="en-US" sz="2400" dirty="0"/>
          </a:p>
        </p:txBody>
      </p:sp>
      <p:sp>
        <p:nvSpPr>
          <p:cNvPr id="9" name="Shape 18"/>
          <p:cNvSpPr/>
          <p:nvPr/>
        </p:nvSpPr>
        <p:spPr>
          <a:xfrm>
            <a:off x="2743200" y="2133600"/>
            <a:ext cx="1524000" cy="25400"/>
          </a:xfrm>
          <a:prstGeom prst="rect">
            <a:avLst/>
          </a:prstGeom>
          <a:solidFill>
            <a:srgbClr val="00ACC1"/>
          </a:solidFill>
          <a:ln/>
        </p:spPr>
      </p:sp>
      <p:sp>
        <p:nvSpPr>
          <p:cNvPr id="10" name="Text 19"/>
          <p:cNvSpPr/>
          <p:nvPr/>
        </p:nvSpPr>
        <p:spPr>
          <a:xfrm>
            <a:off x="2743200" y="2260600"/>
            <a:ext cx="3911600" cy="2971800"/>
          </a:xfrm>
          <a:prstGeom prst="rect">
            <a:avLst/>
          </a:prstGeom>
          <a:noFill/>
          <a:ln/>
        </p:spPr>
        <p:txBody>
          <a:bodyPr wrap="square" lIns="0" tIns="0" rIns="0" bIns="0" rtlCol="0" anchor="t"/>
          <a:lstStyle/>
          <a:p>
            <a:pPr algn="l">
              <a:lnSpc>
                <a:spcPct val="150000"/>
              </a:lnSpc>
            </a:pPr>
            <a:r>
              <a:rPr lang="en-US" dirty="0">
                <a:solidFill>
                  <a:srgbClr val="333333"/>
                </a:solidFill>
                <a:ea typeface="Quattrocento Sans" pitchFamily="34" charset="-122"/>
                <a:cs typeface="Quattrocento Sans" pitchFamily="34" charset="-120"/>
              </a:rPr>
              <a:t>Combines </a:t>
            </a:r>
            <a:r>
              <a:rPr lang="en-US" b="1" dirty="0">
                <a:solidFill>
                  <a:srgbClr val="333333"/>
                </a:solidFill>
                <a:ea typeface="Quattrocento Sans" pitchFamily="34" charset="-122"/>
                <a:cs typeface="Quattrocento Sans" pitchFamily="34" charset="-120"/>
              </a:rPr>
              <a:t>batch</a:t>
            </a:r>
            <a:r>
              <a:rPr lang="en-US" dirty="0">
                <a:solidFill>
                  <a:srgbClr val="333333"/>
                </a:solidFill>
                <a:ea typeface="Quattrocento Sans" pitchFamily="34" charset="-122"/>
                <a:cs typeface="Quattrocento Sans" pitchFamily="34" charset="-120"/>
              </a:rPr>
              <a:t> and </a:t>
            </a:r>
            <a:r>
              <a:rPr lang="en-US" b="1" dirty="0">
                <a:solidFill>
                  <a:srgbClr val="333333"/>
                </a:solidFill>
                <a:ea typeface="Quattrocento Sans" pitchFamily="34" charset="-122"/>
                <a:cs typeface="Quattrocento Sans" pitchFamily="34" charset="-120"/>
              </a:rPr>
              <a:t>stream</a:t>
            </a:r>
            <a:r>
              <a:rPr lang="en-US" dirty="0">
                <a:solidFill>
                  <a:srgbClr val="333333"/>
                </a:solidFill>
                <a:ea typeface="Quattrocento Sans" pitchFamily="34" charset="-122"/>
                <a:cs typeface="Quattrocento Sans" pitchFamily="34" charset="-120"/>
              </a:rPr>
              <a:t> processing.</a:t>
            </a:r>
            <a:endParaRPr lang="en-US" dirty="0"/>
          </a:p>
          <a:p>
            <a:pPr algn="l">
              <a:lnSpc>
                <a:spcPct val="150000"/>
              </a:lnSpc>
              <a:spcBef>
                <a:spcPts val="400"/>
              </a:spcBef>
            </a:pPr>
            <a:r>
              <a:rPr lang="en-US" dirty="0">
                <a:solidFill>
                  <a:srgbClr val="005C82"/>
                </a:solidFill>
                <a:ea typeface="Quattrocento Sans" pitchFamily="34" charset="-122"/>
                <a:cs typeface="Quattrocento Sans" pitchFamily="34" charset="-120"/>
              </a:rPr>
              <a:t>Batch:</a:t>
            </a:r>
            <a:r>
              <a:rPr lang="en-US" dirty="0">
                <a:solidFill>
                  <a:srgbClr val="333333"/>
                </a:solidFill>
                <a:ea typeface="Quattrocento Sans" pitchFamily="34" charset="-122"/>
                <a:cs typeface="Quattrocento Sans" pitchFamily="34" charset="-120"/>
              </a:rPr>
              <a:t> Full historical dataset (Hadoop/Spark)</a:t>
            </a:r>
            <a:endParaRPr lang="en-US" dirty="0"/>
          </a:p>
          <a:p>
            <a:pPr algn="l">
              <a:lnSpc>
                <a:spcPct val="150000"/>
              </a:lnSpc>
              <a:spcBef>
                <a:spcPts val="300"/>
              </a:spcBef>
            </a:pPr>
            <a:r>
              <a:rPr lang="en-US" dirty="0">
                <a:solidFill>
                  <a:srgbClr val="00ACC1"/>
                </a:solidFill>
                <a:ea typeface="Quattrocento Sans" pitchFamily="34" charset="-122"/>
                <a:cs typeface="Quattrocento Sans" pitchFamily="34" charset="-120"/>
              </a:rPr>
              <a:t>Speed:</a:t>
            </a:r>
            <a:r>
              <a:rPr lang="en-US" dirty="0">
                <a:solidFill>
                  <a:srgbClr val="333333"/>
                </a:solidFill>
                <a:ea typeface="Quattrocento Sans" pitchFamily="34" charset="-122"/>
                <a:cs typeface="Quattrocento Sans" pitchFamily="34" charset="-120"/>
              </a:rPr>
              <a:t> Real-time recent data (Streaming)</a:t>
            </a:r>
            <a:endParaRPr lang="en-US" dirty="0"/>
          </a:p>
          <a:p>
            <a:pPr algn="l">
              <a:lnSpc>
                <a:spcPct val="150000"/>
              </a:lnSpc>
              <a:spcBef>
                <a:spcPts val="300"/>
              </a:spcBef>
            </a:pPr>
            <a:r>
              <a:rPr lang="en-US" dirty="0">
                <a:solidFill>
                  <a:srgbClr val="007AA8"/>
                </a:solidFill>
                <a:ea typeface="Quattrocento Sans" pitchFamily="34" charset="-122"/>
                <a:cs typeface="Quattrocento Sans" pitchFamily="34" charset="-120"/>
              </a:rPr>
              <a:t>Serving:</a:t>
            </a:r>
            <a:r>
              <a:rPr lang="en-US" dirty="0">
                <a:solidFill>
                  <a:srgbClr val="333333"/>
                </a:solidFill>
                <a:ea typeface="Quattrocento Sans" pitchFamily="34" charset="-122"/>
                <a:cs typeface="Quattrocento Sans" pitchFamily="34" charset="-120"/>
              </a:rPr>
              <a:t> Merges both for queries</a:t>
            </a:r>
            <a:endParaRPr lang="en-US" dirty="0"/>
          </a:p>
          <a:p>
            <a:pPr algn="l">
              <a:lnSpc>
                <a:spcPct val="150000"/>
              </a:lnSpc>
              <a:spcBef>
                <a:spcPts val="400"/>
              </a:spcBef>
            </a:pPr>
            <a:r>
              <a:rPr lang="en-US" b="1" dirty="0">
                <a:solidFill>
                  <a:srgbClr val="CC0000"/>
                </a:solidFill>
                <a:ea typeface="Quattrocento Sans" pitchFamily="34" charset="-122"/>
                <a:cs typeface="Quattrocento Sans" pitchFamily="34" charset="-120"/>
              </a:rPr>
              <a:t>Limitation:</a:t>
            </a:r>
            <a:r>
              <a:rPr lang="en-US" dirty="0">
                <a:solidFill>
                  <a:srgbClr val="333333"/>
                </a:solidFill>
                <a:ea typeface="Quattrocento Sans" pitchFamily="34" charset="-122"/>
                <a:cs typeface="Quattrocento Sans" pitchFamily="34" charset="-120"/>
              </a:rPr>
              <a:t> Two code paths = complexity</a:t>
            </a:r>
            <a:endParaRPr lang="en-US" dirty="0"/>
          </a:p>
        </p:txBody>
      </p:sp>
      <p:sp>
        <p:nvSpPr>
          <p:cNvPr id="11" name="Shape 20"/>
          <p:cNvSpPr/>
          <p:nvPr/>
        </p:nvSpPr>
        <p:spPr>
          <a:xfrm>
            <a:off x="7061200" y="1574800"/>
            <a:ext cx="4318000" cy="4013200"/>
          </a:xfrm>
          <a:prstGeom prst="roundRect">
            <a:avLst>
              <a:gd name="adj" fmla="val 4000"/>
            </a:avLst>
          </a:prstGeom>
          <a:solidFill>
            <a:srgbClr val="E0F4FA"/>
          </a:solidFill>
          <a:ln w="12700">
            <a:solidFill>
              <a:srgbClr val="B0BEC5"/>
            </a:solidFill>
            <a:prstDash val="solid"/>
          </a:ln>
        </p:spPr>
      </p:sp>
      <p:sp>
        <p:nvSpPr>
          <p:cNvPr id="13" name="Text 21"/>
          <p:cNvSpPr/>
          <p:nvPr/>
        </p:nvSpPr>
        <p:spPr>
          <a:xfrm>
            <a:off x="7264400" y="1727200"/>
            <a:ext cx="3911600" cy="355600"/>
          </a:xfrm>
          <a:prstGeom prst="rect">
            <a:avLst/>
          </a:prstGeom>
          <a:noFill/>
          <a:ln/>
        </p:spPr>
        <p:txBody>
          <a:bodyPr wrap="none" lIns="0" tIns="0" rIns="0" bIns="0" rtlCol="0" anchor="t"/>
          <a:lstStyle/>
          <a:p>
            <a:pPr algn="l">
              <a:lnSpc>
                <a:spcPct val="120000"/>
              </a:lnSpc>
            </a:pPr>
            <a:r>
              <a:rPr lang="en-US" sz="2400" b="1" dirty="0">
                <a:solidFill>
                  <a:srgbClr val="005C82"/>
                </a:solidFill>
                <a:ea typeface="Quattrocento Sans" pitchFamily="34" charset="-122"/>
                <a:cs typeface="Quattrocento Sans" pitchFamily="34" charset="-120"/>
              </a:rPr>
              <a:t>Kappa Architecture</a:t>
            </a:r>
            <a:endParaRPr lang="en-US" sz="2400" dirty="0"/>
          </a:p>
        </p:txBody>
      </p:sp>
      <p:sp>
        <p:nvSpPr>
          <p:cNvPr id="14" name="Shape 22"/>
          <p:cNvSpPr/>
          <p:nvPr/>
        </p:nvSpPr>
        <p:spPr>
          <a:xfrm>
            <a:off x="7264400" y="2133600"/>
            <a:ext cx="1524000" cy="25400"/>
          </a:xfrm>
          <a:prstGeom prst="rect">
            <a:avLst/>
          </a:prstGeom>
          <a:solidFill>
            <a:srgbClr val="00ACC1"/>
          </a:solidFill>
          <a:ln/>
        </p:spPr>
      </p:sp>
      <p:sp>
        <p:nvSpPr>
          <p:cNvPr id="16" name="Text 23"/>
          <p:cNvSpPr/>
          <p:nvPr/>
        </p:nvSpPr>
        <p:spPr>
          <a:xfrm>
            <a:off x="7264400" y="2260600"/>
            <a:ext cx="3911600" cy="2971800"/>
          </a:xfrm>
          <a:prstGeom prst="rect">
            <a:avLst/>
          </a:prstGeom>
          <a:noFill/>
          <a:ln/>
        </p:spPr>
        <p:txBody>
          <a:bodyPr wrap="square" lIns="0" tIns="0" rIns="0" bIns="0" rtlCol="0" anchor="t"/>
          <a:lstStyle/>
          <a:p>
            <a:pPr algn="l">
              <a:lnSpc>
                <a:spcPct val="150000"/>
              </a:lnSpc>
            </a:pPr>
            <a:r>
              <a:rPr lang="en-US" dirty="0">
                <a:solidFill>
                  <a:srgbClr val="333333"/>
                </a:solidFill>
                <a:ea typeface="Quattrocento Sans" pitchFamily="34" charset="-122"/>
                <a:cs typeface="Quattrocento Sans" pitchFamily="34" charset="-120"/>
              </a:rPr>
              <a:t>Simplification of Lambda — </a:t>
            </a:r>
            <a:r>
              <a:rPr lang="en-US" b="1" dirty="0">
                <a:solidFill>
                  <a:srgbClr val="333333"/>
                </a:solidFill>
                <a:ea typeface="Quattrocento Sans" pitchFamily="34" charset="-122"/>
                <a:cs typeface="Quattrocento Sans" pitchFamily="34" charset="-120"/>
              </a:rPr>
              <a:t>eliminates batch layer</a:t>
            </a:r>
            <a:r>
              <a:rPr lang="en-US" dirty="0">
                <a:solidFill>
                  <a:srgbClr val="333333"/>
                </a:solidFill>
                <a:ea typeface="Quattrocento Sans" pitchFamily="34" charset="-122"/>
                <a:cs typeface="Quattrocento Sans" pitchFamily="34" charset="-120"/>
              </a:rPr>
              <a:t>.</a:t>
            </a:r>
            <a:endParaRPr lang="en-US" dirty="0"/>
          </a:p>
          <a:p>
            <a:pPr algn="l">
              <a:lnSpc>
                <a:spcPct val="150000"/>
              </a:lnSpc>
              <a:spcBef>
                <a:spcPts val="400"/>
              </a:spcBef>
            </a:pPr>
            <a:r>
              <a:rPr lang="en-US" dirty="0">
                <a:solidFill>
                  <a:srgbClr val="333333"/>
                </a:solidFill>
                <a:ea typeface="Quattrocento Sans" pitchFamily="34" charset="-122"/>
                <a:cs typeface="Quattrocento Sans" pitchFamily="34" charset="-120"/>
              </a:rPr>
              <a:t>All data treated as a </a:t>
            </a:r>
            <a:r>
              <a:rPr lang="en-US" b="1" dirty="0">
                <a:solidFill>
                  <a:srgbClr val="333333"/>
                </a:solidFill>
                <a:ea typeface="Quattrocento Sans" pitchFamily="34" charset="-122"/>
                <a:cs typeface="Quattrocento Sans" pitchFamily="34" charset="-120"/>
              </a:rPr>
              <a:t>stream</a:t>
            </a:r>
            <a:r>
              <a:rPr lang="en-US" dirty="0">
                <a:solidFill>
                  <a:srgbClr val="333333"/>
                </a:solidFill>
                <a:ea typeface="Quattrocento Sans" pitchFamily="34" charset="-122"/>
                <a:cs typeface="Quattrocento Sans" pitchFamily="34" charset="-120"/>
              </a:rPr>
              <a:t>.</a:t>
            </a:r>
            <a:endParaRPr lang="en-US" dirty="0"/>
          </a:p>
          <a:p>
            <a:pPr algn="l">
              <a:lnSpc>
                <a:spcPct val="150000"/>
              </a:lnSpc>
              <a:spcBef>
                <a:spcPts val="400"/>
              </a:spcBef>
            </a:pPr>
            <a:r>
              <a:rPr lang="en-US" dirty="0">
                <a:solidFill>
                  <a:srgbClr val="333333"/>
                </a:solidFill>
                <a:ea typeface="Quattrocento Sans" pitchFamily="34" charset="-122"/>
                <a:cs typeface="Quattrocento Sans" pitchFamily="34" charset="-120"/>
              </a:rPr>
              <a:t>Replayed from durable log (Kafka) for reprocessing.</a:t>
            </a:r>
            <a:endParaRPr lang="en-US" dirty="0"/>
          </a:p>
          <a:p>
            <a:pPr algn="l">
              <a:lnSpc>
                <a:spcPct val="150000"/>
              </a:lnSpc>
              <a:spcBef>
                <a:spcPts val="400"/>
              </a:spcBef>
            </a:pPr>
            <a:r>
              <a:rPr lang="en-US" b="1" dirty="0">
                <a:solidFill>
                  <a:srgbClr val="005C82"/>
                </a:solidFill>
                <a:ea typeface="Quattrocento Sans" pitchFamily="34" charset="-122"/>
                <a:cs typeface="Quattrocento Sans" pitchFamily="34" charset="-120"/>
              </a:rPr>
              <a:t>Advantage:</a:t>
            </a:r>
            <a:r>
              <a:rPr lang="en-US" dirty="0">
                <a:solidFill>
                  <a:srgbClr val="333333"/>
                </a:solidFill>
                <a:ea typeface="Quattrocento Sans" pitchFamily="34" charset="-122"/>
                <a:cs typeface="Quattrocento Sans" pitchFamily="34" charset="-120"/>
              </a:rPr>
              <a:t> One code path</a:t>
            </a:r>
            <a:endParaRPr lang="en-US" dirty="0"/>
          </a:p>
          <a:p>
            <a:pPr algn="l">
              <a:lnSpc>
                <a:spcPct val="150000"/>
              </a:lnSpc>
              <a:spcBef>
                <a:spcPts val="300"/>
              </a:spcBef>
            </a:pPr>
            <a:r>
              <a:rPr lang="en-US" b="1" dirty="0">
                <a:solidFill>
                  <a:srgbClr val="005C82"/>
                </a:solidFill>
                <a:ea typeface="Quattrocento Sans" pitchFamily="34" charset="-122"/>
                <a:cs typeface="Quattrocento Sans" pitchFamily="34" charset="-120"/>
              </a:rPr>
              <a:t>Best for:</a:t>
            </a:r>
            <a:r>
              <a:rPr lang="en-US" dirty="0">
                <a:solidFill>
                  <a:srgbClr val="333333"/>
                </a:solidFill>
                <a:ea typeface="Quattrocento Sans" pitchFamily="34" charset="-122"/>
                <a:cs typeface="Quattrocento Sans" pitchFamily="34" charset="-120"/>
              </a:rPr>
              <a:t> Stream-first systems</a:t>
            </a:r>
            <a:endParaRPr lang="en-US" dirty="0"/>
          </a:p>
        </p:txBody>
      </p:sp>
      <p:sp>
        <p:nvSpPr>
          <p:cNvPr id="17" name="Shape 24"/>
          <p:cNvSpPr/>
          <p:nvPr/>
        </p:nvSpPr>
        <p:spPr>
          <a:xfrm>
            <a:off x="11582400" y="1574800"/>
            <a:ext cx="4165600" cy="4013200"/>
          </a:xfrm>
          <a:prstGeom prst="roundRect">
            <a:avLst>
              <a:gd name="adj" fmla="val 4000"/>
            </a:avLst>
          </a:prstGeom>
          <a:solidFill>
            <a:srgbClr val="E0F4FA"/>
          </a:solidFill>
          <a:ln w="12700">
            <a:solidFill>
              <a:srgbClr val="B0BEC5"/>
            </a:solidFill>
            <a:prstDash val="solid"/>
          </a:ln>
        </p:spPr>
      </p:sp>
      <p:sp>
        <p:nvSpPr>
          <p:cNvPr id="18" name="Text 25"/>
          <p:cNvSpPr/>
          <p:nvPr/>
        </p:nvSpPr>
        <p:spPr>
          <a:xfrm>
            <a:off x="11785600" y="1727200"/>
            <a:ext cx="3759200" cy="355600"/>
          </a:xfrm>
          <a:prstGeom prst="rect">
            <a:avLst/>
          </a:prstGeom>
          <a:noFill/>
          <a:ln/>
        </p:spPr>
        <p:txBody>
          <a:bodyPr wrap="none" lIns="0" tIns="0" rIns="0" bIns="0" rtlCol="0" anchor="t"/>
          <a:lstStyle/>
          <a:p>
            <a:pPr algn="l">
              <a:lnSpc>
                <a:spcPct val="120000"/>
              </a:lnSpc>
            </a:pPr>
            <a:r>
              <a:rPr lang="en-US" sz="2400" b="1" dirty="0">
                <a:solidFill>
                  <a:srgbClr val="005C82"/>
                </a:solidFill>
                <a:ea typeface="Quattrocento Sans" pitchFamily="34" charset="-122"/>
                <a:cs typeface="Quattrocento Sans" pitchFamily="34" charset="-120"/>
              </a:rPr>
              <a:t>Data Lake Architecture</a:t>
            </a:r>
            <a:endParaRPr lang="en-US" sz="2400" dirty="0"/>
          </a:p>
        </p:txBody>
      </p:sp>
      <p:sp>
        <p:nvSpPr>
          <p:cNvPr id="19" name="Shape 26"/>
          <p:cNvSpPr/>
          <p:nvPr/>
        </p:nvSpPr>
        <p:spPr>
          <a:xfrm>
            <a:off x="11785600" y="2133600"/>
            <a:ext cx="1524000" cy="25400"/>
          </a:xfrm>
          <a:prstGeom prst="rect">
            <a:avLst/>
          </a:prstGeom>
          <a:solidFill>
            <a:srgbClr val="00ACC1"/>
          </a:solidFill>
          <a:ln/>
        </p:spPr>
      </p:sp>
      <p:sp>
        <p:nvSpPr>
          <p:cNvPr id="20" name="Text 27"/>
          <p:cNvSpPr/>
          <p:nvPr/>
        </p:nvSpPr>
        <p:spPr>
          <a:xfrm>
            <a:off x="11785600" y="2260600"/>
            <a:ext cx="3759200" cy="2971800"/>
          </a:xfrm>
          <a:prstGeom prst="rect">
            <a:avLst/>
          </a:prstGeom>
          <a:noFill/>
          <a:ln/>
        </p:spPr>
        <p:txBody>
          <a:bodyPr wrap="square" lIns="0" tIns="0" rIns="0" bIns="0" rtlCol="0" anchor="t"/>
          <a:lstStyle/>
          <a:p>
            <a:pPr algn="l">
              <a:lnSpc>
                <a:spcPct val="160000"/>
              </a:lnSpc>
            </a:pPr>
            <a:r>
              <a:rPr lang="en-US" dirty="0">
                <a:solidFill>
                  <a:srgbClr val="333333"/>
                </a:solidFill>
                <a:ea typeface="Quattrocento Sans" pitchFamily="34" charset="-122"/>
                <a:cs typeface="Quattrocento Sans" pitchFamily="34" charset="-120"/>
              </a:rPr>
              <a:t>Centralized repository storing </a:t>
            </a:r>
            <a:r>
              <a:rPr lang="en-US" b="1" dirty="0">
                <a:solidFill>
                  <a:srgbClr val="333333"/>
                </a:solidFill>
                <a:ea typeface="Quattrocento Sans" pitchFamily="34" charset="-122"/>
                <a:cs typeface="Quattrocento Sans" pitchFamily="34" charset="-120"/>
              </a:rPr>
              <a:t>all raw data</a:t>
            </a:r>
            <a:r>
              <a:rPr lang="en-US" dirty="0">
                <a:solidFill>
                  <a:srgbClr val="333333"/>
                </a:solidFill>
                <a:ea typeface="Quattrocento Sans" pitchFamily="34" charset="-122"/>
                <a:cs typeface="Quattrocento Sans" pitchFamily="34" charset="-120"/>
              </a:rPr>
              <a:t> at any scale in native format.</a:t>
            </a:r>
            <a:endParaRPr lang="en-US" dirty="0"/>
          </a:p>
          <a:p>
            <a:pPr algn="l">
              <a:lnSpc>
                <a:spcPct val="160000"/>
              </a:lnSpc>
              <a:spcBef>
                <a:spcPts val="600"/>
              </a:spcBef>
            </a:pPr>
            <a:r>
              <a:rPr lang="en-US" dirty="0">
                <a:solidFill>
                  <a:srgbClr val="005C82"/>
                </a:solidFill>
                <a:ea typeface="Quattrocento Sans" pitchFamily="34" charset="-122"/>
                <a:cs typeface="Quattrocento Sans" pitchFamily="34" charset="-120"/>
              </a:rPr>
              <a:t>Storage:</a:t>
            </a:r>
            <a:r>
              <a:rPr lang="en-US" dirty="0">
                <a:solidFill>
                  <a:srgbClr val="333333"/>
                </a:solidFill>
                <a:ea typeface="Quattrocento Sans" pitchFamily="34" charset="-122"/>
                <a:cs typeface="Quattrocento Sans" pitchFamily="34" charset="-120"/>
              </a:rPr>
              <a:t> HDFS or cloud (AWS S3, Azure)</a:t>
            </a:r>
            <a:endParaRPr lang="en-US" dirty="0"/>
          </a:p>
          <a:p>
            <a:pPr algn="l">
              <a:lnSpc>
                <a:spcPct val="160000"/>
              </a:lnSpc>
              <a:spcBef>
                <a:spcPts val="400"/>
              </a:spcBef>
            </a:pPr>
            <a:r>
              <a:rPr lang="en-US" dirty="0">
                <a:solidFill>
                  <a:srgbClr val="005C82"/>
                </a:solidFill>
                <a:ea typeface="Quattrocento Sans" pitchFamily="34" charset="-122"/>
                <a:cs typeface="Quattrocento Sans" pitchFamily="34" charset="-120"/>
              </a:rPr>
              <a:t>Schema:</a:t>
            </a:r>
            <a:r>
              <a:rPr lang="en-US" dirty="0">
                <a:solidFill>
                  <a:srgbClr val="333333"/>
                </a:solidFill>
                <a:ea typeface="Quattrocento Sans" pitchFamily="34" charset="-122"/>
                <a:cs typeface="Quattrocento Sans" pitchFamily="34" charset="-120"/>
              </a:rPr>
              <a:t> Schema-on-read (not on-write)</a:t>
            </a:r>
            <a:endParaRPr lang="en-US" dirty="0"/>
          </a:p>
          <a:p>
            <a:pPr algn="l">
              <a:lnSpc>
                <a:spcPct val="160000"/>
              </a:lnSpc>
              <a:spcBef>
                <a:spcPts val="400"/>
              </a:spcBef>
            </a:pPr>
            <a:r>
              <a:rPr lang="en-US" dirty="0">
                <a:solidFill>
                  <a:srgbClr val="005C82"/>
                </a:solidFill>
                <a:ea typeface="Quattrocento Sans" pitchFamily="34" charset="-122"/>
                <a:cs typeface="Quattrocento Sans" pitchFamily="34" charset="-120"/>
              </a:rPr>
              <a:t>Access:</a:t>
            </a:r>
            <a:r>
              <a:rPr lang="en-US" dirty="0">
                <a:solidFill>
                  <a:srgbClr val="333333"/>
                </a:solidFill>
                <a:ea typeface="Quattrocento Sans" pitchFamily="34" charset="-122"/>
                <a:cs typeface="Quattrocento Sans" pitchFamily="34" charset="-120"/>
              </a:rPr>
              <a:t> Spark, Hive, Presto</a:t>
            </a:r>
            <a:endParaRPr lang="en-US" dirty="0"/>
          </a:p>
          <a:p>
            <a:pPr algn="l">
              <a:lnSpc>
                <a:spcPct val="160000"/>
              </a:lnSpc>
              <a:spcBef>
                <a:spcPts val="600"/>
              </a:spcBef>
            </a:pPr>
            <a:r>
              <a:rPr lang="en-US" b="1" dirty="0">
                <a:solidFill>
                  <a:srgbClr val="CC0000"/>
                </a:solidFill>
                <a:ea typeface="Quattrocento Sans" pitchFamily="34" charset="-122"/>
                <a:cs typeface="Quattrocento Sans" pitchFamily="34" charset="-120"/>
              </a:rPr>
              <a:t>Risk:</a:t>
            </a:r>
            <a:r>
              <a:rPr lang="en-US" dirty="0">
                <a:solidFill>
                  <a:srgbClr val="333333"/>
                </a:solidFill>
                <a:ea typeface="Quattrocento Sans" pitchFamily="34" charset="-122"/>
                <a:cs typeface="Quattrocento Sans" pitchFamily="34" charset="-120"/>
              </a:rPr>
              <a:t> Without governance, becomes a "data swamp"</a:t>
            </a:r>
            <a:endParaRPr lang="en-US" dirty="0"/>
          </a:p>
        </p:txBody>
      </p:sp>
      <p:sp>
        <p:nvSpPr>
          <p:cNvPr id="21" name="Text 28"/>
          <p:cNvSpPr/>
          <p:nvPr/>
        </p:nvSpPr>
        <p:spPr>
          <a:xfrm>
            <a:off x="2540000" y="5588000"/>
            <a:ext cx="5080000" cy="304800"/>
          </a:xfrm>
          <a:prstGeom prst="rect">
            <a:avLst/>
          </a:prstGeom>
          <a:noFill/>
          <a:ln/>
        </p:spPr>
        <p:txBody>
          <a:bodyPr wrap="none" lIns="0" tIns="0" rIns="0" bIns="0" rtlCol="0" anchor="t"/>
          <a:lstStyle/>
          <a:p>
            <a:pPr algn="l">
              <a:lnSpc>
                <a:spcPct val="120000"/>
              </a:lnSpc>
            </a:pPr>
            <a:r>
              <a:rPr lang="en-US" sz="1600" b="1" dirty="0">
                <a:solidFill>
                  <a:srgbClr val="005C82"/>
                </a:solidFill>
                <a:latin typeface="Quattrocento Sans" pitchFamily="34" charset="0"/>
                <a:ea typeface="Quattrocento Sans" pitchFamily="34" charset="-122"/>
                <a:cs typeface="Quattrocento Sans" pitchFamily="34" charset="-120"/>
              </a:rPr>
              <a:t>Architecture Comparison</a:t>
            </a:r>
            <a:endParaRPr lang="en-US" sz="1600" dirty="0"/>
          </a:p>
        </p:txBody>
      </p:sp>
      <p:graphicFrame>
        <p:nvGraphicFramePr>
          <p:cNvPr id="22" name="Table 0"/>
          <p:cNvGraphicFramePr>
            <a:graphicFrameLocks noGrp="1"/>
          </p:cNvGraphicFramePr>
          <p:nvPr>
            <p:extLst>
              <p:ext uri="{D42A27DB-BD31-4B8C-83A1-F6EECF244321}">
                <p14:modId xmlns:p14="http://schemas.microsoft.com/office/powerpoint/2010/main" val="322602315"/>
              </p:ext>
            </p:extLst>
          </p:nvPr>
        </p:nvGraphicFramePr>
        <p:xfrm>
          <a:off x="2540000" y="5969000"/>
          <a:ext cx="13208000" cy="2540000"/>
        </p:xfrm>
        <a:graphic>
          <a:graphicData uri="http://schemas.openxmlformats.org/drawingml/2006/table">
            <a:tbl>
              <a:tblPr/>
              <a:tblGrid>
                <a:gridCol w="2905760">
                  <a:extLst>
                    <a:ext uri="{9D8B030D-6E8A-4147-A177-3AD203B41FA5}">
                      <a16:colId xmlns:a16="http://schemas.microsoft.com/office/drawing/2014/main" xmlns="" val="20000"/>
                    </a:ext>
                  </a:extLst>
                </a:gridCol>
                <a:gridCol w="3434080">
                  <a:extLst>
                    <a:ext uri="{9D8B030D-6E8A-4147-A177-3AD203B41FA5}">
                      <a16:colId xmlns:a16="http://schemas.microsoft.com/office/drawing/2014/main" xmlns="" val="20001"/>
                    </a:ext>
                  </a:extLst>
                </a:gridCol>
                <a:gridCol w="3434080">
                  <a:extLst>
                    <a:ext uri="{9D8B030D-6E8A-4147-A177-3AD203B41FA5}">
                      <a16:colId xmlns:a16="http://schemas.microsoft.com/office/drawing/2014/main" xmlns="" val="20002"/>
                    </a:ext>
                  </a:extLst>
                </a:gridCol>
                <a:gridCol w="3434080">
                  <a:extLst>
                    <a:ext uri="{9D8B030D-6E8A-4147-A177-3AD203B41FA5}">
                      <a16:colId xmlns:a16="http://schemas.microsoft.com/office/drawing/2014/main" xmlns="" val="20003"/>
                    </a:ext>
                  </a:extLst>
                </a:gridCol>
              </a:tblGrid>
              <a:tr h="558800">
                <a:tc>
                  <a:txBody>
                    <a:bodyPr/>
                    <a:lstStyle/>
                    <a:p>
                      <a:pPr algn="ctr"/>
                      <a:r>
                        <a:rPr lang="en-US" sz="2000" b="1" dirty="0">
                          <a:solidFill>
                            <a:srgbClr val="FFFFFF"/>
                          </a:solidFill>
                        </a:rPr>
                        <a:t>Feature</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ctr"/>
                      <a:r>
                        <a:rPr lang="en-US" sz="2000" b="1" dirty="0">
                          <a:solidFill>
                            <a:srgbClr val="FFFFFF"/>
                          </a:solidFill>
                        </a:rPr>
                        <a:t>Lambda</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ctr"/>
                      <a:r>
                        <a:rPr lang="en-US" sz="2000" b="1" dirty="0">
                          <a:solidFill>
                            <a:srgbClr val="FFFFFF"/>
                          </a:solidFill>
                        </a:rPr>
                        <a:t>Kappa</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ctr"/>
                      <a:r>
                        <a:rPr lang="en-US" sz="2000" b="1" dirty="0">
                          <a:solidFill>
                            <a:srgbClr val="FFFFFF"/>
                          </a:solidFill>
                        </a:rPr>
                        <a:t>Data Lake</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extLst>
                  <a:ext uri="{0D108BD9-81ED-4DB2-BD59-A6C34878D82A}">
                    <a16:rowId xmlns:a16="http://schemas.microsoft.com/office/drawing/2014/main" xmlns="" val="10000"/>
                  </a:ext>
                </a:extLst>
              </a:tr>
              <a:tr h="660400">
                <a:tc>
                  <a:txBody>
                    <a:bodyPr/>
                    <a:lstStyle/>
                    <a:p>
                      <a:pPr algn="ctr"/>
                      <a:r>
                        <a:rPr lang="en-US" sz="2000" b="1" dirty="0">
                          <a:solidFill>
                            <a:srgbClr val="333333"/>
                          </a:solidFill>
                        </a:rPr>
                        <a:t>Complexity</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2000" dirty="0">
                          <a:solidFill>
                            <a:srgbClr val="333333"/>
                          </a:solidFill>
                        </a:rPr>
                        <a:t>High (dual code)</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2000" dirty="0">
                          <a:solidFill>
                            <a:srgbClr val="333333"/>
                          </a:solidFill>
                        </a:rPr>
                        <a:t>Low (single code)</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2000" dirty="0">
                          <a:solidFill>
                            <a:srgbClr val="333333"/>
                          </a:solidFill>
                        </a:rPr>
                        <a:t>Medium</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xmlns="" val="10001"/>
                  </a:ext>
                </a:extLst>
              </a:tr>
              <a:tr h="660400">
                <a:tc>
                  <a:txBody>
                    <a:bodyPr/>
                    <a:lstStyle/>
                    <a:p>
                      <a:pPr algn="ctr"/>
                      <a:r>
                        <a:rPr lang="en-US" sz="2000" b="1" dirty="0">
                          <a:solidFill>
                            <a:srgbClr val="333333"/>
                          </a:solidFill>
                        </a:rPr>
                        <a:t>Latency</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2000" dirty="0">
                          <a:solidFill>
                            <a:srgbClr val="333333"/>
                          </a:solidFill>
                        </a:rPr>
                        <a:t>Low (speed layer)</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2000" dirty="0">
                          <a:solidFill>
                            <a:srgbClr val="333333"/>
                          </a:solidFill>
                        </a:rPr>
                        <a:t>Low</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2000" dirty="0">
                          <a:solidFill>
                            <a:srgbClr val="333333"/>
                          </a:solidFill>
                        </a:rPr>
                        <a:t>Variable</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extLst>
                  <a:ext uri="{0D108BD9-81ED-4DB2-BD59-A6C34878D82A}">
                    <a16:rowId xmlns:a16="http://schemas.microsoft.com/office/drawing/2014/main" xmlns="" val="10002"/>
                  </a:ext>
                </a:extLst>
              </a:tr>
              <a:tr h="660400">
                <a:tc>
                  <a:txBody>
                    <a:bodyPr/>
                    <a:lstStyle/>
                    <a:p>
                      <a:pPr algn="ctr"/>
                      <a:r>
                        <a:rPr lang="en-US" sz="2000" b="1" dirty="0">
                          <a:solidFill>
                            <a:srgbClr val="333333"/>
                          </a:solidFill>
                        </a:rPr>
                        <a:t>Best For</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2000" dirty="0">
                          <a:solidFill>
                            <a:srgbClr val="333333"/>
                          </a:solidFill>
                        </a:rPr>
                        <a:t>Accuracy + speed</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2000" dirty="0">
                          <a:solidFill>
                            <a:srgbClr val="333333"/>
                          </a:solidFill>
                        </a:rPr>
                        <a:t>Stream-first systems</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2000" dirty="0">
                          <a:solidFill>
                            <a:srgbClr val="333333"/>
                          </a:solidFill>
                        </a:rPr>
                        <a:t>Raw data storage</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xmlns="" val="10003"/>
                  </a:ext>
                </a:extLst>
              </a:tr>
            </a:tbl>
          </a:graphicData>
        </a:graphic>
      </p:graphicFrame>
      <p:sp>
        <p:nvSpPr>
          <p:cNvPr id="23" name="Rounded Rectangle 22"/>
          <p:cNvSpPr/>
          <p:nvPr/>
        </p:nvSpPr>
        <p:spPr>
          <a:xfrm>
            <a:off x="35814" y="4485452"/>
            <a:ext cx="2214372" cy="836035"/>
          </a:xfrm>
          <a:prstGeom prst="roundRect">
            <a:avLst/>
          </a:prstGeom>
          <a:solidFill>
            <a:srgbClr val="FF000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873531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arn(inVertical)">
                                      <p:cBhvr>
                                        <p:cTn id="7" dur="500"/>
                                        <p:tgtEl>
                                          <p:spTgt spid="21"/>
                                        </p:tgtEl>
                                      </p:cBhvr>
                                    </p:animEffect>
                                  </p:childTnLst>
                                </p:cTn>
                              </p:par>
                              <p:par>
                                <p:cTn id="8" presetID="16" presetClass="entr" presetSubtype="21"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barn(inVertical)">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sp>
      <p:sp>
        <p:nvSpPr>
          <p:cNvPr id="12" name="Shape 10"/>
          <p:cNvSpPr/>
          <p:nvPr/>
        </p:nvSpPr>
        <p:spPr>
          <a:xfrm>
            <a:off x="1066800" y="8864600"/>
            <a:ext cx="152400" cy="152400"/>
          </a:xfrm>
          <a:prstGeom prst="diamond">
            <a:avLst/>
          </a:prstGeom>
          <a:solidFill>
            <a:srgbClr val="00ACC1"/>
          </a:solidFill>
          <a:ln/>
        </p:spPr>
      </p:sp>
      <p:sp>
        <p:nvSpPr>
          <p:cNvPr id="15" name="Text 13"/>
          <p:cNvSpPr/>
          <p:nvPr/>
        </p:nvSpPr>
        <p:spPr>
          <a:xfrm>
            <a:off x="15621000" y="0"/>
            <a:ext cx="635000" cy="635000"/>
          </a:xfrm>
          <a:prstGeom prst="rect">
            <a:avLst/>
          </a:prstGeom>
          <a:noFill/>
          <a:ln/>
        </p:spPr>
        <p:txBody>
          <a:bodyPr wrap="none" lIns="0" tIns="0" rIns="0" bIns="0" rtlCol="0" anchor="ctr"/>
          <a:lstStyle/>
          <a:p>
            <a:pPr algn="r">
              <a:lnSpc>
                <a:spcPct val="120000"/>
              </a:lnSpc>
            </a:pPr>
            <a:r>
              <a:rPr lang="en-US" sz="1400" dirty="0">
                <a:solidFill>
                  <a:srgbClr val="005C82"/>
                </a:solidFill>
                <a:latin typeface="Quattrocento Sans" pitchFamily="34" charset="0"/>
                <a:ea typeface="Quattrocento Sans" pitchFamily="34" charset="-122"/>
                <a:cs typeface="Quattrocento Sans" pitchFamily="34" charset="-120"/>
              </a:rPr>
              <a:t>9</a:t>
            </a:r>
            <a:endParaRPr lang="en-US" sz="1400" dirty="0"/>
          </a:p>
        </p:txBody>
      </p:sp>
      <p:sp>
        <p:nvSpPr>
          <p:cNvPr id="5" name="Text 14"/>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smtClean="0">
                <a:solidFill>
                  <a:srgbClr val="005C82"/>
                </a:solidFill>
                <a:latin typeface="Quattrocento Sans" pitchFamily="34" charset="0"/>
                <a:ea typeface="Quattrocento Sans" pitchFamily="34" charset="-122"/>
                <a:cs typeface="Quattrocento Sans" pitchFamily="34" charset="-120"/>
              </a:rPr>
              <a:t>5. Latency</a:t>
            </a:r>
            <a:r>
              <a:rPr lang="en-US" sz="2400" b="1" dirty="0">
                <a:solidFill>
                  <a:srgbClr val="005C82"/>
                </a:solidFill>
                <a:latin typeface="Quattrocento Sans" pitchFamily="34" charset="0"/>
                <a:ea typeface="Quattrocento Sans" pitchFamily="34" charset="-122"/>
                <a:cs typeface="Quattrocento Sans" pitchFamily="34" charset="-120"/>
              </a:rPr>
              <a:t>, Throughput, Scalability &amp; Resource Utilization</a:t>
            </a:r>
            <a:endParaRPr lang="en-US" sz="2400" dirty="0"/>
          </a:p>
        </p:txBody>
      </p:sp>
      <p:sp>
        <p:nvSpPr>
          <p:cNvPr id="6" name="Shape 15"/>
          <p:cNvSpPr/>
          <p:nvPr/>
        </p:nvSpPr>
        <p:spPr>
          <a:xfrm>
            <a:off x="2540000" y="1397000"/>
            <a:ext cx="13208000" cy="12700"/>
          </a:xfrm>
          <a:prstGeom prst="rect">
            <a:avLst/>
          </a:prstGeom>
          <a:solidFill>
            <a:srgbClr val="B0BEC5"/>
          </a:solidFill>
          <a:ln/>
        </p:spPr>
      </p:sp>
      <p:sp>
        <p:nvSpPr>
          <p:cNvPr id="7" name="Shape 16"/>
          <p:cNvSpPr/>
          <p:nvPr/>
        </p:nvSpPr>
        <p:spPr>
          <a:xfrm>
            <a:off x="2540000" y="1600200"/>
            <a:ext cx="3149600" cy="1778000"/>
          </a:xfrm>
          <a:prstGeom prst="roundRect">
            <a:avLst>
              <a:gd name="adj" fmla="val 4000"/>
            </a:avLst>
          </a:prstGeom>
          <a:solidFill>
            <a:srgbClr val="005C82"/>
          </a:solidFill>
          <a:ln/>
        </p:spPr>
      </p:sp>
      <p:sp>
        <p:nvSpPr>
          <p:cNvPr id="8" name="Shape 17"/>
          <p:cNvSpPr/>
          <p:nvPr/>
        </p:nvSpPr>
        <p:spPr>
          <a:xfrm>
            <a:off x="2743200" y="1752600"/>
            <a:ext cx="355600" cy="355600"/>
          </a:xfrm>
          <a:custGeom>
            <a:avLst/>
            <a:gdLst/>
            <a:ahLst/>
            <a:cxnLst/>
            <a:rect l="l" t="t" r="r" b="b"/>
            <a:pathLst>
              <a:path w="355600" h="355600">
                <a:moveTo>
                  <a:pt x="177800" y="0"/>
                </a:moveTo>
                <a:cubicBezTo>
                  <a:pt x="275930" y="0"/>
                  <a:pt x="355600" y="79670"/>
                  <a:pt x="355600" y="177800"/>
                </a:cubicBezTo>
                <a:cubicBezTo>
                  <a:pt x="355600" y="275930"/>
                  <a:pt x="275930" y="355600"/>
                  <a:pt x="177800" y="355600"/>
                </a:cubicBezTo>
                <a:cubicBezTo>
                  <a:pt x="79670" y="355600"/>
                  <a:pt x="0" y="275930"/>
                  <a:pt x="0" y="177800"/>
                </a:cubicBezTo>
                <a:cubicBezTo>
                  <a:pt x="0" y="79670"/>
                  <a:pt x="79670" y="0"/>
                  <a:pt x="177800" y="0"/>
                </a:cubicBezTo>
                <a:close/>
                <a:moveTo>
                  <a:pt x="161131" y="83344"/>
                </a:moveTo>
                <a:lnTo>
                  <a:pt x="161131" y="177800"/>
                </a:lnTo>
                <a:cubicBezTo>
                  <a:pt x="161131" y="183356"/>
                  <a:pt x="163909" y="188565"/>
                  <a:pt x="168563" y="191691"/>
                </a:cubicBezTo>
                <a:lnTo>
                  <a:pt x="235238" y="236141"/>
                </a:lnTo>
                <a:cubicBezTo>
                  <a:pt x="242878" y="241280"/>
                  <a:pt x="253226" y="239197"/>
                  <a:pt x="258366" y="231487"/>
                </a:cubicBezTo>
                <a:cubicBezTo>
                  <a:pt x="263505" y="223778"/>
                  <a:pt x="261422" y="213499"/>
                  <a:pt x="253712" y="208359"/>
                </a:cubicBezTo>
                <a:lnTo>
                  <a:pt x="194469" y="168910"/>
                </a:lnTo>
                <a:lnTo>
                  <a:pt x="194469" y="83344"/>
                </a:lnTo>
                <a:cubicBezTo>
                  <a:pt x="194469" y="74106"/>
                  <a:pt x="187037" y="66675"/>
                  <a:pt x="177800" y="66675"/>
                </a:cubicBezTo>
                <a:cubicBezTo>
                  <a:pt x="168563" y="66675"/>
                  <a:pt x="161131" y="74106"/>
                  <a:pt x="161131" y="83344"/>
                </a:cubicBezTo>
                <a:close/>
              </a:path>
            </a:pathLst>
          </a:custGeom>
          <a:solidFill>
            <a:srgbClr val="FFFFFF"/>
          </a:solidFill>
          <a:ln/>
        </p:spPr>
      </p:sp>
      <p:sp>
        <p:nvSpPr>
          <p:cNvPr id="9" name="Text 18"/>
          <p:cNvSpPr/>
          <p:nvPr/>
        </p:nvSpPr>
        <p:spPr>
          <a:xfrm>
            <a:off x="2540000" y="1789216"/>
            <a:ext cx="3149600" cy="355600"/>
          </a:xfrm>
          <a:prstGeom prst="rect">
            <a:avLst/>
          </a:prstGeom>
          <a:noFill/>
          <a:ln/>
        </p:spPr>
        <p:txBody>
          <a:bodyPr wrap="none" lIns="0" tIns="0" rIns="0" bIns="0" rtlCol="0" anchor="ctr"/>
          <a:lstStyle/>
          <a:p>
            <a:pPr algn="ctr">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Latency</a:t>
            </a:r>
            <a:endParaRPr lang="en-US" sz="1800" dirty="0"/>
          </a:p>
        </p:txBody>
      </p:sp>
      <p:sp>
        <p:nvSpPr>
          <p:cNvPr id="10" name="Text 19"/>
          <p:cNvSpPr/>
          <p:nvPr/>
        </p:nvSpPr>
        <p:spPr>
          <a:xfrm>
            <a:off x="2667000" y="2260600"/>
            <a:ext cx="2895600" cy="1016000"/>
          </a:xfrm>
          <a:prstGeom prst="rect">
            <a:avLst/>
          </a:prstGeom>
          <a:noFill/>
          <a:ln/>
        </p:spPr>
        <p:txBody>
          <a:bodyPr wrap="square" lIns="0" tIns="0" rIns="0" bIns="0" rtlCol="0" anchor="t"/>
          <a:lstStyle/>
          <a:p>
            <a:pPr algn="ctr">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Time delay between request and response. Critical for real-time apps.</a:t>
            </a:r>
            <a:endParaRPr lang="en-US" sz="1600" dirty="0"/>
          </a:p>
        </p:txBody>
      </p:sp>
      <p:sp>
        <p:nvSpPr>
          <p:cNvPr id="11" name="Shape 20"/>
          <p:cNvSpPr/>
          <p:nvPr/>
        </p:nvSpPr>
        <p:spPr>
          <a:xfrm>
            <a:off x="5892800" y="1600200"/>
            <a:ext cx="3149600" cy="1778000"/>
          </a:xfrm>
          <a:prstGeom prst="roundRect">
            <a:avLst>
              <a:gd name="adj" fmla="val 4000"/>
            </a:avLst>
          </a:prstGeom>
          <a:solidFill>
            <a:srgbClr val="007AA8"/>
          </a:solidFill>
          <a:ln/>
        </p:spPr>
      </p:sp>
      <p:sp>
        <p:nvSpPr>
          <p:cNvPr id="13" name="Shape 21"/>
          <p:cNvSpPr/>
          <p:nvPr/>
        </p:nvSpPr>
        <p:spPr>
          <a:xfrm>
            <a:off x="6096000" y="1752600"/>
            <a:ext cx="355600" cy="355600"/>
          </a:xfrm>
          <a:custGeom>
            <a:avLst/>
            <a:gdLst/>
            <a:ahLst/>
            <a:cxnLst/>
            <a:rect l="l" t="t" r="r" b="b"/>
            <a:pathLst>
              <a:path w="355600" h="355600">
                <a:moveTo>
                  <a:pt x="0" y="177800"/>
                </a:moveTo>
                <a:cubicBezTo>
                  <a:pt x="0" y="79670"/>
                  <a:pt x="79670" y="0"/>
                  <a:pt x="177800" y="0"/>
                </a:cubicBezTo>
                <a:cubicBezTo>
                  <a:pt x="275930" y="0"/>
                  <a:pt x="355600" y="79670"/>
                  <a:pt x="355600" y="177800"/>
                </a:cubicBezTo>
                <a:cubicBezTo>
                  <a:pt x="355600" y="275930"/>
                  <a:pt x="275930" y="355600"/>
                  <a:pt x="177800" y="355600"/>
                </a:cubicBezTo>
                <a:cubicBezTo>
                  <a:pt x="79670" y="355600"/>
                  <a:pt x="0" y="275930"/>
                  <a:pt x="0" y="177800"/>
                </a:cubicBezTo>
                <a:close/>
                <a:moveTo>
                  <a:pt x="200025" y="66675"/>
                </a:moveTo>
                <a:cubicBezTo>
                  <a:pt x="200025" y="54409"/>
                  <a:pt x="190066" y="44450"/>
                  <a:pt x="177800" y="44450"/>
                </a:cubicBezTo>
                <a:cubicBezTo>
                  <a:pt x="165534" y="44450"/>
                  <a:pt x="155575" y="54409"/>
                  <a:pt x="155575" y="66675"/>
                </a:cubicBezTo>
                <a:cubicBezTo>
                  <a:pt x="155575" y="78941"/>
                  <a:pt x="165534" y="88900"/>
                  <a:pt x="177800" y="88900"/>
                </a:cubicBezTo>
                <a:cubicBezTo>
                  <a:pt x="190066" y="88900"/>
                  <a:pt x="200025" y="78941"/>
                  <a:pt x="200025" y="66675"/>
                </a:cubicBezTo>
                <a:close/>
                <a:moveTo>
                  <a:pt x="177800" y="288925"/>
                </a:moveTo>
                <a:cubicBezTo>
                  <a:pt x="202317" y="288925"/>
                  <a:pt x="222250" y="268992"/>
                  <a:pt x="222250" y="244475"/>
                </a:cubicBezTo>
                <a:cubicBezTo>
                  <a:pt x="222250" y="233224"/>
                  <a:pt x="218083" y="222875"/>
                  <a:pt x="211138" y="215096"/>
                </a:cubicBezTo>
                <a:lnTo>
                  <a:pt x="259407" y="118626"/>
                </a:lnTo>
                <a:cubicBezTo>
                  <a:pt x="263505" y="110361"/>
                  <a:pt x="260171" y="100360"/>
                  <a:pt x="251976" y="96262"/>
                </a:cubicBezTo>
                <a:cubicBezTo>
                  <a:pt x="243780" y="92164"/>
                  <a:pt x="233710" y="95498"/>
                  <a:pt x="229612" y="103694"/>
                </a:cubicBezTo>
                <a:lnTo>
                  <a:pt x="181342" y="200164"/>
                </a:lnTo>
                <a:cubicBezTo>
                  <a:pt x="180161" y="200094"/>
                  <a:pt x="178981" y="200025"/>
                  <a:pt x="177800" y="200025"/>
                </a:cubicBezTo>
                <a:cubicBezTo>
                  <a:pt x="153283" y="200025"/>
                  <a:pt x="133350" y="219958"/>
                  <a:pt x="133350" y="244475"/>
                </a:cubicBezTo>
                <a:cubicBezTo>
                  <a:pt x="133350" y="268992"/>
                  <a:pt x="153283" y="288925"/>
                  <a:pt x="177800" y="288925"/>
                </a:cubicBezTo>
                <a:close/>
                <a:moveTo>
                  <a:pt x="122238" y="100013"/>
                </a:moveTo>
                <a:cubicBezTo>
                  <a:pt x="122238" y="87746"/>
                  <a:pt x="112279" y="77788"/>
                  <a:pt x="100013" y="77788"/>
                </a:cubicBezTo>
                <a:cubicBezTo>
                  <a:pt x="87746" y="77788"/>
                  <a:pt x="77788" y="87746"/>
                  <a:pt x="77788" y="100013"/>
                </a:cubicBezTo>
                <a:cubicBezTo>
                  <a:pt x="77788" y="112279"/>
                  <a:pt x="87746" y="122238"/>
                  <a:pt x="100013" y="122238"/>
                </a:cubicBezTo>
                <a:cubicBezTo>
                  <a:pt x="112279" y="122238"/>
                  <a:pt x="122238" y="112279"/>
                  <a:pt x="122238" y="100013"/>
                </a:cubicBezTo>
                <a:close/>
                <a:moveTo>
                  <a:pt x="66675" y="200025"/>
                </a:moveTo>
                <a:cubicBezTo>
                  <a:pt x="78941" y="200025"/>
                  <a:pt x="88900" y="190066"/>
                  <a:pt x="88900" y="177800"/>
                </a:cubicBezTo>
                <a:cubicBezTo>
                  <a:pt x="88900" y="165534"/>
                  <a:pt x="78941" y="155575"/>
                  <a:pt x="66675" y="155575"/>
                </a:cubicBezTo>
                <a:cubicBezTo>
                  <a:pt x="54409" y="155575"/>
                  <a:pt x="44450" y="165534"/>
                  <a:pt x="44450" y="177800"/>
                </a:cubicBezTo>
                <a:cubicBezTo>
                  <a:pt x="44450" y="190066"/>
                  <a:pt x="54409" y="200025"/>
                  <a:pt x="66675" y="200025"/>
                </a:cubicBezTo>
                <a:close/>
                <a:moveTo>
                  <a:pt x="311150" y="177800"/>
                </a:moveTo>
                <a:cubicBezTo>
                  <a:pt x="311150" y="165534"/>
                  <a:pt x="301191" y="155575"/>
                  <a:pt x="288925" y="155575"/>
                </a:cubicBezTo>
                <a:cubicBezTo>
                  <a:pt x="276659" y="155575"/>
                  <a:pt x="266700" y="165534"/>
                  <a:pt x="266700" y="177800"/>
                </a:cubicBezTo>
                <a:cubicBezTo>
                  <a:pt x="266700" y="190066"/>
                  <a:pt x="276659" y="200025"/>
                  <a:pt x="288925" y="200025"/>
                </a:cubicBezTo>
                <a:cubicBezTo>
                  <a:pt x="301191" y="200025"/>
                  <a:pt x="311150" y="190066"/>
                  <a:pt x="311150" y="177800"/>
                </a:cubicBezTo>
                <a:close/>
              </a:path>
            </a:pathLst>
          </a:custGeom>
          <a:solidFill>
            <a:srgbClr val="FFFFFF"/>
          </a:solidFill>
          <a:ln/>
        </p:spPr>
      </p:sp>
      <p:sp>
        <p:nvSpPr>
          <p:cNvPr id="14" name="Text 22"/>
          <p:cNvSpPr/>
          <p:nvPr/>
        </p:nvSpPr>
        <p:spPr>
          <a:xfrm>
            <a:off x="5892800" y="1763816"/>
            <a:ext cx="3149600" cy="355600"/>
          </a:xfrm>
          <a:prstGeom prst="rect">
            <a:avLst/>
          </a:prstGeom>
          <a:noFill/>
          <a:ln/>
        </p:spPr>
        <p:txBody>
          <a:bodyPr wrap="none" lIns="0" tIns="0" rIns="0" bIns="0" rtlCol="0" anchor="ctr"/>
          <a:lstStyle/>
          <a:p>
            <a:pPr algn="ctr">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Throughput</a:t>
            </a:r>
            <a:endParaRPr lang="en-US" sz="1800" dirty="0"/>
          </a:p>
        </p:txBody>
      </p:sp>
      <p:sp>
        <p:nvSpPr>
          <p:cNvPr id="16" name="Text 23"/>
          <p:cNvSpPr/>
          <p:nvPr/>
        </p:nvSpPr>
        <p:spPr>
          <a:xfrm>
            <a:off x="6019800" y="2184400"/>
            <a:ext cx="2895600" cy="1092200"/>
          </a:xfrm>
          <a:prstGeom prst="rect">
            <a:avLst/>
          </a:prstGeom>
          <a:noFill/>
          <a:ln/>
        </p:spPr>
        <p:txBody>
          <a:bodyPr wrap="square" lIns="0" tIns="0" rIns="0" bIns="0" rtlCol="0" anchor="t"/>
          <a:lstStyle/>
          <a:p>
            <a:pPr algn="ctr">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Data processed per time period. Essential for batch processing.</a:t>
            </a:r>
            <a:endParaRPr lang="en-US" sz="1600" dirty="0"/>
          </a:p>
        </p:txBody>
      </p:sp>
      <p:sp>
        <p:nvSpPr>
          <p:cNvPr id="17" name="Shape 24"/>
          <p:cNvSpPr/>
          <p:nvPr/>
        </p:nvSpPr>
        <p:spPr>
          <a:xfrm>
            <a:off x="9245600" y="1600200"/>
            <a:ext cx="3149600" cy="1778000"/>
          </a:xfrm>
          <a:prstGeom prst="roundRect">
            <a:avLst>
              <a:gd name="adj" fmla="val 4000"/>
            </a:avLst>
          </a:prstGeom>
          <a:solidFill>
            <a:schemeClr val="accent6">
              <a:lumMod val="75000"/>
            </a:schemeClr>
          </a:solidFill>
          <a:ln/>
        </p:spPr>
      </p:sp>
      <p:sp>
        <p:nvSpPr>
          <p:cNvPr id="18" name="Shape 25"/>
          <p:cNvSpPr/>
          <p:nvPr/>
        </p:nvSpPr>
        <p:spPr>
          <a:xfrm>
            <a:off x="9448800" y="1752600"/>
            <a:ext cx="355600" cy="355600"/>
          </a:xfrm>
          <a:custGeom>
            <a:avLst/>
            <a:gdLst/>
            <a:ahLst/>
            <a:cxnLst/>
            <a:rect l="l" t="t" r="r" b="b"/>
            <a:pathLst>
              <a:path w="355600" h="355600">
                <a:moveTo>
                  <a:pt x="25400" y="22225"/>
                </a:moveTo>
                <a:cubicBezTo>
                  <a:pt x="11351" y="22225"/>
                  <a:pt x="0" y="32157"/>
                  <a:pt x="0" y="44450"/>
                </a:cubicBezTo>
                <a:lnTo>
                  <a:pt x="0" y="111125"/>
                </a:lnTo>
                <a:cubicBezTo>
                  <a:pt x="0" y="123418"/>
                  <a:pt x="11351" y="133350"/>
                  <a:pt x="25400" y="133350"/>
                </a:cubicBezTo>
                <a:cubicBezTo>
                  <a:pt x="39449" y="133350"/>
                  <a:pt x="50800" y="123418"/>
                  <a:pt x="50800" y="111125"/>
                </a:cubicBezTo>
                <a:lnTo>
                  <a:pt x="50800" y="66675"/>
                </a:lnTo>
                <a:lnTo>
                  <a:pt x="101600" y="66675"/>
                </a:lnTo>
                <a:cubicBezTo>
                  <a:pt x="115649" y="66675"/>
                  <a:pt x="127000" y="56743"/>
                  <a:pt x="127000" y="44450"/>
                </a:cubicBezTo>
                <a:cubicBezTo>
                  <a:pt x="127000" y="32157"/>
                  <a:pt x="115649" y="22225"/>
                  <a:pt x="101600" y="22225"/>
                </a:cubicBezTo>
                <a:lnTo>
                  <a:pt x="25400" y="22225"/>
                </a:lnTo>
                <a:close/>
                <a:moveTo>
                  <a:pt x="50800" y="244475"/>
                </a:moveTo>
                <a:cubicBezTo>
                  <a:pt x="50800" y="232182"/>
                  <a:pt x="39449" y="222250"/>
                  <a:pt x="25400" y="222250"/>
                </a:cubicBezTo>
                <a:cubicBezTo>
                  <a:pt x="11351" y="222250"/>
                  <a:pt x="0" y="232182"/>
                  <a:pt x="0" y="244475"/>
                </a:cubicBezTo>
                <a:lnTo>
                  <a:pt x="0" y="311150"/>
                </a:lnTo>
                <a:cubicBezTo>
                  <a:pt x="0" y="323443"/>
                  <a:pt x="11351" y="333375"/>
                  <a:pt x="25400" y="333375"/>
                </a:cubicBezTo>
                <a:lnTo>
                  <a:pt x="101600" y="333375"/>
                </a:lnTo>
                <a:cubicBezTo>
                  <a:pt x="115649" y="333375"/>
                  <a:pt x="127000" y="323443"/>
                  <a:pt x="127000" y="311150"/>
                </a:cubicBezTo>
                <a:cubicBezTo>
                  <a:pt x="127000" y="298857"/>
                  <a:pt x="115649" y="288925"/>
                  <a:pt x="101600" y="288925"/>
                </a:cubicBezTo>
                <a:lnTo>
                  <a:pt x="50800" y="288925"/>
                </a:lnTo>
                <a:lnTo>
                  <a:pt x="50800" y="244475"/>
                </a:lnTo>
                <a:close/>
                <a:moveTo>
                  <a:pt x="254000" y="22225"/>
                </a:moveTo>
                <a:cubicBezTo>
                  <a:pt x="239951" y="22225"/>
                  <a:pt x="228600" y="32157"/>
                  <a:pt x="228600" y="44450"/>
                </a:cubicBezTo>
                <a:cubicBezTo>
                  <a:pt x="228600" y="56743"/>
                  <a:pt x="239951" y="66675"/>
                  <a:pt x="254000" y="66675"/>
                </a:cubicBezTo>
                <a:lnTo>
                  <a:pt x="304800" y="66675"/>
                </a:lnTo>
                <a:lnTo>
                  <a:pt x="304800" y="111125"/>
                </a:lnTo>
                <a:cubicBezTo>
                  <a:pt x="304800" y="123418"/>
                  <a:pt x="316151" y="133350"/>
                  <a:pt x="330200" y="133350"/>
                </a:cubicBezTo>
                <a:cubicBezTo>
                  <a:pt x="344249" y="133350"/>
                  <a:pt x="355600" y="123418"/>
                  <a:pt x="355600" y="111125"/>
                </a:cubicBezTo>
                <a:lnTo>
                  <a:pt x="355600" y="44450"/>
                </a:lnTo>
                <a:cubicBezTo>
                  <a:pt x="355600" y="32157"/>
                  <a:pt x="344249" y="22225"/>
                  <a:pt x="330200" y="22225"/>
                </a:cubicBezTo>
                <a:lnTo>
                  <a:pt x="254000" y="22225"/>
                </a:lnTo>
                <a:close/>
                <a:moveTo>
                  <a:pt x="355600" y="244475"/>
                </a:moveTo>
                <a:cubicBezTo>
                  <a:pt x="355600" y="232182"/>
                  <a:pt x="344249" y="222250"/>
                  <a:pt x="330200" y="222250"/>
                </a:cubicBezTo>
                <a:cubicBezTo>
                  <a:pt x="316151" y="222250"/>
                  <a:pt x="304800" y="232182"/>
                  <a:pt x="304800" y="244475"/>
                </a:cubicBezTo>
                <a:lnTo>
                  <a:pt x="304800" y="288925"/>
                </a:lnTo>
                <a:lnTo>
                  <a:pt x="254000" y="288925"/>
                </a:lnTo>
                <a:cubicBezTo>
                  <a:pt x="239951" y="288925"/>
                  <a:pt x="228600" y="298857"/>
                  <a:pt x="228600" y="311150"/>
                </a:cubicBezTo>
                <a:cubicBezTo>
                  <a:pt x="228600" y="323443"/>
                  <a:pt x="239951" y="333375"/>
                  <a:pt x="254000" y="333375"/>
                </a:cubicBezTo>
                <a:lnTo>
                  <a:pt x="330200" y="333375"/>
                </a:lnTo>
                <a:cubicBezTo>
                  <a:pt x="344249" y="333375"/>
                  <a:pt x="355600" y="323443"/>
                  <a:pt x="355600" y="311150"/>
                </a:cubicBezTo>
                <a:lnTo>
                  <a:pt x="355600" y="244475"/>
                </a:lnTo>
                <a:close/>
              </a:path>
            </a:pathLst>
          </a:custGeom>
          <a:solidFill>
            <a:srgbClr val="FFFFFF"/>
          </a:solidFill>
          <a:ln/>
        </p:spPr>
      </p:sp>
      <p:sp>
        <p:nvSpPr>
          <p:cNvPr id="19" name="Text 26"/>
          <p:cNvSpPr/>
          <p:nvPr/>
        </p:nvSpPr>
        <p:spPr>
          <a:xfrm>
            <a:off x="9245600" y="1789216"/>
            <a:ext cx="3149600" cy="355600"/>
          </a:xfrm>
          <a:prstGeom prst="rect">
            <a:avLst/>
          </a:prstGeom>
          <a:noFill/>
          <a:ln/>
        </p:spPr>
        <p:txBody>
          <a:bodyPr wrap="none" lIns="0" tIns="0" rIns="0" bIns="0" rtlCol="0" anchor="ctr"/>
          <a:lstStyle/>
          <a:p>
            <a:pPr algn="ctr">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Scalability</a:t>
            </a:r>
            <a:endParaRPr lang="en-US" sz="1800" dirty="0"/>
          </a:p>
        </p:txBody>
      </p:sp>
      <p:sp>
        <p:nvSpPr>
          <p:cNvPr id="20" name="Text 27"/>
          <p:cNvSpPr/>
          <p:nvPr/>
        </p:nvSpPr>
        <p:spPr>
          <a:xfrm>
            <a:off x="9372600" y="2260600"/>
            <a:ext cx="2895600" cy="1016000"/>
          </a:xfrm>
          <a:prstGeom prst="rect">
            <a:avLst/>
          </a:prstGeom>
          <a:noFill/>
          <a:ln/>
        </p:spPr>
        <p:txBody>
          <a:bodyPr wrap="square" lIns="0" tIns="0" rIns="0" bIns="0" rtlCol="0" anchor="t"/>
          <a:lstStyle/>
          <a:p>
            <a:pPr algn="ctr">
              <a:lnSpc>
                <a:spcPct val="140000"/>
              </a:lnSpc>
            </a:pPr>
            <a:r>
              <a:rPr lang="en-US" sz="1600" dirty="0">
                <a:solidFill>
                  <a:srgbClr val="FFFFFF"/>
                </a:solidFill>
                <a:latin typeface="Quattrocento Sans" pitchFamily="34" charset="0"/>
                <a:ea typeface="Quattrocento Sans" pitchFamily="34" charset="-122"/>
                <a:cs typeface="Quattrocento Sans" pitchFamily="34" charset="-120"/>
              </a:rPr>
              <a:t>Handle increasing workloads. Horizontal vs Vertical scaling.</a:t>
            </a:r>
            <a:endParaRPr lang="en-US" sz="1600" dirty="0"/>
          </a:p>
        </p:txBody>
      </p:sp>
      <p:sp>
        <p:nvSpPr>
          <p:cNvPr id="21" name="Shape 28"/>
          <p:cNvSpPr/>
          <p:nvPr/>
        </p:nvSpPr>
        <p:spPr>
          <a:xfrm>
            <a:off x="12598400" y="1600200"/>
            <a:ext cx="3149600" cy="1778000"/>
          </a:xfrm>
          <a:prstGeom prst="roundRect">
            <a:avLst>
              <a:gd name="adj" fmla="val 4000"/>
            </a:avLst>
          </a:prstGeom>
          <a:solidFill>
            <a:srgbClr val="004060"/>
          </a:solidFill>
          <a:ln/>
        </p:spPr>
      </p:sp>
      <p:sp>
        <p:nvSpPr>
          <p:cNvPr id="22" name="Shape 29"/>
          <p:cNvSpPr/>
          <p:nvPr/>
        </p:nvSpPr>
        <p:spPr>
          <a:xfrm>
            <a:off x="12801600" y="1752600"/>
            <a:ext cx="355600" cy="355600"/>
          </a:xfrm>
          <a:custGeom>
            <a:avLst/>
            <a:gdLst/>
            <a:ahLst/>
            <a:cxnLst/>
            <a:rect l="l" t="t" r="r" b="b"/>
            <a:pathLst>
              <a:path w="355600" h="355600">
                <a:moveTo>
                  <a:pt x="122238" y="16669"/>
                </a:moveTo>
                <a:cubicBezTo>
                  <a:pt x="122238" y="7431"/>
                  <a:pt x="114806" y="0"/>
                  <a:pt x="105569" y="0"/>
                </a:cubicBezTo>
                <a:cubicBezTo>
                  <a:pt x="96331" y="0"/>
                  <a:pt x="88900" y="7431"/>
                  <a:pt x="88900" y="16669"/>
                </a:cubicBezTo>
                <a:lnTo>
                  <a:pt x="88900" y="44450"/>
                </a:lnTo>
                <a:cubicBezTo>
                  <a:pt x="64383" y="44450"/>
                  <a:pt x="44450" y="64383"/>
                  <a:pt x="44450" y="88900"/>
                </a:cubicBezTo>
                <a:lnTo>
                  <a:pt x="16669" y="88900"/>
                </a:lnTo>
                <a:cubicBezTo>
                  <a:pt x="7431" y="88900"/>
                  <a:pt x="0" y="96331"/>
                  <a:pt x="0" y="105569"/>
                </a:cubicBezTo>
                <a:cubicBezTo>
                  <a:pt x="0" y="114806"/>
                  <a:pt x="7431" y="122238"/>
                  <a:pt x="16669" y="122238"/>
                </a:cubicBezTo>
                <a:lnTo>
                  <a:pt x="44450" y="122238"/>
                </a:lnTo>
                <a:lnTo>
                  <a:pt x="44450" y="161131"/>
                </a:lnTo>
                <a:lnTo>
                  <a:pt x="16669" y="161131"/>
                </a:lnTo>
                <a:cubicBezTo>
                  <a:pt x="7431" y="161131"/>
                  <a:pt x="0" y="168563"/>
                  <a:pt x="0" y="177800"/>
                </a:cubicBezTo>
                <a:cubicBezTo>
                  <a:pt x="0" y="187037"/>
                  <a:pt x="7431" y="194469"/>
                  <a:pt x="16669" y="194469"/>
                </a:cubicBezTo>
                <a:lnTo>
                  <a:pt x="44450" y="194469"/>
                </a:lnTo>
                <a:lnTo>
                  <a:pt x="44450" y="233363"/>
                </a:lnTo>
                <a:lnTo>
                  <a:pt x="16669" y="233363"/>
                </a:lnTo>
                <a:cubicBezTo>
                  <a:pt x="7431" y="233363"/>
                  <a:pt x="0" y="240794"/>
                  <a:pt x="0" y="250031"/>
                </a:cubicBezTo>
                <a:cubicBezTo>
                  <a:pt x="0" y="259269"/>
                  <a:pt x="7431" y="266700"/>
                  <a:pt x="16669" y="266700"/>
                </a:cubicBezTo>
                <a:lnTo>
                  <a:pt x="44450" y="266700"/>
                </a:lnTo>
                <a:cubicBezTo>
                  <a:pt x="44450" y="291217"/>
                  <a:pt x="64383" y="311150"/>
                  <a:pt x="88900" y="311150"/>
                </a:cubicBezTo>
                <a:lnTo>
                  <a:pt x="88900" y="338931"/>
                </a:lnTo>
                <a:cubicBezTo>
                  <a:pt x="88900" y="348169"/>
                  <a:pt x="96331" y="355600"/>
                  <a:pt x="105569" y="355600"/>
                </a:cubicBezTo>
                <a:cubicBezTo>
                  <a:pt x="114806" y="355600"/>
                  <a:pt x="122238" y="348169"/>
                  <a:pt x="122238" y="338931"/>
                </a:cubicBezTo>
                <a:lnTo>
                  <a:pt x="122238" y="311150"/>
                </a:lnTo>
                <a:lnTo>
                  <a:pt x="161131" y="311150"/>
                </a:lnTo>
                <a:lnTo>
                  <a:pt x="161131" y="338931"/>
                </a:lnTo>
                <a:cubicBezTo>
                  <a:pt x="161131" y="348169"/>
                  <a:pt x="168563" y="355600"/>
                  <a:pt x="177800" y="355600"/>
                </a:cubicBezTo>
                <a:cubicBezTo>
                  <a:pt x="187037" y="355600"/>
                  <a:pt x="194469" y="348169"/>
                  <a:pt x="194469" y="338931"/>
                </a:cubicBezTo>
                <a:lnTo>
                  <a:pt x="194469" y="311150"/>
                </a:lnTo>
                <a:lnTo>
                  <a:pt x="233363" y="311150"/>
                </a:lnTo>
                <a:lnTo>
                  <a:pt x="233363" y="338931"/>
                </a:lnTo>
                <a:cubicBezTo>
                  <a:pt x="233363" y="348169"/>
                  <a:pt x="240794" y="355600"/>
                  <a:pt x="250031" y="355600"/>
                </a:cubicBezTo>
                <a:cubicBezTo>
                  <a:pt x="259269" y="355600"/>
                  <a:pt x="266700" y="348169"/>
                  <a:pt x="266700" y="338931"/>
                </a:cubicBezTo>
                <a:lnTo>
                  <a:pt x="266700" y="311150"/>
                </a:lnTo>
                <a:cubicBezTo>
                  <a:pt x="291217" y="311150"/>
                  <a:pt x="311150" y="291217"/>
                  <a:pt x="311150" y="266700"/>
                </a:cubicBezTo>
                <a:lnTo>
                  <a:pt x="338931" y="266700"/>
                </a:lnTo>
                <a:cubicBezTo>
                  <a:pt x="348169" y="266700"/>
                  <a:pt x="355600" y="259269"/>
                  <a:pt x="355600" y="250031"/>
                </a:cubicBezTo>
                <a:cubicBezTo>
                  <a:pt x="355600" y="240794"/>
                  <a:pt x="348169" y="233363"/>
                  <a:pt x="338931" y="233363"/>
                </a:cubicBezTo>
                <a:lnTo>
                  <a:pt x="311150" y="233363"/>
                </a:lnTo>
                <a:lnTo>
                  <a:pt x="311150" y="194469"/>
                </a:lnTo>
                <a:lnTo>
                  <a:pt x="338931" y="194469"/>
                </a:lnTo>
                <a:cubicBezTo>
                  <a:pt x="348169" y="194469"/>
                  <a:pt x="355600" y="187037"/>
                  <a:pt x="355600" y="177800"/>
                </a:cubicBezTo>
                <a:cubicBezTo>
                  <a:pt x="355600" y="168563"/>
                  <a:pt x="348169" y="161131"/>
                  <a:pt x="338931" y="161131"/>
                </a:cubicBezTo>
                <a:lnTo>
                  <a:pt x="311150" y="161131"/>
                </a:lnTo>
                <a:lnTo>
                  <a:pt x="311150" y="122238"/>
                </a:lnTo>
                <a:lnTo>
                  <a:pt x="338931" y="122238"/>
                </a:lnTo>
                <a:cubicBezTo>
                  <a:pt x="348169" y="122238"/>
                  <a:pt x="355600" y="114806"/>
                  <a:pt x="355600" y="105569"/>
                </a:cubicBezTo>
                <a:cubicBezTo>
                  <a:pt x="355600" y="96331"/>
                  <a:pt x="348169" y="88900"/>
                  <a:pt x="338931" y="88900"/>
                </a:cubicBezTo>
                <a:lnTo>
                  <a:pt x="311150" y="88900"/>
                </a:lnTo>
                <a:cubicBezTo>
                  <a:pt x="311150" y="64383"/>
                  <a:pt x="291217" y="44450"/>
                  <a:pt x="266700" y="44450"/>
                </a:cubicBezTo>
                <a:lnTo>
                  <a:pt x="266700" y="16669"/>
                </a:lnTo>
                <a:cubicBezTo>
                  <a:pt x="266700" y="7431"/>
                  <a:pt x="259269" y="0"/>
                  <a:pt x="250031" y="0"/>
                </a:cubicBezTo>
                <a:cubicBezTo>
                  <a:pt x="240794" y="0"/>
                  <a:pt x="233363" y="7431"/>
                  <a:pt x="233363" y="16669"/>
                </a:cubicBezTo>
                <a:lnTo>
                  <a:pt x="233363" y="44450"/>
                </a:lnTo>
                <a:lnTo>
                  <a:pt x="194469" y="44450"/>
                </a:lnTo>
                <a:lnTo>
                  <a:pt x="194469" y="16669"/>
                </a:lnTo>
                <a:cubicBezTo>
                  <a:pt x="194469" y="7431"/>
                  <a:pt x="187037" y="0"/>
                  <a:pt x="177800" y="0"/>
                </a:cubicBezTo>
                <a:cubicBezTo>
                  <a:pt x="168563" y="0"/>
                  <a:pt x="161131" y="7431"/>
                  <a:pt x="161131" y="16669"/>
                </a:cubicBezTo>
                <a:lnTo>
                  <a:pt x="161131" y="44450"/>
                </a:lnTo>
                <a:lnTo>
                  <a:pt x="122238" y="44450"/>
                </a:lnTo>
                <a:lnTo>
                  <a:pt x="122238" y="16669"/>
                </a:lnTo>
                <a:close/>
                <a:moveTo>
                  <a:pt x="111125" y="88900"/>
                </a:moveTo>
                <a:lnTo>
                  <a:pt x="244475" y="88900"/>
                </a:lnTo>
                <a:cubicBezTo>
                  <a:pt x="256768" y="88900"/>
                  <a:pt x="266700" y="98832"/>
                  <a:pt x="266700" y="111125"/>
                </a:cubicBezTo>
                <a:lnTo>
                  <a:pt x="266700" y="244475"/>
                </a:lnTo>
                <a:cubicBezTo>
                  <a:pt x="266700" y="256768"/>
                  <a:pt x="256768" y="266700"/>
                  <a:pt x="244475" y="266700"/>
                </a:cubicBezTo>
                <a:lnTo>
                  <a:pt x="111125" y="266700"/>
                </a:lnTo>
                <a:cubicBezTo>
                  <a:pt x="98832" y="266700"/>
                  <a:pt x="88900" y="256768"/>
                  <a:pt x="88900" y="244475"/>
                </a:cubicBezTo>
                <a:lnTo>
                  <a:pt x="88900" y="111125"/>
                </a:lnTo>
                <a:cubicBezTo>
                  <a:pt x="88900" y="98832"/>
                  <a:pt x="98832" y="88900"/>
                  <a:pt x="111125" y="88900"/>
                </a:cubicBezTo>
                <a:close/>
                <a:moveTo>
                  <a:pt x="122238" y="122238"/>
                </a:moveTo>
                <a:lnTo>
                  <a:pt x="122238" y="233363"/>
                </a:lnTo>
                <a:lnTo>
                  <a:pt x="233363" y="233363"/>
                </a:lnTo>
                <a:lnTo>
                  <a:pt x="233363" y="122238"/>
                </a:lnTo>
                <a:lnTo>
                  <a:pt x="122238" y="122238"/>
                </a:lnTo>
                <a:close/>
              </a:path>
            </a:pathLst>
          </a:custGeom>
          <a:solidFill>
            <a:srgbClr val="FFFFFF"/>
          </a:solidFill>
          <a:ln/>
        </p:spPr>
      </p:sp>
      <p:sp>
        <p:nvSpPr>
          <p:cNvPr id="23" name="Text 30"/>
          <p:cNvSpPr/>
          <p:nvPr/>
        </p:nvSpPr>
        <p:spPr>
          <a:xfrm>
            <a:off x="12877800" y="1778000"/>
            <a:ext cx="3149600" cy="355600"/>
          </a:xfrm>
          <a:prstGeom prst="rect">
            <a:avLst/>
          </a:prstGeom>
          <a:noFill/>
          <a:ln/>
        </p:spPr>
        <p:txBody>
          <a:bodyPr wrap="none" lIns="0" tIns="0" rIns="0" bIns="0" rtlCol="0" anchor="ctr"/>
          <a:lstStyle/>
          <a:p>
            <a:pPr algn="ctr">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Resource Utilization</a:t>
            </a:r>
            <a:endParaRPr lang="en-US" sz="1800" dirty="0"/>
          </a:p>
        </p:txBody>
      </p:sp>
      <p:sp>
        <p:nvSpPr>
          <p:cNvPr id="24" name="Text 31"/>
          <p:cNvSpPr/>
          <p:nvPr/>
        </p:nvSpPr>
        <p:spPr>
          <a:xfrm>
            <a:off x="12725400" y="2184400"/>
            <a:ext cx="2895600" cy="1092200"/>
          </a:xfrm>
          <a:prstGeom prst="rect">
            <a:avLst/>
          </a:prstGeom>
          <a:noFill/>
          <a:ln/>
        </p:spPr>
        <p:txBody>
          <a:bodyPr wrap="square" lIns="0" tIns="0" rIns="0" bIns="0" rtlCol="0" anchor="t"/>
          <a:lstStyle/>
          <a:p>
            <a:pPr algn="ctr">
              <a:lnSpc>
                <a:spcPct val="150000"/>
              </a:lnSpc>
            </a:pPr>
            <a:r>
              <a:rPr lang="en-US" sz="1600" dirty="0">
                <a:solidFill>
                  <a:srgbClr val="FFFFFF"/>
                </a:solidFill>
                <a:latin typeface="Quattrocento Sans" pitchFamily="34" charset="0"/>
                <a:ea typeface="Quattrocento Sans" pitchFamily="34" charset="-122"/>
                <a:cs typeface="Quattrocento Sans" pitchFamily="34" charset="-120"/>
              </a:rPr>
              <a:t>Efficient use of CPU, memory, disk I/O. Managed by YARN.</a:t>
            </a:r>
            <a:endParaRPr lang="en-US" sz="1600" dirty="0"/>
          </a:p>
        </p:txBody>
      </p:sp>
      <p:sp>
        <p:nvSpPr>
          <p:cNvPr id="25" name="Shape 32"/>
          <p:cNvSpPr/>
          <p:nvPr/>
        </p:nvSpPr>
        <p:spPr>
          <a:xfrm>
            <a:off x="2540000" y="3581400"/>
            <a:ext cx="6350000" cy="2387600"/>
          </a:xfrm>
          <a:prstGeom prst="roundRect">
            <a:avLst>
              <a:gd name="adj" fmla="val 4000"/>
            </a:avLst>
          </a:prstGeom>
          <a:solidFill>
            <a:srgbClr val="E0F4FA"/>
          </a:solidFill>
          <a:ln w="12700">
            <a:solidFill>
              <a:srgbClr val="B0BEC5"/>
            </a:solidFill>
            <a:prstDash val="solid"/>
          </a:ln>
        </p:spPr>
      </p:sp>
      <p:sp>
        <p:nvSpPr>
          <p:cNvPr id="26" name="Text 33"/>
          <p:cNvSpPr/>
          <p:nvPr/>
        </p:nvSpPr>
        <p:spPr>
          <a:xfrm>
            <a:off x="2743200" y="3733800"/>
            <a:ext cx="5943600" cy="304800"/>
          </a:xfrm>
          <a:prstGeom prst="rect">
            <a:avLst/>
          </a:prstGeom>
          <a:noFill/>
          <a:ln/>
        </p:spPr>
        <p:txBody>
          <a:bodyPr wrap="none" lIns="0" tIns="0" rIns="0" bIns="0" rtlCol="0" anchor="t"/>
          <a:lstStyle/>
          <a:p>
            <a:pPr algn="l">
              <a:lnSpc>
                <a:spcPct val="120000"/>
              </a:lnSpc>
            </a:pPr>
            <a:r>
              <a:rPr lang="en-US" sz="2000" b="1" dirty="0">
                <a:solidFill>
                  <a:srgbClr val="005C82"/>
                </a:solidFill>
                <a:ea typeface="Quattrocento Sans" pitchFamily="34" charset="-122"/>
                <a:cs typeface="Quattrocento Sans" pitchFamily="34" charset="-120"/>
              </a:rPr>
              <a:t>Latency vs Throughput Trade-off</a:t>
            </a:r>
            <a:endParaRPr lang="en-US" sz="2000" dirty="0"/>
          </a:p>
        </p:txBody>
      </p:sp>
      <p:sp>
        <p:nvSpPr>
          <p:cNvPr id="27" name="Text 34"/>
          <p:cNvSpPr/>
          <p:nvPr/>
        </p:nvSpPr>
        <p:spPr>
          <a:xfrm>
            <a:off x="2743200" y="4089400"/>
            <a:ext cx="5943600" cy="1651000"/>
          </a:xfrm>
          <a:prstGeom prst="rect">
            <a:avLst/>
          </a:prstGeom>
          <a:noFill/>
          <a:ln/>
        </p:spPr>
        <p:txBody>
          <a:bodyPr wrap="square" lIns="0" tIns="0" rIns="0" bIns="0" rtlCol="0" anchor="t"/>
          <a:lstStyle/>
          <a:p>
            <a:pPr algn="l">
              <a:lnSpc>
                <a:spcPct val="150000"/>
              </a:lnSpc>
            </a:pPr>
            <a:r>
              <a:rPr lang="en-US" dirty="0">
                <a:solidFill>
                  <a:srgbClr val="333333"/>
                </a:solidFill>
                <a:ea typeface="Quattrocento Sans" pitchFamily="34" charset="-122"/>
                <a:cs typeface="Quattrocento Sans" pitchFamily="34" charset="-120"/>
              </a:rPr>
              <a:t>• </a:t>
            </a:r>
            <a:r>
              <a:rPr lang="en-US" b="1" dirty="0">
                <a:solidFill>
                  <a:srgbClr val="333333"/>
                </a:solidFill>
                <a:ea typeface="Quattrocento Sans" pitchFamily="34" charset="-122"/>
                <a:cs typeface="Quattrocento Sans" pitchFamily="34" charset="-120"/>
              </a:rPr>
              <a:t>Low latency</a:t>
            </a:r>
            <a:r>
              <a:rPr lang="en-US" dirty="0">
                <a:solidFill>
                  <a:srgbClr val="333333"/>
                </a:solidFill>
                <a:ea typeface="Quattrocento Sans" pitchFamily="34" charset="-122"/>
                <a:cs typeface="Quattrocento Sans" pitchFamily="34" charset="-120"/>
              </a:rPr>
              <a:t> critical for real-time apps (fraud detection)</a:t>
            </a:r>
            <a:endParaRPr lang="en-US" dirty="0"/>
          </a:p>
          <a:p>
            <a:pPr algn="l">
              <a:lnSpc>
                <a:spcPct val="150000"/>
              </a:lnSpc>
            </a:pPr>
            <a:r>
              <a:rPr lang="en-US" dirty="0">
                <a:solidFill>
                  <a:srgbClr val="333333"/>
                </a:solidFill>
                <a:ea typeface="Quattrocento Sans" pitchFamily="34" charset="-122"/>
                <a:cs typeface="Quattrocento Sans" pitchFamily="34" charset="-120"/>
              </a:rPr>
              <a:t>• </a:t>
            </a:r>
            <a:r>
              <a:rPr lang="en-US" b="1" dirty="0">
                <a:solidFill>
                  <a:srgbClr val="333333"/>
                </a:solidFill>
                <a:ea typeface="Quattrocento Sans" pitchFamily="34" charset="-122"/>
                <a:cs typeface="Quattrocento Sans" pitchFamily="34" charset="-120"/>
              </a:rPr>
              <a:t>Stream processing</a:t>
            </a:r>
            <a:r>
              <a:rPr lang="en-US" dirty="0">
                <a:solidFill>
                  <a:srgbClr val="333333"/>
                </a:solidFill>
                <a:ea typeface="Quattrocento Sans" pitchFamily="34" charset="-122"/>
                <a:cs typeface="Quattrocento Sans" pitchFamily="34" charset="-120"/>
              </a:rPr>
              <a:t> (Spark, Flink) for low latency</a:t>
            </a:r>
            <a:endParaRPr lang="en-US" dirty="0"/>
          </a:p>
          <a:p>
            <a:pPr algn="l">
              <a:lnSpc>
                <a:spcPct val="150000"/>
              </a:lnSpc>
            </a:pPr>
            <a:r>
              <a:rPr lang="en-US" dirty="0">
                <a:solidFill>
                  <a:srgbClr val="333333"/>
                </a:solidFill>
                <a:ea typeface="Quattrocento Sans" pitchFamily="34" charset="-122"/>
                <a:cs typeface="Quattrocento Sans" pitchFamily="34" charset="-120"/>
              </a:rPr>
              <a:t>• </a:t>
            </a:r>
            <a:r>
              <a:rPr lang="en-US" b="1" dirty="0">
                <a:solidFill>
                  <a:srgbClr val="333333"/>
                </a:solidFill>
                <a:ea typeface="Quattrocento Sans" pitchFamily="34" charset="-122"/>
                <a:cs typeface="Quattrocento Sans" pitchFamily="34" charset="-120"/>
              </a:rPr>
              <a:t>Batch</a:t>
            </a:r>
            <a:r>
              <a:rPr lang="en-US" dirty="0">
                <a:solidFill>
                  <a:srgbClr val="333333"/>
                </a:solidFill>
                <a:ea typeface="Quattrocento Sans" pitchFamily="34" charset="-122"/>
                <a:cs typeface="Quattrocento Sans" pitchFamily="34" charset="-120"/>
              </a:rPr>
              <a:t> (MapReduce) trades latency for throughput</a:t>
            </a:r>
            <a:endParaRPr lang="en-US" dirty="0"/>
          </a:p>
          <a:p>
            <a:pPr algn="l">
              <a:lnSpc>
                <a:spcPct val="150000"/>
              </a:lnSpc>
            </a:pPr>
            <a:r>
              <a:rPr lang="en-US" dirty="0">
                <a:solidFill>
                  <a:srgbClr val="333333"/>
                </a:solidFill>
                <a:ea typeface="Quattrocento Sans" pitchFamily="34" charset="-122"/>
                <a:cs typeface="Quattrocento Sans" pitchFamily="34" charset="-120"/>
              </a:rPr>
              <a:t>• YARN ensures efficient cluster utilization</a:t>
            </a:r>
            <a:endParaRPr lang="en-US" dirty="0"/>
          </a:p>
        </p:txBody>
      </p:sp>
      <p:sp>
        <p:nvSpPr>
          <p:cNvPr id="28" name="Shape 35"/>
          <p:cNvSpPr/>
          <p:nvPr/>
        </p:nvSpPr>
        <p:spPr>
          <a:xfrm>
            <a:off x="9144000" y="3581400"/>
            <a:ext cx="6604000" cy="2400300"/>
          </a:xfrm>
          <a:prstGeom prst="roundRect">
            <a:avLst>
              <a:gd name="adj" fmla="val 4000"/>
            </a:avLst>
          </a:prstGeom>
          <a:solidFill>
            <a:srgbClr val="E0F4FA"/>
          </a:solidFill>
          <a:ln w="12700">
            <a:solidFill>
              <a:srgbClr val="B0BEC5"/>
            </a:solidFill>
            <a:prstDash val="solid"/>
          </a:ln>
        </p:spPr>
      </p:sp>
      <p:sp>
        <p:nvSpPr>
          <p:cNvPr id="29" name="Text 36"/>
          <p:cNvSpPr/>
          <p:nvPr/>
        </p:nvSpPr>
        <p:spPr>
          <a:xfrm>
            <a:off x="9347200" y="3661723"/>
            <a:ext cx="6197600" cy="304800"/>
          </a:xfrm>
          <a:prstGeom prst="rect">
            <a:avLst/>
          </a:prstGeom>
          <a:noFill/>
          <a:ln/>
        </p:spPr>
        <p:txBody>
          <a:bodyPr wrap="none" lIns="0" tIns="0" rIns="0" bIns="0" rtlCol="0" anchor="t"/>
          <a:lstStyle/>
          <a:p>
            <a:pPr algn="l">
              <a:lnSpc>
                <a:spcPct val="120000"/>
              </a:lnSpc>
            </a:pPr>
            <a:r>
              <a:rPr lang="en-US" sz="2000" b="1" dirty="0">
                <a:solidFill>
                  <a:srgbClr val="005C82"/>
                </a:solidFill>
                <a:ea typeface="Quattrocento Sans" pitchFamily="34" charset="-122"/>
                <a:cs typeface="Quattrocento Sans" pitchFamily="34" charset="-120"/>
              </a:rPr>
              <a:t>Scalability Dimensions</a:t>
            </a:r>
            <a:endParaRPr lang="en-US" sz="2000" dirty="0"/>
          </a:p>
        </p:txBody>
      </p:sp>
      <p:sp>
        <p:nvSpPr>
          <p:cNvPr id="30" name="Text 37"/>
          <p:cNvSpPr/>
          <p:nvPr/>
        </p:nvSpPr>
        <p:spPr>
          <a:xfrm>
            <a:off x="9258300" y="3949700"/>
            <a:ext cx="6375400" cy="1651000"/>
          </a:xfrm>
          <a:prstGeom prst="rect">
            <a:avLst/>
          </a:prstGeom>
          <a:noFill/>
          <a:ln/>
        </p:spPr>
        <p:txBody>
          <a:bodyPr wrap="square" lIns="0" tIns="0" rIns="0" bIns="0" rtlCol="0" anchor="t"/>
          <a:lstStyle/>
          <a:p>
            <a:pPr marL="285750" indent="-285750" algn="l">
              <a:lnSpc>
                <a:spcPct val="150000"/>
              </a:lnSpc>
              <a:buFont typeface="Arial" panose="020B0604020202020204" pitchFamily="34" charset="0"/>
              <a:buChar char="•"/>
            </a:pPr>
            <a:r>
              <a:rPr lang="en-US" b="1" dirty="0" smtClean="0">
                <a:solidFill>
                  <a:srgbClr val="333333"/>
                </a:solidFill>
                <a:ea typeface="Quattrocento Sans" pitchFamily="34" charset="-122"/>
                <a:cs typeface="Quattrocento Sans" pitchFamily="34" charset="-120"/>
              </a:rPr>
              <a:t>Horizontal </a:t>
            </a:r>
            <a:r>
              <a:rPr lang="en-US" b="1" dirty="0">
                <a:solidFill>
                  <a:srgbClr val="333333"/>
                </a:solidFill>
                <a:ea typeface="Quattrocento Sans" pitchFamily="34" charset="-122"/>
                <a:cs typeface="Quattrocento Sans" pitchFamily="34" charset="-120"/>
              </a:rPr>
              <a:t>(Scale Out):</a:t>
            </a:r>
            <a:r>
              <a:rPr lang="en-US" dirty="0">
                <a:solidFill>
                  <a:srgbClr val="333333"/>
                </a:solidFill>
                <a:ea typeface="Quattrocento Sans" pitchFamily="34" charset="-122"/>
                <a:cs typeface="Quattrocento Sans" pitchFamily="34" charset="-120"/>
              </a:rPr>
              <a:t> Add more machines. Hadoop scales from single server to thousands.</a:t>
            </a:r>
            <a:endParaRPr lang="en-US" dirty="0"/>
          </a:p>
          <a:p>
            <a:pPr marL="285750" indent="-285750" algn="l">
              <a:lnSpc>
                <a:spcPct val="150000"/>
              </a:lnSpc>
              <a:buFont typeface="Arial" panose="020B0604020202020204" pitchFamily="34" charset="0"/>
              <a:buChar char="•"/>
            </a:pPr>
            <a:r>
              <a:rPr lang="en-US" b="1" dirty="0" smtClean="0">
                <a:solidFill>
                  <a:srgbClr val="333333"/>
                </a:solidFill>
                <a:ea typeface="Quattrocento Sans" pitchFamily="34" charset="-122"/>
                <a:cs typeface="Quattrocento Sans" pitchFamily="34" charset="-120"/>
              </a:rPr>
              <a:t>Vertical </a:t>
            </a:r>
            <a:r>
              <a:rPr lang="en-US" b="1" dirty="0">
                <a:solidFill>
                  <a:srgbClr val="333333"/>
                </a:solidFill>
                <a:ea typeface="Quattrocento Sans" pitchFamily="34" charset="-122"/>
                <a:cs typeface="Quattrocento Sans" pitchFamily="34" charset="-120"/>
              </a:rPr>
              <a:t>(Scale Up):</a:t>
            </a:r>
            <a:r>
              <a:rPr lang="en-US" dirty="0">
                <a:solidFill>
                  <a:srgbClr val="333333"/>
                </a:solidFill>
                <a:ea typeface="Quattrocento Sans" pitchFamily="34" charset="-122"/>
                <a:cs typeface="Quattrocento Sans" pitchFamily="34" charset="-120"/>
              </a:rPr>
              <a:t> Add CPU/RAM. Traditional SQL — expensive with limits.</a:t>
            </a:r>
            <a:endParaRPr lang="en-US" dirty="0"/>
          </a:p>
          <a:p>
            <a:pPr marL="285750" indent="-285750" algn="l">
              <a:lnSpc>
                <a:spcPct val="150000"/>
              </a:lnSpc>
              <a:buFont typeface="Arial" panose="020B0604020202020204" pitchFamily="34" charset="0"/>
              <a:buChar char="•"/>
            </a:pPr>
            <a:r>
              <a:rPr lang="en-US" b="1" dirty="0" smtClean="0">
                <a:solidFill>
                  <a:srgbClr val="333333"/>
                </a:solidFill>
                <a:ea typeface="Quattrocento Sans" pitchFamily="34" charset="-122"/>
                <a:cs typeface="Quattrocento Sans" pitchFamily="34" charset="-120"/>
              </a:rPr>
              <a:t>Cassandra</a:t>
            </a:r>
            <a:r>
              <a:rPr lang="en-US" dirty="0" smtClean="0">
                <a:solidFill>
                  <a:srgbClr val="333333"/>
                </a:solidFill>
                <a:ea typeface="Quattrocento Sans" pitchFamily="34" charset="-122"/>
                <a:cs typeface="Quattrocento Sans" pitchFamily="34" charset="-120"/>
              </a:rPr>
              <a:t> </a:t>
            </a:r>
            <a:r>
              <a:rPr lang="en-US" dirty="0">
                <a:solidFill>
                  <a:srgbClr val="333333"/>
                </a:solidFill>
                <a:ea typeface="Quattrocento Sans" pitchFamily="34" charset="-122"/>
                <a:cs typeface="Quattrocento Sans" pitchFamily="34" charset="-120"/>
              </a:rPr>
              <a:t>is highly scalable.</a:t>
            </a:r>
            <a:endParaRPr lang="en-US" dirty="0"/>
          </a:p>
        </p:txBody>
      </p:sp>
      <p:graphicFrame>
        <p:nvGraphicFramePr>
          <p:cNvPr id="31" name="Chart 0"/>
          <p:cNvGraphicFramePr/>
          <p:nvPr>
            <p:extLst>
              <p:ext uri="{D42A27DB-BD31-4B8C-83A1-F6EECF244321}">
                <p14:modId xmlns:p14="http://schemas.microsoft.com/office/powerpoint/2010/main" val="1051182358"/>
              </p:ext>
            </p:extLst>
          </p:nvPr>
        </p:nvGraphicFramePr>
        <p:xfrm>
          <a:off x="2540000" y="6070600"/>
          <a:ext cx="13208000" cy="2946400"/>
        </p:xfrm>
        <a:graphic>
          <a:graphicData uri="http://schemas.openxmlformats.org/drawingml/2006/chart">
            <c:chart xmlns:c="http://schemas.openxmlformats.org/drawingml/2006/chart" xmlns:r="http://schemas.openxmlformats.org/officeDocument/2006/relationships" r:id="rId3"/>
          </a:graphicData>
        </a:graphic>
      </p:graphicFrame>
      <p:sp>
        <p:nvSpPr>
          <p:cNvPr id="32" name="Rounded Rectangle 31"/>
          <p:cNvSpPr/>
          <p:nvPr/>
        </p:nvSpPr>
        <p:spPr>
          <a:xfrm>
            <a:off x="0" y="5550982"/>
            <a:ext cx="2214372" cy="836035"/>
          </a:xfrm>
          <a:prstGeom prst="roundRect">
            <a:avLst/>
          </a:prstGeom>
          <a:solidFill>
            <a:srgbClr val="FF000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54845643"/>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5550982"/>
            <a:ext cx="2214372" cy="836035"/>
          </a:xfrm>
          <a:prstGeom prst="roundRect">
            <a:avLst/>
          </a:prstGeom>
          <a:solidFill>
            <a:srgbClr val="FF000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a:off x="2532226" y="1199882"/>
            <a:ext cx="8951214" cy="7786747"/>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sz="2000" b="1" dirty="0">
                <a:latin typeface="Cambria" panose="02040503050406030204" pitchFamily="18" charset="0"/>
                <a:ea typeface="Cambria" panose="02040503050406030204" pitchFamily="18" charset="0"/>
              </a:rPr>
              <a:t>1. Complexity</a:t>
            </a:r>
          </a:p>
          <a:p>
            <a:pPr marL="800100" lvl="1"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Real-Time Processing (90)</a:t>
            </a:r>
            <a:r>
              <a:rPr lang="en-US" sz="2000" dirty="0">
                <a:latin typeface="Cambria" panose="02040503050406030204" pitchFamily="18" charset="0"/>
                <a:ea typeface="Cambria" panose="02040503050406030204" pitchFamily="18" charset="0"/>
              </a:rPr>
              <a:t> has the highest complexity because it requires immediate response, continuous monitoring, fault tolerance, and sophisticated infrastructure. </a:t>
            </a:r>
          </a:p>
          <a:p>
            <a:pPr marL="800100" lvl="1"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Stream Processing (75)</a:t>
            </a:r>
            <a:r>
              <a:rPr lang="en-US" sz="2000" dirty="0">
                <a:latin typeface="Cambria" panose="02040503050406030204" pitchFamily="18" charset="0"/>
                <a:ea typeface="Cambria" panose="02040503050406030204" pitchFamily="18" charset="0"/>
              </a:rPr>
              <a:t> is moderately complex. </a:t>
            </a:r>
          </a:p>
          <a:p>
            <a:pPr marL="800100" lvl="1"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Batch Processing (60)</a:t>
            </a:r>
            <a:r>
              <a:rPr lang="en-US" sz="2000" dirty="0">
                <a:latin typeface="Cambria" panose="02040503050406030204" pitchFamily="18" charset="0"/>
                <a:ea typeface="Cambria" panose="02040503050406030204" pitchFamily="18" charset="0"/>
              </a:rPr>
              <a:t> is comparatively simpler to implement and manage. </a:t>
            </a:r>
          </a:p>
          <a:p>
            <a:r>
              <a:rPr lang="en-US" sz="2000" b="1" dirty="0">
                <a:latin typeface="Cambria" panose="02040503050406030204" pitchFamily="18" charset="0"/>
                <a:ea typeface="Cambria" panose="02040503050406030204" pitchFamily="18" charset="0"/>
              </a:rPr>
              <a:t>2. Scalability</a:t>
            </a:r>
          </a:p>
          <a:p>
            <a:pPr marL="800100" lvl="1"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Batch Processing (90)</a:t>
            </a:r>
            <a:r>
              <a:rPr lang="en-US" sz="2000" dirty="0">
                <a:latin typeface="Cambria" panose="02040503050406030204" pitchFamily="18" charset="0"/>
                <a:ea typeface="Cambria" panose="02040503050406030204" pitchFamily="18" charset="0"/>
              </a:rPr>
              <a:t> scales very well for large volumes of historical data. </a:t>
            </a:r>
          </a:p>
          <a:p>
            <a:pPr marL="800100" lvl="1"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Stream Processing (85)</a:t>
            </a:r>
            <a:r>
              <a:rPr lang="en-US" sz="2000" dirty="0">
                <a:latin typeface="Cambria" panose="02040503050406030204" pitchFamily="18" charset="0"/>
                <a:ea typeface="Cambria" panose="02040503050406030204" pitchFamily="18" charset="0"/>
              </a:rPr>
              <a:t> also scales effectively with distributed systems. </a:t>
            </a:r>
          </a:p>
          <a:p>
            <a:pPr marL="800100" lvl="1"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Real-Time Processing (75)</a:t>
            </a:r>
            <a:r>
              <a:rPr lang="en-US" sz="2000" dirty="0">
                <a:latin typeface="Cambria" panose="02040503050406030204" pitchFamily="18" charset="0"/>
                <a:ea typeface="Cambria" panose="02040503050406030204" pitchFamily="18" charset="0"/>
              </a:rPr>
              <a:t> is scalable but maintaining very low latency at scale is challenging. </a:t>
            </a:r>
          </a:p>
          <a:p>
            <a:r>
              <a:rPr lang="en-US" sz="2000" b="1" dirty="0">
                <a:latin typeface="Cambria" panose="02040503050406030204" pitchFamily="18" charset="0"/>
                <a:ea typeface="Cambria" panose="02040503050406030204" pitchFamily="18" charset="0"/>
              </a:rPr>
              <a:t>3. Throughput</a:t>
            </a:r>
          </a:p>
          <a:p>
            <a:pPr marL="800100" lvl="1"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Batch Processing (95)</a:t>
            </a:r>
            <a:r>
              <a:rPr lang="en-US" sz="2000" dirty="0">
                <a:latin typeface="Cambria" panose="02040503050406030204" pitchFamily="18" charset="0"/>
                <a:ea typeface="Cambria" panose="02040503050406030204" pitchFamily="18" charset="0"/>
              </a:rPr>
              <a:t> achieves the highest throughput because data is processed in large chunks. </a:t>
            </a:r>
          </a:p>
          <a:p>
            <a:pPr marL="800100" lvl="1"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Stream Processing (70)</a:t>
            </a:r>
            <a:r>
              <a:rPr lang="en-US" sz="2000" dirty="0">
                <a:latin typeface="Cambria" panose="02040503050406030204" pitchFamily="18" charset="0"/>
                <a:ea typeface="Cambria" panose="02040503050406030204" pitchFamily="18" charset="0"/>
              </a:rPr>
              <a:t> provides moderate throughput. </a:t>
            </a:r>
          </a:p>
          <a:p>
            <a:pPr marL="800100" lvl="1"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Real-Time Processing (60)</a:t>
            </a:r>
            <a:r>
              <a:rPr lang="en-US" sz="2000" dirty="0">
                <a:latin typeface="Cambria" panose="02040503050406030204" pitchFamily="18" charset="0"/>
                <a:ea typeface="Cambria" panose="02040503050406030204" pitchFamily="18" charset="0"/>
              </a:rPr>
              <a:t> sacrifices throughput to achieve immediate response. </a:t>
            </a:r>
          </a:p>
          <a:p>
            <a:r>
              <a:rPr lang="en-US" sz="2000" b="1" dirty="0">
                <a:latin typeface="Cambria" panose="02040503050406030204" pitchFamily="18" charset="0"/>
                <a:ea typeface="Cambria" panose="02040503050406030204" pitchFamily="18" charset="0"/>
              </a:rPr>
              <a:t>4. Latency</a:t>
            </a:r>
          </a:p>
          <a:p>
            <a:pPr marL="800100" lvl="1"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Real-Time Processing (95)</a:t>
            </a:r>
            <a:r>
              <a:rPr lang="en-US" sz="2000" dirty="0">
                <a:latin typeface="Cambria" panose="02040503050406030204" pitchFamily="18" charset="0"/>
                <a:ea typeface="Cambria" panose="02040503050406030204" pitchFamily="18" charset="0"/>
              </a:rPr>
              <a:t> provides the lowest delay and fastest response. </a:t>
            </a:r>
          </a:p>
          <a:p>
            <a:pPr marL="800100" lvl="1"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Stream Processing (85)</a:t>
            </a:r>
            <a:r>
              <a:rPr lang="en-US" sz="2000" dirty="0">
                <a:latin typeface="Cambria" panose="02040503050406030204" pitchFamily="18" charset="0"/>
                <a:ea typeface="Cambria" panose="02040503050406030204" pitchFamily="18" charset="0"/>
              </a:rPr>
              <a:t> offers near real-time responses. </a:t>
            </a:r>
          </a:p>
          <a:p>
            <a:pPr marL="800100" lvl="1" indent="-342900">
              <a:buFont typeface="Arial" panose="020B0604020202020204" pitchFamily="34" charset="0"/>
              <a:buChar char="•"/>
            </a:pPr>
            <a:r>
              <a:rPr lang="en-US" sz="2000" b="1" dirty="0">
                <a:latin typeface="Cambria" panose="02040503050406030204" pitchFamily="18" charset="0"/>
                <a:ea typeface="Cambria" panose="02040503050406030204" pitchFamily="18" charset="0"/>
              </a:rPr>
              <a:t>Batch Processing (30)</a:t>
            </a:r>
            <a:r>
              <a:rPr lang="en-US" sz="2000" dirty="0">
                <a:latin typeface="Cambria" panose="02040503050406030204" pitchFamily="18" charset="0"/>
                <a:ea typeface="Cambria" panose="02040503050406030204" pitchFamily="18" charset="0"/>
              </a:rPr>
              <a:t> has high latency because data is processed periodically rather than instantly.</a:t>
            </a:r>
          </a:p>
        </p:txBody>
      </p:sp>
      <p:sp>
        <p:nvSpPr>
          <p:cNvPr id="6" name="Rectangle 5"/>
          <p:cNvSpPr/>
          <p:nvPr/>
        </p:nvSpPr>
        <p:spPr>
          <a:xfrm>
            <a:off x="11637819" y="1199882"/>
            <a:ext cx="4425538" cy="769441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900" dirty="0">
                <a:latin typeface="Cambria" panose="02040503050406030204" pitchFamily="18" charset="0"/>
                <a:ea typeface="Cambria" panose="02040503050406030204" pitchFamily="18" charset="0"/>
              </a:rPr>
              <a:t>✅ </a:t>
            </a:r>
            <a:r>
              <a:rPr lang="en-US" sz="1900" b="1" dirty="0">
                <a:latin typeface="Cambria" panose="02040503050406030204" pitchFamily="18" charset="0"/>
                <a:ea typeface="Cambria" panose="02040503050406030204" pitchFamily="18" charset="0"/>
              </a:rPr>
              <a:t>Real-Time Processing</a:t>
            </a:r>
            <a:endParaRPr lang="en-US" sz="1900" dirty="0">
              <a:latin typeface="Cambria" panose="02040503050406030204" pitchFamily="18" charset="0"/>
              <a:ea typeface="Cambria" panose="02040503050406030204" pitchFamily="18" charset="0"/>
            </a:endParaRPr>
          </a:p>
          <a:p>
            <a:pPr marL="742950" lvl="1" indent="-285750">
              <a:buFont typeface="Arial" panose="020B0604020202020204" pitchFamily="34" charset="0"/>
              <a:buChar char="•"/>
            </a:pPr>
            <a:r>
              <a:rPr lang="en-US" sz="1900" dirty="0">
                <a:latin typeface="Cambria" panose="02040503050406030204" pitchFamily="18" charset="0"/>
                <a:ea typeface="Cambria" panose="02040503050406030204" pitchFamily="18" charset="0"/>
              </a:rPr>
              <a:t>Best for applications requiring immediate decisions. </a:t>
            </a:r>
          </a:p>
          <a:p>
            <a:pPr marL="742950" lvl="1" indent="-285750">
              <a:buFont typeface="Arial" panose="020B0604020202020204" pitchFamily="34" charset="0"/>
              <a:buChar char="•"/>
            </a:pPr>
            <a:r>
              <a:rPr lang="en-US" sz="1900" dirty="0">
                <a:latin typeface="Cambria" panose="02040503050406030204" pitchFamily="18" charset="0"/>
                <a:ea typeface="Cambria" panose="02040503050406030204" pitchFamily="18" charset="0"/>
              </a:rPr>
              <a:t>Highest latency performance (fastest response). </a:t>
            </a:r>
          </a:p>
          <a:p>
            <a:pPr marL="742950" lvl="1" indent="-285750">
              <a:buFont typeface="Arial" panose="020B0604020202020204" pitchFamily="34" charset="0"/>
              <a:buChar char="•"/>
            </a:pPr>
            <a:r>
              <a:rPr lang="en-US" sz="1900" dirty="0">
                <a:latin typeface="Cambria" panose="02040503050406030204" pitchFamily="18" charset="0"/>
                <a:ea typeface="Cambria" panose="02040503050406030204" pitchFamily="18" charset="0"/>
              </a:rPr>
              <a:t>Most complex to implement. </a:t>
            </a:r>
          </a:p>
          <a:p>
            <a:pPr marL="742950" lvl="1" indent="-285750">
              <a:buFont typeface="Arial" panose="020B0604020202020204" pitchFamily="34" charset="0"/>
              <a:buChar char="•"/>
            </a:pPr>
            <a:r>
              <a:rPr lang="en-US" sz="1900" dirty="0">
                <a:latin typeface="Cambria" panose="02040503050406030204" pitchFamily="18" charset="0"/>
                <a:ea typeface="Cambria" panose="02040503050406030204" pitchFamily="18" charset="0"/>
              </a:rPr>
              <a:t>Examples: Autonomous vehicles, stock trading, medical monitoring. </a:t>
            </a:r>
          </a:p>
          <a:p>
            <a:r>
              <a:rPr lang="en-US" sz="1900" dirty="0">
                <a:latin typeface="Cambria" panose="02040503050406030204" pitchFamily="18" charset="0"/>
                <a:ea typeface="Cambria" panose="02040503050406030204" pitchFamily="18" charset="0"/>
              </a:rPr>
              <a:t>✅ </a:t>
            </a:r>
            <a:r>
              <a:rPr lang="en-US" sz="1900" b="1" dirty="0">
                <a:latin typeface="Cambria" panose="02040503050406030204" pitchFamily="18" charset="0"/>
                <a:ea typeface="Cambria" panose="02040503050406030204" pitchFamily="18" charset="0"/>
              </a:rPr>
              <a:t>Stream Processing</a:t>
            </a:r>
            <a:endParaRPr lang="en-US" sz="1900" dirty="0">
              <a:latin typeface="Cambria" panose="02040503050406030204" pitchFamily="18" charset="0"/>
              <a:ea typeface="Cambria" panose="02040503050406030204" pitchFamily="18" charset="0"/>
            </a:endParaRPr>
          </a:p>
          <a:p>
            <a:pPr marL="742950" lvl="1" indent="-285750">
              <a:buFont typeface="Arial" panose="020B0604020202020204" pitchFamily="34" charset="0"/>
              <a:buChar char="•"/>
            </a:pPr>
            <a:r>
              <a:rPr lang="en-US" sz="1900" dirty="0">
                <a:latin typeface="Cambria" panose="02040503050406030204" pitchFamily="18" charset="0"/>
                <a:ea typeface="Cambria" panose="02040503050406030204" pitchFamily="18" charset="0"/>
              </a:rPr>
              <a:t>Balances latency and scalability. </a:t>
            </a:r>
          </a:p>
          <a:p>
            <a:pPr marL="742950" lvl="1" indent="-285750">
              <a:buFont typeface="Arial" panose="020B0604020202020204" pitchFamily="34" charset="0"/>
              <a:buChar char="•"/>
            </a:pPr>
            <a:r>
              <a:rPr lang="en-US" sz="1900" dirty="0">
                <a:latin typeface="Cambria" panose="02040503050406030204" pitchFamily="18" charset="0"/>
                <a:ea typeface="Cambria" panose="02040503050406030204" pitchFamily="18" charset="0"/>
              </a:rPr>
              <a:t>Suitable for continuous data flows. </a:t>
            </a:r>
          </a:p>
          <a:p>
            <a:pPr marL="742950" lvl="1" indent="-285750">
              <a:buFont typeface="Arial" panose="020B0604020202020204" pitchFamily="34" charset="0"/>
              <a:buChar char="•"/>
            </a:pPr>
            <a:r>
              <a:rPr lang="en-US" sz="1900" dirty="0">
                <a:latin typeface="Cambria" panose="02040503050406030204" pitchFamily="18" charset="0"/>
                <a:ea typeface="Cambria" panose="02040503050406030204" pitchFamily="18" charset="0"/>
              </a:rPr>
              <a:t>Examples: IoT analytics, fraud detection, social media monitoring. </a:t>
            </a:r>
          </a:p>
          <a:p>
            <a:r>
              <a:rPr lang="en-US" sz="1900" dirty="0">
                <a:latin typeface="Cambria" panose="02040503050406030204" pitchFamily="18" charset="0"/>
                <a:ea typeface="Cambria" panose="02040503050406030204" pitchFamily="18" charset="0"/>
              </a:rPr>
              <a:t>✅ </a:t>
            </a:r>
            <a:r>
              <a:rPr lang="en-US" sz="1900" b="1" dirty="0">
                <a:latin typeface="Cambria" panose="02040503050406030204" pitchFamily="18" charset="0"/>
                <a:ea typeface="Cambria" panose="02040503050406030204" pitchFamily="18" charset="0"/>
              </a:rPr>
              <a:t>Batch Processing</a:t>
            </a:r>
            <a:endParaRPr lang="en-US" sz="1900" dirty="0">
              <a:latin typeface="Cambria" panose="02040503050406030204" pitchFamily="18" charset="0"/>
              <a:ea typeface="Cambria" panose="02040503050406030204" pitchFamily="18" charset="0"/>
            </a:endParaRPr>
          </a:p>
          <a:p>
            <a:pPr marL="742950" lvl="1" indent="-285750">
              <a:buFont typeface="Arial" panose="020B0604020202020204" pitchFamily="34" charset="0"/>
              <a:buChar char="•"/>
            </a:pPr>
            <a:r>
              <a:rPr lang="en-US" sz="1900" dirty="0">
                <a:latin typeface="Cambria" panose="02040503050406030204" pitchFamily="18" charset="0"/>
                <a:ea typeface="Cambria" panose="02040503050406030204" pitchFamily="18" charset="0"/>
              </a:rPr>
              <a:t>Best for processing massive datasets. </a:t>
            </a:r>
          </a:p>
          <a:p>
            <a:pPr marL="742950" lvl="1" indent="-285750">
              <a:buFont typeface="Arial" panose="020B0604020202020204" pitchFamily="34" charset="0"/>
              <a:buChar char="•"/>
            </a:pPr>
            <a:r>
              <a:rPr lang="en-US" sz="1900" dirty="0">
                <a:latin typeface="Cambria" panose="02040503050406030204" pitchFamily="18" charset="0"/>
                <a:ea typeface="Cambria" panose="02040503050406030204" pitchFamily="18" charset="0"/>
              </a:rPr>
              <a:t>Highest throughput and scalability. </a:t>
            </a:r>
          </a:p>
          <a:p>
            <a:pPr marL="742950" lvl="1" indent="-285750">
              <a:buFont typeface="Arial" panose="020B0604020202020204" pitchFamily="34" charset="0"/>
              <a:buChar char="•"/>
            </a:pPr>
            <a:r>
              <a:rPr lang="en-US" sz="1900" dirty="0">
                <a:latin typeface="Cambria" panose="02040503050406030204" pitchFamily="18" charset="0"/>
                <a:ea typeface="Cambria" panose="02040503050406030204" pitchFamily="18" charset="0"/>
              </a:rPr>
              <a:t>Not suitable when instant responses are required. </a:t>
            </a:r>
          </a:p>
          <a:p>
            <a:pPr marL="742950" lvl="1" indent="-285750">
              <a:buFont typeface="Arial" panose="020B0604020202020204" pitchFamily="34" charset="0"/>
              <a:buChar char="•"/>
            </a:pPr>
            <a:r>
              <a:rPr lang="en-US" sz="1900" dirty="0">
                <a:latin typeface="Cambria" panose="02040503050406030204" pitchFamily="18" charset="0"/>
                <a:ea typeface="Cambria" panose="02040503050406030204" pitchFamily="18" charset="0"/>
              </a:rPr>
              <a:t>Examples: Payroll processing, data warehousing, monthly reports.</a:t>
            </a:r>
          </a:p>
        </p:txBody>
      </p:sp>
    </p:spTree>
    <p:extLst>
      <p:ext uri="{BB962C8B-B14F-4D97-AF65-F5344CB8AC3E}">
        <p14:creationId xmlns:p14="http://schemas.microsoft.com/office/powerpoint/2010/main" val="399246649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sp>
      <p:sp>
        <p:nvSpPr>
          <p:cNvPr id="12" name="Shape 10"/>
          <p:cNvSpPr/>
          <p:nvPr/>
        </p:nvSpPr>
        <p:spPr>
          <a:xfrm>
            <a:off x="1066800" y="8864600"/>
            <a:ext cx="152400" cy="152400"/>
          </a:xfrm>
          <a:prstGeom prst="diamond">
            <a:avLst/>
          </a:prstGeom>
          <a:solidFill>
            <a:srgbClr val="00ACC1"/>
          </a:solidFill>
          <a:ln/>
        </p:spPr>
      </p:sp>
      <p:sp>
        <p:nvSpPr>
          <p:cNvPr id="15" name="Text 13"/>
          <p:cNvSpPr/>
          <p:nvPr/>
        </p:nvSpPr>
        <p:spPr>
          <a:xfrm>
            <a:off x="15621000" y="0"/>
            <a:ext cx="635000" cy="635000"/>
          </a:xfrm>
          <a:prstGeom prst="rect">
            <a:avLst/>
          </a:prstGeom>
          <a:noFill/>
          <a:ln/>
        </p:spPr>
        <p:txBody>
          <a:bodyPr wrap="none" lIns="0" tIns="0" rIns="0" bIns="0" rtlCol="0" anchor="ctr"/>
          <a:lstStyle/>
          <a:p>
            <a:pPr algn="r">
              <a:lnSpc>
                <a:spcPct val="120000"/>
              </a:lnSpc>
            </a:pPr>
            <a:r>
              <a:rPr lang="en-US" sz="1400" dirty="0">
                <a:solidFill>
                  <a:srgbClr val="005C82"/>
                </a:solidFill>
                <a:latin typeface="Quattrocento Sans" pitchFamily="34" charset="0"/>
                <a:ea typeface="Quattrocento Sans" pitchFamily="34" charset="-122"/>
                <a:cs typeface="Quattrocento Sans" pitchFamily="34" charset="-120"/>
              </a:rPr>
              <a:t>9</a:t>
            </a:r>
            <a:endParaRPr lang="en-US" sz="1400" dirty="0"/>
          </a:p>
        </p:txBody>
      </p:sp>
      <p:sp>
        <p:nvSpPr>
          <p:cNvPr id="5" name="Text 14"/>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smtClean="0">
                <a:solidFill>
                  <a:srgbClr val="005C82"/>
                </a:solidFill>
                <a:latin typeface="Quattrocento Sans" pitchFamily="34" charset="0"/>
                <a:ea typeface="Quattrocento Sans" pitchFamily="34" charset="-122"/>
                <a:cs typeface="Quattrocento Sans" pitchFamily="34" charset="-120"/>
              </a:rPr>
              <a:t>6. CAP </a:t>
            </a:r>
            <a:r>
              <a:rPr lang="en-US" sz="2400" b="1" dirty="0">
                <a:solidFill>
                  <a:srgbClr val="005C82"/>
                </a:solidFill>
                <a:latin typeface="Quattrocento Sans" pitchFamily="34" charset="0"/>
                <a:ea typeface="Quattrocento Sans" pitchFamily="34" charset="-122"/>
                <a:cs typeface="Quattrocento Sans" pitchFamily="34" charset="-120"/>
              </a:rPr>
              <a:t>Theorem &amp; Database Comparison</a:t>
            </a:r>
            <a:endParaRPr lang="en-US" sz="2400" dirty="0"/>
          </a:p>
        </p:txBody>
      </p:sp>
      <p:sp>
        <p:nvSpPr>
          <p:cNvPr id="6" name="Shape 15"/>
          <p:cNvSpPr/>
          <p:nvPr/>
        </p:nvSpPr>
        <p:spPr>
          <a:xfrm>
            <a:off x="2540000" y="1397000"/>
            <a:ext cx="13208000" cy="12700"/>
          </a:xfrm>
          <a:prstGeom prst="rect">
            <a:avLst/>
          </a:prstGeom>
          <a:solidFill>
            <a:srgbClr val="B0BEC5"/>
          </a:solidFill>
          <a:ln/>
        </p:spPr>
      </p:sp>
      <p:sp>
        <p:nvSpPr>
          <p:cNvPr id="8" name="Shape 16"/>
          <p:cNvSpPr/>
          <p:nvPr/>
        </p:nvSpPr>
        <p:spPr>
          <a:xfrm>
            <a:off x="8431480" y="1574799"/>
            <a:ext cx="7316519" cy="3258457"/>
          </a:xfrm>
          <a:prstGeom prst="roundRect">
            <a:avLst>
              <a:gd name="adj" fmla="val 4000"/>
            </a:avLst>
          </a:prstGeom>
          <a:solidFill>
            <a:srgbClr val="E0F4FA"/>
          </a:solidFill>
          <a:ln w="12700">
            <a:solidFill>
              <a:srgbClr val="B0BEC5"/>
            </a:solidFill>
            <a:prstDash val="solid"/>
          </a:ln>
        </p:spPr>
      </p:sp>
      <p:sp>
        <p:nvSpPr>
          <p:cNvPr id="9" name="Text 17"/>
          <p:cNvSpPr/>
          <p:nvPr/>
        </p:nvSpPr>
        <p:spPr>
          <a:xfrm>
            <a:off x="8668986" y="1701799"/>
            <a:ext cx="6875813" cy="2775197"/>
          </a:xfrm>
          <a:prstGeom prst="rect">
            <a:avLst/>
          </a:prstGeom>
          <a:noFill/>
          <a:ln/>
        </p:spPr>
        <p:txBody>
          <a:bodyPr wrap="square" lIns="0" tIns="0" rIns="0" bIns="0" rtlCol="0" anchor="t"/>
          <a:lstStyle/>
          <a:p>
            <a:pPr algn="just">
              <a:lnSpc>
                <a:spcPct val="160000"/>
              </a:lnSpc>
            </a:pPr>
            <a:r>
              <a:rPr lang="en-US" sz="2400" b="1" dirty="0">
                <a:solidFill>
                  <a:srgbClr val="C00000"/>
                </a:solidFill>
                <a:latin typeface="Quattrocento Sans" pitchFamily="34" charset="0"/>
                <a:ea typeface="Quattrocento Sans" pitchFamily="34" charset="-122"/>
                <a:cs typeface="Quattrocento Sans" pitchFamily="34" charset="-120"/>
              </a:rPr>
              <a:t>CAP Theorem (Brewer's Theorem):</a:t>
            </a:r>
            <a:r>
              <a:rPr lang="en-US" sz="2400" dirty="0">
                <a:solidFill>
                  <a:srgbClr val="C00000"/>
                </a:solidFill>
                <a:latin typeface="Quattrocento Sans" pitchFamily="34" charset="0"/>
                <a:ea typeface="Quattrocento Sans" pitchFamily="34" charset="-122"/>
                <a:cs typeface="Quattrocento Sans" pitchFamily="34" charset="-120"/>
              </a:rPr>
              <a:t> A distributed data system can provide at most </a:t>
            </a:r>
            <a:r>
              <a:rPr lang="en-US" sz="2400" b="1" dirty="0">
                <a:solidFill>
                  <a:srgbClr val="C00000"/>
                </a:solidFill>
                <a:latin typeface="Quattrocento Sans" pitchFamily="34" charset="0"/>
                <a:ea typeface="Quattrocento Sans" pitchFamily="34" charset="-122"/>
                <a:cs typeface="Quattrocento Sans" pitchFamily="34" charset="-120"/>
              </a:rPr>
              <a:t>two of three</a:t>
            </a:r>
            <a:r>
              <a:rPr lang="en-US" sz="2400" dirty="0">
                <a:solidFill>
                  <a:srgbClr val="C00000"/>
                </a:solidFill>
                <a:latin typeface="Quattrocento Sans" pitchFamily="34" charset="0"/>
                <a:ea typeface="Quattrocento Sans" pitchFamily="34" charset="-122"/>
                <a:cs typeface="Quattrocento Sans" pitchFamily="34" charset="-120"/>
              </a:rPr>
              <a:t> guarantees simultaneously. Since network partitions are inevitable, systems must choose between </a:t>
            </a:r>
            <a:r>
              <a:rPr lang="en-US" sz="2400" b="1" dirty="0">
                <a:solidFill>
                  <a:srgbClr val="C00000"/>
                </a:solidFill>
                <a:latin typeface="Quattrocento Sans" pitchFamily="34" charset="0"/>
                <a:ea typeface="Quattrocento Sans" pitchFamily="34" charset="-122"/>
                <a:cs typeface="Quattrocento Sans" pitchFamily="34" charset="-120"/>
              </a:rPr>
              <a:t>Consistency</a:t>
            </a:r>
            <a:r>
              <a:rPr lang="en-US" sz="2400" dirty="0">
                <a:solidFill>
                  <a:srgbClr val="C00000"/>
                </a:solidFill>
                <a:latin typeface="Quattrocento Sans" pitchFamily="34" charset="0"/>
                <a:ea typeface="Quattrocento Sans" pitchFamily="34" charset="-122"/>
                <a:cs typeface="Quattrocento Sans" pitchFamily="34" charset="-120"/>
              </a:rPr>
              <a:t> and </a:t>
            </a:r>
            <a:r>
              <a:rPr lang="en-US" sz="2400" b="1" dirty="0">
                <a:solidFill>
                  <a:srgbClr val="C00000"/>
                </a:solidFill>
                <a:latin typeface="Quattrocento Sans" pitchFamily="34" charset="0"/>
                <a:ea typeface="Quattrocento Sans" pitchFamily="34" charset="-122"/>
                <a:cs typeface="Quattrocento Sans" pitchFamily="34" charset="-120"/>
              </a:rPr>
              <a:t>Availability</a:t>
            </a:r>
            <a:r>
              <a:rPr lang="en-US" sz="2400" dirty="0">
                <a:solidFill>
                  <a:srgbClr val="C00000"/>
                </a:solidFill>
                <a:latin typeface="Quattrocento Sans" pitchFamily="34" charset="0"/>
                <a:ea typeface="Quattrocento Sans" pitchFamily="34" charset="-122"/>
                <a:cs typeface="Quattrocento Sans" pitchFamily="34" charset="-120"/>
              </a:rPr>
              <a:t>.</a:t>
            </a:r>
            <a:endParaRPr lang="en-US" sz="2400" dirty="0">
              <a:solidFill>
                <a:srgbClr val="C00000"/>
              </a:solidFill>
            </a:endParaRPr>
          </a:p>
        </p:txBody>
      </p:sp>
      <p:graphicFrame>
        <p:nvGraphicFramePr>
          <p:cNvPr id="10" name="Table 0"/>
          <p:cNvGraphicFramePr>
            <a:graphicFrameLocks noGrp="1"/>
          </p:cNvGraphicFramePr>
          <p:nvPr>
            <p:extLst>
              <p:ext uri="{D42A27DB-BD31-4B8C-83A1-F6EECF244321}">
                <p14:modId xmlns:p14="http://schemas.microsoft.com/office/powerpoint/2010/main" val="1739408334"/>
              </p:ext>
            </p:extLst>
          </p:nvPr>
        </p:nvGraphicFramePr>
        <p:xfrm>
          <a:off x="8431480" y="5082638"/>
          <a:ext cx="7433724" cy="3277592"/>
        </p:xfrm>
        <a:graphic>
          <a:graphicData uri="http://schemas.openxmlformats.org/drawingml/2006/table">
            <a:tbl>
              <a:tblPr/>
              <a:tblGrid>
                <a:gridCol w="1858431">
                  <a:extLst>
                    <a:ext uri="{9D8B030D-6E8A-4147-A177-3AD203B41FA5}">
                      <a16:colId xmlns:a16="http://schemas.microsoft.com/office/drawing/2014/main" xmlns="" val="20000"/>
                    </a:ext>
                  </a:extLst>
                </a:gridCol>
                <a:gridCol w="2973490">
                  <a:extLst>
                    <a:ext uri="{9D8B030D-6E8A-4147-A177-3AD203B41FA5}">
                      <a16:colId xmlns:a16="http://schemas.microsoft.com/office/drawing/2014/main" xmlns="" val="20001"/>
                    </a:ext>
                  </a:extLst>
                </a:gridCol>
                <a:gridCol w="2601803">
                  <a:extLst>
                    <a:ext uri="{9D8B030D-6E8A-4147-A177-3AD203B41FA5}">
                      <a16:colId xmlns:a16="http://schemas.microsoft.com/office/drawing/2014/main" xmlns="" val="20002"/>
                    </a:ext>
                  </a:extLst>
                </a:gridCol>
              </a:tblGrid>
              <a:tr h="673541">
                <a:tc>
                  <a:txBody>
                    <a:bodyPr/>
                    <a:lstStyle/>
                    <a:p>
                      <a:pPr algn="ctr"/>
                      <a:r>
                        <a:rPr lang="en-US" sz="2400" b="1" dirty="0">
                          <a:solidFill>
                            <a:srgbClr val="FFFFFF"/>
                          </a:solidFill>
                        </a:rPr>
                        <a:t>Property</a:t>
                      </a:r>
                      <a:endParaRPr lang="en-US" sz="24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ctr"/>
                      <a:r>
                        <a:rPr lang="en-US" sz="2400" b="1" dirty="0">
                          <a:solidFill>
                            <a:srgbClr val="FFFFFF"/>
                          </a:solidFill>
                        </a:rPr>
                        <a:t>Definition</a:t>
                      </a:r>
                      <a:endParaRPr lang="en-US" sz="24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ctr"/>
                      <a:r>
                        <a:rPr lang="en-US" sz="2400" b="1" dirty="0">
                          <a:solidFill>
                            <a:srgbClr val="FFFFFF"/>
                          </a:solidFill>
                        </a:rPr>
                        <a:t>Example</a:t>
                      </a:r>
                      <a:endParaRPr lang="en-US" sz="24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extLst>
                  <a:ext uri="{0D108BD9-81ED-4DB2-BD59-A6C34878D82A}">
                    <a16:rowId xmlns:a16="http://schemas.microsoft.com/office/drawing/2014/main" xmlns="" val="10000"/>
                  </a:ext>
                </a:extLst>
              </a:tr>
              <a:tr h="868017">
                <a:tc>
                  <a:txBody>
                    <a:bodyPr/>
                    <a:lstStyle/>
                    <a:p>
                      <a:pPr algn="ctr"/>
                      <a:r>
                        <a:rPr lang="en-US" sz="2400" dirty="0">
                          <a:solidFill>
                            <a:srgbClr val="333333"/>
                          </a:solidFill>
                        </a:rPr>
                        <a:t>Consistency</a:t>
                      </a:r>
                      <a:endParaRPr lang="en-US" sz="24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2400" dirty="0">
                          <a:solidFill>
                            <a:srgbClr val="333333"/>
                          </a:solidFill>
                        </a:rPr>
                        <a:t>Every read gets the most recent write</a:t>
                      </a:r>
                      <a:endParaRPr lang="en-US" sz="24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2400" dirty="0">
                          <a:solidFill>
                            <a:srgbClr val="333333"/>
                          </a:solidFill>
                        </a:rPr>
                        <a:t>HBase, MongoDB</a:t>
                      </a:r>
                      <a:endParaRPr lang="en-US" sz="24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xmlns="" val="10001"/>
                  </a:ext>
                </a:extLst>
              </a:tr>
              <a:tr h="868017">
                <a:tc>
                  <a:txBody>
                    <a:bodyPr/>
                    <a:lstStyle/>
                    <a:p>
                      <a:pPr algn="ctr"/>
                      <a:r>
                        <a:rPr lang="en-US" sz="2400" dirty="0">
                          <a:solidFill>
                            <a:srgbClr val="333333"/>
                          </a:solidFill>
                        </a:rPr>
                        <a:t>Availability</a:t>
                      </a:r>
                      <a:endParaRPr lang="en-US" sz="24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2400" dirty="0">
                          <a:solidFill>
                            <a:srgbClr val="333333"/>
                          </a:solidFill>
                        </a:rPr>
                        <a:t>Every request gets a response</a:t>
                      </a:r>
                      <a:endParaRPr lang="en-US" sz="24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2400" dirty="0">
                          <a:solidFill>
                            <a:srgbClr val="333333"/>
                          </a:solidFill>
                        </a:rPr>
                        <a:t>Cassandra, DynamoDB</a:t>
                      </a:r>
                      <a:endParaRPr lang="en-US" sz="24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extLst>
                  <a:ext uri="{0D108BD9-81ED-4DB2-BD59-A6C34878D82A}">
                    <a16:rowId xmlns:a16="http://schemas.microsoft.com/office/drawing/2014/main" xmlns="" val="10002"/>
                  </a:ext>
                </a:extLst>
              </a:tr>
              <a:tr h="868017">
                <a:tc>
                  <a:txBody>
                    <a:bodyPr/>
                    <a:lstStyle/>
                    <a:p>
                      <a:pPr algn="ctr"/>
                      <a:r>
                        <a:rPr lang="en-US" sz="2400" dirty="0">
                          <a:solidFill>
                            <a:srgbClr val="333333"/>
                          </a:solidFill>
                        </a:rPr>
                        <a:t>Partition Tolerance</a:t>
                      </a:r>
                      <a:endParaRPr lang="en-US" sz="24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2400" dirty="0">
                          <a:solidFill>
                            <a:srgbClr val="333333"/>
                          </a:solidFill>
                        </a:rPr>
                        <a:t>System operates despite partitions</a:t>
                      </a:r>
                      <a:endParaRPr lang="en-US" sz="24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2400" dirty="0">
                          <a:solidFill>
                            <a:srgbClr val="333333"/>
                          </a:solidFill>
                        </a:rPr>
                        <a:t>Required in all distributed systems</a:t>
                      </a:r>
                      <a:endParaRPr lang="en-US" sz="24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xmlns="" val="10003"/>
                  </a:ext>
                </a:extLst>
              </a:tr>
            </a:tbl>
          </a:graphicData>
        </a:graphic>
      </p:graphicFrame>
      <p:sp>
        <p:nvSpPr>
          <p:cNvPr id="18" name="Rounded Rectangle 17"/>
          <p:cNvSpPr/>
          <p:nvPr/>
        </p:nvSpPr>
        <p:spPr>
          <a:xfrm>
            <a:off x="0" y="6647599"/>
            <a:ext cx="2214372" cy="836035"/>
          </a:xfrm>
          <a:prstGeom prst="roundRect">
            <a:avLst/>
          </a:prstGeom>
          <a:solidFill>
            <a:srgbClr val="FF000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p:cNvPicPr>
            <a:picLocks noChangeAspect="1"/>
          </p:cNvPicPr>
          <p:nvPr/>
        </p:nvPicPr>
        <p:blipFill rotWithShape="1">
          <a:blip r:embed="rId3"/>
          <a:srcRect l="7445" t="10835" r="6286" b="7396"/>
          <a:stretch/>
        </p:blipFill>
        <p:spPr>
          <a:xfrm>
            <a:off x="2535381" y="1592897"/>
            <a:ext cx="5692899" cy="6541700"/>
          </a:xfrm>
          <a:prstGeom prst="rect">
            <a:avLst/>
          </a:prstGeom>
        </p:spPr>
      </p:pic>
    </p:spTree>
    <p:extLst>
      <p:ext uri="{BB962C8B-B14F-4D97-AF65-F5344CB8AC3E}">
        <p14:creationId xmlns:p14="http://schemas.microsoft.com/office/powerpoint/2010/main" val="263414469"/>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2621280" y="853440"/>
            <a:ext cx="12740640" cy="853440"/>
          </a:xfrm>
          <a:prstGeom prst="rect">
            <a:avLst/>
          </a:prstGeom>
          <a:noFill/>
          <a:ln/>
        </p:spPr>
        <p:txBody>
          <a:bodyPr wrap="square" rtlCol="0" anchor="ctr"/>
          <a:lstStyle/>
          <a:p>
            <a:r>
              <a:rPr lang="en-US" sz="4000" b="1" dirty="0">
                <a:solidFill>
                  <a:srgbClr val="1A1A2E"/>
                </a:solidFill>
                <a:latin typeface="Cambria" pitchFamily="34" charset="0"/>
                <a:ea typeface="Cambria" pitchFamily="34" charset="-122"/>
                <a:cs typeface="Cambria" pitchFamily="34" charset="-120"/>
              </a:rPr>
              <a:t>CAP Trade-Offs in Practice</a:t>
            </a:r>
            <a:endParaRPr lang="en-US" sz="4000" dirty="0"/>
          </a:p>
        </p:txBody>
      </p:sp>
      <p:sp>
        <p:nvSpPr>
          <p:cNvPr id="4" name="Text 2"/>
          <p:cNvSpPr/>
          <p:nvPr/>
        </p:nvSpPr>
        <p:spPr>
          <a:xfrm>
            <a:off x="2743200" y="1645920"/>
            <a:ext cx="12618720" cy="548640"/>
          </a:xfrm>
          <a:prstGeom prst="rect">
            <a:avLst/>
          </a:prstGeom>
          <a:noFill/>
          <a:ln/>
        </p:spPr>
        <p:txBody>
          <a:bodyPr wrap="square" rtlCol="0" anchor="ctr"/>
          <a:lstStyle/>
          <a:p>
            <a:r>
              <a:rPr lang="en-US" sz="2800" dirty="0">
                <a:solidFill>
                  <a:srgbClr val="44506B"/>
                </a:solidFill>
                <a:latin typeface="Calibri" pitchFamily="34" charset="0"/>
                <a:ea typeface="Calibri" pitchFamily="34" charset="-122"/>
                <a:cs typeface="Calibri" pitchFamily="34" charset="-120"/>
              </a:rPr>
              <a:t>Real distributed databases are built around one of three combinations</a:t>
            </a:r>
            <a:endParaRPr lang="en-US" sz="2800" dirty="0"/>
          </a:p>
        </p:txBody>
      </p:sp>
      <p:sp>
        <p:nvSpPr>
          <p:cNvPr id="5" name="Shape 3"/>
          <p:cNvSpPr/>
          <p:nvPr/>
        </p:nvSpPr>
        <p:spPr>
          <a:xfrm>
            <a:off x="2500944" y="2485347"/>
            <a:ext cx="12982896" cy="1828800"/>
          </a:xfrm>
          <a:prstGeom prst="roundRect">
            <a:avLst>
              <a:gd name="adj" fmla="val 6000"/>
            </a:avLst>
          </a:prstGeom>
          <a:solidFill>
            <a:srgbClr val="F4F6FA"/>
          </a:solidFill>
          <a:ln/>
        </p:spPr>
      </p:sp>
      <p:sp>
        <p:nvSpPr>
          <p:cNvPr id="6" name="Shape 4"/>
          <p:cNvSpPr/>
          <p:nvPr/>
        </p:nvSpPr>
        <p:spPr>
          <a:xfrm>
            <a:off x="2500944" y="2485347"/>
            <a:ext cx="1584960" cy="1828800"/>
          </a:xfrm>
          <a:prstGeom prst="roundRect">
            <a:avLst>
              <a:gd name="adj" fmla="val 6923"/>
            </a:avLst>
          </a:prstGeom>
          <a:solidFill>
            <a:srgbClr val="0B2545"/>
          </a:solidFill>
          <a:ln/>
        </p:spPr>
      </p:sp>
      <p:sp>
        <p:nvSpPr>
          <p:cNvPr id="7" name="Text 5"/>
          <p:cNvSpPr/>
          <p:nvPr/>
        </p:nvSpPr>
        <p:spPr>
          <a:xfrm>
            <a:off x="2500944" y="2499360"/>
            <a:ext cx="1584960" cy="1828800"/>
          </a:xfrm>
          <a:prstGeom prst="rect">
            <a:avLst/>
          </a:prstGeom>
          <a:noFill/>
          <a:ln/>
        </p:spPr>
        <p:txBody>
          <a:bodyPr wrap="square" lIns="0" tIns="0" rIns="0" bIns="0" rtlCol="0" anchor="ctr"/>
          <a:lstStyle/>
          <a:p>
            <a:pPr algn="ctr"/>
            <a:r>
              <a:rPr lang="en-US" sz="3467" b="1" dirty="0">
                <a:solidFill>
                  <a:srgbClr val="FFFFFF"/>
                </a:solidFill>
                <a:latin typeface="Cambria" pitchFamily="34" charset="0"/>
                <a:ea typeface="Cambria" pitchFamily="34" charset="-122"/>
                <a:cs typeface="Cambria" pitchFamily="34" charset="-120"/>
              </a:rPr>
              <a:t>CP</a:t>
            </a:r>
            <a:endParaRPr lang="en-US" sz="3467" dirty="0"/>
          </a:p>
        </p:txBody>
      </p:sp>
      <p:sp>
        <p:nvSpPr>
          <p:cNvPr id="8" name="Text 6"/>
          <p:cNvSpPr/>
          <p:nvPr/>
        </p:nvSpPr>
        <p:spPr>
          <a:xfrm>
            <a:off x="4390704" y="2680419"/>
            <a:ext cx="5242560" cy="853440"/>
          </a:xfrm>
          <a:prstGeom prst="rect">
            <a:avLst/>
          </a:prstGeom>
          <a:noFill/>
          <a:ln/>
        </p:spPr>
        <p:txBody>
          <a:bodyPr wrap="square" lIns="0" tIns="0" rIns="0" bIns="0" rtlCol="0" anchor="t"/>
          <a:lstStyle/>
          <a:p>
            <a:r>
              <a:rPr lang="en-US" sz="2400" b="1" dirty="0">
                <a:solidFill>
                  <a:srgbClr val="0B2545"/>
                </a:solidFill>
                <a:latin typeface="Calibri" pitchFamily="34" charset="0"/>
                <a:ea typeface="Calibri" pitchFamily="34" charset="-122"/>
                <a:cs typeface="Calibri" pitchFamily="34" charset="-120"/>
              </a:rPr>
              <a:t>Consistency + Partition Tolerance</a:t>
            </a:r>
            <a:endParaRPr lang="en-US" sz="2400" dirty="0"/>
          </a:p>
        </p:txBody>
      </p:sp>
      <p:sp>
        <p:nvSpPr>
          <p:cNvPr id="9" name="Text 7"/>
          <p:cNvSpPr/>
          <p:nvPr/>
        </p:nvSpPr>
        <p:spPr>
          <a:xfrm>
            <a:off x="4390704" y="3315314"/>
            <a:ext cx="5242560" cy="792480"/>
          </a:xfrm>
          <a:prstGeom prst="rect">
            <a:avLst/>
          </a:prstGeom>
          <a:noFill/>
          <a:ln/>
        </p:spPr>
        <p:txBody>
          <a:bodyPr wrap="square" lIns="0" tIns="0" rIns="0" bIns="0" rtlCol="0" anchor="t"/>
          <a:lstStyle/>
          <a:p>
            <a:r>
              <a:rPr lang="en-US" sz="2400" i="1" dirty="0">
                <a:solidFill>
                  <a:srgbClr val="44506B"/>
                </a:solidFill>
                <a:latin typeface="Calibri" pitchFamily="34" charset="0"/>
                <a:ea typeface="Calibri" pitchFamily="34" charset="-122"/>
                <a:cs typeface="Calibri" pitchFamily="34" charset="-120"/>
              </a:rPr>
              <a:t>Sacrifices availability during a network split</a:t>
            </a:r>
            <a:endParaRPr lang="en-US" sz="2400" dirty="0"/>
          </a:p>
        </p:txBody>
      </p:sp>
      <p:sp>
        <p:nvSpPr>
          <p:cNvPr id="11" name="Text 9"/>
          <p:cNvSpPr/>
          <p:nvPr/>
        </p:nvSpPr>
        <p:spPr>
          <a:xfrm>
            <a:off x="9938064" y="3155907"/>
            <a:ext cx="6949440" cy="1036320"/>
          </a:xfrm>
          <a:prstGeom prst="rect">
            <a:avLst/>
          </a:prstGeom>
          <a:noFill/>
          <a:ln/>
        </p:spPr>
        <p:txBody>
          <a:bodyPr wrap="square" lIns="0" tIns="0" rIns="0" bIns="0" rtlCol="0" anchor="t"/>
          <a:lstStyle/>
          <a:p>
            <a:r>
              <a:rPr lang="en-US" sz="2400" b="1" dirty="0">
                <a:solidFill>
                  <a:srgbClr val="1A1A2E"/>
                </a:solidFill>
                <a:latin typeface="Calibri" pitchFamily="34" charset="0"/>
                <a:ea typeface="Calibri" pitchFamily="34" charset="-122"/>
                <a:cs typeface="Calibri" pitchFamily="34" charset="-120"/>
              </a:rPr>
              <a:t>MongoDB, HBase, Redis (default mode)</a:t>
            </a:r>
            <a:endParaRPr lang="en-US" sz="2400" dirty="0"/>
          </a:p>
        </p:txBody>
      </p:sp>
      <p:sp>
        <p:nvSpPr>
          <p:cNvPr id="12" name="Shape 10"/>
          <p:cNvSpPr/>
          <p:nvPr/>
        </p:nvSpPr>
        <p:spPr>
          <a:xfrm>
            <a:off x="2500944" y="4509219"/>
            <a:ext cx="12982896" cy="1828800"/>
          </a:xfrm>
          <a:prstGeom prst="roundRect">
            <a:avLst>
              <a:gd name="adj" fmla="val 6000"/>
            </a:avLst>
          </a:prstGeom>
          <a:solidFill>
            <a:srgbClr val="F4F6FA"/>
          </a:solidFill>
          <a:ln/>
        </p:spPr>
      </p:sp>
      <p:sp>
        <p:nvSpPr>
          <p:cNvPr id="13" name="Shape 11"/>
          <p:cNvSpPr/>
          <p:nvPr/>
        </p:nvSpPr>
        <p:spPr>
          <a:xfrm>
            <a:off x="2500944" y="4509219"/>
            <a:ext cx="1584960" cy="1828800"/>
          </a:xfrm>
          <a:prstGeom prst="roundRect">
            <a:avLst>
              <a:gd name="adj" fmla="val 6923"/>
            </a:avLst>
          </a:prstGeom>
          <a:solidFill>
            <a:srgbClr val="1C7293"/>
          </a:solidFill>
          <a:ln/>
        </p:spPr>
      </p:sp>
      <p:sp>
        <p:nvSpPr>
          <p:cNvPr id="14" name="Text 12"/>
          <p:cNvSpPr/>
          <p:nvPr/>
        </p:nvSpPr>
        <p:spPr>
          <a:xfrm>
            <a:off x="2513611" y="4498848"/>
            <a:ext cx="1584960" cy="1828800"/>
          </a:xfrm>
          <a:prstGeom prst="rect">
            <a:avLst/>
          </a:prstGeom>
          <a:noFill/>
          <a:ln/>
        </p:spPr>
        <p:txBody>
          <a:bodyPr wrap="square" lIns="0" tIns="0" rIns="0" bIns="0" rtlCol="0" anchor="ctr"/>
          <a:lstStyle/>
          <a:p>
            <a:pPr algn="ctr"/>
            <a:r>
              <a:rPr lang="en-US" sz="3467" b="1" dirty="0">
                <a:solidFill>
                  <a:srgbClr val="FFFFFF"/>
                </a:solidFill>
                <a:latin typeface="Cambria" pitchFamily="34" charset="0"/>
                <a:ea typeface="Cambria" pitchFamily="34" charset="-122"/>
                <a:cs typeface="Cambria" pitchFamily="34" charset="-120"/>
              </a:rPr>
              <a:t>AP</a:t>
            </a:r>
            <a:endParaRPr lang="en-US" sz="3467" dirty="0"/>
          </a:p>
        </p:txBody>
      </p:sp>
      <p:sp>
        <p:nvSpPr>
          <p:cNvPr id="15" name="Text 13"/>
          <p:cNvSpPr/>
          <p:nvPr/>
        </p:nvSpPr>
        <p:spPr>
          <a:xfrm>
            <a:off x="4390704" y="4704291"/>
            <a:ext cx="5242560" cy="853440"/>
          </a:xfrm>
          <a:prstGeom prst="rect">
            <a:avLst/>
          </a:prstGeom>
          <a:noFill/>
          <a:ln/>
        </p:spPr>
        <p:txBody>
          <a:bodyPr wrap="square" lIns="0" tIns="0" rIns="0" bIns="0" rtlCol="0" anchor="t"/>
          <a:lstStyle/>
          <a:p>
            <a:r>
              <a:rPr lang="en-US" sz="2400" b="1" dirty="0">
                <a:solidFill>
                  <a:srgbClr val="0B2545"/>
                </a:solidFill>
                <a:latin typeface="Calibri" pitchFamily="34" charset="0"/>
                <a:ea typeface="Calibri" pitchFamily="34" charset="-122"/>
                <a:cs typeface="Calibri" pitchFamily="34" charset="-120"/>
              </a:rPr>
              <a:t>Availability + Partition Tolerance</a:t>
            </a:r>
            <a:endParaRPr lang="en-US" sz="2400" dirty="0"/>
          </a:p>
        </p:txBody>
      </p:sp>
      <p:sp>
        <p:nvSpPr>
          <p:cNvPr id="16" name="Text 14"/>
          <p:cNvSpPr/>
          <p:nvPr/>
        </p:nvSpPr>
        <p:spPr>
          <a:xfrm>
            <a:off x="4390704" y="5423619"/>
            <a:ext cx="5242560" cy="792480"/>
          </a:xfrm>
          <a:prstGeom prst="rect">
            <a:avLst/>
          </a:prstGeom>
          <a:noFill/>
          <a:ln/>
        </p:spPr>
        <p:txBody>
          <a:bodyPr wrap="square" lIns="0" tIns="0" rIns="0" bIns="0" rtlCol="0" anchor="t"/>
          <a:lstStyle/>
          <a:p>
            <a:r>
              <a:rPr lang="en-US" sz="2400" i="1" dirty="0">
                <a:solidFill>
                  <a:srgbClr val="44506B"/>
                </a:solidFill>
                <a:latin typeface="Calibri" pitchFamily="34" charset="0"/>
                <a:ea typeface="Calibri" pitchFamily="34" charset="-122"/>
                <a:cs typeface="Calibri" pitchFamily="34" charset="-120"/>
              </a:rPr>
              <a:t>Sacrifices strict consistency during a split</a:t>
            </a:r>
            <a:endParaRPr lang="en-US" sz="2400" dirty="0"/>
          </a:p>
        </p:txBody>
      </p:sp>
      <p:sp>
        <p:nvSpPr>
          <p:cNvPr id="17" name="Text 15"/>
          <p:cNvSpPr/>
          <p:nvPr/>
        </p:nvSpPr>
        <p:spPr>
          <a:xfrm>
            <a:off x="9938064" y="4704291"/>
            <a:ext cx="6949440" cy="390144"/>
          </a:xfrm>
          <a:prstGeom prst="rect">
            <a:avLst/>
          </a:prstGeom>
          <a:noFill/>
          <a:ln/>
        </p:spPr>
        <p:txBody>
          <a:bodyPr wrap="square" lIns="0" tIns="0" rIns="0" bIns="0" rtlCol="0" anchor="ctr"/>
          <a:lstStyle/>
          <a:p>
            <a:r>
              <a:rPr lang="en-US" sz="2400" b="1" dirty="0">
                <a:solidFill>
                  <a:srgbClr val="1C7293"/>
                </a:solidFill>
                <a:latin typeface="Calibri" pitchFamily="34" charset="0"/>
                <a:ea typeface="Calibri" pitchFamily="34" charset="-122"/>
                <a:cs typeface="Calibri" pitchFamily="34" charset="-120"/>
              </a:rPr>
              <a:t>Real-World Systems</a:t>
            </a:r>
            <a:endParaRPr lang="en-US" sz="2400" dirty="0"/>
          </a:p>
        </p:txBody>
      </p:sp>
      <p:sp>
        <p:nvSpPr>
          <p:cNvPr id="18" name="Text 16"/>
          <p:cNvSpPr/>
          <p:nvPr/>
        </p:nvSpPr>
        <p:spPr>
          <a:xfrm>
            <a:off x="9938064" y="5179779"/>
            <a:ext cx="6949440" cy="1036320"/>
          </a:xfrm>
          <a:prstGeom prst="rect">
            <a:avLst/>
          </a:prstGeom>
          <a:noFill/>
          <a:ln/>
        </p:spPr>
        <p:txBody>
          <a:bodyPr wrap="square" lIns="0" tIns="0" rIns="0" bIns="0" rtlCol="0" anchor="t"/>
          <a:lstStyle/>
          <a:p>
            <a:r>
              <a:rPr lang="en-US" sz="2400" b="1" dirty="0">
                <a:solidFill>
                  <a:srgbClr val="1A1A2E"/>
                </a:solidFill>
                <a:latin typeface="Calibri" pitchFamily="34" charset="0"/>
                <a:ea typeface="Calibri" pitchFamily="34" charset="-122"/>
                <a:cs typeface="Calibri" pitchFamily="34" charset="-120"/>
              </a:rPr>
              <a:t>Cassandra, DynamoDB, CouchDB</a:t>
            </a:r>
            <a:endParaRPr lang="en-US" sz="2400" dirty="0"/>
          </a:p>
        </p:txBody>
      </p:sp>
      <p:sp>
        <p:nvSpPr>
          <p:cNvPr id="19" name="Shape 17"/>
          <p:cNvSpPr/>
          <p:nvPr/>
        </p:nvSpPr>
        <p:spPr>
          <a:xfrm>
            <a:off x="2621280" y="6572319"/>
            <a:ext cx="12921936" cy="1828800"/>
          </a:xfrm>
          <a:prstGeom prst="roundRect">
            <a:avLst>
              <a:gd name="adj" fmla="val 6000"/>
            </a:avLst>
          </a:prstGeom>
          <a:solidFill>
            <a:srgbClr val="F4F6FA"/>
          </a:solidFill>
          <a:ln/>
        </p:spPr>
      </p:sp>
      <p:sp>
        <p:nvSpPr>
          <p:cNvPr id="20" name="Shape 18"/>
          <p:cNvSpPr/>
          <p:nvPr/>
        </p:nvSpPr>
        <p:spPr>
          <a:xfrm>
            <a:off x="2500944" y="6498336"/>
            <a:ext cx="1584960" cy="1828800"/>
          </a:xfrm>
          <a:prstGeom prst="roundRect">
            <a:avLst>
              <a:gd name="adj" fmla="val 6923"/>
            </a:avLst>
          </a:prstGeom>
          <a:solidFill>
            <a:srgbClr val="13315C"/>
          </a:solidFill>
          <a:ln/>
        </p:spPr>
      </p:sp>
      <p:sp>
        <p:nvSpPr>
          <p:cNvPr id="21" name="Text 19"/>
          <p:cNvSpPr/>
          <p:nvPr/>
        </p:nvSpPr>
        <p:spPr>
          <a:xfrm>
            <a:off x="2561904" y="6572319"/>
            <a:ext cx="1584960" cy="1828800"/>
          </a:xfrm>
          <a:prstGeom prst="rect">
            <a:avLst/>
          </a:prstGeom>
          <a:noFill/>
          <a:ln/>
        </p:spPr>
        <p:txBody>
          <a:bodyPr wrap="square" lIns="0" tIns="0" rIns="0" bIns="0" rtlCol="0" anchor="ctr"/>
          <a:lstStyle/>
          <a:p>
            <a:pPr algn="ctr"/>
            <a:r>
              <a:rPr lang="en-US" sz="3467" b="1" dirty="0">
                <a:solidFill>
                  <a:srgbClr val="FFFFFF"/>
                </a:solidFill>
                <a:latin typeface="Cambria" pitchFamily="34" charset="0"/>
                <a:ea typeface="Cambria" pitchFamily="34" charset="-122"/>
                <a:cs typeface="Cambria" pitchFamily="34" charset="-120"/>
              </a:rPr>
              <a:t>CA</a:t>
            </a:r>
            <a:endParaRPr lang="en-US" sz="3467" dirty="0"/>
          </a:p>
        </p:txBody>
      </p:sp>
      <p:sp>
        <p:nvSpPr>
          <p:cNvPr id="22" name="Text 20"/>
          <p:cNvSpPr/>
          <p:nvPr/>
        </p:nvSpPr>
        <p:spPr>
          <a:xfrm>
            <a:off x="4451664" y="6767391"/>
            <a:ext cx="5242560" cy="853440"/>
          </a:xfrm>
          <a:prstGeom prst="rect">
            <a:avLst/>
          </a:prstGeom>
          <a:noFill/>
          <a:ln/>
        </p:spPr>
        <p:txBody>
          <a:bodyPr wrap="square" lIns="0" tIns="0" rIns="0" bIns="0" rtlCol="0" anchor="t"/>
          <a:lstStyle/>
          <a:p>
            <a:r>
              <a:rPr lang="en-US" sz="2400" b="1" dirty="0">
                <a:solidFill>
                  <a:srgbClr val="0B2545"/>
                </a:solidFill>
                <a:latin typeface="Calibri" pitchFamily="34" charset="0"/>
                <a:ea typeface="Calibri" pitchFamily="34" charset="-122"/>
                <a:cs typeface="Calibri" pitchFamily="34" charset="-120"/>
              </a:rPr>
              <a:t>Consistency + Availability</a:t>
            </a:r>
            <a:endParaRPr lang="en-US" sz="2400" dirty="0"/>
          </a:p>
        </p:txBody>
      </p:sp>
      <p:sp>
        <p:nvSpPr>
          <p:cNvPr id="23" name="Text 21"/>
          <p:cNvSpPr/>
          <p:nvPr/>
        </p:nvSpPr>
        <p:spPr>
          <a:xfrm>
            <a:off x="4451664" y="7486719"/>
            <a:ext cx="5242560" cy="792480"/>
          </a:xfrm>
          <a:prstGeom prst="rect">
            <a:avLst/>
          </a:prstGeom>
          <a:noFill/>
          <a:ln/>
        </p:spPr>
        <p:txBody>
          <a:bodyPr wrap="square" lIns="0" tIns="0" rIns="0" bIns="0" rtlCol="0" anchor="t"/>
          <a:lstStyle/>
          <a:p>
            <a:r>
              <a:rPr lang="en-US" sz="2400" i="1" dirty="0">
                <a:solidFill>
                  <a:srgbClr val="44506B"/>
                </a:solidFill>
                <a:latin typeface="Calibri" pitchFamily="34" charset="0"/>
                <a:ea typeface="Calibri" pitchFamily="34" charset="-122"/>
                <a:cs typeface="Calibri" pitchFamily="34" charset="-120"/>
              </a:rPr>
              <a:t>Only holds when there is no network partition</a:t>
            </a:r>
            <a:endParaRPr lang="en-US" sz="2400" dirty="0"/>
          </a:p>
        </p:txBody>
      </p:sp>
      <p:sp>
        <p:nvSpPr>
          <p:cNvPr id="25" name="Text 23"/>
          <p:cNvSpPr/>
          <p:nvPr/>
        </p:nvSpPr>
        <p:spPr>
          <a:xfrm>
            <a:off x="9999024" y="7242879"/>
            <a:ext cx="5362896" cy="1036320"/>
          </a:xfrm>
          <a:prstGeom prst="rect">
            <a:avLst/>
          </a:prstGeom>
          <a:noFill/>
          <a:ln/>
        </p:spPr>
        <p:txBody>
          <a:bodyPr wrap="square" lIns="0" tIns="0" rIns="0" bIns="0" rtlCol="0" anchor="t"/>
          <a:lstStyle/>
          <a:p>
            <a:r>
              <a:rPr lang="en-US" sz="2400" b="1" dirty="0">
                <a:solidFill>
                  <a:srgbClr val="1A1A2E"/>
                </a:solidFill>
                <a:latin typeface="Calibri" pitchFamily="34" charset="0"/>
                <a:ea typeface="Calibri" pitchFamily="34" charset="-122"/>
                <a:cs typeface="Calibri" pitchFamily="34" charset="-120"/>
              </a:rPr>
              <a:t>Traditional single-node RDBMS (MySQL, PostgreSQL)</a:t>
            </a:r>
            <a:endParaRPr lang="en-US" sz="2400" dirty="0"/>
          </a:p>
        </p:txBody>
      </p:sp>
      <p:sp>
        <p:nvSpPr>
          <p:cNvPr id="28" name="Text 15"/>
          <p:cNvSpPr/>
          <p:nvPr/>
        </p:nvSpPr>
        <p:spPr>
          <a:xfrm>
            <a:off x="9938064" y="2716995"/>
            <a:ext cx="6949440" cy="390144"/>
          </a:xfrm>
          <a:prstGeom prst="rect">
            <a:avLst/>
          </a:prstGeom>
          <a:noFill/>
          <a:ln/>
        </p:spPr>
        <p:txBody>
          <a:bodyPr wrap="square" lIns="0" tIns="0" rIns="0" bIns="0" rtlCol="0" anchor="ctr"/>
          <a:lstStyle/>
          <a:p>
            <a:r>
              <a:rPr lang="en-US" sz="2400" b="1" dirty="0">
                <a:solidFill>
                  <a:srgbClr val="1C7293"/>
                </a:solidFill>
                <a:latin typeface="Calibri" pitchFamily="34" charset="0"/>
                <a:ea typeface="Calibri" pitchFamily="34" charset="-122"/>
                <a:cs typeface="Calibri" pitchFamily="34" charset="-120"/>
              </a:rPr>
              <a:t>Real-World Systems</a:t>
            </a:r>
            <a:endParaRPr lang="en-US" sz="2400" dirty="0"/>
          </a:p>
        </p:txBody>
      </p:sp>
      <p:sp>
        <p:nvSpPr>
          <p:cNvPr id="29" name="Text 15"/>
          <p:cNvSpPr/>
          <p:nvPr/>
        </p:nvSpPr>
        <p:spPr>
          <a:xfrm>
            <a:off x="9999024" y="6803967"/>
            <a:ext cx="6949440" cy="390144"/>
          </a:xfrm>
          <a:prstGeom prst="rect">
            <a:avLst/>
          </a:prstGeom>
          <a:noFill/>
          <a:ln/>
        </p:spPr>
        <p:txBody>
          <a:bodyPr wrap="square" lIns="0" tIns="0" rIns="0" bIns="0" rtlCol="0" anchor="ctr"/>
          <a:lstStyle/>
          <a:p>
            <a:r>
              <a:rPr lang="en-US" sz="2400" b="1" dirty="0">
                <a:solidFill>
                  <a:srgbClr val="1C7293"/>
                </a:solidFill>
                <a:latin typeface="Calibri" pitchFamily="34" charset="0"/>
                <a:ea typeface="Calibri" pitchFamily="34" charset="-122"/>
                <a:cs typeface="Calibri" pitchFamily="34" charset="-120"/>
              </a:rPr>
              <a:t>Real-World Systems</a:t>
            </a:r>
            <a:endParaRPr lang="en-US" sz="2400" dirty="0"/>
          </a:p>
        </p:txBody>
      </p:sp>
      <p:sp>
        <p:nvSpPr>
          <p:cNvPr id="30" name="Rounded Rectangle 29"/>
          <p:cNvSpPr/>
          <p:nvPr/>
        </p:nvSpPr>
        <p:spPr>
          <a:xfrm>
            <a:off x="35814" y="6730426"/>
            <a:ext cx="2214372" cy="836035"/>
          </a:xfrm>
          <a:prstGeom prst="roundRect">
            <a:avLst/>
          </a:prstGeom>
          <a:solidFill>
            <a:srgbClr val="FF000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989318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sp>
      <p:sp>
        <p:nvSpPr>
          <p:cNvPr id="12" name="Shape 10"/>
          <p:cNvSpPr/>
          <p:nvPr/>
        </p:nvSpPr>
        <p:spPr>
          <a:xfrm>
            <a:off x="1066800" y="8864600"/>
            <a:ext cx="152400" cy="152400"/>
          </a:xfrm>
          <a:prstGeom prst="diamond">
            <a:avLst/>
          </a:prstGeom>
          <a:solidFill>
            <a:srgbClr val="00ACC1"/>
          </a:solidFill>
          <a:ln/>
        </p:spPr>
      </p:sp>
      <p:sp>
        <p:nvSpPr>
          <p:cNvPr id="15" name="Text 13"/>
          <p:cNvSpPr/>
          <p:nvPr/>
        </p:nvSpPr>
        <p:spPr>
          <a:xfrm>
            <a:off x="15621000" y="0"/>
            <a:ext cx="635000" cy="635000"/>
          </a:xfrm>
          <a:prstGeom prst="rect">
            <a:avLst/>
          </a:prstGeom>
          <a:noFill/>
          <a:ln/>
        </p:spPr>
        <p:txBody>
          <a:bodyPr wrap="none" lIns="0" tIns="0" rIns="0" bIns="0" rtlCol="0" anchor="ctr"/>
          <a:lstStyle/>
          <a:p>
            <a:pPr algn="r">
              <a:lnSpc>
                <a:spcPct val="120000"/>
              </a:lnSpc>
            </a:pPr>
            <a:r>
              <a:rPr lang="en-US" sz="1400" dirty="0">
                <a:solidFill>
                  <a:srgbClr val="005C82"/>
                </a:solidFill>
                <a:latin typeface="Quattrocento Sans" pitchFamily="34" charset="0"/>
                <a:ea typeface="Quattrocento Sans" pitchFamily="34" charset="-122"/>
                <a:cs typeface="Quattrocento Sans" pitchFamily="34" charset="-120"/>
              </a:rPr>
              <a:t>9</a:t>
            </a:r>
            <a:endParaRPr lang="en-US" sz="1400" dirty="0"/>
          </a:p>
        </p:txBody>
      </p:sp>
      <p:sp>
        <p:nvSpPr>
          <p:cNvPr id="5" name="Text 23"/>
          <p:cNvSpPr/>
          <p:nvPr/>
        </p:nvSpPr>
        <p:spPr>
          <a:xfrm>
            <a:off x="2600960" y="725287"/>
            <a:ext cx="5080000" cy="496082"/>
          </a:xfrm>
          <a:prstGeom prst="rect">
            <a:avLst/>
          </a:prstGeom>
          <a:noFill/>
          <a:ln/>
        </p:spPr>
        <p:txBody>
          <a:bodyPr wrap="none" lIns="0" tIns="0" rIns="0" bIns="0" rtlCol="0" anchor="t"/>
          <a:lstStyle/>
          <a:p>
            <a:pPr algn="l">
              <a:lnSpc>
                <a:spcPct val="120000"/>
              </a:lnSpc>
            </a:pPr>
            <a:r>
              <a:rPr lang="en-US" sz="3600" b="1" dirty="0">
                <a:solidFill>
                  <a:srgbClr val="C00000"/>
                </a:solidFill>
                <a:ea typeface="Quattrocento Sans" pitchFamily="34" charset="-122"/>
                <a:cs typeface="Quattrocento Sans" pitchFamily="34" charset="-120"/>
              </a:rPr>
              <a:t>SQL vs NoSQL vs NewSQL</a:t>
            </a:r>
            <a:endParaRPr lang="en-US" sz="3600" dirty="0">
              <a:solidFill>
                <a:srgbClr val="C00000"/>
              </a:solidFill>
            </a:endParaRPr>
          </a:p>
        </p:txBody>
      </p:sp>
      <p:graphicFrame>
        <p:nvGraphicFramePr>
          <p:cNvPr id="6" name="Table 1"/>
          <p:cNvGraphicFramePr>
            <a:graphicFrameLocks noGrp="1"/>
          </p:cNvGraphicFramePr>
          <p:nvPr>
            <p:extLst>
              <p:ext uri="{D42A27DB-BD31-4B8C-83A1-F6EECF244321}">
                <p14:modId xmlns:p14="http://schemas.microsoft.com/office/powerpoint/2010/main" val="3935565206"/>
              </p:ext>
            </p:extLst>
          </p:nvPr>
        </p:nvGraphicFramePr>
        <p:xfrm>
          <a:off x="2600960" y="1479368"/>
          <a:ext cx="8039332" cy="2311935"/>
        </p:xfrm>
        <a:graphic>
          <a:graphicData uri="http://schemas.openxmlformats.org/drawingml/2006/table">
            <a:tbl>
              <a:tblPr/>
              <a:tblGrid>
                <a:gridCol w="1607867">
                  <a:extLst>
                    <a:ext uri="{9D8B030D-6E8A-4147-A177-3AD203B41FA5}">
                      <a16:colId xmlns:a16="http://schemas.microsoft.com/office/drawing/2014/main" xmlns="" val="20000"/>
                    </a:ext>
                  </a:extLst>
                </a:gridCol>
                <a:gridCol w="2009833">
                  <a:extLst>
                    <a:ext uri="{9D8B030D-6E8A-4147-A177-3AD203B41FA5}">
                      <a16:colId xmlns:a16="http://schemas.microsoft.com/office/drawing/2014/main" xmlns="" val="20001"/>
                    </a:ext>
                  </a:extLst>
                </a:gridCol>
                <a:gridCol w="2009833">
                  <a:extLst>
                    <a:ext uri="{9D8B030D-6E8A-4147-A177-3AD203B41FA5}">
                      <a16:colId xmlns:a16="http://schemas.microsoft.com/office/drawing/2014/main" xmlns="" val="20002"/>
                    </a:ext>
                  </a:extLst>
                </a:gridCol>
                <a:gridCol w="2411799">
                  <a:extLst>
                    <a:ext uri="{9D8B030D-6E8A-4147-A177-3AD203B41FA5}">
                      <a16:colId xmlns:a16="http://schemas.microsoft.com/office/drawing/2014/main" xmlns="" val="20003"/>
                    </a:ext>
                  </a:extLst>
                </a:gridCol>
              </a:tblGrid>
              <a:tr h="508626">
                <a:tc>
                  <a:txBody>
                    <a:bodyPr/>
                    <a:lstStyle/>
                    <a:p>
                      <a:pPr algn="ctr"/>
                      <a:r>
                        <a:rPr lang="en-US" sz="2400" b="1" dirty="0">
                          <a:solidFill>
                            <a:srgbClr val="FFFF00"/>
                          </a:solidFill>
                        </a:rPr>
                        <a:t>Type</a:t>
                      </a:r>
                      <a:endParaRPr lang="en-US" sz="2400" dirty="0">
                        <a:solidFill>
                          <a:srgbClr val="FFFF00"/>
                        </a:solidFill>
                      </a:endParaRPr>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ctr"/>
                      <a:r>
                        <a:rPr lang="en-US" sz="2400" b="1" dirty="0">
                          <a:solidFill>
                            <a:srgbClr val="FFFF00"/>
                          </a:solidFill>
                        </a:rPr>
                        <a:t>Consistency</a:t>
                      </a:r>
                      <a:endParaRPr lang="en-US" sz="2400" dirty="0">
                        <a:solidFill>
                          <a:srgbClr val="FFFF00"/>
                        </a:solidFill>
                      </a:endParaRPr>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ctr"/>
                      <a:r>
                        <a:rPr lang="en-US" sz="2400" b="1" dirty="0">
                          <a:solidFill>
                            <a:srgbClr val="FFFF00"/>
                          </a:solidFill>
                        </a:rPr>
                        <a:t>Availability</a:t>
                      </a:r>
                      <a:endParaRPr lang="en-US" sz="2400" dirty="0">
                        <a:solidFill>
                          <a:srgbClr val="FFFF00"/>
                        </a:solidFill>
                      </a:endParaRPr>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ctr"/>
                      <a:r>
                        <a:rPr lang="en-US" sz="2400" b="1" dirty="0">
                          <a:solidFill>
                            <a:srgbClr val="FFFF00"/>
                          </a:solidFill>
                        </a:rPr>
                        <a:t>Scaling</a:t>
                      </a:r>
                      <a:endParaRPr lang="en-US" sz="2400" dirty="0">
                        <a:solidFill>
                          <a:srgbClr val="FFFF00"/>
                        </a:solidFill>
                      </a:endParaRPr>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extLst>
                  <a:ext uri="{0D108BD9-81ED-4DB2-BD59-A6C34878D82A}">
                    <a16:rowId xmlns:a16="http://schemas.microsoft.com/office/drawing/2014/main" xmlns="" val="10000"/>
                  </a:ext>
                </a:extLst>
              </a:tr>
              <a:tr h="601103">
                <a:tc>
                  <a:txBody>
                    <a:bodyPr/>
                    <a:lstStyle/>
                    <a:p>
                      <a:pPr algn="ctr"/>
                      <a:r>
                        <a:rPr lang="en-US" sz="2000" b="1" dirty="0">
                          <a:solidFill>
                            <a:srgbClr val="333333"/>
                          </a:solidFill>
                        </a:rPr>
                        <a:t>SQL / RDBMS</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2400" b="1" dirty="0">
                          <a:solidFill>
                            <a:schemeClr val="bg1"/>
                          </a:solidFill>
                        </a:rPr>
                        <a:t>ACID (Strong)</a:t>
                      </a:r>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chemeClr val="accent2">
                        <a:lumMod val="75000"/>
                      </a:schemeClr>
                    </a:solidFill>
                  </a:tcPr>
                </a:tc>
                <a:tc>
                  <a:txBody>
                    <a:bodyPr/>
                    <a:lstStyle/>
                    <a:p>
                      <a:pPr algn="ctr"/>
                      <a:r>
                        <a:rPr lang="en-US" sz="2000" dirty="0">
                          <a:solidFill>
                            <a:srgbClr val="333333"/>
                          </a:solidFill>
                        </a:rPr>
                        <a:t>High (single node)</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2000" dirty="0">
                          <a:solidFill>
                            <a:srgbClr val="333333"/>
                          </a:solidFill>
                        </a:rPr>
                        <a:t>Vertical</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xmlns="" val="10001"/>
                  </a:ext>
                </a:extLst>
              </a:tr>
              <a:tr h="601103">
                <a:tc>
                  <a:txBody>
                    <a:bodyPr/>
                    <a:lstStyle/>
                    <a:p>
                      <a:pPr algn="ctr"/>
                      <a:r>
                        <a:rPr lang="en-US" sz="2000" b="1" dirty="0">
                          <a:solidFill>
                            <a:srgbClr val="333333"/>
                          </a:solidFill>
                        </a:rPr>
                        <a:t>NoSQL</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2000" dirty="0">
                          <a:solidFill>
                            <a:srgbClr val="333333"/>
                          </a:solidFill>
                        </a:rPr>
                        <a:t>BASE (Eventual)</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2400" b="1" dirty="0">
                          <a:solidFill>
                            <a:schemeClr val="bg1"/>
                          </a:solidFill>
                        </a:rPr>
                        <a:t>Very High</a:t>
                      </a:r>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chemeClr val="accent2"/>
                    </a:solidFill>
                  </a:tcPr>
                </a:tc>
                <a:tc>
                  <a:txBody>
                    <a:bodyPr/>
                    <a:lstStyle/>
                    <a:p>
                      <a:pPr algn="ctr"/>
                      <a:r>
                        <a:rPr lang="en-US" sz="2000" dirty="0">
                          <a:solidFill>
                            <a:srgbClr val="333333"/>
                          </a:solidFill>
                        </a:rPr>
                        <a:t>Horizontal</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extLst>
                  <a:ext uri="{0D108BD9-81ED-4DB2-BD59-A6C34878D82A}">
                    <a16:rowId xmlns:a16="http://schemas.microsoft.com/office/drawing/2014/main" xmlns="" val="10002"/>
                  </a:ext>
                </a:extLst>
              </a:tr>
              <a:tr h="601103">
                <a:tc>
                  <a:txBody>
                    <a:bodyPr/>
                    <a:lstStyle/>
                    <a:p>
                      <a:pPr algn="ctr"/>
                      <a:r>
                        <a:rPr lang="en-US" sz="2000" b="1" dirty="0">
                          <a:solidFill>
                            <a:srgbClr val="333333"/>
                          </a:solidFill>
                        </a:rPr>
                        <a:t>NewSQL</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2400" b="1" dirty="0">
                          <a:solidFill>
                            <a:schemeClr val="bg1"/>
                          </a:solidFill>
                        </a:rPr>
                        <a:t>ACID (Strong)</a:t>
                      </a:r>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chemeClr val="accent2"/>
                    </a:solidFill>
                  </a:tcPr>
                </a:tc>
                <a:tc>
                  <a:txBody>
                    <a:bodyPr/>
                    <a:lstStyle/>
                    <a:p>
                      <a:pPr algn="ctr"/>
                      <a:r>
                        <a:rPr lang="en-US" sz="2000" dirty="0">
                          <a:solidFill>
                            <a:srgbClr val="333333"/>
                          </a:solidFill>
                        </a:rPr>
                        <a:t>High (distributed)</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2000" dirty="0">
                          <a:solidFill>
                            <a:srgbClr val="333333"/>
                          </a:solidFill>
                        </a:rPr>
                        <a:t>Horizontal</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xmlns="" val="10003"/>
                  </a:ext>
                </a:extLst>
              </a:tr>
            </a:tbl>
          </a:graphicData>
        </a:graphic>
      </p:graphicFrame>
      <p:sp>
        <p:nvSpPr>
          <p:cNvPr id="7" name="Rounded Rectangle 6"/>
          <p:cNvSpPr/>
          <p:nvPr/>
        </p:nvSpPr>
        <p:spPr>
          <a:xfrm>
            <a:off x="35814" y="6730426"/>
            <a:ext cx="2214372" cy="836035"/>
          </a:xfrm>
          <a:prstGeom prst="roundRect">
            <a:avLst/>
          </a:prstGeom>
          <a:solidFill>
            <a:srgbClr val="FF000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0" name="Picture 2" descr="SQL vs NoSQL: A Deep Dive into Database Architectures and Tradeoffs | by  Aditya | 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5788" y="4284585"/>
            <a:ext cx="7345155" cy="41316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NOSQL vs SQL. Key differences and when to choose each - Version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06545" y="1377538"/>
            <a:ext cx="5449456" cy="77368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4309620"/>
      </p:ext>
    </p:extLst>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sp>
      <p:sp>
        <p:nvSpPr>
          <p:cNvPr id="12" name="Shape 10"/>
          <p:cNvSpPr/>
          <p:nvPr/>
        </p:nvSpPr>
        <p:spPr>
          <a:xfrm>
            <a:off x="1066800" y="8864600"/>
            <a:ext cx="152400" cy="152400"/>
          </a:xfrm>
          <a:prstGeom prst="diamond">
            <a:avLst/>
          </a:prstGeom>
          <a:solidFill>
            <a:srgbClr val="00ACC1"/>
          </a:solidFill>
          <a:ln/>
        </p:spPr>
      </p:sp>
      <p:sp>
        <p:nvSpPr>
          <p:cNvPr id="15" name="Text 13"/>
          <p:cNvSpPr/>
          <p:nvPr/>
        </p:nvSpPr>
        <p:spPr>
          <a:xfrm>
            <a:off x="15621000" y="0"/>
            <a:ext cx="635000" cy="635000"/>
          </a:xfrm>
          <a:prstGeom prst="rect">
            <a:avLst/>
          </a:prstGeom>
          <a:noFill/>
          <a:ln/>
        </p:spPr>
        <p:txBody>
          <a:bodyPr wrap="none" lIns="0" tIns="0" rIns="0" bIns="0" rtlCol="0" anchor="ctr"/>
          <a:lstStyle/>
          <a:p>
            <a:pPr algn="r">
              <a:lnSpc>
                <a:spcPct val="120000"/>
              </a:lnSpc>
            </a:pPr>
            <a:r>
              <a:rPr lang="en-US" sz="1400" dirty="0">
                <a:solidFill>
                  <a:srgbClr val="005C82"/>
                </a:solidFill>
                <a:latin typeface="Quattrocento Sans" pitchFamily="34" charset="0"/>
                <a:ea typeface="Quattrocento Sans" pitchFamily="34" charset="-122"/>
                <a:cs typeface="Quattrocento Sans" pitchFamily="34" charset="-120"/>
              </a:rPr>
              <a:t>9</a:t>
            </a:r>
            <a:endParaRPr lang="en-US" sz="1400" dirty="0"/>
          </a:p>
        </p:txBody>
      </p:sp>
      <p:sp>
        <p:nvSpPr>
          <p:cNvPr id="5" name="Text 14"/>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a:solidFill>
                  <a:srgbClr val="005C82"/>
                </a:solidFill>
                <a:ea typeface="Quattrocento Sans" pitchFamily="34" charset="-122"/>
                <a:cs typeface="Quattrocento Sans" pitchFamily="34" charset="-120"/>
              </a:rPr>
              <a:t>Storage, Computation &amp; Communication Trade-offs</a:t>
            </a:r>
            <a:endParaRPr lang="en-US" sz="2400" dirty="0"/>
          </a:p>
        </p:txBody>
      </p:sp>
      <p:sp>
        <p:nvSpPr>
          <p:cNvPr id="6" name="Shape 15"/>
          <p:cNvSpPr/>
          <p:nvPr/>
        </p:nvSpPr>
        <p:spPr>
          <a:xfrm>
            <a:off x="2540000" y="1397000"/>
            <a:ext cx="13208000" cy="12700"/>
          </a:xfrm>
          <a:prstGeom prst="rect">
            <a:avLst/>
          </a:prstGeom>
          <a:solidFill>
            <a:srgbClr val="B0BEC5"/>
          </a:solidFill>
          <a:ln/>
        </p:spPr>
      </p:sp>
      <p:sp>
        <p:nvSpPr>
          <p:cNvPr id="7" name="Shape 16"/>
          <p:cNvSpPr/>
          <p:nvPr/>
        </p:nvSpPr>
        <p:spPr>
          <a:xfrm>
            <a:off x="2540000" y="1574800"/>
            <a:ext cx="4318000" cy="3762248"/>
          </a:xfrm>
          <a:prstGeom prst="roundRect">
            <a:avLst>
              <a:gd name="adj" fmla="val 4000"/>
            </a:avLst>
          </a:prstGeom>
          <a:solidFill>
            <a:srgbClr val="E0F4FA"/>
          </a:solidFill>
          <a:ln w="12700">
            <a:solidFill>
              <a:srgbClr val="B0BEC5"/>
            </a:solidFill>
            <a:prstDash val="solid"/>
          </a:ln>
        </p:spPr>
      </p:sp>
      <p:sp>
        <p:nvSpPr>
          <p:cNvPr id="8" name="Shape 17"/>
          <p:cNvSpPr/>
          <p:nvPr/>
        </p:nvSpPr>
        <p:spPr>
          <a:xfrm>
            <a:off x="2743200" y="1752600"/>
            <a:ext cx="355600" cy="355600"/>
          </a:xfrm>
          <a:custGeom>
            <a:avLst/>
            <a:gdLst/>
            <a:ahLst/>
            <a:cxnLst/>
            <a:rect l="l" t="t" r="r" b="b"/>
            <a:pathLst>
              <a:path w="355600" h="355600">
                <a:moveTo>
                  <a:pt x="50800" y="22225"/>
                </a:moveTo>
                <a:cubicBezTo>
                  <a:pt x="22781" y="22225"/>
                  <a:pt x="0" y="42158"/>
                  <a:pt x="0" y="66675"/>
                </a:cubicBezTo>
                <a:lnTo>
                  <a:pt x="0" y="180648"/>
                </a:lnTo>
                <a:cubicBezTo>
                  <a:pt x="14367" y="171827"/>
                  <a:pt x="31909" y="166688"/>
                  <a:pt x="50800" y="166688"/>
                </a:cubicBezTo>
                <a:lnTo>
                  <a:pt x="304800" y="166688"/>
                </a:lnTo>
                <a:cubicBezTo>
                  <a:pt x="323691" y="166688"/>
                  <a:pt x="341233" y="171827"/>
                  <a:pt x="355600" y="180648"/>
                </a:cubicBezTo>
                <a:lnTo>
                  <a:pt x="355600" y="66675"/>
                </a:lnTo>
                <a:cubicBezTo>
                  <a:pt x="355600" y="42158"/>
                  <a:pt x="332819" y="22225"/>
                  <a:pt x="304800" y="22225"/>
                </a:cubicBezTo>
                <a:lnTo>
                  <a:pt x="50800" y="22225"/>
                </a:lnTo>
                <a:close/>
                <a:moveTo>
                  <a:pt x="355600" y="244475"/>
                </a:moveTo>
                <a:cubicBezTo>
                  <a:pt x="355600" y="219958"/>
                  <a:pt x="332819" y="200025"/>
                  <a:pt x="304800" y="200025"/>
                </a:cubicBezTo>
                <a:lnTo>
                  <a:pt x="50800" y="200025"/>
                </a:lnTo>
                <a:cubicBezTo>
                  <a:pt x="22781" y="200025"/>
                  <a:pt x="0" y="219958"/>
                  <a:pt x="0" y="244475"/>
                </a:cubicBezTo>
                <a:lnTo>
                  <a:pt x="0" y="288925"/>
                </a:lnTo>
                <a:cubicBezTo>
                  <a:pt x="0" y="313442"/>
                  <a:pt x="22781" y="333375"/>
                  <a:pt x="50800" y="333375"/>
                </a:cubicBezTo>
                <a:lnTo>
                  <a:pt x="304800" y="333375"/>
                </a:lnTo>
                <a:cubicBezTo>
                  <a:pt x="332819" y="333375"/>
                  <a:pt x="355600" y="313442"/>
                  <a:pt x="355600" y="288925"/>
                </a:cubicBezTo>
                <a:lnTo>
                  <a:pt x="355600" y="244475"/>
                </a:lnTo>
                <a:close/>
                <a:moveTo>
                  <a:pt x="177800" y="266700"/>
                </a:moveTo>
                <a:cubicBezTo>
                  <a:pt x="177800" y="254434"/>
                  <a:pt x="189181" y="244475"/>
                  <a:pt x="203200" y="244475"/>
                </a:cubicBezTo>
                <a:cubicBezTo>
                  <a:pt x="217219" y="244475"/>
                  <a:pt x="228600" y="254434"/>
                  <a:pt x="228600" y="266700"/>
                </a:cubicBezTo>
                <a:cubicBezTo>
                  <a:pt x="228600" y="278966"/>
                  <a:pt x="217219" y="288925"/>
                  <a:pt x="203200" y="288925"/>
                </a:cubicBezTo>
                <a:cubicBezTo>
                  <a:pt x="189181" y="288925"/>
                  <a:pt x="177800" y="278966"/>
                  <a:pt x="177800" y="266700"/>
                </a:cubicBezTo>
                <a:close/>
                <a:moveTo>
                  <a:pt x="279400" y="244475"/>
                </a:moveTo>
                <a:cubicBezTo>
                  <a:pt x="293419" y="244475"/>
                  <a:pt x="304800" y="254434"/>
                  <a:pt x="304800" y="266700"/>
                </a:cubicBezTo>
                <a:cubicBezTo>
                  <a:pt x="304800" y="278966"/>
                  <a:pt x="293419" y="288925"/>
                  <a:pt x="279400" y="288925"/>
                </a:cubicBezTo>
                <a:cubicBezTo>
                  <a:pt x="265381" y="288925"/>
                  <a:pt x="254000" y="278966"/>
                  <a:pt x="254000" y="266700"/>
                </a:cubicBezTo>
                <a:cubicBezTo>
                  <a:pt x="254000" y="254434"/>
                  <a:pt x="265381" y="244475"/>
                  <a:pt x="279400" y="244475"/>
                </a:cubicBezTo>
                <a:close/>
              </a:path>
            </a:pathLst>
          </a:custGeom>
          <a:solidFill>
            <a:srgbClr val="005C82"/>
          </a:solidFill>
          <a:ln/>
        </p:spPr>
      </p:sp>
      <p:sp>
        <p:nvSpPr>
          <p:cNvPr id="9" name="Text 18"/>
          <p:cNvSpPr/>
          <p:nvPr/>
        </p:nvSpPr>
        <p:spPr>
          <a:xfrm>
            <a:off x="3200400" y="1752600"/>
            <a:ext cx="3454400" cy="355600"/>
          </a:xfrm>
          <a:prstGeom prst="rect">
            <a:avLst/>
          </a:prstGeom>
          <a:noFill/>
          <a:ln/>
        </p:spPr>
        <p:txBody>
          <a:bodyPr wrap="none" lIns="0" tIns="0" rIns="0" bIns="0" rtlCol="0" anchor="t"/>
          <a:lstStyle/>
          <a:p>
            <a:pPr algn="l">
              <a:lnSpc>
                <a:spcPct val="120000"/>
              </a:lnSpc>
            </a:pPr>
            <a:r>
              <a:rPr lang="en-US" sz="2000" b="1" dirty="0">
                <a:solidFill>
                  <a:srgbClr val="005C82"/>
                </a:solidFill>
                <a:ea typeface="Quattrocento Sans" pitchFamily="34" charset="-122"/>
                <a:cs typeface="Quattrocento Sans" pitchFamily="34" charset="-120"/>
              </a:rPr>
              <a:t>Storage Cost</a:t>
            </a:r>
            <a:endParaRPr lang="en-US" sz="2000" dirty="0"/>
          </a:p>
        </p:txBody>
      </p:sp>
      <p:sp>
        <p:nvSpPr>
          <p:cNvPr id="10" name="Text 19"/>
          <p:cNvSpPr/>
          <p:nvPr/>
        </p:nvSpPr>
        <p:spPr>
          <a:xfrm>
            <a:off x="2743200" y="2209800"/>
            <a:ext cx="4114800" cy="2286000"/>
          </a:xfrm>
          <a:prstGeom prst="rect">
            <a:avLst/>
          </a:prstGeom>
          <a:noFill/>
          <a:ln/>
        </p:spPr>
        <p:txBody>
          <a:bodyPr wrap="square" lIns="0" tIns="0" rIns="0" bIns="0" rtlCol="0" anchor="t"/>
          <a:lstStyle/>
          <a:p>
            <a:pPr algn="l">
              <a:lnSpc>
                <a:spcPct val="160000"/>
              </a:lnSpc>
            </a:pPr>
            <a:r>
              <a:rPr lang="en-US" dirty="0">
                <a:solidFill>
                  <a:srgbClr val="333333"/>
                </a:solidFill>
                <a:ea typeface="Quattrocento Sans" pitchFamily="34" charset="-122"/>
                <a:cs typeface="Quattrocento Sans" pitchFamily="34" charset="-120"/>
              </a:rPr>
              <a:t>• Storing raw/unstructured data requires significant capacity</a:t>
            </a:r>
            <a:endParaRPr lang="en-US" dirty="0"/>
          </a:p>
          <a:p>
            <a:pPr algn="l">
              <a:lnSpc>
                <a:spcPct val="160000"/>
              </a:lnSpc>
            </a:pPr>
            <a:r>
              <a:rPr lang="en-US" dirty="0">
                <a:solidFill>
                  <a:srgbClr val="333333"/>
                </a:solidFill>
                <a:ea typeface="Quattrocento Sans" pitchFamily="34" charset="-122"/>
                <a:cs typeface="Quattrocento Sans" pitchFamily="34" charset="-120"/>
              </a:rPr>
              <a:t>• HDFS uses </a:t>
            </a:r>
            <a:r>
              <a:rPr lang="en-US" b="1" dirty="0">
                <a:solidFill>
                  <a:srgbClr val="333333"/>
                </a:solidFill>
                <a:ea typeface="Quattrocento Sans" pitchFamily="34" charset="-122"/>
                <a:cs typeface="Quattrocento Sans" pitchFamily="34" charset="-120"/>
              </a:rPr>
              <a:t>3x replication</a:t>
            </a:r>
            <a:r>
              <a:rPr lang="en-US" dirty="0">
                <a:solidFill>
                  <a:srgbClr val="333333"/>
                </a:solidFill>
                <a:ea typeface="Quattrocento Sans" pitchFamily="34" charset="-122"/>
                <a:cs typeface="Quattrocento Sans" pitchFamily="34" charset="-120"/>
              </a:rPr>
              <a:t> for fault tolerance</a:t>
            </a:r>
            <a:endParaRPr lang="en-US" dirty="0"/>
          </a:p>
          <a:p>
            <a:pPr algn="l">
              <a:lnSpc>
                <a:spcPct val="160000"/>
              </a:lnSpc>
            </a:pPr>
            <a:r>
              <a:rPr lang="en-US" dirty="0">
                <a:solidFill>
                  <a:srgbClr val="333333"/>
                </a:solidFill>
                <a:ea typeface="Quattrocento Sans" pitchFamily="34" charset="-122"/>
                <a:cs typeface="Quattrocento Sans" pitchFamily="34" charset="-120"/>
              </a:rPr>
              <a:t>• Data lakes store raw data; warehouses store curated data at higher cost</a:t>
            </a:r>
            <a:endParaRPr lang="en-US" dirty="0"/>
          </a:p>
          <a:p>
            <a:pPr algn="l">
              <a:lnSpc>
                <a:spcPct val="160000"/>
              </a:lnSpc>
            </a:pPr>
            <a:r>
              <a:rPr lang="en-US" dirty="0">
                <a:solidFill>
                  <a:srgbClr val="333333"/>
                </a:solidFill>
                <a:ea typeface="Quattrocento Sans" pitchFamily="34" charset="-122"/>
                <a:cs typeface="Quattrocento Sans" pitchFamily="34" charset="-120"/>
              </a:rPr>
              <a:t>• Archive cold data to cheaper storage tiers</a:t>
            </a:r>
            <a:endParaRPr lang="en-US" dirty="0"/>
          </a:p>
        </p:txBody>
      </p:sp>
      <p:sp>
        <p:nvSpPr>
          <p:cNvPr id="11" name="Shape 20"/>
          <p:cNvSpPr/>
          <p:nvPr/>
        </p:nvSpPr>
        <p:spPr>
          <a:xfrm>
            <a:off x="7061200" y="1574800"/>
            <a:ext cx="4318000" cy="3762248"/>
          </a:xfrm>
          <a:prstGeom prst="roundRect">
            <a:avLst>
              <a:gd name="adj" fmla="val 4000"/>
            </a:avLst>
          </a:prstGeom>
          <a:solidFill>
            <a:srgbClr val="E0F4FA"/>
          </a:solidFill>
          <a:ln w="12700">
            <a:solidFill>
              <a:srgbClr val="B0BEC5"/>
            </a:solidFill>
            <a:prstDash val="solid"/>
          </a:ln>
        </p:spPr>
      </p:sp>
      <p:sp>
        <p:nvSpPr>
          <p:cNvPr id="13" name="Shape 21"/>
          <p:cNvSpPr/>
          <p:nvPr/>
        </p:nvSpPr>
        <p:spPr>
          <a:xfrm>
            <a:off x="7264400" y="1752600"/>
            <a:ext cx="355600" cy="355600"/>
          </a:xfrm>
          <a:custGeom>
            <a:avLst/>
            <a:gdLst/>
            <a:ahLst/>
            <a:cxnLst/>
            <a:rect l="l" t="t" r="r" b="b"/>
            <a:pathLst>
              <a:path w="355600" h="355600">
                <a:moveTo>
                  <a:pt x="50800" y="22225"/>
                </a:moveTo>
                <a:cubicBezTo>
                  <a:pt x="22781" y="22225"/>
                  <a:pt x="0" y="42158"/>
                  <a:pt x="0" y="66675"/>
                </a:cubicBezTo>
                <a:lnTo>
                  <a:pt x="0" y="111125"/>
                </a:lnTo>
                <a:cubicBezTo>
                  <a:pt x="0" y="135642"/>
                  <a:pt x="22781" y="155575"/>
                  <a:pt x="50800" y="155575"/>
                </a:cubicBezTo>
                <a:lnTo>
                  <a:pt x="304800" y="155575"/>
                </a:lnTo>
                <a:cubicBezTo>
                  <a:pt x="332819" y="155575"/>
                  <a:pt x="355600" y="135642"/>
                  <a:pt x="355600" y="111125"/>
                </a:cubicBezTo>
                <a:lnTo>
                  <a:pt x="355600" y="66675"/>
                </a:lnTo>
                <a:cubicBezTo>
                  <a:pt x="355600" y="42158"/>
                  <a:pt x="332819" y="22225"/>
                  <a:pt x="304800" y="22225"/>
                </a:cubicBezTo>
                <a:lnTo>
                  <a:pt x="50800" y="22225"/>
                </a:lnTo>
                <a:close/>
                <a:moveTo>
                  <a:pt x="222250" y="72231"/>
                </a:moveTo>
                <a:cubicBezTo>
                  <a:pt x="232764" y="72231"/>
                  <a:pt x="241300" y="79700"/>
                  <a:pt x="241300" y="88900"/>
                </a:cubicBezTo>
                <a:cubicBezTo>
                  <a:pt x="241300" y="98100"/>
                  <a:pt x="232764" y="105569"/>
                  <a:pt x="222250" y="105569"/>
                </a:cubicBezTo>
                <a:cubicBezTo>
                  <a:pt x="211736" y="105569"/>
                  <a:pt x="203200" y="98100"/>
                  <a:pt x="203200" y="88900"/>
                </a:cubicBezTo>
                <a:cubicBezTo>
                  <a:pt x="203200" y="79700"/>
                  <a:pt x="211736" y="72231"/>
                  <a:pt x="222250" y="72231"/>
                </a:cubicBezTo>
                <a:close/>
                <a:moveTo>
                  <a:pt x="266700" y="88900"/>
                </a:moveTo>
                <a:cubicBezTo>
                  <a:pt x="266700" y="79700"/>
                  <a:pt x="275236" y="72231"/>
                  <a:pt x="285750" y="72231"/>
                </a:cubicBezTo>
                <a:cubicBezTo>
                  <a:pt x="296264" y="72231"/>
                  <a:pt x="304800" y="79700"/>
                  <a:pt x="304800" y="88900"/>
                </a:cubicBezTo>
                <a:cubicBezTo>
                  <a:pt x="304800" y="98100"/>
                  <a:pt x="296264" y="105569"/>
                  <a:pt x="285750" y="105569"/>
                </a:cubicBezTo>
                <a:cubicBezTo>
                  <a:pt x="275236" y="105569"/>
                  <a:pt x="266700" y="98100"/>
                  <a:pt x="266700" y="88900"/>
                </a:cubicBezTo>
                <a:close/>
                <a:moveTo>
                  <a:pt x="50800" y="200025"/>
                </a:moveTo>
                <a:cubicBezTo>
                  <a:pt x="22781" y="200025"/>
                  <a:pt x="0" y="219958"/>
                  <a:pt x="0" y="244475"/>
                </a:cubicBezTo>
                <a:lnTo>
                  <a:pt x="0" y="288925"/>
                </a:lnTo>
                <a:cubicBezTo>
                  <a:pt x="0" y="313442"/>
                  <a:pt x="22781" y="333375"/>
                  <a:pt x="50800" y="333375"/>
                </a:cubicBezTo>
                <a:lnTo>
                  <a:pt x="304800" y="333375"/>
                </a:lnTo>
                <a:cubicBezTo>
                  <a:pt x="332819" y="333375"/>
                  <a:pt x="355600" y="313442"/>
                  <a:pt x="355600" y="288925"/>
                </a:cubicBezTo>
                <a:lnTo>
                  <a:pt x="355600" y="244475"/>
                </a:lnTo>
                <a:cubicBezTo>
                  <a:pt x="355600" y="219958"/>
                  <a:pt x="332819" y="200025"/>
                  <a:pt x="304800" y="200025"/>
                </a:cubicBezTo>
                <a:lnTo>
                  <a:pt x="50800" y="200025"/>
                </a:lnTo>
                <a:close/>
                <a:moveTo>
                  <a:pt x="222250" y="250031"/>
                </a:moveTo>
                <a:cubicBezTo>
                  <a:pt x="232764" y="250031"/>
                  <a:pt x="241300" y="257500"/>
                  <a:pt x="241300" y="266700"/>
                </a:cubicBezTo>
                <a:cubicBezTo>
                  <a:pt x="241300" y="275900"/>
                  <a:pt x="232764" y="283369"/>
                  <a:pt x="222250" y="283369"/>
                </a:cubicBezTo>
                <a:cubicBezTo>
                  <a:pt x="211736" y="283369"/>
                  <a:pt x="203200" y="275900"/>
                  <a:pt x="203200" y="266700"/>
                </a:cubicBezTo>
                <a:cubicBezTo>
                  <a:pt x="203200" y="257500"/>
                  <a:pt x="211736" y="250031"/>
                  <a:pt x="222250" y="250031"/>
                </a:cubicBezTo>
                <a:close/>
                <a:moveTo>
                  <a:pt x="266700" y="266700"/>
                </a:moveTo>
                <a:cubicBezTo>
                  <a:pt x="266700" y="257500"/>
                  <a:pt x="275236" y="250031"/>
                  <a:pt x="285750" y="250031"/>
                </a:cubicBezTo>
                <a:cubicBezTo>
                  <a:pt x="296264" y="250031"/>
                  <a:pt x="304800" y="257500"/>
                  <a:pt x="304800" y="266700"/>
                </a:cubicBezTo>
                <a:cubicBezTo>
                  <a:pt x="304800" y="275900"/>
                  <a:pt x="296264" y="283369"/>
                  <a:pt x="285750" y="283369"/>
                </a:cubicBezTo>
                <a:cubicBezTo>
                  <a:pt x="275236" y="283369"/>
                  <a:pt x="266700" y="275900"/>
                  <a:pt x="266700" y="266700"/>
                </a:cubicBezTo>
                <a:close/>
              </a:path>
            </a:pathLst>
          </a:custGeom>
          <a:solidFill>
            <a:srgbClr val="007AA8"/>
          </a:solidFill>
          <a:ln/>
        </p:spPr>
      </p:sp>
      <p:sp>
        <p:nvSpPr>
          <p:cNvPr id="14" name="Text 22"/>
          <p:cNvSpPr/>
          <p:nvPr/>
        </p:nvSpPr>
        <p:spPr>
          <a:xfrm>
            <a:off x="7721600" y="1752600"/>
            <a:ext cx="3454400" cy="355600"/>
          </a:xfrm>
          <a:prstGeom prst="rect">
            <a:avLst/>
          </a:prstGeom>
          <a:noFill/>
          <a:ln/>
        </p:spPr>
        <p:txBody>
          <a:bodyPr wrap="none" lIns="0" tIns="0" rIns="0" bIns="0" rtlCol="0" anchor="t"/>
          <a:lstStyle/>
          <a:p>
            <a:pPr algn="l">
              <a:lnSpc>
                <a:spcPct val="120000"/>
              </a:lnSpc>
            </a:pPr>
            <a:r>
              <a:rPr lang="en-US" sz="2000" b="1" dirty="0">
                <a:solidFill>
                  <a:srgbClr val="005C82"/>
                </a:solidFill>
                <a:ea typeface="Quattrocento Sans" pitchFamily="34" charset="-122"/>
                <a:cs typeface="Quattrocento Sans" pitchFamily="34" charset="-120"/>
              </a:rPr>
              <a:t>Computation Cost</a:t>
            </a:r>
            <a:endParaRPr lang="en-US" sz="2000" dirty="0"/>
          </a:p>
        </p:txBody>
      </p:sp>
      <p:sp>
        <p:nvSpPr>
          <p:cNvPr id="16" name="Text 23"/>
          <p:cNvSpPr/>
          <p:nvPr/>
        </p:nvSpPr>
        <p:spPr>
          <a:xfrm>
            <a:off x="7264400" y="2209800"/>
            <a:ext cx="3911600" cy="2286000"/>
          </a:xfrm>
          <a:prstGeom prst="rect">
            <a:avLst/>
          </a:prstGeom>
          <a:noFill/>
          <a:ln/>
        </p:spPr>
        <p:txBody>
          <a:bodyPr wrap="square" lIns="0" tIns="0" rIns="0" bIns="0" rtlCol="0" anchor="t"/>
          <a:lstStyle/>
          <a:p>
            <a:pPr algn="l">
              <a:lnSpc>
                <a:spcPct val="150000"/>
              </a:lnSpc>
            </a:pPr>
            <a:r>
              <a:rPr lang="en-US" dirty="0">
                <a:solidFill>
                  <a:srgbClr val="333333"/>
                </a:solidFill>
                <a:ea typeface="Quattrocento Sans" pitchFamily="34" charset="-122"/>
                <a:cs typeface="Quattrocento Sans" pitchFamily="34" charset="-120"/>
              </a:rPr>
              <a:t>• Processing large datasets needs substantial CPU and memory</a:t>
            </a:r>
            <a:endParaRPr lang="en-US" dirty="0"/>
          </a:p>
          <a:p>
            <a:pPr algn="l">
              <a:lnSpc>
                <a:spcPct val="150000"/>
              </a:lnSpc>
            </a:pPr>
            <a:r>
              <a:rPr lang="en-US" dirty="0">
                <a:solidFill>
                  <a:srgbClr val="333333"/>
                </a:solidFill>
                <a:ea typeface="Quattrocento Sans" pitchFamily="34" charset="-122"/>
                <a:cs typeface="Quattrocento Sans" pitchFamily="34" charset="-120"/>
              </a:rPr>
              <a:t>• Hadoop: </a:t>
            </a:r>
            <a:r>
              <a:rPr lang="en-US" b="1" dirty="0">
                <a:solidFill>
                  <a:srgbClr val="333333"/>
                </a:solidFill>
                <a:ea typeface="Quattrocento Sans" pitchFamily="34" charset="-122"/>
                <a:cs typeface="Quattrocento Sans" pitchFamily="34" charset="-120"/>
              </a:rPr>
              <a:t>move computation to data</a:t>
            </a:r>
            <a:r>
              <a:rPr lang="en-US" dirty="0">
                <a:solidFill>
                  <a:srgbClr val="333333"/>
                </a:solidFill>
                <a:ea typeface="Quattrocento Sans" pitchFamily="34" charset="-122"/>
                <a:cs typeface="Quattrocento Sans" pitchFamily="34" charset="-120"/>
              </a:rPr>
              <a:t> (data locality)</a:t>
            </a:r>
            <a:endParaRPr lang="en-US" dirty="0"/>
          </a:p>
          <a:p>
            <a:pPr algn="l">
              <a:lnSpc>
                <a:spcPct val="150000"/>
              </a:lnSpc>
            </a:pPr>
            <a:r>
              <a:rPr lang="en-US" dirty="0">
                <a:solidFill>
                  <a:srgbClr val="333333"/>
                </a:solidFill>
                <a:ea typeface="Quattrocento Sans" pitchFamily="34" charset="-122"/>
                <a:cs typeface="Quattrocento Sans" pitchFamily="34" charset="-120"/>
              </a:rPr>
              <a:t>• Spark in-memory faster but more expensive than MapReduce</a:t>
            </a:r>
            <a:endParaRPr lang="en-US" dirty="0"/>
          </a:p>
          <a:p>
            <a:pPr algn="l">
              <a:lnSpc>
                <a:spcPct val="150000"/>
              </a:lnSpc>
            </a:pPr>
            <a:r>
              <a:rPr lang="en-US" dirty="0">
                <a:solidFill>
                  <a:srgbClr val="333333"/>
                </a:solidFill>
                <a:ea typeface="Quattrocento Sans" pitchFamily="34" charset="-122"/>
                <a:cs typeface="Quattrocento Sans" pitchFamily="34" charset="-120"/>
              </a:rPr>
              <a:t>• YARN manages resource allocation</a:t>
            </a:r>
            <a:endParaRPr lang="en-US" dirty="0"/>
          </a:p>
        </p:txBody>
      </p:sp>
      <p:sp>
        <p:nvSpPr>
          <p:cNvPr id="17" name="Shape 24"/>
          <p:cNvSpPr/>
          <p:nvPr/>
        </p:nvSpPr>
        <p:spPr>
          <a:xfrm>
            <a:off x="11582400" y="1574800"/>
            <a:ext cx="4165600" cy="3762248"/>
          </a:xfrm>
          <a:prstGeom prst="roundRect">
            <a:avLst>
              <a:gd name="adj" fmla="val 4000"/>
            </a:avLst>
          </a:prstGeom>
          <a:solidFill>
            <a:srgbClr val="E0F4FA"/>
          </a:solidFill>
          <a:ln w="12700">
            <a:solidFill>
              <a:srgbClr val="B0BEC5"/>
            </a:solidFill>
            <a:prstDash val="solid"/>
          </a:ln>
        </p:spPr>
      </p:sp>
      <p:sp>
        <p:nvSpPr>
          <p:cNvPr id="18" name="Shape 25"/>
          <p:cNvSpPr/>
          <p:nvPr/>
        </p:nvSpPr>
        <p:spPr>
          <a:xfrm>
            <a:off x="11785600" y="1752600"/>
            <a:ext cx="355600" cy="355600"/>
          </a:xfrm>
          <a:custGeom>
            <a:avLst/>
            <a:gdLst/>
            <a:ahLst/>
            <a:cxnLst/>
            <a:rect l="l" t="t" r="r" b="b"/>
            <a:pathLst>
              <a:path w="355600" h="355600">
                <a:moveTo>
                  <a:pt x="153106" y="61119"/>
                </a:moveTo>
                <a:lnTo>
                  <a:pt x="202494" y="61119"/>
                </a:lnTo>
                <a:lnTo>
                  <a:pt x="202494" y="94456"/>
                </a:lnTo>
                <a:lnTo>
                  <a:pt x="153106" y="94456"/>
                </a:lnTo>
                <a:lnTo>
                  <a:pt x="153106" y="61119"/>
                </a:lnTo>
                <a:close/>
                <a:moveTo>
                  <a:pt x="148167" y="22225"/>
                </a:moveTo>
                <a:cubicBezTo>
                  <a:pt x="131807" y="22225"/>
                  <a:pt x="118533" y="37157"/>
                  <a:pt x="118533" y="55563"/>
                </a:cubicBezTo>
                <a:lnTo>
                  <a:pt x="118533" y="100013"/>
                </a:lnTo>
                <a:cubicBezTo>
                  <a:pt x="118533" y="118418"/>
                  <a:pt x="131807" y="133350"/>
                  <a:pt x="148167" y="133350"/>
                </a:cubicBezTo>
                <a:lnTo>
                  <a:pt x="158044" y="133350"/>
                </a:lnTo>
                <a:lnTo>
                  <a:pt x="158044" y="155575"/>
                </a:lnTo>
                <a:lnTo>
                  <a:pt x="19756" y="155575"/>
                </a:lnTo>
                <a:cubicBezTo>
                  <a:pt x="8828" y="155575"/>
                  <a:pt x="0" y="165507"/>
                  <a:pt x="0" y="177800"/>
                </a:cubicBezTo>
                <a:cubicBezTo>
                  <a:pt x="0" y="190093"/>
                  <a:pt x="8828" y="200025"/>
                  <a:pt x="19756" y="200025"/>
                </a:cubicBezTo>
                <a:lnTo>
                  <a:pt x="79022" y="200025"/>
                </a:lnTo>
                <a:lnTo>
                  <a:pt x="79022" y="222250"/>
                </a:lnTo>
                <a:lnTo>
                  <a:pt x="69144" y="222250"/>
                </a:lnTo>
                <a:cubicBezTo>
                  <a:pt x="52784" y="222250"/>
                  <a:pt x="39511" y="237182"/>
                  <a:pt x="39511" y="255587"/>
                </a:cubicBezTo>
                <a:lnTo>
                  <a:pt x="39511" y="300038"/>
                </a:lnTo>
                <a:cubicBezTo>
                  <a:pt x="39511" y="318443"/>
                  <a:pt x="52784" y="333375"/>
                  <a:pt x="69144" y="333375"/>
                </a:cubicBezTo>
                <a:lnTo>
                  <a:pt x="128411" y="333375"/>
                </a:lnTo>
                <a:cubicBezTo>
                  <a:pt x="144771" y="333375"/>
                  <a:pt x="158044" y="318443"/>
                  <a:pt x="158044" y="300038"/>
                </a:cubicBezTo>
                <a:lnTo>
                  <a:pt x="158044" y="255587"/>
                </a:lnTo>
                <a:cubicBezTo>
                  <a:pt x="158044" y="237182"/>
                  <a:pt x="144771" y="222250"/>
                  <a:pt x="128411" y="222250"/>
                </a:cubicBezTo>
                <a:lnTo>
                  <a:pt x="118533" y="222250"/>
                </a:lnTo>
                <a:lnTo>
                  <a:pt x="118533" y="200025"/>
                </a:lnTo>
                <a:lnTo>
                  <a:pt x="237067" y="200025"/>
                </a:lnTo>
                <a:lnTo>
                  <a:pt x="237067" y="222250"/>
                </a:lnTo>
                <a:lnTo>
                  <a:pt x="227189" y="222250"/>
                </a:lnTo>
                <a:cubicBezTo>
                  <a:pt x="210829" y="222250"/>
                  <a:pt x="197556" y="237182"/>
                  <a:pt x="197556" y="255587"/>
                </a:cubicBezTo>
                <a:lnTo>
                  <a:pt x="197556" y="300038"/>
                </a:lnTo>
                <a:cubicBezTo>
                  <a:pt x="197556" y="318443"/>
                  <a:pt x="210829" y="333375"/>
                  <a:pt x="227189" y="333375"/>
                </a:cubicBezTo>
                <a:lnTo>
                  <a:pt x="286456" y="333375"/>
                </a:lnTo>
                <a:cubicBezTo>
                  <a:pt x="302816" y="333375"/>
                  <a:pt x="316089" y="318443"/>
                  <a:pt x="316089" y="300038"/>
                </a:cubicBezTo>
                <a:lnTo>
                  <a:pt x="316089" y="255587"/>
                </a:lnTo>
                <a:cubicBezTo>
                  <a:pt x="316089" y="237182"/>
                  <a:pt x="302816" y="222250"/>
                  <a:pt x="286456" y="222250"/>
                </a:cubicBezTo>
                <a:lnTo>
                  <a:pt x="276578" y="222250"/>
                </a:lnTo>
                <a:lnTo>
                  <a:pt x="276578" y="200025"/>
                </a:lnTo>
                <a:lnTo>
                  <a:pt x="335844" y="200025"/>
                </a:lnTo>
                <a:cubicBezTo>
                  <a:pt x="346772" y="200025"/>
                  <a:pt x="355600" y="190093"/>
                  <a:pt x="355600" y="177800"/>
                </a:cubicBezTo>
                <a:cubicBezTo>
                  <a:pt x="355600" y="165507"/>
                  <a:pt x="346772" y="155575"/>
                  <a:pt x="335844" y="155575"/>
                </a:cubicBezTo>
                <a:lnTo>
                  <a:pt x="197556" y="155575"/>
                </a:lnTo>
                <a:lnTo>
                  <a:pt x="197556" y="133350"/>
                </a:lnTo>
                <a:lnTo>
                  <a:pt x="207433" y="133350"/>
                </a:lnTo>
                <a:cubicBezTo>
                  <a:pt x="223793" y="133350"/>
                  <a:pt x="237067" y="118418"/>
                  <a:pt x="237067" y="100013"/>
                </a:cubicBezTo>
                <a:lnTo>
                  <a:pt x="237067" y="55563"/>
                </a:lnTo>
                <a:cubicBezTo>
                  <a:pt x="237067" y="37157"/>
                  <a:pt x="223793" y="22225"/>
                  <a:pt x="207433" y="22225"/>
                </a:cubicBezTo>
                <a:lnTo>
                  <a:pt x="148167" y="22225"/>
                </a:lnTo>
                <a:close/>
                <a:moveTo>
                  <a:pt x="276578" y="261144"/>
                </a:moveTo>
                <a:lnTo>
                  <a:pt x="281517" y="261144"/>
                </a:lnTo>
                <a:lnTo>
                  <a:pt x="281517" y="294481"/>
                </a:lnTo>
                <a:lnTo>
                  <a:pt x="232128" y="294481"/>
                </a:lnTo>
                <a:lnTo>
                  <a:pt x="232128" y="261144"/>
                </a:lnTo>
                <a:lnTo>
                  <a:pt x="276578" y="261144"/>
                </a:lnTo>
                <a:close/>
                <a:moveTo>
                  <a:pt x="118533" y="261144"/>
                </a:moveTo>
                <a:lnTo>
                  <a:pt x="123472" y="261144"/>
                </a:lnTo>
                <a:lnTo>
                  <a:pt x="123472" y="294481"/>
                </a:lnTo>
                <a:lnTo>
                  <a:pt x="74083" y="294481"/>
                </a:lnTo>
                <a:lnTo>
                  <a:pt x="74083" y="261144"/>
                </a:lnTo>
                <a:lnTo>
                  <a:pt x="118533" y="261144"/>
                </a:lnTo>
                <a:close/>
              </a:path>
            </a:pathLst>
          </a:custGeom>
          <a:solidFill>
            <a:srgbClr val="00ACC1"/>
          </a:solidFill>
          <a:ln/>
        </p:spPr>
      </p:sp>
      <p:sp>
        <p:nvSpPr>
          <p:cNvPr id="19" name="Text 26"/>
          <p:cNvSpPr/>
          <p:nvPr/>
        </p:nvSpPr>
        <p:spPr>
          <a:xfrm>
            <a:off x="12242800" y="1752600"/>
            <a:ext cx="3302000" cy="355600"/>
          </a:xfrm>
          <a:prstGeom prst="rect">
            <a:avLst/>
          </a:prstGeom>
          <a:noFill/>
          <a:ln/>
        </p:spPr>
        <p:txBody>
          <a:bodyPr wrap="none" lIns="0" tIns="0" rIns="0" bIns="0" rtlCol="0" anchor="t"/>
          <a:lstStyle/>
          <a:p>
            <a:pPr algn="l">
              <a:lnSpc>
                <a:spcPct val="120000"/>
              </a:lnSpc>
            </a:pPr>
            <a:r>
              <a:rPr lang="en-US" sz="2000" b="1" dirty="0">
                <a:solidFill>
                  <a:srgbClr val="005C82"/>
                </a:solidFill>
                <a:ea typeface="Quattrocento Sans" pitchFamily="34" charset="-122"/>
                <a:cs typeface="Quattrocento Sans" pitchFamily="34" charset="-120"/>
              </a:rPr>
              <a:t>Communication Cost</a:t>
            </a:r>
            <a:endParaRPr lang="en-US" sz="2000" dirty="0"/>
          </a:p>
        </p:txBody>
      </p:sp>
      <p:sp>
        <p:nvSpPr>
          <p:cNvPr id="20" name="Text 27"/>
          <p:cNvSpPr/>
          <p:nvPr/>
        </p:nvSpPr>
        <p:spPr>
          <a:xfrm>
            <a:off x="11673444" y="2209800"/>
            <a:ext cx="3947556" cy="2286000"/>
          </a:xfrm>
          <a:prstGeom prst="rect">
            <a:avLst/>
          </a:prstGeom>
          <a:noFill/>
          <a:ln/>
        </p:spPr>
        <p:txBody>
          <a:bodyPr wrap="square" lIns="0" tIns="0" rIns="0" bIns="0" rtlCol="0" anchor="t"/>
          <a:lstStyle/>
          <a:p>
            <a:pPr algn="l">
              <a:lnSpc>
                <a:spcPct val="160000"/>
              </a:lnSpc>
            </a:pPr>
            <a:r>
              <a:rPr lang="en-US" dirty="0">
                <a:solidFill>
                  <a:srgbClr val="333333"/>
                </a:solidFill>
                <a:ea typeface="Quattrocento Sans" pitchFamily="34" charset="-122"/>
                <a:cs typeface="Quattrocento Sans" pitchFamily="34" charset="-120"/>
              </a:rPr>
              <a:t>• Moving data across nodes consumes bandwidth and increases latency</a:t>
            </a:r>
            <a:endParaRPr lang="en-US" dirty="0"/>
          </a:p>
          <a:p>
            <a:pPr algn="l">
              <a:lnSpc>
                <a:spcPct val="160000"/>
              </a:lnSpc>
            </a:pPr>
            <a:r>
              <a:rPr lang="en-US" dirty="0">
                <a:solidFill>
                  <a:srgbClr val="333333"/>
                </a:solidFill>
                <a:ea typeface="Quattrocento Sans" pitchFamily="34" charset="-122"/>
                <a:cs typeface="Quattrocento Sans" pitchFamily="34" charset="-120"/>
              </a:rPr>
              <a:t>• MapReduce </a:t>
            </a:r>
            <a:r>
              <a:rPr lang="en-US" b="1" dirty="0">
                <a:solidFill>
                  <a:srgbClr val="333333"/>
                </a:solidFill>
                <a:ea typeface="Quattrocento Sans" pitchFamily="34" charset="-122"/>
                <a:cs typeface="Quattrocento Sans" pitchFamily="34" charset="-120"/>
              </a:rPr>
              <a:t>shuffle phase</a:t>
            </a:r>
            <a:r>
              <a:rPr lang="en-US" dirty="0">
                <a:solidFill>
                  <a:srgbClr val="333333"/>
                </a:solidFill>
                <a:ea typeface="Quattrocento Sans" pitchFamily="34" charset="-122"/>
                <a:cs typeface="Quattrocento Sans" pitchFamily="34" charset="-120"/>
              </a:rPr>
              <a:t> is a major source of communication cost</a:t>
            </a:r>
            <a:endParaRPr lang="en-US" dirty="0"/>
          </a:p>
          <a:p>
            <a:pPr algn="l">
              <a:lnSpc>
                <a:spcPct val="160000"/>
              </a:lnSpc>
            </a:pPr>
            <a:r>
              <a:rPr lang="en-US" dirty="0">
                <a:solidFill>
                  <a:srgbClr val="333333"/>
                </a:solidFill>
                <a:ea typeface="Quattrocento Sans" pitchFamily="34" charset="-122"/>
                <a:cs typeface="Quattrocento Sans" pitchFamily="34" charset="-120"/>
              </a:rPr>
              <a:t>• </a:t>
            </a:r>
            <a:r>
              <a:rPr lang="en-US" b="1" dirty="0">
                <a:solidFill>
                  <a:srgbClr val="333333"/>
                </a:solidFill>
                <a:ea typeface="Quattrocento Sans" pitchFamily="34" charset="-122"/>
                <a:cs typeface="Quattrocento Sans" pitchFamily="34" charset="-120"/>
              </a:rPr>
              <a:t>Data locality</a:t>
            </a:r>
            <a:r>
              <a:rPr lang="en-US" dirty="0">
                <a:solidFill>
                  <a:srgbClr val="333333"/>
                </a:solidFill>
                <a:ea typeface="Quattrocento Sans" pitchFamily="34" charset="-122"/>
                <a:cs typeface="Quattrocento Sans" pitchFamily="34" charset="-120"/>
              </a:rPr>
              <a:t> minimizes network transfer</a:t>
            </a:r>
            <a:endParaRPr lang="en-US" dirty="0"/>
          </a:p>
          <a:p>
            <a:pPr algn="l">
              <a:lnSpc>
                <a:spcPct val="160000"/>
              </a:lnSpc>
            </a:pPr>
            <a:r>
              <a:rPr lang="en-US" dirty="0">
                <a:solidFill>
                  <a:srgbClr val="333333"/>
                </a:solidFill>
                <a:ea typeface="Quattrocento Sans" pitchFamily="34" charset="-122"/>
                <a:cs typeface="Quattrocento Sans" pitchFamily="34" charset="-120"/>
              </a:rPr>
              <a:t>• Combiners reduce intermediate data volume</a:t>
            </a:r>
            <a:endParaRPr lang="en-US" dirty="0"/>
          </a:p>
        </p:txBody>
      </p:sp>
      <p:sp>
        <p:nvSpPr>
          <p:cNvPr id="21" name="Text 28"/>
          <p:cNvSpPr/>
          <p:nvPr/>
        </p:nvSpPr>
        <p:spPr>
          <a:xfrm>
            <a:off x="2540000" y="5425948"/>
            <a:ext cx="5181600" cy="493268"/>
          </a:xfrm>
          <a:prstGeom prst="rect">
            <a:avLst/>
          </a:prstGeom>
          <a:noFill/>
          <a:ln/>
        </p:spPr>
        <p:txBody>
          <a:bodyPr wrap="none" lIns="0" tIns="0" rIns="0" bIns="0" rtlCol="0" anchor="t"/>
          <a:lstStyle/>
          <a:p>
            <a:pPr>
              <a:lnSpc>
                <a:spcPct val="120000"/>
              </a:lnSpc>
            </a:pPr>
            <a:r>
              <a:rPr lang="en-US" sz="2400" b="1" dirty="0">
                <a:solidFill>
                  <a:srgbClr val="005C82"/>
                </a:solidFill>
                <a:ea typeface="Quattrocento Sans" pitchFamily="34" charset="-122"/>
                <a:cs typeface="Quattrocento Sans" pitchFamily="34" charset="-120"/>
              </a:rPr>
              <a:t>Key Trade-offs Summary</a:t>
            </a:r>
          </a:p>
        </p:txBody>
      </p:sp>
      <p:graphicFrame>
        <p:nvGraphicFramePr>
          <p:cNvPr id="22" name="Table 0"/>
          <p:cNvGraphicFramePr>
            <a:graphicFrameLocks noGrp="1"/>
          </p:cNvGraphicFramePr>
          <p:nvPr>
            <p:extLst>
              <p:ext uri="{D42A27DB-BD31-4B8C-83A1-F6EECF244321}">
                <p14:modId xmlns:p14="http://schemas.microsoft.com/office/powerpoint/2010/main" val="2835788474"/>
              </p:ext>
            </p:extLst>
          </p:nvPr>
        </p:nvGraphicFramePr>
        <p:xfrm>
          <a:off x="2540000" y="6008116"/>
          <a:ext cx="13208000" cy="3008883"/>
        </p:xfrm>
        <a:graphic>
          <a:graphicData uri="http://schemas.openxmlformats.org/drawingml/2006/table">
            <a:tbl>
              <a:tblPr/>
              <a:tblGrid>
                <a:gridCol w="3962400">
                  <a:extLst>
                    <a:ext uri="{9D8B030D-6E8A-4147-A177-3AD203B41FA5}">
                      <a16:colId xmlns:a16="http://schemas.microsoft.com/office/drawing/2014/main" xmlns="" val="20000"/>
                    </a:ext>
                  </a:extLst>
                </a:gridCol>
                <a:gridCol w="9245600">
                  <a:extLst>
                    <a:ext uri="{9D8B030D-6E8A-4147-A177-3AD203B41FA5}">
                      <a16:colId xmlns:a16="http://schemas.microsoft.com/office/drawing/2014/main" xmlns="" val="20001"/>
                    </a:ext>
                  </a:extLst>
                </a:gridCol>
              </a:tblGrid>
              <a:tr h="506167">
                <a:tc>
                  <a:txBody>
                    <a:bodyPr/>
                    <a:lstStyle/>
                    <a:p>
                      <a:pPr algn="ctr"/>
                      <a:r>
                        <a:rPr lang="en-US" sz="2000" b="1" dirty="0">
                          <a:solidFill>
                            <a:srgbClr val="FFFFFF"/>
                          </a:solidFill>
                        </a:rPr>
                        <a:t>Trade-off</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ctr"/>
                      <a:r>
                        <a:rPr lang="en-US" sz="2000" b="1" dirty="0">
                          <a:solidFill>
                            <a:srgbClr val="FFFFFF"/>
                          </a:solidFill>
                        </a:rPr>
                        <a:t>Description</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extLst>
                  <a:ext uri="{0D108BD9-81ED-4DB2-BD59-A6C34878D82A}">
                    <a16:rowId xmlns:a16="http://schemas.microsoft.com/office/drawing/2014/main" xmlns="" val="10000"/>
                  </a:ext>
                </a:extLst>
              </a:tr>
              <a:tr h="576468">
                <a:tc>
                  <a:txBody>
                    <a:bodyPr/>
                    <a:lstStyle/>
                    <a:p>
                      <a:pPr algn="ctr"/>
                      <a:r>
                        <a:rPr lang="en-US" sz="2000" dirty="0">
                          <a:solidFill>
                            <a:srgbClr val="333333"/>
                          </a:solidFill>
                        </a:rPr>
                        <a:t>Storage vs Computation</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a:r>
                        <a:rPr lang="en-US" sz="2000" dirty="0">
                          <a:solidFill>
                            <a:srgbClr val="333333"/>
                          </a:solidFill>
                        </a:rPr>
                        <a:t>Pre-computed results (materialized views) reduce computation but increase storage</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xmlns="" val="10001"/>
                  </a:ext>
                </a:extLst>
              </a:tr>
              <a:tr h="674890">
                <a:tc>
                  <a:txBody>
                    <a:bodyPr/>
                    <a:lstStyle/>
                    <a:p>
                      <a:pPr algn="ctr"/>
                      <a:r>
                        <a:rPr lang="en-US" sz="2000" dirty="0">
                          <a:solidFill>
                            <a:srgbClr val="333333"/>
                          </a:solidFill>
                        </a:rPr>
                        <a:t>Computation vs Communication</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l"/>
                      <a:r>
                        <a:rPr lang="en-US" sz="2000" dirty="0">
                          <a:solidFill>
                            <a:srgbClr val="333333"/>
                          </a:solidFill>
                        </a:rPr>
                        <a:t>Running computation close to data (data locality) reduces communication but needs scheduling flexibility</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extLst>
                  <a:ext uri="{0D108BD9-81ED-4DB2-BD59-A6C34878D82A}">
                    <a16:rowId xmlns:a16="http://schemas.microsoft.com/office/drawing/2014/main" xmlns="" val="10002"/>
                  </a:ext>
                </a:extLst>
              </a:tr>
              <a:tr h="576468">
                <a:tc>
                  <a:txBody>
                    <a:bodyPr/>
                    <a:lstStyle/>
                    <a:p>
                      <a:pPr algn="ctr"/>
                      <a:r>
                        <a:rPr lang="en-US" sz="2000" dirty="0">
                          <a:solidFill>
                            <a:srgbClr val="333333"/>
                          </a:solidFill>
                        </a:rPr>
                        <a:t>Storage vs Communication</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a:r>
                        <a:rPr lang="en-US" sz="2000" dirty="0">
                          <a:solidFill>
                            <a:srgbClr val="333333"/>
                          </a:solidFill>
                        </a:rPr>
                        <a:t>Caching frequently accessed data locally reduces communication but uses more storage</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xmlns="" val="10003"/>
                  </a:ext>
                </a:extLst>
              </a:tr>
              <a:tr h="674890">
                <a:tc>
                  <a:txBody>
                    <a:bodyPr/>
                    <a:lstStyle/>
                    <a:p>
                      <a:pPr algn="ctr"/>
                      <a:r>
                        <a:rPr lang="en-US" sz="2000" dirty="0">
                          <a:solidFill>
                            <a:srgbClr val="333333"/>
                          </a:solidFill>
                        </a:rPr>
                        <a:t>Batch vs Real-Time</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l"/>
                      <a:r>
                        <a:rPr lang="en-US" sz="2000" dirty="0">
                          <a:solidFill>
                            <a:srgbClr val="333333"/>
                          </a:solidFill>
                        </a:rPr>
                        <a:t>Batch maximizes throughput but has high latency; streaming minimizes latency but increases complexity and cost</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extLst>
                  <a:ext uri="{0D108BD9-81ED-4DB2-BD59-A6C34878D82A}">
                    <a16:rowId xmlns:a16="http://schemas.microsoft.com/office/drawing/2014/main" xmlns="" val="10004"/>
                  </a:ext>
                </a:extLst>
              </a:tr>
            </a:tbl>
          </a:graphicData>
        </a:graphic>
      </p:graphicFrame>
      <p:sp>
        <p:nvSpPr>
          <p:cNvPr id="23" name="Rounded Rectangle 22"/>
          <p:cNvSpPr/>
          <p:nvPr/>
        </p:nvSpPr>
        <p:spPr>
          <a:xfrm>
            <a:off x="0" y="6703921"/>
            <a:ext cx="2214372" cy="836035"/>
          </a:xfrm>
          <a:prstGeom prst="roundRect">
            <a:avLst/>
          </a:prstGeom>
          <a:solidFill>
            <a:srgbClr val="FF000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775505712"/>
      </p:ext>
    </p:extLst>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sp>
      <p:sp>
        <p:nvSpPr>
          <p:cNvPr id="12" name="Shape 10"/>
          <p:cNvSpPr/>
          <p:nvPr/>
        </p:nvSpPr>
        <p:spPr>
          <a:xfrm>
            <a:off x="1066800" y="8864600"/>
            <a:ext cx="152400" cy="152400"/>
          </a:xfrm>
          <a:prstGeom prst="diamond">
            <a:avLst/>
          </a:prstGeom>
          <a:solidFill>
            <a:srgbClr val="00ACC1"/>
          </a:solidFill>
          <a:ln/>
        </p:spPr>
      </p:sp>
      <p:sp>
        <p:nvSpPr>
          <p:cNvPr id="15" name="Text 13"/>
          <p:cNvSpPr/>
          <p:nvPr/>
        </p:nvSpPr>
        <p:spPr>
          <a:xfrm>
            <a:off x="15621000" y="0"/>
            <a:ext cx="635000" cy="635000"/>
          </a:xfrm>
          <a:prstGeom prst="rect">
            <a:avLst/>
          </a:prstGeom>
          <a:noFill/>
          <a:ln/>
        </p:spPr>
        <p:txBody>
          <a:bodyPr wrap="none" lIns="0" tIns="0" rIns="0" bIns="0" rtlCol="0" anchor="ctr"/>
          <a:lstStyle/>
          <a:p>
            <a:pPr algn="r">
              <a:lnSpc>
                <a:spcPct val="120000"/>
              </a:lnSpc>
            </a:pPr>
            <a:r>
              <a:rPr lang="en-US" sz="1400" dirty="0">
                <a:solidFill>
                  <a:srgbClr val="005C82"/>
                </a:solidFill>
                <a:latin typeface="Quattrocento Sans" pitchFamily="34" charset="0"/>
                <a:ea typeface="Quattrocento Sans" pitchFamily="34" charset="-122"/>
                <a:cs typeface="Quattrocento Sans" pitchFamily="34" charset="-120"/>
              </a:rPr>
              <a:t>9</a:t>
            </a:r>
            <a:endParaRPr lang="en-US" sz="1400" dirty="0"/>
          </a:p>
        </p:txBody>
      </p:sp>
      <p:sp>
        <p:nvSpPr>
          <p:cNvPr id="5" name="Text 14"/>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smtClean="0">
                <a:solidFill>
                  <a:srgbClr val="005C82"/>
                </a:solidFill>
                <a:latin typeface="Quattrocento Sans" pitchFamily="34" charset="0"/>
                <a:ea typeface="Quattrocento Sans" pitchFamily="34" charset="-122"/>
                <a:cs typeface="Quattrocento Sans" pitchFamily="34" charset="-120"/>
              </a:rPr>
              <a:t>7. Data </a:t>
            </a:r>
            <a:r>
              <a:rPr lang="en-US" sz="2400" b="1" dirty="0">
                <a:solidFill>
                  <a:srgbClr val="005C82"/>
                </a:solidFill>
                <a:latin typeface="Quattrocento Sans" pitchFamily="34" charset="0"/>
                <a:ea typeface="Quattrocento Sans" pitchFamily="34" charset="-122"/>
                <a:cs typeface="Quattrocento Sans" pitchFamily="34" charset="-120"/>
              </a:rPr>
              <a:t>Governance Principles</a:t>
            </a:r>
            <a:endParaRPr lang="en-US" sz="2400" dirty="0"/>
          </a:p>
        </p:txBody>
      </p:sp>
      <p:sp>
        <p:nvSpPr>
          <p:cNvPr id="6" name="Shape 15"/>
          <p:cNvSpPr/>
          <p:nvPr/>
        </p:nvSpPr>
        <p:spPr>
          <a:xfrm>
            <a:off x="2540000" y="1397000"/>
            <a:ext cx="13208000" cy="12700"/>
          </a:xfrm>
          <a:prstGeom prst="rect">
            <a:avLst/>
          </a:prstGeom>
          <a:solidFill>
            <a:srgbClr val="B0BEC5"/>
          </a:solidFill>
          <a:ln/>
        </p:spPr>
      </p:sp>
      <p:sp>
        <p:nvSpPr>
          <p:cNvPr id="7" name="Shape 16"/>
          <p:cNvSpPr/>
          <p:nvPr/>
        </p:nvSpPr>
        <p:spPr>
          <a:xfrm>
            <a:off x="2540000" y="1574800"/>
            <a:ext cx="13208000" cy="1130300"/>
          </a:xfrm>
          <a:prstGeom prst="roundRect">
            <a:avLst>
              <a:gd name="adj" fmla="val 4000"/>
            </a:avLst>
          </a:prstGeom>
          <a:solidFill>
            <a:srgbClr val="E0F4FA"/>
          </a:solidFill>
          <a:ln w="12700">
            <a:solidFill>
              <a:srgbClr val="B0BEC5"/>
            </a:solidFill>
            <a:prstDash val="solid"/>
          </a:ln>
        </p:spPr>
      </p:sp>
      <p:sp>
        <p:nvSpPr>
          <p:cNvPr id="9" name="Text 18"/>
          <p:cNvSpPr/>
          <p:nvPr/>
        </p:nvSpPr>
        <p:spPr>
          <a:xfrm>
            <a:off x="3048000" y="1625600"/>
            <a:ext cx="12496800" cy="609600"/>
          </a:xfrm>
          <a:prstGeom prst="rect">
            <a:avLst/>
          </a:prstGeom>
          <a:noFill/>
          <a:ln/>
        </p:spPr>
        <p:txBody>
          <a:bodyPr wrap="square" lIns="0" tIns="0" rIns="0" bIns="0" rtlCol="0" anchor="t"/>
          <a:lstStyle/>
          <a:p>
            <a:pPr algn="ctr">
              <a:lnSpc>
                <a:spcPct val="140000"/>
              </a:lnSpc>
            </a:pPr>
            <a:r>
              <a:rPr lang="en-US" sz="2400" b="1" dirty="0">
                <a:solidFill>
                  <a:srgbClr val="C00000"/>
                </a:solidFill>
                <a:ea typeface="Quattrocento Sans" pitchFamily="34" charset="-122"/>
                <a:cs typeface="Quattrocento Sans" pitchFamily="34" charset="-120"/>
              </a:rPr>
              <a:t>Data Governance is the set of processes, policies, standards, and organizational structures that ensure data is managed as a valuable enterprise asset.</a:t>
            </a:r>
            <a:endParaRPr lang="en-US" sz="2400" b="1" dirty="0">
              <a:solidFill>
                <a:srgbClr val="C00000"/>
              </a:solidFill>
            </a:endParaRPr>
          </a:p>
        </p:txBody>
      </p:sp>
      <p:sp>
        <p:nvSpPr>
          <p:cNvPr id="10" name="Shape 19"/>
          <p:cNvSpPr/>
          <p:nvPr/>
        </p:nvSpPr>
        <p:spPr>
          <a:xfrm>
            <a:off x="2514600" y="2912752"/>
            <a:ext cx="6350000" cy="1824347"/>
          </a:xfrm>
          <a:prstGeom prst="roundRect">
            <a:avLst>
              <a:gd name="adj" fmla="val 4000"/>
            </a:avLst>
          </a:prstGeom>
          <a:solidFill>
            <a:srgbClr val="005C82"/>
          </a:solidFill>
          <a:ln/>
        </p:spPr>
      </p:sp>
      <p:sp>
        <p:nvSpPr>
          <p:cNvPr id="11" name="Text 20"/>
          <p:cNvSpPr/>
          <p:nvPr/>
        </p:nvSpPr>
        <p:spPr>
          <a:xfrm>
            <a:off x="2667000" y="3015673"/>
            <a:ext cx="406400" cy="355600"/>
          </a:xfrm>
          <a:prstGeom prst="rect">
            <a:avLst/>
          </a:prstGeom>
          <a:noFill/>
          <a:ln/>
        </p:spPr>
        <p:txBody>
          <a:bodyPr wrap="none" lIns="0" tIns="0" rIns="0" bIns="0" rtlCol="0" anchor="ctr"/>
          <a:lstStyle/>
          <a:p>
            <a:pPr algn="ctr">
              <a:lnSpc>
                <a:spcPct val="120000"/>
              </a:lnSpc>
            </a:pPr>
            <a:r>
              <a:rPr lang="en-US" dirty="0">
                <a:solidFill>
                  <a:srgbClr val="00ACC1"/>
                </a:solidFill>
                <a:ea typeface="Quattrocento Sans" pitchFamily="34" charset="-122"/>
                <a:cs typeface="Quattrocento Sans" pitchFamily="34" charset="-120"/>
              </a:rPr>
              <a:t>1</a:t>
            </a:r>
            <a:endParaRPr lang="en-US" dirty="0"/>
          </a:p>
        </p:txBody>
      </p:sp>
      <p:sp>
        <p:nvSpPr>
          <p:cNvPr id="13" name="Text 21"/>
          <p:cNvSpPr/>
          <p:nvPr/>
        </p:nvSpPr>
        <p:spPr>
          <a:xfrm>
            <a:off x="3149600" y="3015673"/>
            <a:ext cx="5537200" cy="304800"/>
          </a:xfrm>
          <a:prstGeom prst="rect">
            <a:avLst/>
          </a:prstGeom>
          <a:noFill/>
          <a:ln/>
        </p:spPr>
        <p:txBody>
          <a:bodyPr wrap="none" lIns="0" tIns="0" rIns="0" bIns="0" rtlCol="0" anchor="t"/>
          <a:lstStyle/>
          <a:p>
            <a:pPr algn="l">
              <a:lnSpc>
                <a:spcPct val="120000"/>
              </a:lnSpc>
            </a:pPr>
            <a:r>
              <a:rPr lang="en-US" b="1" dirty="0">
                <a:solidFill>
                  <a:srgbClr val="FFFFFF"/>
                </a:solidFill>
                <a:ea typeface="Quattrocento Sans" pitchFamily="34" charset="-122"/>
                <a:cs typeface="Quattrocento Sans" pitchFamily="34" charset="-120"/>
              </a:rPr>
              <a:t>Data Quality Management</a:t>
            </a:r>
            <a:endParaRPr lang="en-US" dirty="0"/>
          </a:p>
        </p:txBody>
      </p:sp>
      <p:sp>
        <p:nvSpPr>
          <p:cNvPr id="14" name="Text 22"/>
          <p:cNvSpPr/>
          <p:nvPr/>
        </p:nvSpPr>
        <p:spPr>
          <a:xfrm>
            <a:off x="2743200" y="3396673"/>
            <a:ext cx="5943600" cy="965200"/>
          </a:xfrm>
          <a:prstGeom prst="rect">
            <a:avLst/>
          </a:prstGeom>
          <a:noFill/>
          <a:ln/>
        </p:spPr>
        <p:txBody>
          <a:bodyPr wrap="square" lIns="0" tIns="0" rIns="0" bIns="0" rtlCol="0" anchor="t"/>
          <a:lstStyle/>
          <a:p>
            <a:pPr algn="l">
              <a:lnSpc>
                <a:spcPct val="150000"/>
              </a:lnSpc>
            </a:pPr>
            <a:r>
              <a:rPr lang="en-US" dirty="0">
                <a:solidFill>
                  <a:srgbClr val="FFFFFF"/>
                </a:solidFill>
                <a:ea typeface="Quattrocento Sans" pitchFamily="34" charset="-122"/>
                <a:cs typeface="Quattrocento Sans" pitchFamily="34" charset="-120"/>
              </a:rPr>
              <a:t>Ensures data is accurate, valid, reliable, timely, relevant, and complete. Governance applications validate sources, clean datasets, and enforce quality standards.</a:t>
            </a:r>
            <a:endParaRPr lang="en-US" dirty="0"/>
          </a:p>
        </p:txBody>
      </p:sp>
      <p:sp>
        <p:nvSpPr>
          <p:cNvPr id="16" name="Shape 23"/>
          <p:cNvSpPr/>
          <p:nvPr/>
        </p:nvSpPr>
        <p:spPr>
          <a:xfrm>
            <a:off x="9144000" y="2950853"/>
            <a:ext cx="6604000" cy="1786246"/>
          </a:xfrm>
          <a:prstGeom prst="roundRect">
            <a:avLst>
              <a:gd name="adj" fmla="val 4000"/>
            </a:avLst>
          </a:prstGeom>
          <a:solidFill>
            <a:srgbClr val="007AA8"/>
          </a:solidFill>
          <a:ln/>
        </p:spPr>
      </p:sp>
      <p:sp>
        <p:nvSpPr>
          <p:cNvPr id="17" name="Text 24"/>
          <p:cNvSpPr/>
          <p:nvPr/>
        </p:nvSpPr>
        <p:spPr>
          <a:xfrm>
            <a:off x="9194800" y="3012127"/>
            <a:ext cx="406400" cy="355600"/>
          </a:xfrm>
          <a:prstGeom prst="rect">
            <a:avLst/>
          </a:prstGeom>
          <a:noFill/>
          <a:ln/>
        </p:spPr>
        <p:txBody>
          <a:bodyPr wrap="none" lIns="0" tIns="0" rIns="0" bIns="0" rtlCol="0" anchor="ctr"/>
          <a:lstStyle/>
          <a:p>
            <a:pPr algn="ctr">
              <a:lnSpc>
                <a:spcPct val="120000"/>
              </a:lnSpc>
            </a:pPr>
            <a:r>
              <a:rPr lang="en-US" dirty="0">
                <a:solidFill>
                  <a:srgbClr val="E0F4FA"/>
                </a:solidFill>
                <a:ea typeface="Quattrocento Sans" pitchFamily="34" charset="-122"/>
                <a:cs typeface="Quattrocento Sans" pitchFamily="34" charset="-120"/>
              </a:rPr>
              <a:t>2</a:t>
            </a:r>
            <a:endParaRPr lang="en-US" dirty="0"/>
          </a:p>
        </p:txBody>
      </p:sp>
      <p:sp>
        <p:nvSpPr>
          <p:cNvPr id="18" name="Text 25"/>
          <p:cNvSpPr/>
          <p:nvPr/>
        </p:nvSpPr>
        <p:spPr>
          <a:xfrm>
            <a:off x="9677400" y="3012127"/>
            <a:ext cx="5791200" cy="304800"/>
          </a:xfrm>
          <a:prstGeom prst="rect">
            <a:avLst/>
          </a:prstGeom>
          <a:noFill/>
          <a:ln/>
        </p:spPr>
        <p:txBody>
          <a:bodyPr wrap="none" lIns="0" tIns="0" rIns="0" bIns="0" rtlCol="0" anchor="t"/>
          <a:lstStyle/>
          <a:p>
            <a:pPr algn="l">
              <a:lnSpc>
                <a:spcPct val="120000"/>
              </a:lnSpc>
            </a:pPr>
            <a:r>
              <a:rPr lang="en-US" b="1" dirty="0">
                <a:solidFill>
                  <a:srgbClr val="FFFFFF"/>
                </a:solidFill>
                <a:ea typeface="Quattrocento Sans" pitchFamily="34" charset="-122"/>
                <a:cs typeface="Quattrocento Sans" pitchFamily="34" charset="-120"/>
              </a:rPr>
              <a:t>Data Security &amp; Privacy</a:t>
            </a:r>
            <a:endParaRPr lang="en-US" dirty="0"/>
          </a:p>
        </p:txBody>
      </p:sp>
      <p:sp>
        <p:nvSpPr>
          <p:cNvPr id="19" name="Text 26"/>
          <p:cNvSpPr/>
          <p:nvPr/>
        </p:nvSpPr>
        <p:spPr>
          <a:xfrm>
            <a:off x="9271000" y="3393127"/>
            <a:ext cx="6197600" cy="965200"/>
          </a:xfrm>
          <a:prstGeom prst="rect">
            <a:avLst/>
          </a:prstGeom>
          <a:noFill/>
          <a:ln/>
        </p:spPr>
        <p:txBody>
          <a:bodyPr wrap="square" lIns="0" tIns="0" rIns="0" bIns="0" rtlCol="0" anchor="t"/>
          <a:lstStyle/>
          <a:p>
            <a:pPr algn="l">
              <a:lnSpc>
                <a:spcPct val="150000"/>
              </a:lnSpc>
            </a:pPr>
            <a:r>
              <a:rPr lang="en-US" dirty="0">
                <a:solidFill>
                  <a:srgbClr val="FFFFFF"/>
                </a:solidFill>
                <a:ea typeface="Quattrocento Sans" pitchFamily="34" charset="-122"/>
                <a:cs typeface="Quattrocento Sans" pitchFamily="34" charset="-120"/>
              </a:rPr>
              <a:t>Protects sensitive data from unauthorized access and breaches. Includes encryption, identity/access control, compliance with GDPR, HIPAA, PDPB, and endpoint protection.</a:t>
            </a:r>
            <a:endParaRPr lang="en-US" dirty="0"/>
          </a:p>
        </p:txBody>
      </p:sp>
      <p:sp>
        <p:nvSpPr>
          <p:cNvPr id="20" name="Shape 27"/>
          <p:cNvSpPr/>
          <p:nvPr/>
        </p:nvSpPr>
        <p:spPr>
          <a:xfrm>
            <a:off x="2540000" y="4991430"/>
            <a:ext cx="6350000" cy="1714169"/>
          </a:xfrm>
          <a:prstGeom prst="roundRect">
            <a:avLst>
              <a:gd name="adj" fmla="val 4000"/>
            </a:avLst>
          </a:prstGeom>
          <a:solidFill>
            <a:srgbClr val="00ACC1"/>
          </a:solidFill>
          <a:ln/>
        </p:spPr>
      </p:sp>
      <p:sp>
        <p:nvSpPr>
          <p:cNvPr id="21" name="Text 28"/>
          <p:cNvSpPr/>
          <p:nvPr/>
        </p:nvSpPr>
        <p:spPr>
          <a:xfrm>
            <a:off x="2667000" y="5136574"/>
            <a:ext cx="406400" cy="355600"/>
          </a:xfrm>
          <a:prstGeom prst="rect">
            <a:avLst/>
          </a:prstGeom>
          <a:noFill/>
          <a:ln/>
        </p:spPr>
        <p:txBody>
          <a:bodyPr wrap="none" lIns="0" tIns="0" rIns="0" bIns="0" rtlCol="0" anchor="ctr"/>
          <a:lstStyle/>
          <a:p>
            <a:pPr algn="ctr">
              <a:lnSpc>
                <a:spcPct val="120000"/>
              </a:lnSpc>
            </a:pPr>
            <a:r>
              <a:rPr lang="en-US" dirty="0">
                <a:solidFill>
                  <a:srgbClr val="FFFFFF"/>
                </a:solidFill>
                <a:ea typeface="Quattrocento Sans" pitchFamily="34" charset="-122"/>
                <a:cs typeface="Quattrocento Sans" pitchFamily="34" charset="-120"/>
              </a:rPr>
              <a:t>3</a:t>
            </a:r>
            <a:endParaRPr lang="en-US" dirty="0"/>
          </a:p>
        </p:txBody>
      </p:sp>
      <p:sp>
        <p:nvSpPr>
          <p:cNvPr id="22" name="Text 29"/>
          <p:cNvSpPr/>
          <p:nvPr/>
        </p:nvSpPr>
        <p:spPr>
          <a:xfrm>
            <a:off x="3149600" y="5136574"/>
            <a:ext cx="5537200" cy="304800"/>
          </a:xfrm>
          <a:prstGeom prst="rect">
            <a:avLst/>
          </a:prstGeom>
          <a:noFill/>
          <a:ln/>
        </p:spPr>
        <p:txBody>
          <a:bodyPr wrap="none" lIns="0" tIns="0" rIns="0" bIns="0" rtlCol="0" anchor="t"/>
          <a:lstStyle/>
          <a:p>
            <a:pPr algn="l">
              <a:lnSpc>
                <a:spcPct val="120000"/>
              </a:lnSpc>
            </a:pPr>
            <a:r>
              <a:rPr lang="en-US" b="1" dirty="0">
                <a:solidFill>
                  <a:srgbClr val="FFFFFF"/>
                </a:solidFill>
                <a:ea typeface="Quattrocento Sans" pitchFamily="34" charset="-122"/>
                <a:cs typeface="Quattrocento Sans" pitchFamily="34" charset="-120"/>
              </a:rPr>
              <a:t>Data Lineage &amp; Audibility</a:t>
            </a:r>
            <a:endParaRPr lang="en-US" dirty="0"/>
          </a:p>
        </p:txBody>
      </p:sp>
      <p:sp>
        <p:nvSpPr>
          <p:cNvPr id="23" name="Text 30"/>
          <p:cNvSpPr/>
          <p:nvPr/>
        </p:nvSpPr>
        <p:spPr>
          <a:xfrm>
            <a:off x="2743200" y="5517574"/>
            <a:ext cx="5943600" cy="965200"/>
          </a:xfrm>
          <a:prstGeom prst="rect">
            <a:avLst/>
          </a:prstGeom>
          <a:noFill/>
          <a:ln/>
        </p:spPr>
        <p:txBody>
          <a:bodyPr wrap="square" lIns="0" tIns="0" rIns="0" bIns="0" rtlCol="0" anchor="t"/>
          <a:lstStyle/>
          <a:p>
            <a:pPr algn="l">
              <a:lnSpc>
                <a:spcPct val="150000"/>
              </a:lnSpc>
            </a:pPr>
            <a:r>
              <a:rPr lang="en-US" dirty="0">
                <a:solidFill>
                  <a:srgbClr val="FFFFFF"/>
                </a:solidFill>
                <a:ea typeface="Quattrocento Sans" pitchFamily="34" charset="-122"/>
                <a:cs typeface="Quattrocento Sans" pitchFamily="34" charset="-120"/>
              </a:rPr>
              <a:t>Tracks data origin, movement, and transformations. Ensures traceability, accountability, and reproducibility of analytical results.</a:t>
            </a:r>
            <a:endParaRPr lang="en-US" dirty="0"/>
          </a:p>
        </p:txBody>
      </p:sp>
      <p:sp>
        <p:nvSpPr>
          <p:cNvPr id="24" name="Shape 31"/>
          <p:cNvSpPr/>
          <p:nvPr/>
        </p:nvSpPr>
        <p:spPr>
          <a:xfrm>
            <a:off x="9144000" y="4991429"/>
            <a:ext cx="6604000" cy="1714169"/>
          </a:xfrm>
          <a:prstGeom prst="roundRect">
            <a:avLst>
              <a:gd name="adj" fmla="val 4000"/>
            </a:avLst>
          </a:prstGeom>
          <a:solidFill>
            <a:srgbClr val="007AA8"/>
          </a:solidFill>
          <a:ln/>
        </p:spPr>
      </p:sp>
      <p:sp>
        <p:nvSpPr>
          <p:cNvPr id="25" name="Text 32"/>
          <p:cNvSpPr/>
          <p:nvPr/>
        </p:nvSpPr>
        <p:spPr>
          <a:xfrm>
            <a:off x="9194800" y="5133028"/>
            <a:ext cx="406400" cy="355600"/>
          </a:xfrm>
          <a:prstGeom prst="rect">
            <a:avLst/>
          </a:prstGeom>
          <a:noFill/>
          <a:ln/>
        </p:spPr>
        <p:txBody>
          <a:bodyPr wrap="none" lIns="0" tIns="0" rIns="0" bIns="0" rtlCol="0" anchor="ctr"/>
          <a:lstStyle/>
          <a:p>
            <a:pPr algn="ctr">
              <a:lnSpc>
                <a:spcPct val="120000"/>
              </a:lnSpc>
            </a:pPr>
            <a:r>
              <a:rPr lang="en-US" dirty="0">
                <a:solidFill>
                  <a:srgbClr val="FFFFFF"/>
                </a:solidFill>
                <a:ea typeface="Quattrocento Sans" pitchFamily="34" charset="-122"/>
                <a:cs typeface="Quattrocento Sans" pitchFamily="34" charset="-120"/>
              </a:rPr>
              <a:t>4</a:t>
            </a:r>
            <a:endParaRPr lang="en-US" dirty="0"/>
          </a:p>
        </p:txBody>
      </p:sp>
      <p:sp>
        <p:nvSpPr>
          <p:cNvPr id="26" name="Text 33"/>
          <p:cNvSpPr/>
          <p:nvPr/>
        </p:nvSpPr>
        <p:spPr>
          <a:xfrm>
            <a:off x="9677400" y="5133028"/>
            <a:ext cx="5791200" cy="304800"/>
          </a:xfrm>
          <a:prstGeom prst="rect">
            <a:avLst/>
          </a:prstGeom>
          <a:noFill/>
          <a:ln/>
        </p:spPr>
        <p:txBody>
          <a:bodyPr wrap="none" lIns="0" tIns="0" rIns="0" bIns="0" rtlCol="0" anchor="t"/>
          <a:lstStyle/>
          <a:p>
            <a:pPr algn="l">
              <a:lnSpc>
                <a:spcPct val="120000"/>
              </a:lnSpc>
            </a:pPr>
            <a:r>
              <a:rPr lang="en-US" b="1" dirty="0">
                <a:solidFill>
                  <a:srgbClr val="FFFFFF"/>
                </a:solidFill>
                <a:ea typeface="Quattrocento Sans" pitchFamily="34" charset="-122"/>
                <a:cs typeface="Quattrocento Sans" pitchFamily="34" charset="-120"/>
              </a:rPr>
              <a:t>Data Access &amp; Authorization</a:t>
            </a:r>
            <a:endParaRPr lang="en-US" dirty="0"/>
          </a:p>
        </p:txBody>
      </p:sp>
      <p:sp>
        <p:nvSpPr>
          <p:cNvPr id="27" name="Text 34"/>
          <p:cNvSpPr/>
          <p:nvPr/>
        </p:nvSpPr>
        <p:spPr>
          <a:xfrm>
            <a:off x="9271000" y="5514028"/>
            <a:ext cx="6197600" cy="965200"/>
          </a:xfrm>
          <a:prstGeom prst="rect">
            <a:avLst/>
          </a:prstGeom>
          <a:noFill/>
          <a:ln/>
        </p:spPr>
        <p:txBody>
          <a:bodyPr wrap="square" lIns="0" tIns="0" rIns="0" bIns="0" rtlCol="0" anchor="t"/>
          <a:lstStyle/>
          <a:p>
            <a:pPr algn="l">
              <a:lnSpc>
                <a:spcPct val="150000"/>
              </a:lnSpc>
            </a:pPr>
            <a:r>
              <a:rPr lang="en-US" dirty="0">
                <a:solidFill>
                  <a:srgbClr val="FFFFFF"/>
                </a:solidFill>
                <a:ea typeface="Quattrocento Sans" pitchFamily="34" charset="-122"/>
                <a:cs typeface="Quattrocento Sans" pitchFamily="34" charset="-120"/>
              </a:rPr>
              <a:t>Defines who can access which data under what conditions. Role-based access control (RBAC) ensures users access only data relevant to their roles.</a:t>
            </a:r>
            <a:endParaRPr lang="en-US" dirty="0"/>
          </a:p>
        </p:txBody>
      </p:sp>
      <p:sp>
        <p:nvSpPr>
          <p:cNvPr id="28" name="Shape 35"/>
          <p:cNvSpPr/>
          <p:nvPr/>
        </p:nvSpPr>
        <p:spPr>
          <a:xfrm>
            <a:off x="2540000" y="6883400"/>
            <a:ext cx="13208000" cy="1498600"/>
          </a:xfrm>
          <a:prstGeom prst="roundRect">
            <a:avLst>
              <a:gd name="adj" fmla="val 4000"/>
            </a:avLst>
          </a:prstGeom>
          <a:solidFill>
            <a:srgbClr val="004060"/>
          </a:solidFill>
          <a:ln/>
        </p:spPr>
      </p:sp>
      <p:sp>
        <p:nvSpPr>
          <p:cNvPr id="29" name="Text 36"/>
          <p:cNvSpPr/>
          <p:nvPr/>
        </p:nvSpPr>
        <p:spPr>
          <a:xfrm>
            <a:off x="2667000" y="6959600"/>
            <a:ext cx="406400" cy="355600"/>
          </a:xfrm>
          <a:prstGeom prst="rect">
            <a:avLst/>
          </a:prstGeom>
          <a:noFill/>
          <a:ln/>
        </p:spPr>
        <p:txBody>
          <a:bodyPr wrap="none" lIns="0" tIns="0" rIns="0" bIns="0" rtlCol="0" anchor="ctr"/>
          <a:lstStyle/>
          <a:p>
            <a:pPr algn="ctr">
              <a:lnSpc>
                <a:spcPct val="120000"/>
              </a:lnSpc>
            </a:pPr>
            <a:r>
              <a:rPr lang="en-US" dirty="0">
                <a:solidFill>
                  <a:srgbClr val="00ACC1"/>
                </a:solidFill>
                <a:ea typeface="Quattrocento Sans" pitchFamily="34" charset="-122"/>
                <a:cs typeface="Quattrocento Sans" pitchFamily="34" charset="-120"/>
              </a:rPr>
              <a:t>5</a:t>
            </a:r>
            <a:endParaRPr lang="en-US" dirty="0"/>
          </a:p>
        </p:txBody>
      </p:sp>
      <p:sp>
        <p:nvSpPr>
          <p:cNvPr id="30" name="Text 37"/>
          <p:cNvSpPr/>
          <p:nvPr/>
        </p:nvSpPr>
        <p:spPr>
          <a:xfrm>
            <a:off x="3149600" y="6959600"/>
            <a:ext cx="5080000" cy="304800"/>
          </a:xfrm>
          <a:prstGeom prst="rect">
            <a:avLst/>
          </a:prstGeom>
          <a:noFill/>
          <a:ln/>
        </p:spPr>
        <p:txBody>
          <a:bodyPr wrap="none" lIns="0" tIns="0" rIns="0" bIns="0" rtlCol="0" anchor="t"/>
          <a:lstStyle/>
          <a:p>
            <a:pPr algn="l">
              <a:lnSpc>
                <a:spcPct val="120000"/>
              </a:lnSpc>
            </a:pPr>
            <a:r>
              <a:rPr lang="en-US" b="1" dirty="0">
                <a:solidFill>
                  <a:srgbClr val="FFFFFF"/>
                </a:solidFill>
                <a:ea typeface="Quattrocento Sans" pitchFamily="34" charset="-122"/>
                <a:cs typeface="Quattrocento Sans" pitchFamily="34" charset="-120"/>
              </a:rPr>
              <a:t>Compliance &amp; Regulatory Adherence</a:t>
            </a:r>
            <a:endParaRPr lang="en-US" dirty="0"/>
          </a:p>
        </p:txBody>
      </p:sp>
      <p:sp>
        <p:nvSpPr>
          <p:cNvPr id="31" name="Text 38"/>
          <p:cNvSpPr/>
          <p:nvPr/>
        </p:nvSpPr>
        <p:spPr>
          <a:xfrm>
            <a:off x="2743200" y="7340600"/>
            <a:ext cx="12801600" cy="965200"/>
          </a:xfrm>
          <a:prstGeom prst="rect">
            <a:avLst/>
          </a:prstGeom>
          <a:noFill/>
          <a:ln/>
        </p:spPr>
        <p:txBody>
          <a:bodyPr wrap="square" lIns="0" tIns="0" rIns="0" bIns="0" rtlCol="0" anchor="t"/>
          <a:lstStyle/>
          <a:p>
            <a:pPr algn="l">
              <a:lnSpc>
                <a:spcPct val="150000"/>
              </a:lnSpc>
            </a:pPr>
            <a:r>
              <a:rPr lang="en-US" dirty="0">
                <a:solidFill>
                  <a:srgbClr val="FFFFFF"/>
                </a:solidFill>
                <a:ea typeface="Quattrocento Sans" pitchFamily="34" charset="-122"/>
                <a:cs typeface="Quattrocento Sans" pitchFamily="34" charset="-120"/>
              </a:rPr>
              <a:t>Organizations must comply with applicable data regulations. Governance frameworks ensure data collection, storage, processing, and sharing practices meet legal requirements and avoid regulatory penalties.</a:t>
            </a:r>
            <a:endParaRPr lang="en-US" dirty="0"/>
          </a:p>
        </p:txBody>
      </p:sp>
      <p:sp>
        <p:nvSpPr>
          <p:cNvPr id="32" name="Rounded Rectangle 31"/>
          <p:cNvSpPr/>
          <p:nvPr/>
        </p:nvSpPr>
        <p:spPr>
          <a:xfrm>
            <a:off x="35814" y="7823200"/>
            <a:ext cx="2214372" cy="836035"/>
          </a:xfrm>
          <a:prstGeom prst="roundRect">
            <a:avLst/>
          </a:prstGeom>
          <a:solidFill>
            <a:srgbClr val="FF000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79556514"/>
      </p:ext>
    </p:extLst>
  </p:cSld>
  <p:clrMapOvr>
    <a:masterClrMapping/>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sp>
      <p:sp>
        <p:nvSpPr>
          <p:cNvPr id="12" name="Shape 10"/>
          <p:cNvSpPr/>
          <p:nvPr/>
        </p:nvSpPr>
        <p:spPr>
          <a:xfrm>
            <a:off x="1066800" y="8864600"/>
            <a:ext cx="152400" cy="152400"/>
          </a:xfrm>
          <a:prstGeom prst="diamond">
            <a:avLst/>
          </a:prstGeom>
          <a:solidFill>
            <a:srgbClr val="00ACC1"/>
          </a:solidFill>
          <a:ln/>
        </p:spPr>
      </p:sp>
      <p:sp>
        <p:nvSpPr>
          <p:cNvPr id="15" name="Text 13"/>
          <p:cNvSpPr/>
          <p:nvPr/>
        </p:nvSpPr>
        <p:spPr>
          <a:xfrm>
            <a:off x="15621000" y="0"/>
            <a:ext cx="635000" cy="635000"/>
          </a:xfrm>
          <a:prstGeom prst="rect">
            <a:avLst/>
          </a:prstGeom>
          <a:noFill/>
          <a:ln/>
        </p:spPr>
        <p:txBody>
          <a:bodyPr wrap="none" lIns="0" tIns="0" rIns="0" bIns="0" rtlCol="0" anchor="ctr"/>
          <a:lstStyle/>
          <a:p>
            <a:pPr algn="r">
              <a:lnSpc>
                <a:spcPct val="120000"/>
              </a:lnSpc>
            </a:pPr>
            <a:r>
              <a:rPr lang="en-US" sz="1400" dirty="0">
                <a:solidFill>
                  <a:srgbClr val="005C82"/>
                </a:solidFill>
                <a:latin typeface="Quattrocento Sans" pitchFamily="34" charset="0"/>
                <a:ea typeface="Quattrocento Sans" pitchFamily="34" charset="-122"/>
                <a:cs typeface="Quattrocento Sans" pitchFamily="34" charset="-120"/>
              </a:rPr>
              <a:t>9</a:t>
            </a:r>
            <a:endParaRPr lang="en-US" sz="1400" dirty="0"/>
          </a:p>
        </p:txBody>
      </p:sp>
      <p:sp>
        <p:nvSpPr>
          <p:cNvPr id="32" name="Text 14"/>
          <p:cNvSpPr/>
          <p:nvPr/>
        </p:nvSpPr>
        <p:spPr>
          <a:xfrm>
            <a:off x="2540000" y="863600"/>
            <a:ext cx="13208000" cy="457200"/>
          </a:xfrm>
          <a:prstGeom prst="rect">
            <a:avLst/>
          </a:prstGeom>
          <a:noFill/>
          <a:ln/>
        </p:spPr>
        <p:txBody>
          <a:bodyPr wrap="none" lIns="0" tIns="0" rIns="0" bIns="0" rtlCol="0" anchor="t"/>
          <a:lstStyle/>
          <a:p>
            <a:pPr>
              <a:lnSpc>
                <a:spcPct val="120000"/>
              </a:lnSpc>
            </a:pPr>
            <a:r>
              <a:rPr lang="en-US" sz="2800" b="1" dirty="0">
                <a:solidFill>
                  <a:srgbClr val="005C82"/>
                </a:solidFill>
                <a:ea typeface="Quattrocento Sans" pitchFamily="34" charset="-122"/>
                <a:cs typeface="Quattrocento Sans" pitchFamily="34" charset="-120"/>
              </a:rPr>
              <a:t>Responsible AI Principles</a:t>
            </a:r>
          </a:p>
        </p:txBody>
      </p:sp>
      <p:sp>
        <p:nvSpPr>
          <p:cNvPr id="33" name="Shape 15"/>
          <p:cNvSpPr/>
          <p:nvPr/>
        </p:nvSpPr>
        <p:spPr>
          <a:xfrm>
            <a:off x="2540000" y="1397000"/>
            <a:ext cx="13208000" cy="12700"/>
          </a:xfrm>
          <a:prstGeom prst="rect">
            <a:avLst/>
          </a:prstGeom>
          <a:solidFill>
            <a:srgbClr val="B0BEC5"/>
          </a:solidFill>
          <a:ln/>
        </p:spPr>
      </p:sp>
      <p:sp>
        <p:nvSpPr>
          <p:cNvPr id="34" name="Shape 16"/>
          <p:cNvSpPr/>
          <p:nvPr/>
        </p:nvSpPr>
        <p:spPr>
          <a:xfrm>
            <a:off x="2540000" y="1574800"/>
            <a:ext cx="13208000" cy="1143000"/>
          </a:xfrm>
          <a:prstGeom prst="roundRect">
            <a:avLst>
              <a:gd name="adj" fmla="val 4000"/>
            </a:avLst>
          </a:prstGeom>
          <a:solidFill>
            <a:srgbClr val="E0F4FA"/>
          </a:solidFill>
          <a:ln w="12700">
            <a:solidFill>
              <a:srgbClr val="B0BEC5"/>
            </a:solidFill>
            <a:prstDash val="solid"/>
          </a:ln>
        </p:spPr>
      </p:sp>
      <p:sp>
        <p:nvSpPr>
          <p:cNvPr id="35" name="Text 17"/>
          <p:cNvSpPr/>
          <p:nvPr/>
        </p:nvSpPr>
        <p:spPr>
          <a:xfrm>
            <a:off x="2743200" y="1625600"/>
            <a:ext cx="12801600" cy="1092200"/>
          </a:xfrm>
          <a:prstGeom prst="rect">
            <a:avLst/>
          </a:prstGeom>
          <a:noFill/>
          <a:ln/>
        </p:spPr>
        <p:txBody>
          <a:bodyPr wrap="square" lIns="0" tIns="0" rIns="0" bIns="0" rtlCol="0" anchor="t"/>
          <a:lstStyle/>
          <a:p>
            <a:pPr algn="ctr">
              <a:lnSpc>
                <a:spcPct val="140000"/>
              </a:lnSpc>
            </a:pPr>
            <a:r>
              <a:rPr lang="en-US" sz="2400" b="1" dirty="0">
                <a:solidFill>
                  <a:srgbClr val="C00000"/>
                </a:solidFill>
                <a:ea typeface="Quattrocento Sans" pitchFamily="34" charset="-122"/>
                <a:cs typeface="Quattrocento Sans" pitchFamily="34" charset="-120"/>
              </a:rPr>
              <a:t>Responsible AI refers to the development and deployment of AI systems in a manner that is ethical, fair, transparent, accountable, and safe.</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89119" y="2795670"/>
            <a:ext cx="10080775" cy="6145130"/>
          </a:xfrm>
          <a:prstGeom prst="rect">
            <a:avLst/>
          </a:prstGeom>
        </p:spPr>
      </p:pic>
      <p:sp>
        <p:nvSpPr>
          <p:cNvPr id="60" name="Rounded Rectangle 59"/>
          <p:cNvSpPr/>
          <p:nvPr/>
        </p:nvSpPr>
        <p:spPr>
          <a:xfrm>
            <a:off x="35814" y="7856860"/>
            <a:ext cx="2214372" cy="836035"/>
          </a:xfrm>
          <a:prstGeom prst="roundRect">
            <a:avLst/>
          </a:prstGeom>
          <a:solidFill>
            <a:srgbClr val="FF000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48954002"/>
      </p:ext>
    </p:extLst>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sp>
      <p:sp>
        <p:nvSpPr>
          <p:cNvPr id="12" name="Shape 10"/>
          <p:cNvSpPr/>
          <p:nvPr/>
        </p:nvSpPr>
        <p:spPr>
          <a:xfrm>
            <a:off x="1066800" y="8864600"/>
            <a:ext cx="152400" cy="152400"/>
          </a:xfrm>
          <a:prstGeom prst="diamond">
            <a:avLst/>
          </a:prstGeom>
          <a:solidFill>
            <a:srgbClr val="00ACC1"/>
          </a:solidFill>
          <a:ln/>
        </p:spPr>
      </p:sp>
      <p:sp>
        <p:nvSpPr>
          <p:cNvPr id="15" name="Text 13"/>
          <p:cNvSpPr/>
          <p:nvPr/>
        </p:nvSpPr>
        <p:spPr>
          <a:xfrm>
            <a:off x="15621000" y="0"/>
            <a:ext cx="635000" cy="635000"/>
          </a:xfrm>
          <a:prstGeom prst="rect">
            <a:avLst/>
          </a:prstGeom>
          <a:noFill/>
          <a:ln/>
        </p:spPr>
        <p:txBody>
          <a:bodyPr wrap="none" lIns="0" tIns="0" rIns="0" bIns="0" rtlCol="0" anchor="ctr"/>
          <a:lstStyle/>
          <a:p>
            <a:pPr algn="r">
              <a:lnSpc>
                <a:spcPct val="120000"/>
              </a:lnSpc>
            </a:pPr>
            <a:r>
              <a:rPr lang="en-US" sz="1400" dirty="0">
                <a:solidFill>
                  <a:srgbClr val="005C82"/>
                </a:solidFill>
                <a:latin typeface="Quattrocento Sans" pitchFamily="34" charset="0"/>
                <a:ea typeface="Quattrocento Sans" pitchFamily="34" charset="-122"/>
                <a:cs typeface="Quattrocento Sans" pitchFamily="34" charset="-120"/>
              </a:rPr>
              <a:t>9</a:t>
            </a:r>
            <a:endParaRPr lang="en-US" sz="1400" dirty="0"/>
          </a:p>
        </p:txBody>
      </p:sp>
      <p:sp>
        <p:nvSpPr>
          <p:cNvPr id="32" name="Text 14"/>
          <p:cNvSpPr/>
          <p:nvPr/>
        </p:nvSpPr>
        <p:spPr>
          <a:xfrm>
            <a:off x="2540000" y="863600"/>
            <a:ext cx="13208000" cy="457200"/>
          </a:xfrm>
          <a:prstGeom prst="rect">
            <a:avLst/>
          </a:prstGeom>
          <a:noFill/>
          <a:ln/>
        </p:spPr>
        <p:txBody>
          <a:bodyPr wrap="none" lIns="0" tIns="0" rIns="0" bIns="0" rtlCol="0" anchor="t"/>
          <a:lstStyle/>
          <a:p>
            <a:pPr>
              <a:lnSpc>
                <a:spcPct val="120000"/>
              </a:lnSpc>
            </a:pPr>
            <a:r>
              <a:rPr lang="en-US" sz="2800" b="1" dirty="0">
                <a:solidFill>
                  <a:srgbClr val="005C82"/>
                </a:solidFill>
                <a:ea typeface="Quattrocento Sans" pitchFamily="34" charset="-122"/>
                <a:cs typeface="Quattrocento Sans" pitchFamily="34" charset="-120"/>
              </a:rPr>
              <a:t>Responsible AI Principles</a:t>
            </a:r>
          </a:p>
        </p:txBody>
      </p:sp>
      <p:sp>
        <p:nvSpPr>
          <p:cNvPr id="33" name="Shape 15"/>
          <p:cNvSpPr/>
          <p:nvPr/>
        </p:nvSpPr>
        <p:spPr>
          <a:xfrm>
            <a:off x="2540000" y="1397000"/>
            <a:ext cx="13208000" cy="12700"/>
          </a:xfrm>
          <a:prstGeom prst="rect">
            <a:avLst/>
          </a:prstGeom>
          <a:solidFill>
            <a:srgbClr val="B0BEC5"/>
          </a:solidFill>
          <a:ln/>
        </p:spPr>
      </p:sp>
      <p:sp>
        <p:nvSpPr>
          <p:cNvPr id="34" name="Shape 16"/>
          <p:cNvSpPr/>
          <p:nvPr/>
        </p:nvSpPr>
        <p:spPr>
          <a:xfrm>
            <a:off x="2540000" y="1574800"/>
            <a:ext cx="13208000" cy="1143000"/>
          </a:xfrm>
          <a:prstGeom prst="roundRect">
            <a:avLst>
              <a:gd name="adj" fmla="val 4000"/>
            </a:avLst>
          </a:prstGeom>
          <a:solidFill>
            <a:srgbClr val="E0F4FA"/>
          </a:solidFill>
          <a:ln w="12700">
            <a:solidFill>
              <a:srgbClr val="B0BEC5"/>
            </a:solidFill>
            <a:prstDash val="solid"/>
          </a:ln>
        </p:spPr>
      </p:sp>
      <p:sp>
        <p:nvSpPr>
          <p:cNvPr id="35" name="Text 17"/>
          <p:cNvSpPr/>
          <p:nvPr/>
        </p:nvSpPr>
        <p:spPr>
          <a:xfrm>
            <a:off x="2743200" y="1625600"/>
            <a:ext cx="12801600" cy="1092200"/>
          </a:xfrm>
          <a:prstGeom prst="rect">
            <a:avLst/>
          </a:prstGeom>
          <a:noFill/>
          <a:ln/>
        </p:spPr>
        <p:txBody>
          <a:bodyPr wrap="square" lIns="0" tIns="0" rIns="0" bIns="0" rtlCol="0" anchor="t"/>
          <a:lstStyle/>
          <a:p>
            <a:pPr algn="ctr">
              <a:lnSpc>
                <a:spcPct val="140000"/>
              </a:lnSpc>
            </a:pPr>
            <a:r>
              <a:rPr lang="en-US" sz="2400" b="1" dirty="0">
                <a:solidFill>
                  <a:srgbClr val="C00000"/>
                </a:solidFill>
                <a:ea typeface="Quattrocento Sans" pitchFamily="34" charset="-122"/>
                <a:cs typeface="Quattrocento Sans" pitchFamily="34" charset="-120"/>
              </a:rPr>
              <a:t>Responsible AI refers to the development and deployment of AI systems in a manner that is ethical, fair, transparent, accountable, and safe.</a:t>
            </a:r>
          </a:p>
        </p:txBody>
      </p:sp>
      <p:sp>
        <p:nvSpPr>
          <p:cNvPr id="11" name="Text 18"/>
          <p:cNvSpPr/>
          <p:nvPr/>
        </p:nvSpPr>
        <p:spPr>
          <a:xfrm>
            <a:off x="2540000" y="2990977"/>
            <a:ext cx="13208000" cy="1524000"/>
          </a:xfrm>
          <a:prstGeom prst="rect">
            <a:avLst/>
          </a:prstGeom>
          <a:noFill/>
          <a:ln/>
        </p:spPr>
        <p:txBody>
          <a:bodyPr wrap="square" lIns="0" tIns="0" rIns="0" bIns="0" rtlCol="0" anchor="t"/>
          <a:lstStyle/>
          <a:p>
            <a:pPr algn="l">
              <a:lnSpc>
                <a:spcPct val="150000"/>
              </a:lnSpc>
            </a:pPr>
            <a:endParaRPr lang="en-US" dirty="0"/>
          </a:p>
        </p:txBody>
      </p:sp>
      <p:sp>
        <p:nvSpPr>
          <p:cNvPr id="7" name="Rectangle 6"/>
          <p:cNvSpPr/>
          <p:nvPr/>
        </p:nvSpPr>
        <p:spPr>
          <a:xfrm>
            <a:off x="2540000" y="3429811"/>
            <a:ext cx="11456416" cy="830997"/>
          </a:xfrm>
          <a:prstGeom prst="rect">
            <a:avLst/>
          </a:prstGeom>
        </p:spPr>
        <p:txBody>
          <a:bodyPr wrap="square">
            <a:spAutoFit/>
          </a:bodyPr>
          <a:lstStyle/>
          <a:p>
            <a:r>
              <a:rPr lang="en-US" sz="2400" b="1" dirty="0">
                <a:solidFill>
                  <a:schemeClr val="accent6">
                    <a:lumMod val="75000"/>
                  </a:schemeClr>
                </a:solidFill>
                <a:latin typeface="Google Sans"/>
              </a:rPr>
              <a:t>Real-world examples of responsible AI in action span across several major industries:</a:t>
            </a:r>
            <a:endParaRPr lang="en-US" sz="2400" b="1" u="none" strike="noStrike" dirty="0">
              <a:solidFill>
                <a:schemeClr val="accent6">
                  <a:lumMod val="75000"/>
                </a:schemeClr>
              </a:solidFill>
              <a:effectLst/>
              <a:latin typeface="Google Sans"/>
            </a:endParaRPr>
          </a:p>
        </p:txBody>
      </p:sp>
      <p:sp>
        <p:nvSpPr>
          <p:cNvPr id="8" name="Rectangle 7"/>
          <p:cNvSpPr/>
          <p:nvPr/>
        </p:nvSpPr>
        <p:spPr>
          <a:xfrm>
            <a:off x="3807968" y="4414165"/>
            <a:ext cx="11553952" cy="1938992"/>
          </a:xfrm>
          <a:prstGeom prst="rect">
            <a:avLst/>
          </a:prstGeom>
        </p:spPr>
        <p:txBody>
          <a:bodyPr wrap="square">
            <a:spAutoFit/>
          </a:bodyPr>
          <a:lstStyle/>
          <a:p>
            <a:pPr algn="just"/>
            <a:r>
              <a:rPr lang="en-US" sz="2400" b="1" dirty="0">
                <a:solidFill>
                  <a:schemeClr val="accent2">
                    <a:lumMod val="50000"/>
                  </a:schemeClr>
                </a:solidFill>
              </a:rPr>
              <a:t>Healthcare (Explainable Diagnostics):</a:t>
            </a:r>
            <a:r>
              <a:rPr lang="en-US" sz="2400" dirty="0">
                <a:solidFill>
                  <a:schemeClr val="accent2">
                    <a:lumMod val="50000"/>
                  </a:schemeClr>
                </a:solidFill>
              </a:rPr>
              <a:t> Hospital systems and health-tech platforms use AI to scan medical images for conditions like cancer. To ensure accountability, the most trusted AI programs don't just provide a diagnosis. They also highlight the specific features in the image that led to their conclusion, allowing doctors to verify the AI's reasoning alongside their clinical judgment. </a:t>
            </a:r>
            <a:endParaRPr lang="en-IN" sz="2400" dirty="0">
              <a:solidFill>
                <a:schemeClr val="accent2">
                  <a:lumMod val="50000"/>
                </a:schemeClr>
              </a:solidFill>
            </a:endParaRPr>
          </a:p>
        </p:txBody>
      </p:sp>
      <p:sp>
        <p:nvSpPr>
          <p:cNvPr id="9" name="Rectangle 8"/>
          <p:cNvSpPr/>
          <p:nvPr/>
        </p:nvSpPr>
        <p:spPr>
          <a:xfrm>
            <a:off x="3807968" y="6779786"/>
            <a:ext cx="11553952" cy="1569660"/>
          </a:xfrm>
          <a:prstGeom prst="rect">
            <a:avLst/>
          </a:prstGeom>
        </p:spPr>
        <p:txBody>
          <a:bodyPr wrap="square">
            <a:spAutoFit/>
          </a:bodyPr>
          <a:lstStyle/>
          <a:p>
            <a:pPr algn="just"/>
            <a:r>
              <a:rPr lang="en-US" sz="2400" b="1" dirty="0">
                <a:solidFill>
                  <a:schemeClr val="accent1">
                    <a:lumMod val="50000"/>
                  </a:schemeClr>
                </a:solidFill>
              </a:rPr>
              <a:t>Human Resources (Fair Recruiting Software): </a:t>
            </a:r>
            <a:r>
              <a:rPr lang="en-US" sz="2400" dirty="0">
                <a:solidFill>
                  <a:schemeClr val="accent1">
                    <a:lumMod val="50000"/>
                  </a:schemeClr>
                </a:solidFill>
              </a:rPr>
              <a:t>Enterprise HR tools like </a:t>
            </a:r>
            <a:r>
              <a:rPr lang="en-US" sz="2400" dirty="0">
                <a:solidFill>
                  <a:schemeClr val="accent1">
                    <a:lumMod val="50000"/>
                  </a:schemeClr>
                </a:solidFill>
                <a:hlinkClick r:id="rId3"/>
              </a:rPr>
              <a:t>IBM </a:t>
            </a:r>
            <a:r>
              <a:rPr lang="en-US" sz="2400" dirty="0" err="1">
                <a:solidFill>
                  <a:schemeClr val="accent1">
                    <a:lumMod val="50000"/>
                  </a:schemeClr>
                </a:solidFill>
                <a:hlinkClick r:id="rId3"/>
              </a:rPr>
              <a:t>watsonx</a:t>
            </a:r>
            <a:r>
              <a:rPr lang="en-US" sz="2400" dirty="0">
                <a:solidFill>
                  <a:schemeClr val="accent1">
                    <a:lumMod val="50000"/>
                  </a:schemeClr>
                </a:solidFill>
                <a:hlinkClick r:id="rId3"/>
              </a:rPr>
              <a:t> Orchestrate</a:t>
            </a:r>
            <a:r>
              <a:rPr lang="en-US" sz="2400" dirty="0">
                <a:solidFill>
                  <a:schemeClr val="accent1">
                    <a:lumMod val="50000"/>
                  </a:schemeClr>
                </a:solidFill>
              </a:rPr>
              <a:t> utilize responsible frameworks to ensure fairness in talent acquisition. These systems promote inclusivity by broadening candidate pools and prompting managers to utilize fair, skill-based assessment criteria rather than demographic triggers. </a:t>
            </a:r>
            <a:endParaRPr lang="en-IN" sz="2400" dirty="0">
              <a:solidFill>
                <a:schemeClr val="accent1">
                  <a:lumMod val="50000"/>
                </a:schemeClr>
              </a:solidFill>
            </a:endParaRPr>
          </a:p>
        </p:txBody>
      </p:sp>
      <p:sp>
        <p:nvSpPr>
          <p:cNvPr id="17" name="Rounded Rectangle 16"/>
          <p:cNvSpPr/>
          <p:nvPr/>
        </p:nvSpPr>
        <p:spPr>
          <a:xfrm>
            <a:off x="35814" y="7856860"/>
            <a:ext cx="2214372" cy="836035"/>
          </a:xfrm>
          <a:prstGeom prst="roundRect">
            <a:avLst/>
          </a:prstGeom>
          <a:solidFill>
            <a:srgbClr val="FF000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41761900"/>
      </p:ext>
    </p:extLst>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sp>
      <p:sp>
        <p:nvSpPr>
          <p:cNvPr id="15" name="Text 13"/>
          <p:cNvSpPr/>
          <p:nvPr/>
        </p:nvSpPr>
        <p:spPr>
          <a:xfrm>
            <a:off x="15621000" y="0"/>
            <a:ext cx="635000" cy="635000"/>
          </a:xfrm>
          <a:prstGeom prst="rect">
            <a:avLst/>
          </a:prstGeom>
          <a:noFill/>
          <a:ln/>
        </p:spPr>
        <p:txBody>
          <a:bodyPr wrap="none" lIns="0" tIns="0" rIns="0" bIns="0" rtlCol="0" anchor="ctr"/>
          <a:lstStyle/>
          <a:p>
            <a:pPr algn="r">
              <a:lnSpc>
                <a:spcPct val="120000"/>
              </a:lnSpc>
            </a:pPr>
            <a:r>
              <a:rPr lang="en-US" sz="1400" dirty="0">
                <a:solidFill>
                  <a:srgbClr val="005C82"/>
                </a:solidFill>
                <a:latin typeface="Quattrocento Sans" pitchFamily="34" charset="0"/>
                <a:ea typeface="Quattrocento Sans" pitchFamily="34" charset="-122"/>
                <a:cs typeface="Quattrocento Sans" pitchFamily="34" charset="-120"/>
              </a:rPr>
              <a:t>9</a:t>
            </a:r>
            <a:endParaRPr lang="en-US" sz="1400" dirty="0"/>
          </a:p>
        </p:txBody>
      </p:sp>
      <p:sp>
        <p:nvSpPr>
          <p:cNvPr id="10" name="Text 14"/>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Responsible AI in the Big Data Pipeline</a:t>
            </a:r>
            <a:endParaRPr lang="en-US" sz="2400" dirty="0"/>
          </a:p>
        </p:txBody>
      </p:sp>
      <p:sp>
        <p:nvSpPr>
          <p:cNvPr id="11" name="Shape 15"/>
          <p:cNvSpPr/>
          <p:nvPr/>
        </p:nvSpPr>
        <p:spPr>
          <a:xfrm>
            <a:off x="2540000" y="1397000"/>
            <a:ext cx="13208000" cy="12700"/>
          </a:xfrm>
          <a:prstGeom prst="rect">
            <a:avLst/>
          </a:prstGeom>
          <a:solidFill>
            <a:srgbClr val="B0BEC5"/>
          </a:solidFill>
          <a:ln/>
        </p:spPr>
      </p:sp>
      <p:graphicFrame>
        <p:nvGraphicFramePr>
          <p:cNvPr id="13" name="Table 0"/>
          <p:cNvGraphicFramePr>
            <a:graphicFrameLocks noGrp="1"/>
          </p:cNvGraphicFramePr>
          <p:nvPr>
            <p:extLst>
              <p:ext uri="{D42A27DB-BD31-4B8C-83A1-F6EECF244321}">
                <p14:modId xmlns:p14="http://schemas.microsoft.com/office/powerpoint/2010/main" val="3511489957"/>
              </p:ext>
            </p:extLst>
          </p:nvPr>
        </p:nvGraphicFramePr>
        <p:xfrm>
          <a:off x="2540000" y="1574800"/>
          <a:ext cx="13208000" cy="3975735"/>
        </p:xfrm>
        <a:graphic>
          <a:graphicData uri="http://schemas.openxmlformats.org/drawingml/2006/table">
            <a:tbl>
              <a:tblPr/>
              <a:tblGrid>
                <a:gridCol w="2905760">
                  <a:extLst>
                    <a:ext uri="{9D8B030D-6E8A-4147-A177-3AD203B41FA5}">
                      <a16:colId xmlns:a16="http://schemas.microsoft.com/office/drawing/2014/main" xmlns="" val="20000"/>
                    </a:ext>
                  </a:extLst>
                </a:gridCol>
                <a:gridCol w="10302240">
                  <a:extLst>
                    <a:ext uri="{9D8B030D-6E8A-4147-A177-3AD203B41FA5}">
                      <a16:colId xmlns:a16="http://schemas.microsoft.com/office/drawing/2014/main" xmlns="" val="20001"/>
                    </a:ext>
                  </a:extLst>
                </a:gridCol>
              </a:tblGrid>
              <a:tr h="472440">
                <a:tc>
                  <a:txBody>
                    <a:bodyPr/>
                    <a:lstStyle/>
                    <a:p>
                      <a:pPr algn="ctr"/>
                      <a:r>
                        <a:rPr lang="en-US" sz="2000" b="1" dirty="0">
                          <a:solidFill>
                            <a:srgbClr val="FFFFFF"/>
                          </a:solidFill>
                        </a:rPr>
                        <a:t>Pipeline Stage</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ctr"/>
                      <a:r>
                        <a:rPr lang="en-US" sz="2000" b="1" dirty="0">
                          <a:solidFill>
                            <a:srgbClr val="FFFFFF"/>
                          </a:solidFill>
                        </a:rPr>
                        <a:t>Responsible AI Consideration</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extLst>
                  <a:ext uri="{0D108BD9-81ED-4DB2-BD59-A6C34878D82A}">
                    <a16:rowId xmlns:a16="http://schemas.microsoft.com/office/drawing/2014/main" xmlns="" val="10000"/>
                  </a:ext>
                </a:extLst>
              </a:tr>
              <a:tr h="578739">
                <a:tc>
                  <a:txBody>
                    <a:bodyPr/>
                    <a:lstStyle/>
                    <a:p>
                      <a:pPr algn="ctr"/>
                      <a:r>
                        <a:rPr lang="en-US" sz="2000" b="1" dirty="0">
                          <a:solidFill>
                            <a:srgbClr val="333333"/>
                          </a:solidFill>
                        </a:rPr>
                        <a:t>Data Collection</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a:r>
                        <a:rPr lang="en-US" sz="2000" dirty="0">
                          <a:solidFill>
                            <a:srgbClr val="333333"/>
                          </a:solidFill>
                        </a:rPr>
                        <a:t>Obtain informed consent; avoid collecting unnecessarily sensitive data; ensure representative sampling</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xmlns="" val="10001"/>
                  </a:ext>
                </a:extLst>
              </a:tr>
              <a:tr h="578739">
                <a:tc>
                  <a:txBody>
                    <a:bodyPr/>
                    <a:lstStyle/>
                    <a:p>
                      <a:pPr algn="ctr"/>
                      <a:r>
                        <a:rPr lang="en-US" sz="2000" b="1" dirty="0">
                          <a:solidFill>
                            <a:srgbClr val="333333"/>
                          </a:solidFill>
                        </a:rPr>
                        <a:t>Data Storage</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l"/>
                      <a:r>
                        <a:rPr lang="en-US" sz="2000" dirty="0">
                          <a:solidFill>
                            <a:srgbClr val="333333"/>
                          </a:solidFill>
                        </a:rPr>
                        <a:t>Apply access controls; encrypt sensitive data; comply with data retention policies</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extLst>
                  <a:ext uri="{0D108BD9-81ED-4DB2-BD59-A6C34878D82A}">
                    <a16:rowId xmlns:a16="http://schemas.microsoft.com/office/drawing/2014/main" xmlns="" val="10002"/>
                  </a:ext>
                </a:extLst>
              </a:tr>
              <a:tr h="578739">
                <a:tc>
                  <a:txBody>
                    <a:bodyPr/>
                    <a:lstStyle/>
                    <a:p>
                      <a:pPr algn="ctr"/>
                      <a:r>
                        <a:rPr lang="en-US" sz="2000" b="1" dirty="0">
                          <a:solidFill>
                            <a:srgbClr val="333333"/>
                          </a:solidFill>
                        </a:rPr>
                        <a:t>Data Processing</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a:r>
                        <a:rPr lang="en-US" sz="2000" dirty="0">
                          <a:solidFill>
                            <a:srgbClr val="333333"/>
                          </a:solidFill>
                        </a:rPr>
                        <a:t>Document transformations; detect and mitigate bias in preprocessing steps</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xmlns="" val="10003"/>
                  </a:ext>
                </a:extLst>
              </a:tr>
              <a:tr h="578739">
                <a:tc>
                  <a:txBody>
                    <a:bodyPr/>
                    <a:lstStyle/>
                    <a:p>
                      <a:pPr algn="ctr"/>
                      <a:r>
                        <a:rPr lang="en-US" sz="2000" b="1" dirty="0">
                          <a:solidFill>
                            <a:srgbClr val="333333"/>
                          </a:solidFill>
                        </a:rPr>
                        <a:t>Model Training</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l"/>
                      <a:r>
                        <a:rPr lang="en-US" sz="2000" dirty="0">
                          <a:solidFill>
                            <a:srgbClr val="333333"/>
                          </a:solidFill>
                        </a:rPr>
                        <a:t>Use diverse, representative training data; audit for bias; document model parameters</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extLst>
                  <a:ext uri="{0D108BD9-81ED-4DB2-BD59-A6C34878D82A}">
                    <a16:rowId xmlns:a16="http://schemas.microsoft.com/office/drawing/2014/main" xmlns="" val="10004"/>
                  </a:ext>
                </a:extLst>
              </a:tr>
              <a:tr h="578739">
                <a:tc>
                  <a:txBody>
                    <a:bodyPr/>
                    <a:lstStyle/>
                    <a:p>
                      <a:pPr algn="ctr"/>
                      <a:r>
                        <a:rPr lang="en-US" sz="2000" b="1" dirty="0">
                          <a:solidFill>
                            <a:srgbClr val="333333"/>
                          </a:solidFill>
                        </a:rPr>
                        <a:t>Model Deployment</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a:r>
                        <a:rPr lang="en-US" sz="2000" dirty="0">
                          <a:solidFill>
                            <a:srgbClr val="333333"/>
                          </a:solidFill>
                        </a:rPr>
                        <a:t>Monitor model performance in production; detect drift; maintain audit logs</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xmlns="" val="10005"/>
                  </a:ext>
                </a:extLst>
              </a:tr>
              <a:tr h="578739">
                <a:tc>
                  <a:txBody>
                    <a:bodyPr/>
                    <a:lstStyle/>
                    <a:p>
                      <a:pPr algn="ctr"/>
                      <a:r>
                        <a:rPr lang="en-US" sz="2000" b="1" dirty="0">
                          <a:solidFill>
                            <a:srgbClr val="333333"/>
                          </a:solidFill>
                        </a:rPr>
                        <a:t>Model Output</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l"/>
                      <a:r>
                        <a:rPr lang="en-US" sz="2000" dirty="0">
                          <a:solidFill>
                            <a:srgbClr val="333333"/>
                          </a:solidFill>
                        </a:rPr>
                        <a:t>Provide explanations for decisions; allow appeals/corrections; ensure fairness of outcomes</a:t>
                      </a:r>
                      <a:endParaRPr lang="en-US" sz="20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extLst>
                  <a:ext uri="{0D108BD9-81ED-4DB2-BD59-A6C34878D82A}">
                    <a16:rowId xmlns:a16="http://schemas.microsoft.com/office/drawing/2014/main" xmlns="" val="10006"/>
                  </a:ext>
                </a:extLst>
              </a:tr>
            </a:tbl>
          </a:graphicData>
        </a:graphic>
      </p:graphicFrame>
      <p:sp>
        <p:nvSpPr>
          <p:cNvPr id="14" name="Text 16"/>
          <p:cNvSpPr/>
          <p:nvPr/>
        </p:nvSpPr>
        <p:spPr>
          <a:xfrm>
            <a:off x="2540000" y="6126226"/>
            <a:ext cx="6350000" cy="355600"/>
          </a:xfrm>
          <a:prstGeom prst="rect">
            <a:avLst/>
          </a:prstGeom>
          <a:noFill/>
          <a:ln/>
        </p:spPr>
        <p:txBody>
          <a:bodyPr wrap="none" lIns="0" tIns="0" rIns="0" bIns="0" rtlCol="0" anchor="t"/>
          <a:lstStyle/>
          <a:p>
            <a:pPr>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Business Intelligence &amp; Data Governance</a:t>
            </a:r>
          </a:p>
        </p:txBody>
      </p:sp>
      <p:sp>
        <p:nvSpPr>
          <p:cNvPr id="16" name="Shape 17"/>
          <p:cNvSpPr/>
          <p:nvPr/>
        </p:nvSpPr>
        <p:spPr>
          <a:xfrm>
            <a:off x="2540000" y="6645783"/>
            <a:ext cx="13208000" cy="12700"/>
          </a:xfrm>
          <a:prstGeom prst="rect">
            <a:avLst/>
          </a:prstGeom>
          <a:solidFill>
            <a:srgbClr val="E0F4FA"/>
          </a:solidFill>
          <a:ln/>
        </p:spPr>
      </p:sp>
      <p:sp>
        <p:nvSpPr>
          <p:cNvPr id="17" name="Text 18"/>
          <p:cNvSpPr/>
          <p:nvPr/>
        </p:nvSpPr>
        <p:spPr>
          <a:xfrm>
            <a:off x="2540000" y="6660769"/>
            <a:ext cx="13208000" cy="1524000"/>
          </a:xfrm>
          <a:prstGeom prst="rect">
            <a:avLst/>
          </a:prstGeom>
          <a:noFill/>
          <a:ln/>
        </p:spPr>
        <p:txBody>
          <a:bodyPr wrap="square" lIns="0" tIns="0" rIns="0" bIns="0" rtlCol="0" anchor="t"/>
          <a:lstStyle/>
          <a:p>
            <a:pPr algn="l">
              <a:lnSpc>
                <a:spcPct val="150000"/>
              </a:lnSpc>
            </a:pPr>
            <a:r>
              <a:rPr lang="en-US" b="1" dirty="0">
                <a:solidFill>
                  <a:srgbClr val="333333"/>
                </a:solidFill>
                <a:ea typeface="Quattrocento Sans" pitchFamily="34" charset="-122"/>
                <a:cs typeface="Quattrocento Sans" pitchFamily="34" charset="-120"/>
              </a:rPr>
              <a:t>Business Intelligence (BI)</a:t>
            </a:r>
            <a:r>
              <a:rPr lang="en-US" dirty="0">
                <a:solidFill>
                  <a:srgbClr val="333333"/>
                </a:solidFill>
                <a:ea typeface="Quattrocento Sans" pitchFamily="34" charset="-122"/>
                <a:cs typeface="Quattrocento Sans" pitchFamily="34" charset="-120"/>
              </a:rPr>
              <a:t> converts raw data into meaningful information that drives profitable business actions. BI supports fact-based decision making.</a:t>
            </a:r>
            <a:endParaRPr lang="en-US" dirty="0"/>
          </a:p>
          <a:p>
            <a:pPr algn="l">
              <a:lnSpc>
                <a:spcPct val="150000"/>
              </a:lnSpc>
              <a:spcBef>
                <a:spcPts val="400"/>
              </a:spcBef>
            </a:pPr>
            <a:r>
              <a:rPr lang="en-US" dirty="0">
                <a:solidFill>
                  <a:srgbClr val="333333"/>
                </a:solidFill>
                <a:ea typeface="Quattrocento Sans" pitchFamily="34" charset="-122"/>
                <a:cs typeface="Quattrocento Sans" pitchFamily="34" charset="-120"/>
              </a:rPr>
              <a:t>• BI tools create reports, dashboards, maps, graphs, and charts</a:t>
            </a:r>
            <a:endParaRPr lang="en-US" dirty="0"/>
          </a:p>
          <a:p>
            <a:pPr algn="l">
              <a:lnSpc>
                <a:spcPct val="150000"/>
              </a:lnSpc>
            </a:pPr>
            <a:r>
              <a:rPr lang="en-US" dirty="0">
                <a:solidFill>
                  <a:srgbClr val="333333"/>
                </a:solidFill>
                <a:ea typeface="Quattrocento Sans" pitchFamily="34" charset="-122"/>
                <a:cs typeface="Quattrocento Sans" pitchFamily="34" charset="-120"/>
              </a:rPr>
              <a:t>• Governance ensures BI data is </a:t>
            </a:r>
            <a:r>
              <a:rPr lang="en-US" b="1" dirty="0">
                <a:solidFill>
                  <a:srgbClr val="333333"/>
                </a:solidFill>
                <a:ea typeface="Quattrocento Sans" pitchFamily="34" charset="-122"/>
                <a:cs typeface="Quattrocento Sans" pitchFamily="34" charset="-120"/>
              </a:rPr>
              <a:t>accurate, consistent, trustworthy</a:t>
            </a:r>
            <a:endParaRPr lang="en-US" dirty="0"/>
          </a:p>
          <a:p>
            <a:pPr algn="l">
              <a:lnSpc>
                <a:spcPct val="150000"/>
              </a:lnSpc>
            </a:pPr>
            <a:r>
              <a:rPr lang="en-US" dirty="0">
                <a:solidFill>
                  <a:srgbClr val="333333"/>
                </a:solidFill>
                <a:ea typeface="Quattrocento Sans" pitchFamily="34" charset="-122"/>
                <a:cs typeface="Quattrocento Sans" pitchFamily="34" charset="-120"/>
              </a:rPr>
              <a:t>• </a:t>
            </a:r>
            <a:r>
              <a:rPr lang="en-US" b="1" dirty="0">
                <a:solidFill>
                  <a:srgbClr val="333333"/>
                </a:solidFill>
                <a:ea typeface="Quattrocento Sans" pitchFamily="34" charset="-122"/>
                <a:cs typeface="Quattrocento Sans" pitchFamily="34" charset="-120"/>
              </a:rPr>
              <a:t>KPIs</a:t>
            </a:r>
            <a:r>
              <a:rPr lang="en-US" dirty="0">
                <a:solidFill>
                  <a:srgbClr val="333333"/>
                </a:solidFill>
                <a:ea typeface="Quattrocento Sans" pitchFamily="34" charset="-122"/>
                <a:cs typeface="Quattrocento Sans" pitchFamily="34" charset="-120"/>
              </a:rPr>
              <a:t> are meaningful only if data meets quality standards</a:t>
            </a:r>
            <a:endParaRPr lang="en-US" dirty="0"/>
          </a:p>
        </p:txBody>
      </p:sp>
      <p:sp>
        <p:nvSpPr>
          <p:cNvPr id="18" name="Rounded Rectangle 17"/>
          <p:cNvSpPr/>
          <p:nvPr/>
        </p:nvSpPr>
        <p:spPr>
          <a:xfrm>
            <a:off x="35814" y="7856860"/>
            <a:ext cx="2214372" cy="836035"/>
          </a:xfrm>
          <a:prstGeom prst="roundRect">
            <a:avLst/>
          </a:prstGeom>
          <a:solidFill>
            <a:srgbClr val="FF0000">
              <a:alpha val="2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1982810"/>
      </p:ext>
    </p:extLst>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sp>
      <p:sp>
        <p:nvSpPr>
          <p:cNvPr id="12" name="Shape 10"/>
          <p:cNvSpPr/>
          <p:nvPr/>
        </p:nvSpPr>
        <p:spPr>
          <a:xfrm>
            <a:off x="1066800" y="8864600"/>
            <a:ext cx="152400" cy="152400"/>
          </a:xfrm>
          <a:prstGeom prst="diamond">
            <a:avLst/>
          </a:prstGeom>
          <a:solidFill>
            <a:srgbClr val="00ACC1"/>
          </a:solidFill>
          <a:ln/>
        </p:spPr>
      </p:sp>
      <p:sp>
        <p:nvSpPr>
          <p:cNvPr id="15" name="Text 13"/>
          <p:cNvSpPr/>
          <p:nvPr/>
        </p:nvSpPr>
        <p:spPr>
          <a:xfrm>
            <a:off x="15621000" y="0"/>
            <a:ext cx="635000" cy="635000"/>
          </a:xfrm>
          <a:prstGeom prst="rect">
            <a:avLst/>
          </a:prstGeom>
          <a:noFill/>
          <a:ln/>
        </p:spPr>
        <p:txBody>
          <a:bodyPr wrap="none" lIns="0" tIns="0" rIns="0" bIns="0" rtlCol="0" anchor="ctr"/>
          <a:lstStyle/>
          <a:p>
            <a:pPr algn="r">
              <a:lnSpc>
                <a:spcPct val="120000"/>
              </a:lnSpc>
            </a:pPr>
            <a:r>
              <a:rPr lang="en-US" sz="1400" dirty="0">
                <a:solidFill>
                  <a:srgbClr val="005C82"/>
                </a:solidFill>
                <a:latin typeface="Quattrocento Sans" pitchFamily="34" charset="0"/>
                <a:ea typeface="Quattrocento Sans" pitchFamily="34" charset="-122"/>
                <a:cs typeface="Quattrocento Sans" pitchFamily="34" charset="-120"/>
              </a:rPr>
              <a:t>9</a:t>
            </a:r>
            <a:endParaRPr lang="en-US" sz="1400" dirty="0"/>
          </a:p>
        </p:txBody>
      </p:sp>
    </p:spTree>
    <p:extLst>
      <p:ext uri="{BB962C8B-B14F-4D97-AF65-F5344CB8AC3E}">
        <p14:creationId xmlns:p14="http://schemas.microsoft.com/office/powerpoint/2010/main" val="3638261363"/>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763</TotalTime>
  <Words>3509</Words>
  <Application>Microsoft Office PowerPoint</Application>
  <PresentationFormat>Custom</PresentationFormat>
  <Paragraphs>497</Paragraphs>
  <Slides>34</Slides>
  <Notes>32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Arial</vt:lpstr>
      <vt:lpstr>Arial Black</vt:lpstr>
      <vt:lpstr>Bahnschrift</vt:lpstr>
      <vt:lpstr>Calibri</vt:lpstr>
      <vt:lpstr>Cambria</vt:lpstr>
      <vt:lpstr>Google Sans</vt:lpstr>
      <vt:lpstr>Quattrocento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Data Analytics — Unit 1: Big Data Fundamentals</dc:title>
  <dc:subject>Big Data Analytics — Unit 1: Big Data Fundamentals</dc:subject>
  <dc:creator>Kimi</dc:creator>
  <cp:lastModifiedBy>CHARUSAT</cp:lastModifiedBy>
  <cp:revision>46</cp:revision>
  <dcterms:created xsi:type="dcterms:W3CDTF">2026-06-24T05:39:13Z</dcterms:created>
  <dcterms:modified xsi:type="dcterms:W3CDTF">2026-07-22T10:48:23Z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{"Label":"Big Data Analytics — Unit 1: Big Data Fundamentals","ContentProducer":"001191110108MACG2KBH8F10000","ProduceID":"19ef7ee3-3bd2-81cc-8000-000051b31e23","ReservedCode1":"","ContentPropagator":"001191110108MACG2KBH8F20000","PropagateID":"19ef7ec0-7</vt:lpwstr>
  </property>
</Properties>
</file>